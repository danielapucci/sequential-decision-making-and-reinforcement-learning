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</p:sldIdLst>
  <p:sldSz cy="5143500" cx="9144000"/>
  <p:notesSz cx="6858000" cy="9144000"/>
  <p:embeddedFontLst>
    <p:embeddedFont>
      <p:font typeface="Roboto"/>
      <p:regular r:id="rId96"/>
      <p:bold r:id="rId97"/>
      <p:italic r:id="rId98"/>
      <p:boldItalic r:id="rId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8B86CB-26A1-444A-8B3C-77C1527010C4}">
  <a:tblStyle styleId="{758B86CB-26A1-444A-8B3C-77C1527010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font" Target="fonts/Roboto-bold.fntdata"/><Relationship Id="rId96" Type="http://schemas.openxmlformats.org/officeDocument/2006/relationships/font" Target="fonts/Roboto-regular.fntdata"/><Relationship Id="rId11" Type="http://schemas.openxmlformats.org/officeDocument/2006/relationships/slide" Target="slides/slide5.xml"/><Relationship Id="rId99" Type="http://schemas.openxmlformats.org/officeDocument/2006/relationships/font" Target="fonts/Roboto-boldItalic.fntdata"/><Relationship Id="rId10" Type="http://schemas.openxmlformats.org/officeDocument/2006/relationships/slide" Target="slides/slide4.xml"/><Relationship Id="rId98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d5a6f7d2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d5a6f7d2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d5a6f7d2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d5a6f7d2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5a7eb2f3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5a7eb2f3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5bca4b5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5bca4b5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6149f5a63_0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d6149f5a63_0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5a7eb2f3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5a7eb2f3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5a7eb2f3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5a7eb2f3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5a7eb2f3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d5a7eb2f3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5bca4b56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5bca4b56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5e23cedb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d5e23cedb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d5e23cedb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d5e23cedb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30d7907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30d7907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30d7907e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30d7907e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5bca4b56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5bca4b56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5bca4b56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d5bca4b56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5bca4b56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d5bca4b56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5bca4b56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d5bca4b56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5bca4b56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d5bca4b56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5bca4b56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d5bca4b56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d5bca4b56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d5bca4b56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5bca4b56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5bca4b56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d5bca4b56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d5bca4b56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5bca4b56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d5bca4b56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5bca4b564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d5bca4b56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5bca4b564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d5bca4b56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d5e23cedb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d5e23cedb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d5e23cedb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d5e23cedb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d6149f5a63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d6149f5a63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d6149f5a63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d6149f5a63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d6149f5a63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d6149f5a63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d6149f5a63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d6149f5a63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d6149f5a63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d6149f5a63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d6149f5a63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d6149f5a63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d6149f5a63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d6149f5a63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d6149f5a63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d6149f5a63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d6149f5a63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d6149f5a63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d6149f5a63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2d6149f5a63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d6149f5a63_0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d6149f5a63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d6149f5a63_0_1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d6149f5a63_0_1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d6149f5a63_0_1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2d6149f5a63_0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d6149f5a63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d6149f5a63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d6149f5a63_0_1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d6149f5a63_0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2d627579cf4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2d627579cf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d6149f5a63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d6149f5a63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d6149f5a63_0_1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d6149f5a63_0_1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22039562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22039562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d6149f5a63_0_1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d6149f5a63_0_1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d6149f5a63_0_1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2d6149f5a63_0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2d6149f5a63_0_1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d6149f5a63_0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d6149f5a63_0_1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d6149f5a63_0_1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d6149f5a63_0_1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d6149f5a63_0_1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d6149f5a63_0_1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d6149f5a63_0_1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d6149f5a63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d6149f5a63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d6149f5a63_0_1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d6149f5a63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d6149f5a63_0_1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2d6149f5a63_0_1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d6149f5a63_0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d6149f5a63_0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d6149f5a63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d6149f5a63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d6149f5a63_0_1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d6149f5a63_0_1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d6149f5a63_0_1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d6149f5a63_0_1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2d627579cf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2d627579cf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2d627579cf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d627579cf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2d627579cf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d627579cf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2d6149f5a63_0_1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2d6149f5a63_0_1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2d627579cf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2d627579cf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2d627579cf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d627579cf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d627579cf4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d627579cf4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d627579cf4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d627579cf4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d627579cf4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d627579cf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2d627579cf4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2d627579cf4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2d627579cf4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2d627579cf4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d627579cf4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d627579cf4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d627579cf4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d627579cf4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2d627579cf4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4" name="Google Shape;1474;g2d627579cf4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2d627579cf4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2d627579cf4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2d627579cf4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2d627579cf4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2d627579cf4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d627579cf4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2d627579cf4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2d627579cf4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627579cf4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2d627579cf4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d627579cf4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d627579cf4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2d627579cf4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2d627579cf4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2d627579cf4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2d627579cf4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g2d627579cf4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2d627579cf4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2d67309d14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2d67309d14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2d67309d14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2d67309d14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2d67309d14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2d67309d14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2d67309d14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" name="Google Shape;1694;g2d67309d14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g2d67309d14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4" name="Google Shape;1704;g2d67309d14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2d67309d14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2d67309d14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youtube.com/watch?v=DdojWYOK0Nc" TargetMode="External"/><Relationship Id="rId4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1.png"/><Relationship Id="rId4" Type="http://schemas.openxmlformats.org/officeDocument/2006/relationships/image" Target="../media/image18.gif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83275" y="744575"/>
            <a:ext cx="89004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Toma de Decisiones Secuencial y Aprendizaje por Refuerzo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10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Clase 1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93800" y="1000550"/>
            <a:ext cx="8738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Introducción al Aprendizaje por Refuerzo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Procesos Markovianos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Definición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Propiedades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Ejemplos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Automático (Machine Learning)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9425"/>
            <a:ext cx="4362296" cy="3961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Automático (Machine Learning)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9425"/>
            <a:ext cx="4362296" cy="3961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096" y="1029425"/>
            <a:ext cx="4324503" cy="392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75" y="1029425"/>
            <a:ext cx="4362296" cy="396167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Automático (Machine Learning)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241525" y="1444300"/>
            <a:ext cx="4149000" cy="339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4719600" y="1452525"/>
            <a:ext cx="4149000" cy="311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4">
            <a:alphaModFix/>
          </a:blip>
          <a:srcRect b="14248" l="55121" r="7727" t="14256"/>
          <a:stretch/>
        </p:blipFill>
        <p:spPr>
          <a:xfrm>
            <a:off x="660100" y="1444300"/>
            <a:ext cx="3311850" cy="27079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95475" y="3955300"/>
            <a:ext cx="39459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Agrupamiento (clustering)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Reducción de dimensionalidad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Extracción de características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096" y="1029425"/>
            <a:ext cx="4324503" cy="392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475" y="1029425"/>
            <a:ext cx="4362296" cy="396167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Automático (Machine Learning)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241525" y="1444300"/>
            <a:ext cx="4149000" cy="339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4719600" y="1452525"/>
            <a:ext cx="4149000" cy="311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5">
            <a:alphaModFix/>
          </a:blip>
          <a:srcRect b="15828" l="6089" r="55584" t="12676"/>
          <a:stretch/>
        </p:blipFill>
        <p:spPr>
          <a:xfrm>
            <a:off x="5211997" y="1504660"/>
            <a:ext cx="3164200" cy="25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 rotWithShape="1">
          <a:blip r:embed="rId5">
            <a:alphaModFix/>
          </a:blip>
          <a:srcRect b="14248" l="55121" r="7727" t="14256"/>
          <a:stretch/>
        </p:blipFill>
        <p:spPr>
          <a:xfrm>
            <a:off x="660100" y="1444300"/>
            <a:ext cx="3311850" cy="27079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5853200" y="3971500"/>
            <a:ext cx="25230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Clasificación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Regresión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495475" y="3955300"/>
            <a:ext cx="39459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Agrupamiento (clustering)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Reducción de dimensionalidad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Extracción de características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113" y="1181825"/>
            <a:ext cx="4356573" cy="3961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Automático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(Reinforcement Learning)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2350275" y="1181825"/>
            <a:ext cx="4455600" cy="131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4026750" y="3946175"/>
            <a:ext cx="953700" cy="24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3389850" y="4630125"/>
            <a:ext cx="21810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113" y="1181825"/>
            <a:ext cx="4356573" cy="3961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Automático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(Reinforcement Learning)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4026750" y="3946175"/>
            <a:ext cx="953700" cy="24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3389850" y="4630125"/>
            <a:ext cx="21810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113" y="1181825"/>
            <a:ext cx="4356573" cy="3961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Automático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(Reinforcement Learning)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(Reinforcement Learning)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577200" y="877025"/>
            <a:ext cx="7989600" cy="2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Aprendizaje de estrategias óptimas para situaciones que se extienden en el tiempo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(Reinforcement Learning)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 txBox="1"/>
          <p:nvPr/>
        </p:nvSpPr>
        <p:spPr>
          <a:xfrm>
            <a:off x="577200" y="877025"/>
            <a:ext cx="7989600" cy="2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Aprendizaje de estrategias óptimas para situaciones que se extienden en el tiempo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La función de “refuerzo” puede ser diseñada para expresar diferentes objectivos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Modelo de toma de decisiones </a:t>
            </a:r>
            <a:r>
              <a:rPr b="1" lang="en" sz="1800">
                <a:solidFill>
                  <a:schemeClr val="dk2"/>
                </a:solidFill>
              </a:rPr>
              <a:t>secuenciales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Ambiente tiene un </a:t>
            </a:r>
            <a:r>
              <a:rPr b="1" lang="en" sz="1800">
                <a:solidFill>
                  <a:schemeClr val="dk2"/>
                </a:solidFill>
              </a:rPr>
              <a:t>estado</a:t>
            </a:r>
            <a:r>
              <a:rPr lang="en" sz="1800">
                <a:solidFill>
                  <a:schemeClr val="dk2"/>
                </a:solidFill>
              </a:rPr>
              <a:t> que cambia al largo del tiempo 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Evolución del estado afectada por decisiones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Función de “refuerzo” afectada por estado y decisiones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(Reinforcement Learning)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 txBox="1"/>
          <p:nvPr/>
        </p:nvSpPr>
        <p:spPr>
          <a:xfrm>
            <a:off x="577200" y="877025"/>
            <a:ext cx="7989600" cy="2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Dificultades extras vs otros tipos de aprendizaje: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las consecuencias de una acción actual pueden impactar en el futuro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no hay una señal directa midiendo ese impacto, solo la recompensa inmediata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(Reinforcement Learning)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 txBox="1"/>
          <p:nvPr/>
        </p:nvSpPr>
        <p:spPr>
          <a:xfrm>
            <a:off x="577200" y="877025"/>
            <a:ext cx="7989600" cy="2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Dificultades extras vs otros tipos de aprendizaje: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las consecuencias de una acción actual pueden impactar en el futuro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no hay una señal directa midiendo ese impacto, solo la recompensa inmediata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amb</a:t>
            </a:r>
            <a:r>
              <a:rPr lang="en" sz="1800">
                <a:solidFill>
                  <a:schemeClr val="dk2"/>
                </a:solidFill>
              </a:rPr>
              <a:t>iente puede ser desconocido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necesidad de aprender un modelo del ambiente y la acción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(Reinforcement Learning)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 txBox="1"/>
          <p:nvPr/>
        </p:nvSpPr>
        <p:spPr>
          <a:xfrm>
            <a:off x="577200" y="877025"/>
            <a:ext cx="7989600" cy="2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Dificultades extras vs otros tipos de aprendizaje: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las consecuencias de una acción actual pueden impactar en el futuro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no hay una señal directa midiendo ese impacto, solo la recompensa inmediata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ambiente puede ser desconocido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Necesidad de aprender un modelo del ambiente y la acción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potencialmente muchas acciones posibles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Hay que encontrar una forma eficiente de explorar las acciones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- Juegos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00" y="1857025"/>
            <a:ext cx="4162499" cy="26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>
            <p:ph type="title"/>
          </p:nvPr>
        </p:nvSpPr>
        <p:spPr>
          <a:xfrm>
            <a:off x="-159900" y="877025"/>
            <a:ext cx="42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TD-Gammon (1992)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- Juegos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00" y="1857025"/>
            <a:ext cx="4162499" cy="26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 txBox="1"/>
          <p:nvPr>
            <p:ph type="title"/>
          </p:nvPr>
        </p:nvSpPr>
        <p:spPr>
          <a:xfrm>
            <a:off x="-159900" y="877025"/>
            <a:ext cx="42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TD-Gammon (1992)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750" y="1449725"/>
            <a:ext cx="2701650" cy="354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 txBox="1"/>
          <p:nvPr>
            <p:ph type="title"/>
          </p:nvPr>
        </p:nvSpPr>
        <p:spPr>
          <a:xfrm>
            <a:off x="4702225" y="877025"/>
            <a:ext cx="42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AlphaGo (2015-2017)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- Robótica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ssie, the robot, clocked the historic time of 24.73 seconds at the Whyte Track and Field Center, starting from a standing position and returning to that position after the sprint, with no falls. This incredible achievement was accomplished through robot learning and almost a year of simulation, condensed down to a matter of weeks.&#10;&#10;Cassie was invented at the Oregon State University College of Engineering and produced by Agility Robotics. Through this work Cassie has established a Guinness World Record for the fastest 100 meters by a bipedal robot.&#10;&#10;Read more about the record and the incredible work to achieve it. &#10;https://today.oregonstate.edu/news/bipedal-robot-developed-oregon-state-achieves-guinness-world-record-100-meters&#10;&#10;&#10;At Agility, we make robots that are made for work. Our robot Digit works alongside us in spaces designed for people. Digit handles the boring and repetitive tasks that are meant for a machine, which allows companies and their people to focus on the work that requires the human element.&#10;&#10;Subscribe (hit the bell for notifications)&#10;https://www.youtube.com/c/AgilityRobo...&#10;&#10;Join our Team&#10;https://www.agilityrobotics.com/careers&#10;&#10;Follow our Journey&#10;https://twitter.com/agilityrobotics&#10;https://www.linkedin.com/company/agil...&#10;https://www.instagram.com/agility_rob...&#10;https://www.tiktok.com/@agility_robotics&#10;&#10;#robotics #machinelearning #robot #engineering" id="171" name="Google Shape;171;p29" title="Cassie Sets World Record for 100M Ru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9125" y="1341725"/>
            <a:ext cx="6614000" cy="372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- Medicina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213" y="877025"/>
            <a:ext cx="5931569" cy="396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- Medicina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100" y="877025"/>
            <a:ext cx="4137900" cy="418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Procesamiento de Lenguaje Natural Natural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376" y="1316425"/>
            <a:ext cx="6145250" cy="345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Procesamiento de Lenguaje Natural Natural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2925" y="1404175"/>
            <a:ext cx="5958150" cy="333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Procesamiento de Lenguaje Natural Natural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250" y="1419825"/>
            <a:ext cx="5661500" cy="34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Vehiculos Autónomos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6538" y="1435425"/>
            <a:ext cx="4630925" cy="346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- Sistemas de Energía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900" y="1478200"/>
            <a:ext cx="7556200" cy="326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7"/>
          <p:cNvSpPr txBox="1"/>
          <p:nvPr/>
        </p:nvSpPr>
        <p:spPr>
          <a:xfrm>
            <a:off x="405600" y="1368900"/>
            <a:ext cx="84267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-"/>
            </a:pPr>
            <a:r>
              <a:rPr lang="en" sz="2100">
                <a:solidFill>
                  <a:schemeClr val="dk2"/>
                </a:solidFill>
              </a:rPr>
              <a:t>Marketing (campañas A/B, subastas)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-"/>
            </a:pPr>
            <a:r>
              <a:rPr lang="en" sz="2100">
                <a:solidFill>
                  <a:schemeClr val="dk2"/>
                </a:solidFill>
              </a:rPr>
              <a:t>Gerenciamiento de recursos 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-"/>
            </a:pPr>
            <a:r>
              <a:rPr lang="en" sz="2100">
                <a:solidFill>
                  <a:schemeClr val="dk2"/>
                </a:solidFill>
              </a:rPr>
              <a:t>Finanzas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-"/>
            </a:pPr>
            <a:r>
              <a:rPr lang="en" sz="2100">
                <a:solidFill>
                  <a:schemeClr val="dk2"/>
                </a:solidFill>
              </a:rPr>
              <a:t>Gestión de cadenas de suministro (supply chain management)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-"/>
            </a:pPr>
            <a:r>
              <a:rPr lang="en" sz="2100">
                <a:solidFill>
                  <a:schemeClr val="dk2"/>
                </a:solidFill>
              </a:rPr>
              <a:t>Precios dinámicos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-"/>
            </a:pPr>
            <a:r>
              <a:rPr lang="en" sz="2100">
                <a:solidFill>
                  <a:schemeClr val="dk2"/>
                </a:solidFill>
              </a:rPr>
              <a:t>…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Toma de Decisiones Secuenciales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8"/>
          <p:cNvSpPr txBox="1"/>
          <p:nvPr/>
        </p:nvSpPr>
        <p:spPr>
          <a:xfrm>
            <a:off x="405600" y="1368900"/>
            <a:ext cx="84267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  <p:pic>
        <p:nvPicPr>
          <p:cNvPr id="226" name="Google Shape;2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38" y="947600"/>
            <a:ext cx="4356573" cy="39616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8"/>
          <p:cNvSpPr txBox="1"/>
          <p:nvPr/>
        </p:nvSpPr>
        <p:spPr>
          <a:xfrm>
            <a:off x="4448000" y="1132788"/>
            <a:ext cx="4580700" cy="3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describir el problema matemáticamente?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8" name="Google Shape;228;p38"/>
          <p:cNvSpPr txBox="1"/>
          <p:nvPr/>
        </p:nvSpPr>
        <p:spPr>
          <a:xfrm>
            <a:off x="1448900" y="432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8"/>
          <p:cNvSpPr txBox="1"/>
          <p:nvPr/>
        </p:nvSpPr>
        <p:spPr>
          <a:xfrm>
            <a:off x="1773925" y="3576900"/>
            <a:ext cx="9366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Toma de Decisiones Secuenciales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9"/>
          <p:cNvSpPr txBox="1"/>
          <p:nvPr/>
        </p:nvSpPr>
        <p:spPr>
          <a:xfrm>
            <a:off x="405600" y="1368900"/>
            <a:ext cx="84267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  <p:pic>
        <p:nvPicPr>
          <p:cNvPr id="236" name="Google Shape;2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38" y="947600"/>
            <a:ext cx="4356573" cy="396167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9"/>
          <p:cNvSpPr txBox="1"/>
          <p:nvPr/>
        </p:nvSpPr>
        <p:spPr>
          <a:xfrm>
            <a:off x="4448000" y="1132788"/>
            <a:ext cx="4580700" cy="3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describir el problema matemáticamente?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Aprendizaje por refuerzo basado en </a:t>
            </a:r>
            <a:r>
              <a:rPr b="1" lang="en" sz="1800">
                <a:solidFill>
                  <a:schemeClr val="dk2"/>
                </a:solidFill>
              </a:rPr>
              <a:t>Procesos de Decisión Markovianos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(Markov Decision Processes - MDPs)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8" name="Google Shape;238;p39"/>
          <p:cNvSpPr txBox="1"/>
          <p:nvPr/>
        </p:nvSpPr>
        <p:spPr>
          <a:xfrm>
            <a:off x="1448900" y="432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9"/>
          <p:cNvSpPr txBox="1"/>
          <p:nvPr/>
        </p:nvSpPr>
        <p:spPr>
          <a:xfrm>
            <a:off x="1773925" y="3576900"/>
            <a:ext cx="9366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0"/>
          <p:cNvSpPr txBox="1"/>
          <p:nvPr/>
        </p:nvSpPr>
        <p:spPr>
          <a:xfrm>
            <a:off x="405600" y="1368900"/>
            <a:ext cx="84267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246" name="Google Shape;246;p40"/>
          <p:cNvSpPr txBox="1"/>
          <p:nvPr/>
        </p:nvSpPr>
        <p:spPr>
          <a:xfrm>
            <a:off x="1448900" y="432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0"/>
          <p:cNvSpPr txBox="1"/>
          <p:nvPr/>
        </p:nvSpPr>
        <p:spPr>
          <a:xfrm>
            <a:off x="1773925" y="3576900"/>
            <a:ext cx="9366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0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9" name="Google Shape;249;p40"/>
          <p:cNvSpPr txBox="1"/>
          <p:nvPr/>
        </p:nvSpPr>
        <p:spPr>
          <a:xfrm>
            <a:off x="296700" y="825175"/>
            <a:ext cx="8589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Ejemplo: cómo representar condiciones de mercado?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1"/>
          <p:cNvSpPr txBox="1"/>
          <p:nvPr/>
        </p:nvSpPr>
        <p:spPr>
          <a:xfrm>
            <a:off x="405600" y="1368900"/>
            <a:ext cx="84267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256" name="Google Shape;256;p41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7" name="Google Shape;257;p41"/>
          <p:cNvSpPr/>
          <p:nvPr/>
        </p:nvSpPr>
        <p:spPr>
          <a:xfrm>
            <a:off x="1888000" y="2763900"/>
            <a:ext cx="1156800" cy="68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1"/>
          <p:cNvSpPr txBox="1"/>
          <p:nvPr/>
        </p:nvSpPr>
        <p:spPr>
          <a:xfrm>
            <a:off x="1553800" y="2870550"/>
            <a:ext cx="16728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59" name="Google Shape;259;p41"/>
          <p:cNvGrpSpPr/>
          <p:nvPr/>
        </p:nvGrpSpPr>
        <p:grpSpPr>
          <a:xfrm>
            <a:off x="5935075" y="2763900"/>
            <a:ext cx="1672800" cy="686400"/>
            <a:chOff x="5261975" y="2847900"/>
            <a:chExt cx="1672800" cy="686400"/>
          </a:xfrm>
        </p:grpSpPr>
        <p:sp>
          <p:nvSpPr>
            <p:cNvPr id="260" name="Google Shape;260;p41"/>
            <p:cNvSpPr/>
            <p:nvPr/>
          </p:nvSpPr>
          <p:spPr>
            <a:xfrm>
              <a:off x="5519975" y="2847900"/>
              <a:ext cx="1156800" cy="6864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1"/>
            <p:cNvSpPr txBox="1"/>
            <p:nvPr/>
          </p:nvSpPr>
          <p:spPr>
            <a:xfrm>
              <a:off x="5261975" y="2954550"/>
              <a:ext cx="1672800" cy="4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262" name="Google Shape;262;p41"/>
          <p:cNvSpPr/>
          <p:nvPr/>
        </p:nvSpPr>
        <p:spPr>
          <a:xfrm>
            <a:off x="3911544" y="3873900"/>
            <a:ext cx="1156800" cy="68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1"/>
          <p:cNvSpPr txBox="1"/>
          <p:nvPr/>
        </p:nvSpPr>
        <p:spPr>
          <a:xfrm>
            <a:off x="4039344" y="398055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4" name="Google Shape;264;p41"/>
          <p:cNvSpPr txBox="1"/>
          <p:nvPr/>
        </p:nvSpPr>
        <p:spPr>
          <a:xfrm>
            <a:off x="296700" y="825175"/>
            <a:ext cx="8589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Ejemplo: cómo representar condiciones de mercado?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cada semana, uno de tres posibles estados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2"/>
          <p:cNvSpPr txBox="1"/>
          <p:nvPr/>
        </p:nvSpPr>
        <p:spPr>
          <a:xfrm>
            <a:off x="405600" y="1368900"/>
            <a:ext cx="84267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271" name="Google Shape;271;p42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2" name="Google Shape;272;p42"/>
          <p:cNvSpPr/>
          <p:nvPr/>
        </p:nvSpPr>
        <p:spPr>
          <a:xfrm>
            <a:off x="1888000" y="2763900"/>
            <a:ext cx="1156800" cy="68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2"/>
          <p:cNvSpPr txBox="1"/>
          <p:nvPr/>
        </p:nvSpPr>
        <p:spPr>
          <a:xfrm>
            <a:off x="1553800" y="2870550"/>
            <a:ext cx="16728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74" name="Google Shape;274;p42"/>
          <p:cNvGrpSpPr/>
          <p:nvPr/>
        </p:nvGrpSpPr>
        <p:grpSpPr>
          <a:xfrm>
            <a:off x="5935075" y="2763900"/>
            <a:ext cx="1672800" cy="686400"/>
            <a:chOff x="5261975" y="2847900"/>
            <a:chExt cx="1672800" cy="686400"/>
          </a:xfrm>
        </p:grpSpPr>
        <p:sp>
          <p:nvSpPr>
            <p:cNvPr id="275" name="Google Shape;275;p42"/>
            <p:cNvSpPr/>
            <p:nvPr/>
          </p:nvSpPr>
          <p:spPr>
            <a:xfrm>
              <a:off x="5519975" y="2847900"/>
              <a:ext cx="1156800" cy="6864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2"/>
            <p:cNvSpPr txBox="1"/>
            <p:nvPr/>
          </p:nvSpPr>
          <p:spPr>
            <a:xfrm>
              <a:off x="5261975" y="2954550"/>
              <a:ext cx="1672800" cy="4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277" name="Google Shape;277;p42"/>
          <p:cNvSpPr/>
          <p:nvPr/>
        </p:nvSpPr>
        <p:spPr>
          <a:xfrm>
            <a:off x="3911544" y="3873900"/>
            <a:ext cx="1156800" cy="68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2"/>
          <p:cNvSpPr txBox="1"/>
          <p:nvPr/>
        </p:nvSpPr>
        <p:spPr>
          <a:xfrm>
            <a:off x="4039344" y="398055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9" name="Google Shape;279;p42"/>
          <p:cNvSpPr/>
          <p:nvPr/>
        </p:nvSpPr>
        <p:spPr>
          <a:xfrm>
            <a:off x="1941841" y="2111773"/>
            <a:ext cx="564350" cy="615100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0" name="Google Shape;280;p42"/>
          <p:cNvSpPr/>
          <p:nvPr/>
        </p:nvSpPr>
        <p:spPr>
          <a:xfrm flipH="1" rot="10800000">
            <a:off x="2336500" y="2529175"/>
            <a:ext cx="259800" cy="2343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2"/>
          <p:cNvSpPr txBox="1"/>
          <p:nvPr/>
        </p:nvSpPr>
        <p:spPr>
          <a:xfrm>
            <a:off x="1372894" y="216405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90%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82" name="Google Shape;282;p42"/>
          <p:cNvGrpSpPr/>
          <p:nvPr/>
        </p:nvGrpSpPr>
        <p:grpSpPr>
          <a:xfrm>
            <a:off x="3084775" y="2824800"/>
            <a:ext cx="3088200" cy="259800"/>
            <a:chOff x="3084775" y="3358200"/>
            <a:chExt cx="3088200" cy="259800"/>
          </a:xfrm>
        </p:grpSpPr>
        <p:cxnSp>
          <p:nvCxnSpPr>
            <p:cNvPr id="283" name="Google Shape;283;p42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4" name="Google Shape;284;p42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" name="Google Shape;285;p42"/>
          <p:cNvSpPr txBox="1"/>
          <p:nvPr/>
        </p:nvSpPr>
        <p:spPr>
          <a:xfrm>
            <a:off x="3928444" y="2605375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7.5%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6" name="Google Shape;286;p42"/>
          <p:cNvSpPr/>
          <p:nvPr/>
        </p:nvSpPr>
        <p:spPr>
          <a:xfrm flipH="1" rot="5400000">
            <a:off x="3612700" y="4198650"/>
            <a:ext cx="259800" cy="23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2"/>
          <p:cNvSpPr/>
          <p:nvPr/>
        </p:nvSpPr>
        <p:spPr>
          <a:xfrm>
            <a:off x="2678575" y="3483280"/>
            <a:ext cx="969316" cy="84209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8" name="Google Shape;288;p42"/>
          <p:cNvSpPr txBox="1"/>
          <p:nvPr/>
        </p:nvSpPr>
        <p:spPr>
          <a:xfrm>
            <a:off x="2412694" y="411150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2.5%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9" name="Google Shape;289;p42"/>
          <p:cNvSpPr txBox="1"/>
          <p:nvPr/>
        </p:nvSpPr>
        <p:spPr>
          <a:xfrm>
            <a:off x="296700" y="825175"/>
            <a:ext cx="8589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Ejemplo: cómo representar condiciones de mercado?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cada semana, uno de tres posibles estados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evolucionan en el tiempo? 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3"/>
          <p:cNvSpPr txBox="1"/>
          <p:nvPr/>
        </p:nvSpPr>
        <p:spPr>
          <a:xfrm>
            <a:off x="405600" y="1368900"/>
            <a:ext cx="84267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296" name="Google Shape;296;p43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7" name="Google Shape;297;p43"/>
          <p:cNvSpPr/>
          <p:nvPr/>
        </p:nvSpPr>
        <p:spPr>
          <a:xfrm>
            <a:off x="1888000" y="2763900"/>
            <a:ext cx="1156800" cy="68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3"/>
          <p:cNvSpPr txBox="1"/>
          <p:nvPr/>
        </p:nvSpPr>
        <p:spPr>
          <a:xfrm>
            <a:off x="1553800" y="2870550"/>
            <a:ext cx="16728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99" name="Google Shape;299;p43"/>
          <p:cNvGrpSpPr/>
          <p:nvPr/>
        </p:nvGrpSpPr>
        <p:grpSpPr>
          <a:xfrm>
            <a:off x="5935075" y="2763900"/>
            <a:ext cx="1672800" cy="686400"/>
            <a:chOff x="5261975" y="2847900"/>
            <a:chExt cx="1672800" cy="686400"/>
          </a:xfrm>
        </p:grpSpPr>
        <p:sp>
          <p:nvSpPr>
            <p:cNvPr id="300" name="Google Shape;300;p43"/>
            <p:cNvSpPr/>
            <p:nvPr/>
          </p:nvSpPr>
          <p:spPr>
            <a:xfrm>
              <a:off x="5519975" y="2847900"/>
              <a:ext cx="1156800" cy="6864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3"/>
            <p:cNvSpPr txBox="1"/>
            <p:nvPr/>
          </p:nvSpPr>
          <p:spPr>
            <a:xfrm>
              <a:off x="5261975" y="2954550"/>
              <a:ext cx="1672800" cy="4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302" name="Google Shape;302;p43"/>
          <p:cNvSpPr/>
          <p:nvPr/>
        </p:nvSpPr>
        <p:spPr>
          <a:xfrm>
            <a:off x="3911544" y="3873900"/>
            <a:ext cx="1156800" cy="68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3"/>
          <p:cNvSpPr txBox="1"/>
          <p:nvPr/>
        </p:nvSpPr>
        <p:spPr>
          <a:xfrm>
            <a:off x="4039344" y="398055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1941841" y="2111773"/>
            <a:ext cx="564350" cy="615100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5" name="Google Shape;305;p43"/>
          <p:cNvSpPr/>
          <p:nvPr/>
        </p:nvSpPr>
        <p:spPr>
          <a:xfrm flipH="1" rot="10800000">
            <a:off x="2336500" y="2529175"/>
            <a:ext cx="259800" cy="2343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3"/>
          <p:cNvSpPr txBox="1"/>
          <p:nvPr/>
        </p:nvSpPr>
        <p:spPr>
          <a:xfrm>
            <a:off x="1449094" y="216405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07" name="Google Shape;307;p43"/>
          <p:cNvGrpSpPr/>
          <p:nvPr/>
        </p:nvGrpSpPr>
        <p:grpSpPr>
          <a:xfrm>
            <a:off x="3084775" y="2824800"/>
            <a:ext cx="3088200" cy="259800"/>
            <a:chOff x="3084775" y="3358200"/>
            <a:chExt cx="3088200" cy="259800"/>
          </a:xfrm>
        </p:grpSpPr>
        <p:cxnSp>
          <p:nvCxnSpPr>
            <p:cNvPr id="308" name="Google Shape;308;p43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9" name="Google Shape;309;p43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43"/>
          <p:cNvSpPr txBox="1"/>
          <p:nvPr/>
        </p:nvSpPr>
        <p:spPr>
          <a:xfrm>
            <a:off x="3928444" y="2605375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1" name="Google Shape;311;p43"/>
          <p:cNvSpPr/>
          <p:nvPr/>
        </p:nvSpPr>
        <p:spPr>
          <a:xfrm flipH="1" rot="5400000">
            <a:off x="3612700" y="4198650"/>
            <a:ext cx="259800" cy="23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3"/>
          <p:cNvSpPr/>
          <p:nvPr/>
        </p:nvSpPr>
        <p:spPr>
          <a:xfrm>
            <a:off x="2678575" y="3483280"/>
            <a:ext cx="969316" cy="84209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3" name="Google Shape;313;p43"/>
          <p:cNvSpPr txBox="1"/>
          <p:nvPr/>
        </p:nvSpPr>
        <p:spPr>
          <a:xfrm>
            <a:off x="2412694" y="411150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4" name="Google Shape;314;p43"/>
          <p:cNvSpPr txBox="1"/>
          <p:nvPr/>
        </p:nvSpPr>
        <p:spPr>
          <a:xfrm>
            <a:off x="296700" y="825175"/>
            <a:ext cx="8589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Ejemplo: cómo representar condiciones de mercado?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cada semana, uno de tres posibles estados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evolucionan en el tiempo? Descripción en términos de probabilidad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4"/>
          <p:cNvSpPr txBox="1"/>
          <p:nvPr/>
        </p:nvSpPr>
        <p:spPr>
          <a:xfrm>
            <a:off x="405600" y="1368900"/>
            <a:ext cx="84267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321" name="Google Shape;321;p44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2" name="Google Shape;322;p44"/>
          <p:cNvSpPr/>
          <p:nvPr/>
        </p:nvSpPr>
        <p:spPr>
          <a:xfrm>
            <a:off x="1888000" y="2763900"/>
            <a:ext cx="1156800" cy="68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4"/>
          <p:cNvSpPr txBox="1"/>
          <p:nvPr/>
        </p:nvSpPr>
        <p:spPr>
          <a:xfrm>
            <a:off x="1553800" y="2870550"/>
            <a:ext cx="16728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24" name="Google Shape;324;p44"/>
          <p:cNvGrpSpPr/>
          <p:nvPr/>
        </p:nvGrpSpPr>
        <p:grpSpPr>
          <a:xfrm>
            <a:off x="5935075" y="2763900"/>
            <a:ext cx="1672800" cy="686400"/>
            <a:chOff x="5261975" y="2847900"/>
            <a:chExt cx="1672800" cy="686400"/>
          </a:xfrm>
        </p:grpSpPr>
        <p:sp>
          <p:nvSpPr>
            <p:cNvPr id="325" name="Google Shape;325;p44"/>
            <p:cNvSpPr/>
            <p:nvPr/>
          </p:nvSpPr>
          <p:spPr>
            <a:xfrm>
              <a:off x="5519975" y="2847900"/>
              <a:ext cx="1156800" cy="6864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4"/>
            <p:cNvSpPr txBox="1"/>
            <p:nvPr/>
          </p:nvSpPr>
          <p:spPr>
            <a:xfrm>
              <a:off x="5261975" y="2954550"/>
              <a:ext cx="1672800" cy="4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327" name="Google Shape;327;p44"/>
          <p:cNvSpPr/>
          <p:nvPr/>
        </p:nvSpPr>
        <p:spPr>
          <a:xfrm>
            <a:off x="3911544" y="3873900"/>
            <a:ext cx="1156800" cy="68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4"/>
          <p:cNvSpPr txBox="1"/>
          <p:nvPr/>
        </p:nvSpPr>
        <p:spPr>
          <a:xfrm>
            <a:off x="4039344" y="398055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9" name="Google Shape;329;p44"/>
          <p:cNvSpPr/>
          <p:nvPr/>
        </p:nvSpPr>
        <p:spPr>
          <a:xfrm>
            <a:off x="1941841" y="2111773"/>
            <a:ext cx="564350" cy="615100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30" name="Google Shape;330;p44"/>
          <p:cNvSpPr/>
          <p:nvPr/>
        </p:nvSpPr>
        <p:spPr>
          <a:xfrm flipH="1" rot="10800000">
            <a:off x="2336500" y="2529175"/>
            <a:ext cx="259800" cy="2343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4"/>
          <p:cNvSpPr txBox="1"/>
          <p:nvPr/>
        </p:nvSpPr>
        <p:spPr>
          <a:xfrm>
            <a:off x="1449094" y="216405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32" name="Google Shape;332;p44"/>
          <p:cNvGrpSpPr/>
          <p:nvPr/>
        </p:nvGrpSpPr>
        <p:grpSpPr>
          <a:xfrm>
            <a:off x="3084775" y="2824800"/>
            <a:ext cx="3088200" cy="259800"/>
            <a:chOff x="3084775" y="3358200"/>
            <a:chExt cx="3088200" cy="259800"/>
          </a:xfrm>
        </p:grpSpPr>
        <p:cxnSp>
          <p:nvCxnSpPr>
            <p:cNvPr id="333" name="Google Shape;333;p44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4" name="Google Shape;334;p44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44"/>
          <p:cNvSpPr txBox="1"/>
          <p:nvPr/>
        </p:nvSpPr>
        <p:spPr>
          <a:xfrm>
            <a:off x="3928444" y="2605375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6" name="Google Shape;336;p44"/>
          <p:cNvSpPr/>
          <p:nvPr/>
        </p:nvSpPr>
        <p:spPr>
          <a:xfrm flipH="1" rot="5400000">
            <a:off x="3612700" y="4198650"/>
            <a:ext cx="259800" cy="23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4"/>
          <p:cNvSpPr/>
          <p:nvPr/>
        </p:nvSpPr>
        <p:spPr>
          <a:xfrm>
            <a:off x="2678575" y="3483280"/>
            <a:ext cx="969316" cy="84209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38" name="Google Shape;338;p44"/>
          <p:cNvSpPr txBox="1"/>
          <p:nvPr/>
        </p:nvSpPr>
        <p:spPr>
          <a:xfrm>
            <a:off x="2412694" y="411150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9" name="Google Shape;339;p44"/>
          <p:cNvSpPr/>
          <p:nvPr/>
        </p:nvSpPr>
        <p:spPr>
          <a:xfrm>
            <a:off x="6369141" y="2074748"/>
            <a:ext cx="564350" cy="615100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0" name="Google Shape;340;p44"/>
          <p:cNvSpPr/>
          <p:nvPr/>
        </p:nvSpPr>
        <p:spPr>
          <a:xfrm flipH="1" rot="10800000">
            <a:off x="6763800" y="2492150"/>
            <a:ext cx="259800" cy="2343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4"/>
          <p:cNvSpPr txBox="1"/>
          <p:nvPr/>
        </p:nvSpPr>
        <p:spPr>
          <a:xfrm>
            <a:off x="6947394" y="203730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42" name="Google Shape;342;p44"/>
          <p:cNvCxnSpPr/>
          <p:nvPr/>
        </p:nvCxnSpPr>
        <p:spPr>
          <a:xfrm>
            <a:off x="3217200" y="3121188"/>
            <a:ext cx="30027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4"/>
          <p:cNvSpPr txBox="1"/>
          <p:nvPr/>
        </p:nvSpPr>
        <p:spPr>
          <a:xfrm>
            <a:off x="3964944" y="3015063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4" name="Google Shape;344;p44"/>
          <p:cNvSpPr/>
          <p:nvPr/>
        </p:nvSpPr>
        <p:spPr>
          <a:xfrm rot="-5400000">
            <a:off x="3150025" y="3006588"/>
            <a:ext cx="259800" cy="23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4"/>
          <p:cNvSpPr/>
          <p:nvPr/>
        </p:nvSpPr>
        <p:spPr>
          <a:xfrm flipH="1">
            <a:off x="5270725" y="3488176"/>
            <a:ext cx="1423325" cy="806158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6" name="Google Shape;346;p44"/>
          <p:cNvSpPr txBox="1"/>
          <p:nvPr/>
        </p:nvSpPr>
        <p:spPr>
          <a:xfrm>
            <a:off x="5935069" y="4096775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7" name="Google Shape;347;p44"/>
          <p:cNvSpPr/>
          <p:nvPr/>
        </p:nvSpPr>
        <p:spPr>
          <a:xfrm flipH="1" rot="-5400000">
            <a:off x="5107400" y="4152900"/>
            <a:ext cx="259800" cy="23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4"/>
          <p:cNvSpPr/>
          <p:nvPr/>
        </p:nvSpPr>
        <p:spPr>
          <a:xfrm flipH="1" rot="10800000">
            <a:off x="4039350" y="4559862"/>
            <a:ext cx="564350" cy="469014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9" name="Google Shape;349;p44"/>
          <p:cNvSpPr/>
          <p:nvPr/>
        </p:nvSpPr>
        <p:spPr>
          <a:xfrm>
            <a:off x="4442100" y="4594800"/>
            <a:ext cx="259800" cy="2343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4"/>
          <p:cNvSpPr/>
          <p:nvPr/>
        </p:nvSpPr>
        <p:spPr>
          <a:xfrm rot="10800000">
            <a:off x="3008584" y="3371674"/>
            <a:ext cx="969316" cy="562827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1" name="Google Shape;351;p44"/>
          <p:cNvSpPr/>
          <p:nvPr/>
        </p:nvSpPr>
        <p:spPr>
          <a:xfrm rot="-5400000">
            <a:off x="2968350" y="3260238"/>
            <a:ext cx="259800" cy="23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4"/>
          <p:cNvSpPr/>
          <p:nvPr/>
        </p:nvSpPr>
        <p:spPr>
          <a:xfrm flipH="1" rot="10800000">
            <a:off x="4701900" y="3268881"/>
            <a:ext cx="1306717" cy="572719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3" name="Google Shape;353;p44"/>
          <p:cNvSpPr/>
          <p:nvPr/>
        </p:nvSpPr>
        <p:spPr>
          <a:xfrm flipH="1" rot="5400000">
            <a:off x="5985250" y="3173825"/>
            <a:ext cx="259800" cy="23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4"/>
          <p:cNvSpPr txBox="1"/>
          <p:nvPr/>
        </p:nvSpPr>
        <p:spPr>
          <a:xfrm>
            <a:off x="3550094" y="470070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5" name="Google Shape;355;p44"/>
          <p:cNvSpPr txBox="1"/>
          <p:nvPr/>
        </p:nvSpPr>
        <p:spPr>
          <a:xfrm>
            <a:off x="3221369" y="3404325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6" name="Google Shape;356;p44"/>
          <p:cNvSpPr txBox="1"/>
          <p:nvPr/>
        </p:nvSpPr>
        <p:spPr>
          <a:xfrm>
            <a:off x="4723082" y="3399375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7" name="Google Shape;357;p44"/>
          <p:cNvSpPr txBox="1"/>
          <p:nvPr/>
        </p:nvSpPr>
        <p:spPr>
          <a:xfrm>
            <a:off x="296700" y="825175"/>
            <a:ext cx="8589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Ejemplo: cómo representar condiciones de mercado?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cada semana, uno de tres posibles estados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evolucionan en el tiempo? Descripción en términos de probabilidad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5"/>
          <p:cNvSpPr txBox="1"/>
          <p:nvPr/>
        </p:nvSpPr>
        <p:spPr>
          <a:xfrm>
            <a:off x="405600" y="1368900"/>
            <a:ext cx="84267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364" name="Google Shape;364;p45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5" name="Google Shape;365;p45"/>
          <p:cNvSpPr/>
          <p:nvPr/>
        </p:nvSpPr>
        <p:spPr>
          <a:xfrm>
            <a:off x="1888000" y="2763900"/>
            <a:ext cx="1156800" cy="68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5"/>
          <p:cNvSpPr txBox="1"/>
          <p:nvPr/>
        </p:nvSpPr>
        <p:spPr>
          <a:xfrm>
            <a:off x="1553800" y="2870550"/>
            <a:ext cx="16728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67" name="Google Shape;367;p45"/>
          <p:cNvGrpSpPr/>
          <p:nvPr/>
        </p:nvGrpSpPr>
        <p:grpSpPr>
          <a:xfrm>
            <a:off x="5935075" y="2763900"/>
            <a:ext cx="1672800" cy="686400"/>
            <a:chOff x="5261975" y="2847900"/>
            <a:chExt cx="1672800" cy="686400"/>
          </a:xfrm>
        </p:grpSpPr>
        <p:sp>
          <p:nvSpPr>
            <p:cNvPr id="368" name="Google Shape;368;p45"/>
            <p:cNvSpPr/>
            <p:nvPr/>
          </p:nvSpPr>
          <p:spPr>
            <a:xfrm>
              <a:off x="5519975" y="2847900"/>
              <a:ext cx="1156800" cy="6864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5"/>
            <p:cNvSpPr txBox="1"/>
            <p:nvPr/>
          </p:nvSpPr>
          <p:spPr>
            <a:xfrm>
              <a:off x="5261975" y="2954550"/>
              <a:ext cx="1672800" cy="4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370" name="Google Shape;370;p45"/>
          <p:cNvSpPr/>
          <p:nvPr/>
        </p:nvSpPr>
        <p:spPr>
          <a:xfrm>
            <a:off x="3911544" y="3873900"/>
            <a:ext cx="1156800" cy="68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5"/>
          <p:cNvSpPr txBox="1"/>
          <p:nvPr/>
        </p:nvSpPr>
        <p:spPr>
          <a:xfrm>
            <a:off x="4039344" y="398055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2" name="Google Shape;372;p45"/>
          <p:cNvSpPr/>
          <p:nvPr/>
        </p:nvSpPr>
        <p:spPr>
          <a:xfrm>
            <a:off x="1941841" y="2111773"/>
            <a:ext cx="564350" cy="615100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3" name="Google Shape;373;p45"/>
          <p:cNvSpPr/>
          <p:nvPr/>
        </p:nvSpPr>
        <p:spPr>
          <a:xfrm flipH="1" rot="10800000">
            <a:off x="2336500" y="2529175"/>
            <a:ext cx="259800" cy="2343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5"/>
          <p:cNvSpPr txBox="1"/>
          <p:nvPr/>
        </p:nvSpPr>
        <p:spPr>
          <a:xfrm>
            <a:off x="1449094" y="216405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75" name="Google Shape;375;p45"/>
          <p:cNvGrpSpPr/>
          <p:nvPr/>
        </p:nvGrpSpPr>
        <p:grpSpPr>
          <a:xfrm>
            <a:off x="3084775" y="2824800"/>
            <a:ext cx="3088200" cy="259800"/>
            <a:chOff x="3084775" y="3358200"/>
            <a:chExt cx="3088200" cy="259800"/>
          </a:xfrm>
        </p:grpSpPr>
        <p:cxnSp>
          <p:nvCxnSpPr>
            <p:cNvPr id="376" name="Google Shape;376;p45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7" name="Google Shape;377;p45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45"/>
          <p:cNvSpPr txBox="1"/>
          <p:nvPr/>
        </p:nvSpPr>
        <p:spPr>
          <a:xfrm>
            <a:off x="3928444" y="2605375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9" name="Google Shape;379;p45"/>
          <p:cNvSpPr/>
          <p:nvPr/>
        </p:nvSpPr>
        <p:spPr>
          <a:xfrm flipH="1" rot="5400000">
            <a:off x="3612700" y="4198650"/>
            <a:ext cx="259800" cy="23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5"/>
          <p:cNvSpPr/>
          <p:nvPr/>
        </p:nvSpPr>
        <p:spPr>
          <a:xfrm>
            <a:off x="2678575" y="3483280"/>
            <a:ext cx="969316" cy="84209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1" name="Google Shape;381;p45"/>
          <p:cNvSpPr txBox="1"/>
          <p:nvPr/>
        </p:nvSpPr>
        <p:spPr>
          <a:xfrm>
            <a:off x="2412694" y="411150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2" name="Google Shape;382;p45"/>
          <p:cNvSpPr/>
          <p:nvPr/>
        </p:nvSpPr>
        <p:spPr>
          <a:xfrm>
            <a:off x="6369141" y="2074748"/>
            <a:ext cx="564350" cy="615100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3" name="Google Shape;383;p45"/>
          <p:cNvSpPr/>
          <p:nvPr/>
        </p:nvSpPr>
        <p:spPr>
          <a:xfrm flipH="1" rot="10800000">
            <a:off x="6763800" y="2492150"/>
            <a:ext cx="259800" cy="2343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5"/>
          <p:cNvSpPr txBox="1"/>
          <p:nvPr/>
        </p:nvSpPr>
        <p:spPr>
          <a:xfrm>
            <a:off x="6947394" y="203730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85" name="Google Shape;385;p45"/>
          <p:cNvCxnSpPr/>
          <p:nvPr/>
        </p:nvCxnSpPr>
        <p:spPr>
          <a:xfrm>
            <a:off x="3217200" y="3121188"/>
            <a:ext cx="30027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45"/>
          <p:cNvSpPr txBox="1"/>
          <p:nvPr/>
        </p:nvSpPr>
        <p:spPr>
          <a:xfrm>
            <a:off x="3964944" y="3015063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7" name="Google Shape;387;p45"/>
          <p:cNvSpPr/>
          <p:nvPr/>
        </p:nvSpPr>
        <p:spPr>
          <a:xfrm rot="-5400000">
            <a:off x="3150025" y="3006588"/>
            <a:ext cx="259800" cy="23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5"/>
          <p:cNvSpPr/>
          <p:nvPr/>
        </p:nvSpPr>
        <p:spPr>
          <a:xfrm flipH="1">
            <a:off x="5270725" y="3488176"/>
            <a:ext cx="1423325" cy="806158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9" name="Google Shape;389;p45"/>
          <p:cNvSpPr txBox="1"/>
          <p:nvPr/>
        </p:nvSpPr>
        <p:spPr>
          <a:xfrm>
            <a:off x="5935069" y="4096775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0" name="Google Shape;390;p45"/>
          <p:cNvSpPr/>
          <p:nvPr/>
        </p:nvSpPr>
        <p:spPr>
          <a:xfrm flipH="1" rot="-5400000">
            <a:off x="5107400" y="4152900"/>
            <a:ext cx="259800" cy="23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5"/>
          <p:cNvSpPr/>
          <p:nvPr/>
        </p:nvSpPr>
        <p:spPr>
          <a:xfrm flipH="1" rot="10800000">
            <a:off x="4039350" y="4559862"/>
            <a:ext cx="564350" cy="469014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2" name="Google Shape;392;p45"/>
          <p:cNvSpPr/>
          <p:nvPr/>
        </p:nvSpPr>
        <p:spPr>
          <a:xfrm>
            <a:off x="4442100" y="4594800"/>
            <a:ext cx="259800" cy="2343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5"/>
          <p:cNvSpPr/>
          <p:nvPr/>
        </p:nvSpPr>
        <p:spPr>
          <a:xfrm rot="10800000">
            <a:off x="3008584" y="3371674"/>
            <a:ext cx="969316" cy="562827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4" name="Google Shape;394;p45"/>
          <p:cNvSpPr/>
          <p:nvPr/>
        </p:nvSpPr>
        <p:spPr>
          <a:xfrm rot="-5400000">
            <a:off x="2968350" y="3260238"/>
            <a:ext cx="259800" cy="23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5"/>
          <p:cNvSpPr/>
          <p:nvPr/>
        </p:nvSpPr>
        <p:spPr>
          <a:xfrm flipH="1" rot="10800000">
            <a:off x="4701900" y="3268881"/>
            <a:ext cx="1306717" cy="572719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6" name="Google Shape;396;p45"/>
          <p:cNvSpPr/>
          <p:nvPr/>
        </p:nvSpPr>
        <p:spPr>
          <a:xfrm flipH="1" rot="5400000">
            <a:off x="5985250" y="3173825"/>
            <a:ext cx="259800" cy="23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5"/>
          <p:cNvSpPr txBox="1"/>
          <p:nvPr/>
        </p:nvSpPr>
        <p:spPr>
          <a:xfrm>
            <a:off x="3550094" y="4700700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8" name="Google Shape;398;p45"/>
          <p:cNvSpPr txBox="1"/>
          <p:nvPr/>
        </p:nvSpPr>
        <p:spPr>
          <a:xfrm>
            <a:off x="3221369" y="3404325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9" name="Google Shape;399;p45"/>
          <p:cNvSpPr txBox="1"/>
          <p:nvPr/>
        </p:nvSpPr>
        <p:spPr>
          <a:xfrm>
            <a:off x="4723082" y="3399375"/>
            <a:ext cx="1053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0" name="Google Shape;400;p45"/>
          <p:cNvSpPr txBox="1"/>
          <p:nvPr/>
        </p:nvSpPr>
        <p:spPr>
          <a:xfrm>
            <a:off x="296700" y="825175"/>
            <a:ext cx="8589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Ejemplo: cómo representar condiciones de mercado?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cada semana, uno de tres posibles estados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evolucionan en el tiempo? Descripción en términos de probabilidad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este curso, nos enfocaremos en procesos a tiempo discreto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6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7" name="Google Shape;407;p46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6"/>
          <p:cNvSpPr txBox="1"/>
          <p:nvPr/>
        </p:nvSpPr>
        <p:spPr>
          <a:xfrm>
            <a:off x="4425326" y="2661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9" name="Google Shape;409;p46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6"/>
          <p:cNvSpPr txBox="1"/>
          <p:nvPr/>
        </p:nvSpPr>
        <p:spPr>
          <a:xfrm>
            <a:off x="7359526" y="2707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11" name="Google Shape;411;p46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6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13" name="Google Shape;413;p46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4" name="Google Shape;414;p46"/>
          <p:cNvSpPr/>
          <p:nvPr/>
        </p:nvSpPr>
        <p:spPr>
          <a:xfrm flipH="1" rot="10800000">
            <a:off x="5233955" y="2464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6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416" name="Google Shape;416;p46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417" name="Google Shape;417;p46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8" name="Google Shape;418;p46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9" name="Google Shape;419;p46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0" name="Google Shape;420;p46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6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22" name="Google Shape;422;p46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3" name="Google Shape;423;p46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24" name="Google Shape;424;p46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6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26" name="Google Shape;426;p46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p46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8" name="Google Shape;428;p46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6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0" name="Google Shape;430;p46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31" name="Google Shape;431;p46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6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3" name="Google Shape;433;p46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6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5" name="Google Shape;435;p46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6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7" name="Google Shape;437;p46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6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39" name="Google Shape;439;p46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0" name="Google Shape;440;p46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441" name="Google Shape;44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442" name="Google Shape;44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6"/>
          <p:cNvSpPr/>
          <p:nvPr/>
        </p:nvSpPr>
        <p:spPr>
          <a:xfrm>
            <a:off x="411200" y="2805450"/>
            <a:ext cx="3575700" cy="13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6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matemáticamente el proceso de regímenes de mercado?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7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51" name="Google Shape;451;p47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matemáticamente el proceso de regímenes de mercado?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estados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pueden ser discretos o continuos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52" name="Google Shape;452;p47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7"/>
          <p:cNvSpPr txBox="1"/>
          <p:nvPr/>
        </p:nvSpPr>
        <p:spPr>
          <a:xfrm>
            <a:off x="4425326" y="2661713"/>
            <a:ext cx="1452900" cy="387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Alcista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454" name="Google Shape;454;p47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7"/>
          <p:cNvSpPr txBox="1"/>
          <p:nvPr/>
        </p:nvSpPr>
        <p:spPr>
          <a:xfrm>
            <a:off x="7359526" y="2707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Bajista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456" name="Google Shape;456;p47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7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Estable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458" name="Google Shape;458;p47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59" name="Google Shape;459;p47"/>
          <p:cNvSpPr/>
          <p:nvPr/>
        </p:nvSpPr>
        <p:spPr>
          <a:xfrm flipH="1" rot="10800000">
            <a:off x="5233955" y="23885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7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461" name="Google Shape;461;p47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462" name="Google Shape;462;p47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3" name="Google Shape;463;p47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" name="Google Shape;464;p47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5" name="Google Shape;465;p47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7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7" name="Google Shape;467;p47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8" name="Google Shape;468;p47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9" name="Google Shape;469;p47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7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71" name="Google Shape;471;p47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47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3" name="Google Shape;473;p47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7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5" name="Google Shape;475;p47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6" name="Google Shape;476;p47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7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8" name="Google Shape;478;p47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7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80" name="Google Shape;480;p47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7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82" name="Google Shape;482;p47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7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4" name="Google Shape;484;p47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5" name="Google Shape;485;p47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486" name="Google Shape;48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487" name="Google Shape;48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7"/>
          <p:cNvSpPr/>
          <p:nvPr/>
        </p:nvSpPr>
        <p:spPr>
          <a:xfrm>
            <a:off x="411200" y="2805450"/>
            <a:ext cx="3575700" cy="13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8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5" name="Google Shape;495;p48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matemáticamente el proceso de regímenes de mercado?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estados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pueden ser discretos o continuos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8"/>
          <p:cNvSpPr txBox="1"/>
          <p:nvPr/>
        </p:nvSpPr>
        <p:spPr>
          <a:xfrm>
            <a:off x="4425326" y="2661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8" name="Google Shape;498;p48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8"/>
          <p:cNvSpPr txBox="1"/>
          <p:nvPr/>
        </p:nvSpPr>
        <p:spPr>
          <a:xfrm>
            <a:off x="7359526" y="2707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00" name="Google Shape;500;p48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8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02" name="Google Shape;502;p48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03" name="Google Shape;503;p48"/>
          <p:cNvSpPr/>
          <p:nvPr/>
        </p:nvSpPr>
        <p:spPr>
          <a:xfrm flipH="1" rot="10800000">
            <a:off x="5233955" y="23885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8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505" name="Google Shape;505;p48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506" name="Google Shape;506;p48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7" name="Google Shape;507;p48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8" name="Google Shape;508;p48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09" name="Google Shape;509;p48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8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1" name="Google Shape;511;p48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2" name="Google Shape;512;p48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3" name="Google Shape;513;p48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8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15" name="Google Shape;515;p48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48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7" name="Google Shape;517;p48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8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9" name="Google Shape;519;p48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0" name="Google Shape;520;p48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8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2" name="Google Shape;522;p48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8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4" name="Google Shape;524;p48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8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6" name="Google Shape;526;p48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8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8" name="Google Shape;528;p48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9" name="Google Shape;529;p48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530" name="Google Shape;53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531" name="Google Shape;53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48"/>
          <p:cNvSpPr/>
          <p:nvPr/>
        </p:nvSpPr>
        <p:spPr>
          <a:xfrm>
            <a:off x="411200" y="2805450"/>
            <a:ext cx="3575700" cy="13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8"/>
          <p:cNvSpPr txBox="1"/>
          <p:nvPr/>
        </p:nvSpPr>
        <p:spPr>
          <a:xfrm>
            <a:off x="216150" y="2001575"/>
            <a:ext cx="46386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Evolución en el tiempo: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534" name="Google Shape;534;p48"/>
          <p:cNvGraphicFramePr/>
          <p:nvPr/>
        </p:nvGraphicFramePr>
        <p:xfrm>
          <a:off x="311700" y="298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{758B86CB-26A1-444A-8B3C-77C1527010C4}</a:tableStyleId>
              </a:tblPr>
              <a:tblGrid>
                <a:gridCol w="1028400"/>
                <a:gridCol w="1028400"/>
                <a:gridCol w="1028400"/>
                <a:gridCol w="1028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from\to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Alcista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Bajista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Alcista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Bajista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9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1" name="Google Shape;541;p49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matemáticamente el proceso de regímenes de mercado?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estados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pueden ser discretos o continuos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2" name="Google Shape;542;p49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9"/>
          <p:cNvSpPr txBox="1"/>
          <p:nvPr/>
        </p:nvSpPr>
        <p:spPr>
          <a:xfrm>
            <a:off x="4425326" y="2661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4" name="Google Shape;544;p49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9"/>
          <p:cNvSpPr txBox="1"/>
          <p:nvPr/>
        </p:nvSpPr>
        <p:spPr>
          <a:xfrm>
            <a:off x="7359526" y="2707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6" name="Google Shape;546;p49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9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8" name="Google Shape;548;p49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9" name="Google Shape;549;p49"/>
          <p:cNvSpPr/>
          <p:nvPr/>
        </p:nvSpPr>
        <p:spPr>
          <a:xfrm flipH="1" rot="10800000">
            <a:off x="5233955" y="2388518"/>
            <a:ext cx="174300" cy="1917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9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0.9</a:t>
            </a:r>
            <a:endParaRPr sz="1800">
              <a:solidFill>
                <a:srgbClr val="FF0000"/>
              </a:solidFill>
            </a:endParaRPr>
          </a:p>
        </p:txBody>
      </p:sp>
      <p:grpSp>
        <p:nvGrpSpPr>
          <p:cNvPr id="551" name="Google Shape;551;p49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552" name="Google Shape;552;p49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3" name="Google Shape;553;p49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4" name="Google Shape;554;p49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5" name="Google Shape;555;p49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9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7" name="Google Shape;557;p49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8" name="Google Shape;558;p49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9" name="Google Shape;559;p49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9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61" name="Google Shape;561;p49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49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3" name="Google Shape;563;p49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9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5" name="Google Shape;565;p49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6" name="Google Shape;566;p49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9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8" name="Google Shape;568;p49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9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0" name="Google Shape;570;p49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9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2" name="Google Shape;572;p49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9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4" name="Google Shape;574;p49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5" name="Google Shape;575;p49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576" name="Google Shape;5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577" name="Google Shape;57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49"/>
          <p:cNvSpPr/>
          <p:nvPr/>
        </p:nvSpPr>
        <p:spPr>
          <a:xfrm>
            <a:off x="411200" y="2805450"/>
            <a:ext cx="3575700" cy="13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9"/>
          <p:cNvSpPr txBox="1"/>
          <p:nvPr/>
        </p:nvSpPr>
        <p:spPr>
          <a:xfrm>
            <a:off x="216150" y="2001575"/>
            <a:ext cx="42093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Evolución en el tiempo: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580" name="Google Shape;580;p49"/>
          <p:cNvGraphicFramePr/>
          <p:nvPr/>
        </p:nvGraphicFramePr>
        <p:xfrm>
          <a:off x="311700" y="298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{758B86CB-26A1-444A-8B3C-77C1527010C4}</a:tableStyleId>
              </a:tblPr>
              <a:tblGrid>
                <a:gridCol w="1028400"/>
                <a:gridCol w="1028400"/>
                <a:gridCol w="1028400"/>
                <a:gridCol w="1028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from\to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Alcista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Bajista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Alcista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Bajista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0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7" name="Google Shape;587;p50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matemáticamente el proceso de regímenes de mercado?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estados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pueden ser discretos o continuos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8" name="Google Shape;588;p50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50"/>
          <p:cNvSpPr txBox="1"/>
          <p:nvPr/>
        </p:nvSpPr>
        <p:spPr>
          <a:xfrm>
            <a:off x="4425326" y="2661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0" name="Google Shape;590;p50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0"/>
          <p:cNvSpPr txBox="1"/>
          <p:nvPr/>
        </p:nvSpPr>
        <p:spPr>
          <a:xfrm>
            <a:off x="7359526" y="2707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2" name="Google Shape;592;p50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50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4" name="Google Shape;594;p50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5" name="Google Shape;595;p50"/>
          <p:cNvSpPr/>
          <p:nvPr/>
        </p:nvSpPr>
        <p:spPr>
          <a:xfrm flipH="1" rot="10800000">
            <a:off x="5233955" y="2464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50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97" name="Google Shape;597;p50"/>
          <p:cNvCxnSpPr/>
          <p:nvPr/>
        </p:nvCxnSpPr>
        <p:spPr>
          <a:xfrm>
            <a:off x="5736481" y="2809321"/>
            <a:ext cx="2016613" cy="711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50"/>
          <p:cNvSpPr/>
          <p:nvPr/>
        </p:nvSpPr>
        <p:spPr>
          <a:xfrm rot="5400000">
            <a:off x="7624358" y="2732993"/>
            <a:ext cx="212542" cy="159774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50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0.075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00" name="Google Shape;600;p50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50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2" name="Google Shape;602;p50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3" name="Google Shape;603;p50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4" name="Google Shape;604;p50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50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06" name="Google Shape;606;p50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50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8" name="Google Shape;608;p50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50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10" name="Google Shape;610;p50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1" name="Google Shape;611;p50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0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13" name="Google Shape;613;p50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0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15" name="Google Shape;615;p50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50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17" name="Google Shape;617;p50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0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9" name="Google Shape;619;p50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0" name="Google Shape;620;p50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621" name="Google Shape;62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622" name="Google Shape;62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50"/>
          <p:cNvSpPr/>
          <p:nvPr/>
        </p:nvSpPr>
        <p:spPr>
          <a:xfrm>
            <a:off x="411200" y="2805450"/>
            <a:ext cx="3575700" cy="13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0"/>
          <p:cNvSpPr txBox="1"/>
          <p:nvPr/>
        </p:nvSpPr>
        <p:spPr>
          <a:xfrm>
            <a:off x="216150" y="2001575"/>
            <a:ext cx="42093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Evolución en el tiempo: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625" name="Google Shape;625;p50"/>
          <p:cNvGraphicFramePr/>
          <p:nvPr/>
        </p:nvGraphicFramePr>
        <p:xfrm>
          <a:off x="311700" y="298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{758B86CB-26A1-444A-8B3C-77C1527010C4}</a:tableStyleId>
              </a:tblPr>
              <a:tblGrid>
                <a:gridCol w="1028400"/>
                <a:gridCol w="1028400"/>
                <a:gridCol w="1028400"/>
                <a:gridCol w="1028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from\to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Alcista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Bajista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Alcista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Bajista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51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2" name="Google Shape;632;p51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matemáticamente el proceso de regímenes de mercado?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estados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pueden ser discretos o continuos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3" name="Google Shape;633;p51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1"/>
          <p:cNvSpPr txBox="1"/>
          <p:nvPr/>
        </p:nvSpPr>
        <p:spPr>
          <a:xfrm>
            <a:off x="4425326" y="2661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5" name="Google Shape;635;p51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/>
        </p:nvSpPr>
        <p:spPr>
          <a:xfrm>
            <a:off x="7359526" y="2707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7" name="Google Shape;637;p51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1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9" name="Google Shape;639;p51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40" name="Google Shape;640;p51"/>
          <p:cNvSpPr/>
          <p:nvPr/>
        </p:nvSpPr>
        <p:spPr>
          <a:xfrm flipH="1" rot="10800000">
            <a:off x="5233955" y="2464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1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642" name="Google Shape;642;p51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643" name="Google Shape;643;p51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4" name="Google Shape;644;p51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5" name="Google Shape;645;p51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6" name="Google Shape;646;p51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51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48" name="Google Shape;648;p51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0.025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49" name="Google Shape;649;p51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0" name="Google Shape;650;p51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51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52" name="Google Shape;652;p51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51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4" name="Google Shape;654;p51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1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6" name="Google Shape;656;p51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7" name="Google Shape;657;p51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51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9" name="Google Shape;659;p51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1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1" name="Google Shape;661;p51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1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3" name="Google Shape;663;p51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1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6" name="Google Shape;666;p51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667" name="Google Shape;66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668" name="Google Shape;66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51"/>
          <p:cNvSpPr/>
          <p:nvPr/>
        </p:nvSpPr>
        <p:spPr>
          <a:xfrm>
            <a:off x="411200" y="2805450"/>
            <a:ext cx="3575700" cy="13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1"/>
          <p:cNvSpPr txBox="1"/>
          <p:nvPr/>
        </p:nvSpPr>
        <p:spPr>
          <a:xfrm>
            <a:off x="216150" y="2001575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Evolución en el tiempo: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671" name="Google Shape;671;p51"/>
          <p:cNvGraphicFramePr/>
          <p:nvPr/>
        </p:nvGraphicFramePr>
        <p:xfrm>
          <a:off x="311700" y="298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{758B86CB-26A1-444A-8B3C-77C1527010C4}</a:tableStyleId>
              </a:tblPr>
              <a:tblGrid>
                <a:gridCol w="1028400"/>
                <a:gridCol w="1028400"/>
                <a:gridCol w="1028400"/>
                <a:gridCol w="1028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from\to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Alcista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Bajista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Alcista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Bajista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2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8" name="Google Shape;678;p52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matemáticamente el proceso de regímenes de mercado?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estados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pueden ser discretos o continuos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9" name="Google Shape;679;p52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2"/>
          <p:cNvSpPr txBox="1"/>
          <p:nvPr/>
        </p:nvSpPr>
        <p:spPr>
          <a:xfrm>
            <a:off x="4425326" y="2661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1" name="Google Shape;681;p52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2"/>
          <p:cNvSpPr txBox="1"/>
          <p:nvPr/>
        </p:nvSpPr>
        <p:spPr>
          <a:xfrm>
            <a:off x="7359526" y="2707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3" name="Google Shape;683;p52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5" name="Google Shape;685;p52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6" name="Google Shape;686;p52"/>
          <p:cNvSpPr/>
          <p:nvPr/>
        </p:nvSpPr>
        <p:spPr>
          <a:xfrm flipH="1" rot="10800000">
            <a:off x="5233955" y="2464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2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688" name="Google Shape;688;p52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689" name="Google Shape;689;p52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0" name="Google Shape;690;p52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1" name="Google Shape;691;p52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2" name="Google Shape;692;p52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2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4" name="Google Shape;694;p52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5" name="Google Shape;695;p52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6" name="Google Shape;696;p52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52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98" name="Google Shape;698;p52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9" name="Google Shape;699;p52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0" name="Google Shape;700;p52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2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02" name="Google Shape;702;p52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3" name="Google Shape;703;p52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52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05" name="Google Shape;705;p52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2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07" name="Google Shape;707;p52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2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09" name="Google Shape;709;p52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52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1" name="Google Shape;711;p52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2" name="Google Shape;712;p52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713" name="Google Shape;71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714" name="Google Shape;71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2"/>
          <p:cNvSpPr/>
          <p:nvPr/>
        </p:nvSpPr>
        <p:spPr>
          <a:xfrm>
            <a:off x="411200" y="2805450"/>
            <a:ext cx="3575700" cy="13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52"/>
          <p:cNvSpPr txBox="1"/>
          <p:nvPr/>
        </p:nvSpPr>
        <p:spPr>
          <a:xfrm>
            <a:off x="216150" y="2001575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Evolución en el tiempo: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717" name="Google Shape;717;p52"/>
          <p:cNvGraphicFramePr/>
          <p:nvPr/>
        </p:nvGraphicFramePr>
        <p:xfrm>
          <a:off x="311700" y="298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{758B86CB-26A1-444A-8B3C-77C1527010C4}</a:tableStyleId>
              </a:tblPr>
              <a:tblGrid>
                <a:gridCol w="1028400"/>
                <a:gridCol w="1028400"/>
                <a:gridCol w="1028400"/>
                <a:gridCol w="1028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from\to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Alcista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Bajista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Alcista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Bajista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3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4" name="Google Shape;724;p53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matemáticamente el proceso de regímenes de mercado?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estados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pueden ser discretos o continuos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5" name="Google Shape;725;p53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3"/>
          <p:cNvSpPr txBox="1"/>
          <p:nvPr/>
        </p:nvSpPr>
        <p:spPr>
          <a:xfrm>
            <a:off x="4425326" y="2661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7" name="Google Shape;727;p53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3"/>
          <p:cNvSpPr txBox="1"/>
          <p:nvPr/>
        </p:nvSpPr>
        <p:spPr>
          <a:xfrm>
            <a:off x="7359526" y="2707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9" name="Google Shape;729;p53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53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1" name="Google Shape;731;p53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2" name="Google Shape;732;p53"/>
          <p:cNvSpPr/>
          <p:nvPr/>
        </p:nvSpPr>
        <p:spPr>
          <a:xfrm flipH="1" rot="10800000">
            <a:off x="5233955" y="2464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3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734" name="Google Shape;734;p53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735" name="Google Shape;735;p53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6" name="Google Shape;736;p53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7" name="Google Shape;737;p53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8" name="Google Shape;738;p53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3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0" name="Google Shape;740;p53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1" name="Google Shape;741;p53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2" name="Google Shape;742;p53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3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44" name="Google Shape;744;p53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5" name="Google Shape;745;p53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6" name="Google Shape;746;p53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3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8" name="Google Shape;748;p53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9" name="Google Shape;749;p53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53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1" name="Google Shape;751;p53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53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3" name="Google Shape;753;p53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3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5" name="Google Shape;755;p53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53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7" name="Google Shape;757;p53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8" name="Google Shape;758;p53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759" name="Google Shape;75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760" name="Google Shape;76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53"/>
          <p:cNvSpPr/>
          <p:nvPr/>
        </p:nvSpPr>
        <p:spPr>
          <a:xfrm>
            <a:off x="411200" y="2805450"/>
            <a:ext cx="3575700" cy="13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53"/>
          <p:cNvSpPr txBox="1"/>
          <p:nvPr/>
        </p:nvSpPr>
        <p:spPr>
          <a:xfrm>
            <a:off x="216150" y="2077775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Evolución en el tiempo: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Matriz de transición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763" name="Google Shape;763;p53"/>
          <p:cNvGraphicFramePr/>
          <p:nvPr/>
        </p:nvGraphicFramePr>
        <p:xfrm>
          <a:off x="311700" y="298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{758B86CB-26A1-444A-8B3C-77C1527010C4}</a:tableStyleId>
              </a:tblPr>
              <a:tblGrid>
                <a:gridCol w="1028400"/>
                <a:gridCol w="1028400"/>
                <a:gridCol w="1028400"/>
                <a:gridCol w="1028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from\to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Alcista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Bajista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Alcista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0.9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0.075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0.025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Bajista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0.15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0.8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0.05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0.25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0.25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0.5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54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0" name="Google Shape;770;p54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matemáticamente el proceso de regímenes de mercado?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estados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pueden ser discretos o continuos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1" name="Google Shape;771;p54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4"/>
          <p:cNvSpPr txBox="1"/>
          <p:nvPr/>
        </p:nvSpPr>
        <p:spPr>
          <a:xfrm>
            <a:off x="4425326" y="2661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3" name="Google Shape;773;p54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54"/>
          <p:cNvSpPr txBox="1"/>
          <p:nvPr/>
        </p:nvSpPr>
        <p:spPr>
          <a:xfrm>
            <a:off x="7359526" y="2707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5" name="Google Shape;775;p54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4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7" name="Google Shape;777;p54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8" name="Google Shape;778;p54"/>
          <p:cNvSpPr/>
          <p:nvPr/>
        </p:nvSpPr>
        <p:spPr>
          <a:xfrm flipH="1" rot="10800000">
            <a:off x="5233955" y="2464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4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780" name="Google Shape;780;p54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781" name="Google Shape;781;p54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2" name="Google Shape;782;p54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3" name="Google Shape;783;p54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4" name="Google Shape;784;p54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4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6" name="Google Shape;786;p54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7" name="Google Shape;787;p54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8" name="Google Shape;788;p54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4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90" name="Google Shape;790;p54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1" name="Google Shape;791;p54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2" name="Google Shape;792;p54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54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94" name="Google Shape;794;p54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5" name="Google Shape;795;p54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54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97" name="Google Shape;797;p54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54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99" name="Google Shape;799;p54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4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01" name="Google Shape;801;p54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54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3" name="Google Shape;803;p54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4" name="Google Shape;804;p54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805" name="Google Shape;80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806" name="Google Shape;80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54"/>
          <p:cNvSpPr/>
          <p:nvPr/>
        </p:nvSpPr>
        <p:spPr>
          <a:xfrm>
            <a:off x="411200" y="2805450"/>
            <a:ext cx="3575700" cy="13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4"/>
          <p:cNvSpPr txBox="1"/>
          <p:nvPr/>
        </p:nvSpPr>
        <p:spPr>
          <a:xfrm>
            <a:off x="216150" y="2077775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Evolución en el tiempo: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Matriz de transición </a:t>
            </a:r>
            <a:r>
              <a:rPr b="1" i="1" lang="en" sz="1800">
                <a:solidFill>
                  <a:schemeClr val="dk2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809" name="Google Shape;80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9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55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6" name="Google Shape;816;p55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matemáticamente el proceso de regímenes de mercado?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estados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pueden ser discretos o continuos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7" name="Google Shape;817;p55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55"/>
          <p:cNvSpPr txBox="1"/>
          <p:nvPr/>
        </p:nvSpPr>
        <p:spPr>
          <a:xfrm>
            <a:off x="4425326" y="2661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9" name="Google Shape;819;p55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55"/>
          <p:cNvSpPr txBox="1"/>
          <p:nvPr/>
        </p:nvSpPr>
        <p:spPr>
          <a:xfrm>
            <a:off x="7359526" y="2707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1" name="Google Shape;821;p55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55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3" name="Google Shape;823;p55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4" name="Google Shape;824;p55"/>
          <p:cNvSpPr/>
          <p:nvPr/>
        </p:nvSpPr>
        <p:spPr>
          <a:xfrm flipH="1" rot="10800000">
            <a:off x="5233955" y="2464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55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826" name="Google Shape;826;p55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827" name="Google Shape;827;p55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8" name="Google Shape;828;p55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9" name="Google Shape;829;p55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0" name="Google Shape;830;p55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55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2" name="Google Shape;832;p55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3" name="Google Shape;833;p55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4" name="Google Shape;834;p55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5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36" name="Google Shape;836;p55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" name="Google Shape;837;p55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8" name="Google Shape;838;p55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55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0" name="Google Shape;840;p55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1" name="Google Shape;841;p55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55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3" name="Google Shape;843;p55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5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5" name="Google Shape;845;p55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5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7" name="Google Shape;847;p55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55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9" name="Google Shape;849;p55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0" name="Google Shape;850;p55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851" name="Google Shape;85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852" name="Google Shape;85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55"/>
          <p:cNvSpPr/>
          <p:nvPr/>
        </p:nvSpPr>
        <p:spPr>
          <a:xfrm>
            <a:off x="411200" y="2805450"/>
            <a:ext cx="3575700" cy="13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55"/>
          <p:cNvSpPr txBox="1"/>
          <p:nvPr/>
        </p:nvSpPr>
        <p:spPr>
          <a:xfrm>
            <a:off x="216150" y="2077775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Evolución en el tiempo: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Matriz de transición </a:t>
            </a:r>
            <a:r>
              <a:rPr b="1" i="1" lang="en" sz="1800">
                <a:solidFill>
                  <a:schemeClr val="dk2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r>
              <a:rPr lang="en" sz="1800">
                <a:solidFill>
                  <a:schemeClr val="dk2"/>
                </a:solidFill>
              </a:rPr>
              <a:t> define el proceso markoviano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855" name="Google Shape;85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9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Markovianos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56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2" name="Google Shape;862;p56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matemáticamente el proceso de regímenes de mercado?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estados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pueden ser discretos o continuos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3" name="Google Shape;863;p56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56"/>
          <p:cNvSpPr txBox="1"/>
          <p:nvPr/>
        </p:nvSpPr>
        <p:spPr>
          <a:xfrm>
            <a:off x="4425326" y="2661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5" name="Google Shape;865;p56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56"/>
          <p:cNvSpPr txBox="1"/>
          <p:nvPr/>
        </p:nvSpPr>
        <p:spPr>
          <a:xfrm>
            <a:off x="7359526" y="2707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7" name="Google Shape;867;p56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56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9" name="Google Shape;869;p56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0" name="Google Shape;870;p56"/>
          <p:cNvSpPr/>
          <p:nvPr/>
        </p:nvSpPr>
        <p:spPr>
          <a:xfrm flipH="1" rot="10800000">
            <a:off x="5233955" y="2464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6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872" name="Google Shape;872;p56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873" name="Google Shape;873;p56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74" name="Google Shape;874;p56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5" name="Google Shape;875;p56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6" name="Google Shape;876;p56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56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8" name="Google Shape;878;p56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9" name="Google Shape;879;p56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80" name="Google Shape;880;p56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6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82" name="Google Shape;882;p56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56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4" name="Google Shape;884;p56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6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86" name="Google Shape;886;p56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7" name="Google Shape;887;p56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56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89" name="Google Shape;889;p56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56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91" name="Google Shape;891;p56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6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93" name="Google Shape;893;p56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56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5" name="Google Shape;895;p56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6" name="Google Shape;896;p56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897" name="Google Shape;89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898" name="Google Shape;89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56"/>
          <p:cNvSpPr/>
          <p:nvPr/>
        </p:nvSpPr>
        <p:spPr>
          <a:xfrm>
            <a:off x="411200" y="2805450"/>
            <a:ext cx="3575700" cy="13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56"/>
          <p:cNvSpPr txBox="1"/>
          <p:nvPr/>
        </p:nvSpPr>
        <p:spPr>
          <a:xfrm>
            <a:off x="216150" y="2077775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Evolución en el tiempo: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Matriz de transición </a:t>
            </a:r>
            <a:r>
              <a:rPr b="1" i="1" lang="en" sz="1800">
                <a:solidFill>
                  <a:schemeClr val="dk2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r>
              <a:rPr lang="en" sz="1800">
                <a:solidFill>
                  <a:schemeClr val="dk2"/>
                </a:solidFill>
              </a:rPr>
              <a:t> define el proceso markoviano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Si el número de estados es finito, también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decimos </a:t>
            </a:r>
            <a:r>
              <a:rPr b="1" lang="en" sz="1800">
                <a:solidFill>
                  <a:schemeClr val="dk2"/>
                </a:solidFill>
              </a:rPr>
              <a:t>cadena markoviana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 = \left[&#10;\begin{matrix}&#10;0.9 &amp; 0.075 &amp; 0.025 \\&#10;0.15 &amp; 0.8 &amp; 0.05 \\&#10;0.25 &amp; 0.25 &amp; 0.5&#10;\end{matrix}&#10;\right]&#10;%74a806e7-2ce4-4d20-aa46-673b58781cae" id="901" name="Google Shape;90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950" y="2863500"/>
            <a:ext cx="3229615" cy="10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5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Propiedad de Markov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907" name="Google Shape;90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57"/>
          <p:cNvSpPr txBox="1"/>
          <p:nvPr/>
        </p:nvSpPr>
        <p:spPr>
          <a:xfrm>
            <a:off x="612150" y="946350"/>
            <a:ext cx="79197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“El futuro del proceso markoviano depende solamente del estado presente.”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Propiedad de Markov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914" name="Google Shape;91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58"/>
          <p:cNvSpPr txBox="1"/>
          <p:nvPr/>
        </p:nvSpPr>
        <p:spPr>
          <a:xfrm>
            <a:off x="612150" y="946350"/>
            <a:ext cx="79197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“El futuro del proceso markoviano depende solamente del estado presente.”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6" name="Google Shape;916;p58"/>
          <p:cNvSpPr txBox="1"/>
          <p:nvPr/>
        </p:nvSpPr>
        <p:spPr>
          <a:xfrm>
            <a:off x="98900" y="1434775"/>
            <a:ext cx="9045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de Markov: 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Propiedad de Markov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922" name="Google Shape;92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59"/>
          <p:cNvSpPr txBox="1"/>
          <p:nvPr/>
        </p:nvSpPr>
        <p:spPr>
          <a:xfrm>
            <a:off x="612150" y="946350"/>
            <a:ext cx="79197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“El futuro del proceso markoviano depende solamente del estado presente.”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4" name="Google Shape;924;p59"/>
          <p:cNvSpPr txBox="1"/>
          <p:nvPr/>
        </p:nvSpPr>
        <p:spPr>
          <a:xfrm>
            <a:off x="98900" y="1434775"/>
            <a:ext cx="9045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de Markov: 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b="1" i="1" lang="en" sz="1800">
                <a:solidFill>
                  <a:schemeClr val="dk2"/>
                </a:solidFill>
              </a:rPr>
              <a:t>, s</a:t>
            </a:r>
            <a:r>
              <a:rPr b="1" baseline="-25000" i="1" lang="en" sz="1800">
                <a:solidFill>
                  <a:schemeClr val="dk2"/>
                </a:solidFill>
              </a:rPr>
              <a:t>1</a:t>
            </a:r>
            <a:r>
              <a:rPr b="1" i="1" lang="en" sz="1800">
                <a:solidFill>
                  <a:schemeClr val="dk2"/>
                </a:solidFill>
              </a:rPr>
              <a:t>, s</a:t>
            </a:r>
            <a:r>
              <a:rPr b="1" baseline="-25000" i="1" lang="en" sz="1800">
                <a:solidFill>
                  <a:schemeClr val="dk2"/>
                </a:solidFill>
              </a:rPr>
              <a:t>2</a:t>
            </a:r>
            <a:r>
              <a:rPr b="1" i="1" lang="en" sz="1800">
                <a:solidFill>
                  <a:schemeClr val="dk2"/>
                </a:solidFill>
              </a:rPr>
              <a:t>, …</a:t>
            </a:r>
            <a:r>
              <a:rPr lang="en" sz="1800">
                <a:solidFill>
                  <a:schemeClr val="dk2"/>
                </a:solidFill>
              </a:rPr>
              <a:t>  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b="1" i="1" lang="en" sz="1800">
                <a:solidFill>
                  <a:schemeClr val="dk2"/>
                </a:solidFill>
              </a:rPr>
              <a:t> Є S </a:t>
            </a:r>
            <a:r>
              <a:rPr lang="en" sz="1800">
                <a:solidFill>
                  <a:schemeClr val="dk2"/>
                </a:solidFill>
              </a:rPr>
              <a:t>for t = 0,1,2,...)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6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Propiedad de Markov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930" name="Google Shape;93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60"/>
          <p:cNvSpPr txBox="1"/>
          <p:nvPr/>
        </p:nvSpPr>
        <p:spPr>
          <a:xfrm>
            <a:off x="612150" y="946350"/>
            <a:ext cx="79197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“El futuro del proceso markoviano depende solamente del estado presente.”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2" name="Google Shape;932;p60"/>
          <p:cNvSpPr txBox="1"/>
          <p:nvPr/>
        </p:nvSpPr>
        <p:spPr>
          <a:xfrm>
            <a:off x="98900" y="1434775"/>
            <a:ext cx="9045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de Markov: 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b="1" i="1" lang="en" sz="1800">
                <a:solidFill>
                  <a:schemeClr val="dk2"/>
                </a:solidFill>
              </a:rPr>
              <a:t>, s</a:t>
            </a:r>
            <a:r>
              <a:rPr b="1" baseline="-25000" i="1" lang="en" sz="1800">
                <a:solidFill>
                  <a:schemeClr val="dk2"/>
                </a:solidFill>
              </a:rPr>
              <a:t>1</a:t>
            </a:r>
            <a:r>
              <a:rPr b="1" i="1" lang="en" sz="1800">
                <a:solidFill>
                  <a:schemeClr val="dk2"/>
                </a:solidFill>
              </a:rPr>
              <a:t>, s</a:t>
            </a:r>
            <a:r>
              <a:rPr b="1" baseline="-25000" i="1" lang="en" sz="1800">
                <a:solidFill>
                  <a:schemeClr val="dk2"/>
                </a:solidFill>
              </a:rPr>
              <a:t>2</a:t>
            </a:r>
            <a:r>
              <a:rPr b="1" i="1" lang="en" sz="1800">
                <a:solidFill>
                  <a:schemeClr val="dk2"/>
                </a:solidFill>
              </a:rPr>
              <a:t>, …</a:t>
            </a:r>
            <a:r>
              <a:rPr lang="en" sz="1800">
                <a:solidFill>
                  <a:schemeClr val="dk2"/>
                </a:solidFill>
              </a:rPr>
              <a:t>  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b="1" i="1" lang="en" sz="1800">
                <a:solidFill>
                  <a:schemeClr val="dk2"/>
                </a:solidFill>
              </a:rPr>
              <a:t> Є S </a:t>
            </a:r>
            <a:r>
              <a:rPr lang="en" sz="1800">
                <a:solidFill>
                  <a:schemeClr val="dk2"/>
                </a:solidFill>
              </a:rPr>
              <a:t>for t = 0,1,2,...)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t+1</a:t>
            </a:r>
            <a:r>
              <a:rPr lang="en" sz="1800">
                <a:solidFill>
                  <a:schemeClr val="dk2"/>
                </a:solidFill>
              </a:rPr>
              <a:t>|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,...,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) =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t+1</a:t>
            </a:r>
            <a:r>
              <a:rPr lang="en" sz="1800">
                <a:solidFill>
                  <a:schemeClr val="dk2"/>
                </a:solidFill>
              </a:rPr>
              <a:t>|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estado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 </a:t>
            </a:r>
            <a:r>
              <a:rPr lang="en" sz="1800">
                <a:solidFill>
                  <a:schemeClr val="dk2"/>
                </a:solidFill>
              </a:rPr>
              <a:t>contiene toda la información relevante para el futuro del proceso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Si conocemos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, podemos olvidar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t-1</a:t>
            </a:r>
            <a:r>
              <a:rPr lang="en" sz="1800">
                <a:solidFill>
                  <a:schemeClr val="dk2"/>
                </a:solidFill>
              </a:rPr>
              <a:t>,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t-2</a:t>
            </a:r>
            <a:r>
              <a:rPr lang="en" sz="1800">
                <a:solidFill>
                  <a:schemeClr val="dk2"/>
                </a:solidFill>
              </a:rPr>
              <a:t> ,...,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6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Propiedad de Markov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938" name="Google Shape;93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61"/>
          <p:cNvSpPr txBox="1"/>
          <p:nvPr/>
        </p:nvSpPr>
        <p:spPr>
          <a:xfrm>
            <a:off x="612150" y="946350"/>
            <a:ext cx="79197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“El futuro del proceso markoviano depende solamente del estado presente.”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0" name="Google Shape;940;p61"/>
          <p:cNvSpPr txBox="1"/>
          <p:nvPr/>
        </p:nvSpPr>
        <p:spPr>
          <a:xfrm>
            <a:off x="98900" y="1434775"/>
            <a:ext cx="9045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de Markov: 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b="1" i="1" lang="en" sz="1800">
                <a:solidFill>
                  <a:schemeClr val="dk2"/>
                </a:solidFill>
              </a:rPr>
              <a:t>, s</a:t>
            </a:r>
            <a:r>
              <a:rPr b="1" baseline="-25000" i="1" lang="en" sz="1800">
                <a:solidFill>
                  <a:schemeClr val="dk2"/>
                </a:solidFill>
              </a:rPr>
              <a:t>1</a:t>
            </a:r>
            <a:r>
              <a:rPr b="1" i="1" lang="en" sz="1800">
                <a:solidFill>
                  <a:schemeClr val="dk2"/>
                </a:solidFill>
              </a:rPr>
              <a:t>, s</a:t>
            </a:r>
            <a:r>
              <a:rPr b="1" baseline="-25000" i="1" lang="en" sz="1800">
                <a:solidFill>
                  <a:schemeClr val="dk2"/>
                </a:solidFill>
              </a:rPr>
              <a:t>2</a:t>
            </a:r>
            <a:r>
              <a:rPr b="1" i="1" lang="en" sz="1800">
                <a:solidFill>
                  <a:schemeClr val="dk2"/>
                </a:solidFill>
              </a:rPr>
              <a:t>, …</a:t>
            </a:r>
            <a:r>
              <a:rPr lang="en" sz="1800">
                <a:solidFill>
                  <a:schemeClr val="dk2"/>
                </a:solidFill>
              </a:rPr>
              <a:t>  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b="1" i="1" lang="en" sz="1800">
                <a:solidFill>
                  <a:schemeClr val="dk2"/>
                </a:solidFill>
              </a:rPr>
              <a:t> Є S </a:t>
            </a:r>
            <a:r>
              <a:rPr lang="en" sz="1800">
                <a:solidFill>
                  <a:schemeClr val="dk2"/>
                </a:solidFill>
              </a:rPr>
              <a:t>for t = 0,1,2,...)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t+1</a:t>
            </a:r>
            <a:r>
              <a:rPr lang="en" sz="1800">
                <a:solidFill>
                  <a:schemeClr val="dk2"/>
                </a:solidFill>
              </a:rPr>
              <a:t>|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,...,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) =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t+1</a:t>
            </a:r>
            <a:r>
              <a:rPr lang="en" sz="1800">
                <a:solidFill>
                  <a:schemeClr val="dk2"/>
                </a:solidFill>
              </a:rPr>
              <a:t>|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estado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 </a:t>
            </a:r>
            <a:r>
              <a:rPr lang="en" sz="1800">
                <a:solidFill>
                  <a:schemeClr val="dk2"/>
                </a:solidFill>
              </a:rPr>
              <a:t>contiene toda la información relevante para el futuro del proceso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Si conocemos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, podemos olvidar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t-1</a:t>
            </a:r>
            <a:r>
              <a:rPr lang="en" sz="1800">
                <a:solidFill>
                  <a:schemeClr val="dk2"/>
                </a:solidFill>
              </a:rPr>
              <a:t>,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t-2</a:t>
            </a:r>
            <a:r>
              <a:rPr lang="en" sz="1800">
                <a:solidFill>
                  <a:schemeClr val="dk2"/>
                </a:solidFill>
              </a:rPr>
              <a:t> ,...,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t+1</a:t>
            </a:r>
            <a:r>
              <a:rPr lang="en" sz="1800">
                <a:solidFill>
                  <a:schemeClr val="dk2"/>
                </a:solidFill>
              </a:rPr>
              <a:t>= s|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= s’) =   </a:t>
            </a:r>
            <a:r>
              <a:rPr b="1" i="1" lang="en" sz="1800">
                <a:solidFill>
                  <a:schemeClr val="dk2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(s,s’)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Propiedad de Markov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946" name="Google Shape;94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62"/>
          <p:cNvSpPr txBox="1"/>
          <p:nvPr/>
        </p:nvSpPr>
        <p:spPr>
          <a:xfrm>
            <a:off x="612150" y="946350"/>
            <a:ext cx="79197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“El futuro del proceso markoviano depende solamente del estado presente.”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8" name="Google Shape;948;p62"/>
          <p:cNvSpPr txBox="1"/>
          <p:nvPr/>
        </p:nvSpPr>
        <p:spPr>
          <a:xfrm>
            <a:off x="98900" y="1434775"/>
            <a:ext cx="9045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de Markov: 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b="1" i="1" lang="en" sz="1800">
                <a:solidFill>
                  <a:schemeClr val="dk2"/>
                </a:solidFill>
              </a:rPr>
              <a:t>, s</a:t>
            </a:r>
            <a:r>
              <a:rPr b="1" baseline="-25000" i="1" lang="en" sz="1800">
                <a:solidFill>
                  <a:schemeClr val="dk2"/>
                </a:solidFill>
              </a:rPr>
              <a:t>1</a:t>
            </a:r>
            <a:r>
              <a:rPr b="1" i="1" lang="en" sz="1800">
                <a:solidFill>
                  <a:schemeClr val="dk2"/>
                </a:solidFill>
              </a:rPr>
              <a:t>, s</a:t>
            </a:r>
            <a:r>
              <a:rPr b="1" baseline="-25000" i="1" lang="en" sz="1800">
                <a:solidFill>
                  <a:schemeClr val="dk2"/>
                </a:solidFill>
              </a:rPr>
              <a:t>2</a:t>
            </a:r>
            <a:r>
              <a:rPr b="1" i="1" lang="en" sz="1800">
                <a:solidFill>
                  <a:schemeClr val="dk2"/>
                </a:solidFill>
              </a:rPr>
              <a:t>, …</a:t>
            </a:r>
            <a:r>
              <a:rPr lang="en" sz="1800">
                <a:solidFill>
                  <a:schemeClr val="dk2"/>
                </a:solidFill>
              </a:rPr>
              <a:t>  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b="1" i="1" lang="en" sz="1800">
                <a:solidFill>
                  <a:schemeClr val="dk2"/>
                </a:solidFill>
              </a:rPr>
              <a:t> Є S </a:t>
            </a:r>
            <a:r>
              <a:rPr lang="en" sz="1800">
                <a:solidFill>
                  <a:schemeClr val="dk2"/>
                </a:solidFill>
              </a:rPr>
              <a:t>for t = 0,1,2,...)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t+1</a:t>
            </a:r>
            <a:r>
              <a:rPr lang="en" sz="1800">
                <a:solidFill>
                  <a:schemeClr val="dk2"/>
                </a:solidFill>
              </a:rPr>
              <a:t>|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,...,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) =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t+1</a:t>
            </a:r>
            <a:r>
              <a:rPr lang="en" sz="1800">
                <a:solidFill>
                  <a:schemeClr val="dk2"/>
                </a:solidFill>
              </a:rPr>
              <a:t>|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estado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 </a:t>
            </a:r>
            <a:r>
              <a:rPr lang="en" sz="1800">
                <a:solidFill>
                  <a:schemeClr val="dk2"/>
                </a:solidFill>
              </a:rPr>
              <a:t>contiene toda la información relevante para el futuro del proceso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Si conocemos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, podemos olvidar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t-1</a:t>
            </a:r>
            <a:r>
              <a:rPr lang="en" sz="1800">
                <a:solidFill>
                  <a:schemeClr val="dk2"/>
                </a:solidFill>
              </a:rPr>
              <a:t>,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t-2</a:t>
            </a:r>
            <a:r>
              <a:rPr lang="en" sz="1800">
                <a:solidFill>
                  <a:schemeClr val="dk2"/>
                </a:solidFill>
              </a:rPr>
              <a:t> ,...,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t+1</a:t>
            </a:r>
            <a:r>
              <a:rPr lang="en" sz="1800">
                <a:solidFill>
                  <a:schemeClr val="dk2"/>
                </a:solidFill>
              </a:rPr>
              <a:t>= s|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= s’) =   </a:t>
            </a:r>
            <a:r>
              <a:rPr b="1" i="1" lang="en" sz="1800">
                <a:solidFill>
                  <a:schemeClr val="dk2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(s,s’)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E.g. Prob</a:t>
            </a:r>
            <a:r>
              <a:rPr b="1" i="1" lang="en" sz="1800">
                <a:solidFill>
                  <a:schemeClr val="dk2"/>
                </a:solidFill>
              </a:rPr>
              <a:t>(s</a:t>
            </a:r>
            <a:r>
              <a:rPr b="1" baseline="-25000" i="1" lang="en" sz="1800">
                <a:solidFill>
                  <a:schemeClr val="dk2"/>
                </a:solidFill>
              </a:rPr>
              <a:t>t+1</a:t>
            </a:r>
            <a:r>
              <a:rPr b="1" i="1" lang="en" sz="1800">
                <a:solidFill>
                  <a:schemeClr val="dk2"/>
                </a:solidFill>
              </a:rPr>
              <a:t>= </a:t>
            </a:r>
            <a:r>
              <a:rPr b="1" lang="en" sz="1800">
                <a:solidFill>
                  <a:schemeClr val="dk2"/>
                </a:solidFill>
              </a:rPr>
              <a:t>Bajista</a:t>
            </a:r>
            <a:r>
              <a:rPr b="1" i="1" lang="en" sz="1800">
                <a:solidFill>
                  <a:schemeClr val="dk2"/>
                </a:solidFill>
              </a:rPr>
              <a:t> | 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b="1" i="1" lang="en" sz="1800">
                <a:solidFill>
                  <a:schemeClr val="dk2"/>
                </a:solidFill>
              </a:rPr>
              <a:t> = Alcista) =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b="1" i="1" lang="en" sz="1800">
                <a:solidFill>
                  <a:schemeClr val="dk2"/>
                </a:solidFill>
              </a:rPr>
              <a:t>P(Alcista, Bajista) = 0.075</a:t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6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Propiedad de Markov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63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5" name="Google Shape;955;p63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Cuál es la probabilidad de tener un mercado bajista en la próxima semana después de haber tenido un mercado alcista en las últimas 5 semanas?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Cuál es la probabilidad de tener un mercado bajista en la próxima semana después de haber tenido un mercado alcista en la última semana, y bajista en las 4 anteriores?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      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6" name="Google Shape;956;p63"/>
          <p:cNvSpPr/>
          <p:nvPr/>
        </p:nvSpPr>
        <p:spPr>
          <a:xfrm>
            <a:off x="4932739" y="3037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63"/>
          <p:cNvSpPr txBox="1"/>
          <p:nvPr/>
        </p:nvSpPr>
        <p:spPr>
          <a:xfrm>
            <a:off x="4425326" y="3042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8" name="Google Shape;958;p63"/>
          <p:cNvSpPr/>
          <p:nvPr/>
        </p:nvSpPr>
        <p:spPr>
          <a:xfrm>
            <a:off x="7823965" y="3037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3"/>
          <p:cNvSpPr txBox="1"/>
          <p:nvPr/>
        </p:nvSpPr>
        <p:spPr>
          <a:xfrm>
            <a:off x="7359526" y="3088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0" name="Google Shape;960;p63"/>
          <p:cNvSpPr/>
          <p:nvPr/>
        </p:nvSpPr>
        <p:spPr>
          <a:xfrm>
            <a:off x="6291764" y="3945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63"/>
          <p:cNvSpPr txBox="1"/>
          <p:nvPr/>
        </p:nvSpPr>
        <p:spPr>
          <a:xfrm>
            <a:off x="6239128" y="3956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2" name="Google Shape;962;p63"/>
          <p:cNvSpPr/>
          <p:nvPr/>
        </p:nvSpPr>
        <p:spPr>
          <a:xfrm>
            <a:off x="4968899" y="2504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63" name="Google Shape;963;p63"/>
          <p:cNvSpPr/>
          <p:nvPr/>
        </p:nvSpPr>
        <p:spPr>
          <a:xfrm flipH="1" rot="10800000">
            <a:off x="5233955" y="2845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63"/>
          <p:cNvSpPr txBox="1"/>
          <p:nvPr/>
        </p:nvSpPr>
        <p:spPr>
          <a:xfrm>
            <a:off x="5310142" y="2415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965" name="Google Shape;965;p63"/>
          <p:cNvGrpSpPr/>
          <p:nvPr/>
        </p:nvGrpSpPr>
        <p:grpSpPr>
          <a:xfrm>
            <a:off x="5736481" y="3087608"/>
            <a:ext cx="2074035" cy="212542"/>
            <a:chOff x="3084775" y="3358200"/>
            <a:chExt cx="3088200" cy="259800"/>
          </a:xfrm>
        </p:grpSpPr>
        <p:cxnSp>
          <p:nvCxnSpPr>
            <p:cNvPr id="966" name="Google Shape;966;p63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7" name="Google Shape;967;p63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8" name="Google Shape;968;p63"/>
          <p:cNvSpPr txBox="1"/>
          <p:nvPr/>
        </p:nvSpPr>
        <p:spPr>
          <a:xfrm>
            <a:off x="6303128" y="2831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9" name="Google Shape;969;p63"/>
          <p:cNvSpPr/>
          <p:nvPr/>
        </p:nvSpPr>
        <p:spPr>
          <a:xfrm flipH="1" rot="5400000">
            <a:off x="6072188" y="4229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3"/>
          <p:cNvSpPr/>
          <p:nvPr/>
        </p:nvSpPr>
        <p:spPr>
          <a:xfrm>
            <a:off x="5463694" y="3626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71" name="Google Shape;971;p63"/>
          <p:cNvSpPr txBox="1"/>
          <p:nvPr/>
        </p:nvSpPr>
        <p:spPr>
          <a:xfrm>
            <a:off x="5208924" y="4140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2" name="Google Shape;972;p63"/>
          <p:cNvSpPr/>
          <p:nvPr/>
        </p:nvSpPr>
        <p:spPr>
          <a:xfrm>
            <a:off x="7942302" y="2473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73" name="Google Shape;973;p63"/>
          <p:cNvSpPr/>
          <p:nvPr/>
        </p:nvSpPr>
        <p:spPr>
          <a:xfrm flipH="1" rot="10800000">
            <a:off x="8207358" y="2815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63"/>
          <p:cNvSpPr txBox="1"/>
          <p:nvPr/>
        </p:nvSpPr>
        <p:spPr>
          <a:xfrm>
            <a:off x="8330661" y="2443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75" name="Google Shape;975;p63"/>
          <p:cNvCxnSpPr/>
          <p:nvPr/>
        </p:nvCxnSpPr>
        <p:spPr>
          <a:xfrm>
            <a:off x="5825438" y="3330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6" name="Google Shape;976;p63"/>
          <p:cNvSpPr txBox="1"/>
          <p:nvPr/>
        </p:nvSpPr>
        <p:spPr>
          <a:xfrm>
            <a:off x="6327628" y="3243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7" name="Google Shape;977;p63"/>
          <p:cNvSpPr/>
          <p:nvPr/>
        </p:nvSpPr>
        <p:spPr>
          <a:xfrm rot="-5400000">
            <a:off x="5761277" y="3253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63"/>
          <p:cNvSpPr/>
          <p:nvPr/>
        </p:nvSpPr>
        <p:spPr>
          <a:xfrm flipH="1">
            <a:off x="7204617" y="3630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79" name="Google Shape;979;p63"/>
          <p:cNvSpPr txBox="1"/>
          <p:nvPr/>
        </p:nvSpPr>
        <p:spPr>
          <a:xfrm>
            <a:off x="7650777" y="4128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0" name="Google Shape;980;p63"/>
          <p:cNvSpPr/>
          <p:nvPr/>
        </p:nvSpPr>
        <p:spPr>
          <a:xfrm flipH="1" rot="-5400000">
            <a:off x="7075863" y="4191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3"/>
          <p:cNvSpPr/>
          <p:nvPr/>
        </p:nvSpPr>
        <p:spPr>
          <a:xfrm flipH="1" rot="10800000">
            <a:off x="6377600" y="4507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82" name="Google Shape;982;p63"/>
          <p:cNvSpPr/>
          <p:nvPr/>
        </p:nvSpPr>
        <p:spPr>
          <a:xfrm>
            <a:off x="6648089" y="4535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3"/>
          <p:cNvSpPr/>
          <p:nvPr/>
        </p:nvSpPr>
        <p:spPr>
          <a:xfrm rot="10800000">
            <a:off x="5685374" y="3534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84" name="Google Shape;984;p63"/>
          <p:cNvSpPr/>
          <p:nvPr/>
        </p:nvSpPr>
        <p:spPr>
          <a:xfrm rot="-5400000">
            <a:off x="5639263" y="3461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63"/>
          <p:cNvSpPr/>
          <p:nvPr/>
        </p:nvSpPr>
        <p:spPr>
          <a:xfrm flipH="1" rot="10800000">
            <a:off x="6822572" y="3450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86" name="Google Shape;986;p63"/>
          <p:cNvSpPr/>
          <p:nvPr/>
        </p:nvSpPr>
        <p:spPr>
          <a:xfrm flipH="1" rot="5400000">
            <a:off x="7665608" y="3390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63"/>
          <p:cNvSpPr txBox="1"/>
          <p:nvPr/>
        </p:nvSpPr>
        <p:spPr>
          <a:xfrm>
            <a:off x="6049012" y="4698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8" name="Google Shape;988;p63"/>
          <p:cNvSpPr txBox="1"/>
          <p:nvPr/>
        </p:nvSpPr>
        <p:spPr>
          <a:xfrm>
            <a:off x="5752038" y="3561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9" name="Google Shape;989;p63"/>
          <p:cNvSpPr txBox="1"/>
          <p:nvPr/>
        </p:nvSpPr>
        <p:spPr>
          <a:xfrm>
            <a:off x="6836798" y="3557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990" name="Google Shape;99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 = \left[&#10;\begin{matrix}&#10;0.9 &amp; 0.075 &amp; 0.025 \\&#10;0.15 &amp; 0.8 &amp; 0.05 \\&#10;0.25 &amp; 0.25 &amp; 0.5&#10;\end{matrix}&#10;\right]&#10;%74a806e7-2ce4-4d20-aa46-673b58781cae" id="991" name="Google Shape;991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557650"/>
            <a:ext cx="3229615" cy="10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Propiedad de Markov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4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8" name="Google Shape;998;p64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Cuál es la probabilidad de tener un mercado bajista en la próxima semana </a:t>
            </a:r>
            <a:r>
              <a:rPr b="1" lang="en" sz="1800">
                <a:solidFill>
                  <a:schemeClr val="dk2"/>
                </a:solidFill>
              </a:rPr>
              <a:t>después de haber tenido un mercado alcista en las últimas 5 semanas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Cuál es la probabilidad de tener un mercado bajista en la próxima semana </a:t>
            </a:r>
            <a:r>
              <a:rPr b="1" lang="en" sz="1800">
                <a:solidFill>
                  <a:schemeClr val="dk2"/>
                </a:solidFill>
              </a:rPr>
              <a:t>después de haber tenido un mercado alcista en la última semana, y bajista en las 4 anteriores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      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9" name="Google Shape;999;p64"/>
          <p:cNvSpPr/>
          <p:nvPr/>
        </p:nvSpPr>
        <p:spPr>
          <a:xfrm>
            <a:off x="4932739" y="3037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00" name="Google Shape;1000;p64"/>
          <p:cNvSpPr txBox="1"/>
          <p:nvPr/>
        </p:nvSpPr>
        <p:spPr>
          <a:xfrm>
            <a:off x="4425326" y="3042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Alcista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01" name="Google Shape;1001;p64"/>
          <p:cNvSpPr/>
          <p:nvPr/>
        </p:nvSpPr>
        <p:spPr>
          <a:xfrm>
            <a:off x="7823965" y="3037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4"/>
          <p:cNvSpPr txBox="1"/>
          <p:nvPr/>
        </p:nvSpPr>
        <p:spPr>
          <a:xfrm>
            <a:off x="7359526" y="3088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3" name="Google Shape;1003;p64"/>
          <p:cNvSpPr/>
          <p:nvPr/>
        </p:nvSpPr>
        <p:spPr>
          <a:xfrm>
            <a:off x="6291764" y="3945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4"/>
          <p:cNvSpPr txBox="1"/>
          <p:nvPr/>
        </p:nvSpPr>
        <p:spPr>
          <a:xfrm>
            <a:off x="6239128" y="3956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5" name="Google Shape;1005;p64"/>
          <p:cNvSpPr/>
          <p:nvPr/>
        </p:nvSpPr>
        <p:spPr>
          <a:xfrm>
            <a:off x="4968899" y="2504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06" name="Google Shape;1006;p64"/>
          <p:cNvSpPr/>
          <p:nvPr/>
        </p:nvSpPr>
        <p:spPr>
          <a:xfrm flipH="1" rot="10800000">
            <a:off x="5233955" y="2845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4"/>
          <p:cNvSpPr txBox="1"/>
          <p:nvPr/>
        </p:nvSpPr>
        <p:spPr>
          <a:xfrm>
            <a:off x="5310142" y="2415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008" name="Google Shape;1008;p64"/>
          <p:cNvGrpSpPr/>
          <p:nvPr/>
        </p:nvGrpSpPr>
        <p:grpSpPr>
          <a:xfrm>
            <a:off x="5736481" y="3087608"/>
            <a:ext cx="2074035" cy="212542"/>
            <a:chOff x="3084775" y="3358200"/>
            <a:chExt cx="3088200" cy="259800"/>
          </a:xfrm>
        </p:grpSpPr>
        <p:cxnSp>
          <p:nvCxnSpPr>
            <p:cNvPr id="1009" name="Google Shape;1009;p64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0" name="Google Shape;1010;p64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1" name="Google Shape;1011;p64"/>
          <p:cNvSpPr txBox="1"/>
          <p:nvPr/>
        </p:nvSpPr>
        <p:spPr>
          <a:xfrm>
            <a:off x="6303128" y="2831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2" name="Google Shape;1012;p64"/>
          <p:cNvSpPr/>
          <p:nvPr/>
        </p:nvSpPr>
        <p:spPr>
          <a:xfrm flipH="1" rot="5400000">
            <a:off x="6072188" y="4229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4"/>
          <p:cNvSpPr/>
          <p:nvPr/>
        </p:nvSpPr>
        <p:spPr>
          <a:xfrm>
            <a:off x="5463694" y="3626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14" name="Google Shape;1014;p64"/>
          <p:cNvSpPr txBox="1"/>
          <p:nvPr/>
        </p:nvSpPr>
        <p:spPr>
          <a:xfrm>
            <a:off x="5208924" y="4140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5" name="Google Shape;1015;p64"/>
          <p:cNvSpPr/>
          <p:nvPr/>
        </p:nvSpPr>
        <p:spPr>
          <a:xfrm>
            <a:off x="7942302" y="2473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16" name="Google Shape;1016;p64"/>
          <p:cNvSpPr/>
          <p:nvPr/>
        </p:nvSpPr>
        <p:spPr>
          <a:xfrm flipH="1" rot="10800000">
            <a:off x="8207358" y="2815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64"/>
          <p:cNvSpPr txBox="1"/>
          <p:nvPr/>
        </p:nvSpPr>
        <p:spPr>
          <a:xfrm>
            <a:off x="8330661" y="2443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18" name="Google Shape;1018;p64"/>
          <p:cNvCxnSpPr/>
          <p:nvPr/>
        </p:nvCxnSpPr>
        <p:spPr>
          <a:xfrm>
            <a:off x="5825438" y="3330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9" name="Google Shape;1019;p64"/>
          <p:cNvSpPr txBox="1"/>
          <p:nvPr/>
        </p:nvSpPr>
        <p:spPr>
          <a:xfrm>
            <a:off x="6327628" y="3243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0" name="Google Shape;1020;p64"/>
          <p:cNvSpPr/>
          <p:nvPr/>
        </p:nvSpPr>
        <p:spPr>
          <a:xfrm rot="-5400000">
            <a:off x="5761277" y="3253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4"/>
          <p:cNvSpPr/>
          <p:nvPr/>
        </p:nvSpPr>
        <p:spPr>
          <a:xfrm flipH="1">
            <a:off x="7204617" y="3630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2" name="Google Shape;1022;p64"/>
          <p:cNvSpPr txBox="1"/>
          <p:nvPr/>
        </p:nvSpPr>
        <p:spPr>
          <a:xfrm>
            <a:off x="7650777" y="4128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3" name="Google Shape;1023;p64"/>
          <p:cNvSpPr/>
          <p:nvPr/>
        </p:nvSpPr>
        <p:spPr>
          <a:xfrm flipH="1" rot="-5400000">
            <a:off x="7075863" y="4191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64"/>
          <p:cNvSpPr/>
          <p:nvPr/>
        </p:nvSpPr>
        <p:spPr>
          <a:xfrm flipH="1" rot="10800000">
            <a:off x="6377600" y="4507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5" name="Google Shape;1025;p64"/>
          <p:cNvSpPr/>
          <p:nvPr/>
        </p:nvSpPr>
        <p:spPr>
          <a:xfrm>
            <a:off x="6648089" y="4535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4"/>
          <p:cNvSpPr/>
          <p:nvPr/>
        </p:nvSpPr>
        <p:spPr>
          <a:xfrm rot="10800000">
            <a:off x="5685374" y="3534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7" name="Google Shape;1027;p64"/>
          <p:cNvSpPr/>
          <p:nvPr/>
        </p:nvSpPr>
        <p:spPr>
          <a:xfrm rot="-5400000">
            <a:off x="5639263" y="3461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4"/>
          <p:cNvSpPr/>
          <p:nvPr/>
        </p:nvSpPr>
        <p:spPr>
          <a:xfrm flipH="1" rot="10800000">
            <a:off x="6822572" y="3450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9" name="Google Shape;1029;p64"/>
          <p:cNvSpPr/>
          <p:nvPr/>
        </p:nvSpPr>
        <p:spPr>
          <a:xfrm flipH="1" rot="5400000">
            <a:off x="7665608" y="3390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64"/>
          <p:cNvSpPr txBox="1"/>
          <p:nvPr/>
        </p:nvSpPr>
        <p:spPr>
          <a:xfrm>
            <a:off x="6049012" y="4698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1" name="Google Shape;1031;p64"/>
          <p:cNvSpPr txBox="1"/>
          <p:nvPr/>
        </p:nvSpPr>
        <p:spPr>
          <a:xfrm>
            <a:off x="5752038" y="3561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2" name="Google Shape;1032;p64"/>
          <p:cNvSpPr txBox="1"/>
          <p:nvPr/>
        </p:nvSpPr>
        <p:spPr>
          <a:xfrm>
            <a:off x="6836798" y="3557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033" name="Google Shape;103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 = \left[&#10;\begin{matrix}&#10;0.9 &amp; 0.075 &amp; 0.025 \\&#10;0.15 &amp; 0.8 &amp; 0.05 \\&#10;0.25 &amp; 0.25 &amp; 0.5&#10;\end{matrix}&#10;\right]&#10;%74a806e7-2ce4-4d20-aa46-673b58781cae" id="1034" name="Google Shape;1034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557650"/>
            <a:ext cx="3229615" cy="10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Propiedad de Markov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5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1" name="Google Shape;1041;p65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Cuál es la probabilidad de tener un mercado bajista en la próxima semana </a:t>
            </a:r>
            <a:r>
              <a:rPr b="1" lang="en" sz="1800">
                <a:solidFill>
                  <a:schemeClr val="dk2"/>
                </a:solidFill>
              </a:rPr>
              <a:t>después de haber tenido un mercado alcista en las últimas 5 semanas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Cuál es la probabilidad de tener un mercado bajista en la próxima semana </a:t>
            </a:r>
            <a:r>
              <a:rPr b="1" lang="en" sz="1800">
                <a:solidFill>
                  <a:schemeClr val="dk2"/>
                </a:solidFill>
              </a:rPr>
              <a:t>después de haber tenido un mercado alcista en la última semana, y bajista en las 4 anteriores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      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2" name="Google Shape;1042;p65"/>
          <p:cNvSpPr/>
          <p:nvPr/>
        </p:nvSpPr>
        <p:spPr>
          <a:xfrm>
            <a:off x="4932739" y="3037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43" name="Google Shape;1043;p65"/>
          <p:cNvSpPr txBox="1"/>
          <p:nvPr/>
        </p:nvSpPr>
        <p:spPr>
          <a:xfrm>
            <a:off x="4425326" y="3042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Alcista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44" name="Google Shape;1044;p65"/>
          <p:cNvSpPr/>
          <p:nvPr/>
        </p:nvSpPr>
        <p:spPr>
          <a:xfrm>
            <a:off x="7823965" y="3037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65"/>
          <p:cNvSpPr txBox="1"/>
          <p:nvPr/>
        </p:nvSpPr>
        <p:spPr>
          <a:xfrm>
            <a:off x="7359526" y="3088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Bajista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46" name="Google Shape;1046;p65"/>
          <p:cNvSpPr/>
          <p:nvPr/>
        </p:nvSpPr>
        <p:spPr>
          <a:xfrm>
            <a:off x="6291764" y="3945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5"/>
          <p:cNvSpPr txBox="1"/>
          <p:nvPr/>
        </p:nvSpPr>
        <p:spPr>
          <a:xfrm>
            <a:off x="6239128" y="3956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8" name="Google Shape;1048;p65"/>
          <p:cNvSpPr/>
          <p:nvPr/>
        </p:nvSpPr>
        <p:spPr>
          <a:xfrm>
            <a:off x="4968899" y="2504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49" name="Google Shape;1049;p65"/>
          <p:cNvSpPr/>
          <p:nvPr/>
        </p:nvSpPr>
        <p:spPr>
          <a:xfrm flipH="1" rot="10800000">
            <a:off x="5233955" y="2845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65"/>
          <p:cNvSpPr txBox="1"/>
          <p:nvPr/>
        </p:nvSpPr>
        <p:spPr>
          <a:xfrm>
            <a:off x="5310142" y="2415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51" name="Google Shape;1051;p65"/>
          <p:cNvCxnSpPr/>
          <p:nvPr/>
        </p:nvCxnSpPr>
        <p:spPr>
          <a:xfrm>
            <a:off x="5736481" y="3190321"/>
            <a:ext cx="2016613" cy="711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2" name="Google Shape;1052;p65"/>
          <p:cNvSpPr/>
          <p:nvPr/>
        </p:nvSpPr>
        <p:spPr>
          <a:xfrm rot="5400000">
            <a:off x="7624358" y="3113993"/>
            <a:ext cx="212542" cy="159774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65"/>
          <p:cNvSpPr txBox="1"/>
          <p:nvPr/>
        </p:nvSpPr>
        <p:spPr>
          <a:xfrm>
            <a:off x="6303128" y="2831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0.075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54" name="Google Shape;1054;p65"/>
          <p:cNvSpPr/>
          <p:nvPr/>
        </p:nvSpPr>
        <p:spPr>
          <a:xfrm flipH="1" rot="5400000">
            <a:off x="6072188" y="4229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65"/>
          <p:cNvSpPr/>
          <p:nvPr/>
        </p:nvSpPr>
        <p:spPr>
          <a:xfrm>
            <a:off x="5463694" y="3626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56" name="Google Shape;1056;p65"/>
          <p:cNvSpPr txBox="1"/>
          <p:nvPr/>
        </p:nvSpPr>
        <p:spPr>
          <a:xfrm>
            <a:off x="5208924" y="4140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7" name="Google Shape;1057;p65"/>
          <p:cNvSpPr/>
          <p:nvPr/>
        </p:nvSpPr>
        <p:spPr>
          <a:xfrm>
            <a:off x="7942302" y="2473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58" name="Google Shape;1058;p65"/>
          <p:cNvSpPr/>
          <p:nvPr/>
        </p:nvSpPr>
        <p:spPr>
          <a:xfrm flipH="1" rot="10800000">
            <a:off x="8207358" y="2815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5"/>
          <p:cNvSpPr txBox="1"/>
          <p:nvPr/>
        </p:nvSpPr>
        <p:spPr>
          <a:xfrm>
            <a:off x="8330661" y="2443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60" name="Google Shape;1060;p65"/>
          <p:cNvCxnSpPr/>
          <p:nvPr/>
        </p:nvCxnSpPr>
        <p:spPr>
          <a:xfrm>
            <a:off x="5825438" y="3330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1" name="Google Shape;1061;p65"/>
          <p:cNvSpPr txBox="1"/>
          <p:nvPr/>
        </p:nvSpPr>
        <p:spPr>
          <a:xfrm>
            <a:off x="6327628" y="3243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2" name="Google Shape;1062;p65"/>
          <p:cNvSpPr/>
          <p:nvPr/>
        </p:nvSpPr>
        <p:spPr>
          <a:xfrm rot="-5400000">
            <a:off x="5761277" y="3253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5"/>
          <p:cNvSpPr/>
          <p:nvPr/>
        </p:nvSpPr>
        <p:spPr>
          <a:xfrm flipH="1">
            <a:off x="7204617" y="3630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4" name="Google Shape;1064;p65"/>
          <p:cNvSpPr txBox="1"/>
          <p:nvPr/>
        </p:nvSpPr>
        <p:spPr>
          <a:xfrm>
            <a:off x="7650777" y="4128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5" name="Google Shape;1065;p65"/>
          <p:cNvSpPr/>
          <p:nvPr/>
        </p:nvSpPr>
        <p:spPr>
          <a:xfrm flipH="1" rot="-5400000">
            <a:off x="7075863" y="4191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5"/>
          <p:cNvSpPr/>
          <p:nvPr/>
        </p:nvSpPr>
        <p:spPr>
          <a:xfrm flipH="1" rot="10800000">
            <a:off x="6377600" y="4507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7" name="Google Shape;1067;p65"/>
          <p:cNvSpPr/>
          <p:nvPr/>
        </p:nvSpPr>
        <p:spPr>
          <a:xfrm>
            <a:off x="6648089" y="4535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65"/>
          <p:cNvSpPr/>
          <p:nvPr/>
        </p:nvSpPr>
        <p:spPr>
          <a:xfrm rot="10800000">
            <a:off x="5685374" y="3534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9" name="Google Shape;1069;p65"/>
          <p:cNvSpPr/>
          <p:nvPr/>
        </p:nvSpPr>
        <p:spPr>
          <a:xfrm rot="-5400000">
            <a:off x="5639263" y="3461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65"/>
          <p:cNvSpPr/>
          <p:nvPr/>
        </p:nvSpPr>
        <p:spPr>
          <a:xfrm flipH="1" rot="10800000">
            <a:off x="6822572" y="3450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1" name="Google Shape;1071;p65"/>
          <p:cNvSpPr/>
          <p:nvPr/>
        </p:nvSpPr>
        <p:spPr>
          <a:xfrm flipH="1" rot="5400000">
            <a:off x="7665608" y="3390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65"/>
          <p:cNvSpPr txBox="1"/>
          <p:nvPr/>
        </p:nvSpPr>
        <p:spPr>
          <a:xfrm>
            <a:off x="6049012" y="4698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3" name="Google Shape;1073;p65"/>
          <p:cNvSpPr txBox="1"/>
          <p:nvPr/>
        </p:nvSpPr>
        <p:spPr>
          <a:xfrm>
            <a:off x="5752038" y="3561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4" name="Google Shape;1074;p65"/>
          <p:cNvSpPr txBox="1"/>
          <p:nvPr/>
        </p:nvSpPr>
        <p:spPr>
          <a:xfrm>
            <a:off x="6836798" y="3557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075" name="Google Shape;107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 = \left[&#10;\begin{matrix}&#10;0.9 &amp; 0.075 &amp; 0.025 \\&#10;0.15 &amp; 0.8 &amp; 0.05 \\&#10;0.25 &amp; 0.25 &amp; 0.5&#10;\end{matrix}&#10;\right]&#10;%74a806e7-2ce4-4d20-aa46-673b58781cae" id="1076" name="Google Shape;107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557650"/>
            <a:ext cx="3229615" cy="10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65"/>
          <p:cNvSpPr/>
          <p:nvPr/>
        </p:nvSpPr>
        <p:spPr>
          <a:xfrm>
            <a:off x="1800900" y="3467950"/>
            <a:ext cx="707700" cy="3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6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6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4" name="Google Shape;1084;p66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esta semana el mercado es bajista, cuál es la probabilidad de que sea bajista en la próxima semana? En 2 semanas? 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      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5" name="Google Shape;1085;p66"/>
          <p:cNvSpPr/>
          <p:nvPr/>
        </p:nvSpPr>
        <p:spPr>
          <a:xfrm>
            <a:off x="4932739" y="3037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66"/>
          <p:cNvSpPr txBox="1"/>
          <p:nvPr/>
        </p:nvSpPr>
        <p:spPr>
          <a:xfrm>
            <a:off x="4425326" y="3042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7" name="Google Shape;1087;p66"/>
          <p:cNvSpPr/>
          <p:nvPr/>
        </p:nvSpPr>
        <p:spPr>
          <a:xfrm>
            <a:off x="7823965" y="3037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66"/>
          <p:cNvSpPr txBox="1"/>
          <p:nvPr/>
        </p:nvSpPr>
        <p:spPr>
          <a:xfrm>
            <a:off x="7359526" y="3088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9" name="Google Shape;1089;p66"/>
          <p:cNvSpPr/>
          <p:nvPr/>
        </p:nvSpPr>
        <p:spPr>
          <a:xfrm>
            <a:off x="6291764" y="3945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66"/>
          <p:cNvSpPr txBox="1"/>
          <p:nvPr/>
        </p:nvSpPr>
        <p:spPr>
          <a:xfrm>
            <a:off x="6239128" y="3956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1" name="Google Shape;1091;p66"/>
          <p:cNvSpPr/>
          <p:nvPr/>
        </p:nvSpPr>
        <p:spPr>
          <a:xfrm>
            <a:off x="4968899" y="2504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2" name="Google Shape;1092;p66"/>
          <p:cNvSpPr/>
          <p:nvPr/>
        </p:nvSpPr>
        <p:spPr>
          <a:xfrm flipH="1" rot="10800000">
            <a:off x="5233955" y="2845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66"/>
          <p:cNvSpPr txBox="1"/>
          <p:nvPr/>
        </p:nvSpPr>
        <p:spPr>
          <a:xfrm>
            <a:off x="5310142" y="2415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094" name="Google Shape;1094;p66"/>
          <p:cNvGrpSpPr/>
          <p:nvPr/>
        </p:nvGrpSpPr>
        <p:grpSpPr>
          <a:xfrm>
            <a:off x="5736481" y="3087608"/>
            <a:ext cx="2074035" cy="212542"/>
            <a:chOff x="3084775" y="3358200"/>
            <a:chExt cx="3088200" cy="259800"/>
          </a:xfrm>
        </p:grpSpPr>
        <p:cxnSp>
          <p:nvCxnSpPr>
            <p:cNvPr id="1095" name="Google Shape;1095;p66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6" name="Google Shape;1096;p66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7" name="Google Shape;1097;p66"/>
          <p:cNvSpPr txBox="1"/>
          <p:nvPr/>
        </p:nvSpPr>
        <p:spPr>
          <a:xfrm>
            <a:off x="6303128" y="2831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8" name="Google Shape;1098;p66"/>
          <p:cNvSpPr/>
          <p:nvPr/>
        </p:nvSpPr>
        <p:spPr>
          <a:xfrm flipH="1" rot="5400000">
            <a:off x="6072188" y="4229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6"/>
          <p:cNvSpPr/>
          <p:nvPr/>
        </p:nvSpPr>
        <p:spPr>
          <a:xfrm>
            <a:off x="5463694" y="3626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00" name="Google Shape;1100;p66"/>
          <p:cNvSpPr txBox="1"/>
          <p:nvPr/>
        </p:nvSpPr>
        <p:spPr>
          <a:xfrm>
            <a:off x="5208924" y="4140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1" name="Google Shape;1101;p66"/>
          <p:cNvSpPr/>
          <p:nvPr/>
        </p:nvSpPr>
        <p:spPr>
          <a:xfrm>
            <a:off x="7942302" y="2473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02" name="Google Shape;1102;p66"/>
          <p:cNvSpPr/>
          <p:nvPr/>
        </p:nvSpPr>
        <p:spPr>
          <a:xfrm flipH="1" rot="10800000">
            <a:off x="8207358" y="2815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66"/>
          <p:cNvSpPr txBox="1"/>
          <p:nvPr/>
        </p:nvSpPr>
        <p:spPr>
          <a:xfrm>
            <a:off x="8330661" y="2443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04" name="Google Shape;1104;p66"/>
          <p:cNvCxnSpPr/>
          <p:nvPr/>
        </p:nvCxnSpPr>
        <p:spPr>
          <a:xfrm>
            <a:off x="5825438" y="3330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5" name="Google Shape;1105;p66"/>
          <p:cNvSpPr txBox="1"/>
          <p:nvPr/>
        </p:nvSpPr>
        <p:spPr>
          <a:xfrm>
            <a:off x="6327628" y="3243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6" name="Google Shape;1106;p66"/>
          <p:cNvSpPr/>
          <p:nvPr/>
        </p:nvSpPr>
        <p:spPr>
          <a:xfrm rot="-5400000">
            <a:off x="5761277" y="3253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66"/>
          <p:cNvSpPr/>
          <p:nvPr/>
        </p:nvSpPr>
        <p:spPr>
          <a:xfrm flipH="1">
            <a:off x="7204617" y="3630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08" name="Google Shape;1108;p66"/>
          <p:cNvSpPr txBox="1"/>
          <p:nvPr/>
        </p:nvSpPr>
        <p:spPr>
          <a:xfrm>
            <a:off x="7650777" y="4128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9" name="Google Shape;1109;p66"/>
          <p:cNvSpPr/>
          <p:nvPr/>
        </p:nvSpPr>
        <p:spPr>
          <a:xfrm flipH="1" rot="-5400000">
            <a:off x="7075863" y="4191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66"/>
          <p:cNvSpPr/>
          <p:nvPr/>
        </p:nvSpPr>
        <p:spPr>
          <a:xfrm flipH="1" rot="10800000">
            <a:off x="6377600" y="4507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1" name="Google Shape;1111;p66"/>
          <p:cNvSpPr/>
          <p:nvPr/>
        </p:nvSpPr>
        <p:spPr>
          <a:xfrm>
            <a:off x="6648089" y="4535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66"/>
          <p:cNvSpPr/>
          <p:nvPr/>
        </p:nvSpPr>
        <p:spPr>
          <a:xfrm rot="10800000">
            <a:off x="5685374" y="3534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3" name="Google Shape;1113;p66"/>
          <p:cNvSpPr/>
          <p:nvPr/>
        </p:nvSpPr>
        <p:spPr>
          <a:xfrm rot="-5400000">
            <a:off x="5639263" y="3461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66"/>
          <p:cNvSpPr/>
          <p:nvPr/>
        </p:nvSpPr>
        <p:spPr>
          <a:xfrm flipH="1" rot="10800000">
            <a:off x="6822572" y="3450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5" name="Google Shape;1115;p66"/>
          <p:cNvSpPr/>
          <p:nvPr/>
        </p:nvSpPr>
        <p:spPr>
          <a:xfrm flipH="1" rot="5400000">
            <a:off x="7665608" y="3390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66"/>
          <p:cNvSpPr txBox="1"/>
          <p:nvPr/>
        </p:nvSpPr>
        <p:spPr>
          <a:xfrm>
            <a:off x="6049012" y="4698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7" name="Google Shape;1117;p66"/>
          <p:cNvSpPr txBox="1"/>
          <p:nvPr/>
        </p:nvSpPr>
        <p:spPr>
          <a:xfrm>
            <a:off x="5752038" y="3561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8" name="Google Shape;1118;p66"/>
          <p:cNvSpPr txBox="1"/>
          <p:nvPr/>
        </p:nvSpPr>
        <p:spPr>
          <a:xfrm>
            <a:off x="6836798" y="3557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119" name="Google Shape;111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 = \left[&#10;\begin{matrix}&#10;0.9 &amp; 0.075 &amp; 0.025 \\&#10;0.15 &amp; 0.8 &amp; 0.05 \\&#10;0.25 &amp; 0.25 &amp; 0.5&#10;\end{matrix}&#10;\right]&#10;%74a806e7-2ce4-4d20-aa46-673b58781cae" id="1120" name="Google Shape;1120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557650"/>
            <a:ext cx="3229615" cy="10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6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67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7" name="Google Shape;1127;p67"/>
          <p:cNvSpPr txBox="1"/>
          <p:nvPr/>
        </p:nvSpPr>
        <p:spPr>
          <a:xfrm>
            <a:off x="210875" y="822450"/>
            <a:ext cx="86214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esta semana el mercado es bajista, cuál es la probabilidad de que sea bajista en la próxima semana? En 2 semanas? 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Vamos a representar una distribución probabilística de estados con la variable π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: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π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(s) =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128" name="Google Shape;112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6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68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5" name="Google Shape;1135;p68"/>
          <p:cNvSpPr txBox="1"/>
          <p:nvPr/>
        </p:nvSpPr>
        <p:spPr>
          <a:xfrm>
            <a:off x="210875" y="822450"/>
            <a:ext cx="86214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</a:t>
            </a:r>
            <a:r>
              <a:rPr b="1" lang="en" sz="1800">
                <a:solidFill>
                  <a:schemeClr val="dk2"/>
                </a:solidFill>
              </a:rPr>
              <a:t>esta semana el mercado es bajista</a:t>
            </a:r>
            <a:r>
              <a:rPr lang="en" sz="1800">
                <a:solidFill>
                  <a:schemeClr val="dk2"/>
                </a:solidFill>
              </a:rPr>
              <a:t>, cuál es la probabilidad de que sea bajista en la próxima semana? En 2 semanas? 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Vamos a representar una distribución probabilística de estados con la variable π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π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(s) =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 nuestro ejemplo, si consideramos que esta semana corresponde a t = 0: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Altista) = 0,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Bajista) = 1,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Estable) = 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136" name="Google Shape;113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6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69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3" name="Google Shape;1143;p69"/>
          <p:cNvSpPr txBox="1"/>
          <p:nvPr/>
        </p:nvSpPr>
        <p:spPr>
          <a:xfrm>
            <a:off x="210875" y="822450"/>
            <a:ext cx="86214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</a:t>
            </a:r>
            <a:r>
              <a:rPr b="1" lang="en" sz="1800">
                <a:solidFill>
                  <a:schemeClr val="dk2"/>
                </a:solidFill>
              </a:rPr>
              <a:t>esta semana el mercado es bajista</a:t>
            </a:r>
            <a:r>
              <a:rPr lang="en" sz="1800">
                <a:solidFill>
                  <a:schemeClr val="dk2"/>
                </a:solidFill>
              </a:rPr>
              <a:t>, cuál es la probabilidad de que sea bajista en la próxima semana? En 2 semanas? 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Vamos a representar una distribución probabilística de estados con la variable π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π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(s) =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 nuestro ejemplo, si consideramos que esta semana corresponde a t = 0: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Altista) = </a:t>
            </a:r>
            <a:r>
              <a:rPr lang="en" sz="1800">
                <a:solidFill>
                  <a:srgbClr val="FF0000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Bajista) = 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Estable) = </a:t>
            </a: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π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144" name="Google Shape;114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left[&#10;\begin{matrix}&#10;0 &amp; 1 &amp; 0&#10;\end{matrix}&#10;\right]&#10;%e937bb97-f5ad-4af7-ba23-8232616adbd7" id="1145" name="Google Shape;114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2225" y="3974075"/>
            <a:ext cx="1055600" cy="27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6" name="Google Shape;1146;p69"/>
          <p:cNvCxnSpPr>
            <a:endCxn id="1145" idx="1"/>
          </p:cNvCxnSpPr>
          <p:nvPr/>
        </p:nvCxnSpPr>
        <p:spPr>
          <a:xfrm>
            <a:off x="3206125" y="3677375"/>
            <a:ext cx="1076100" cy="43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7" name="Google Shape;1147;p69"/>
          <p:cNvCxnSpPr>
            <a:endCxn id="1145" idx="0"/>
          </p:cNvCxnSpPr>
          <p:nvPr/>
        </p:nvCxnSpPr>
        <p:spPr>
          <a:xfrm flipH="1">
            <a:off x="4810025" y="3692975"/>
            <a:ext cx="660300" cy="28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8" name="Google Shape;1148;p69"/>
          <p:cNvCxnSpPr>
            <a:endCxn id="1145" idx="3"/>
          </p:cNvCxnSpPr>
          <p:nvPr/>
        </p:nvCxnSpPr>
        <p:spPr>
          <a:xfrm flipH="1">
            <a:off x="5337825" y="3692975"/>
            <a:ext cx="2459100" cy="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7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70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5" name="Google Shape;1155;p70"/>
          <p:cNvSpPr txBox="1"/>
          <p:nvPr/>
        </p:nvSpPr>
        <p:spPr>
          <a:xfrm>
            <a:off x="210875" y="822450"/>
            <a:ext cx="86214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</a:t>
            </a:r>
            <a:r>
              <a:rPr b="1" lang="en" sz="1800">
                <a:solidFill>
                  <a:schemeClr val="dk2"/>
                </a:solidFill>
              </a:rPr>
              <a:t>esta semana el mercado es bajista</a:t>
            </a:r>
            <a:r>
              <a:rPr lang="en" sz="1800">
                <a:solidFill>
                  <a:schemeClr val="dk2"/>
                </a:solidFill>
              </a:rPr>
              <a:t>, cuál es la probabilidad de que sea bajista en la próxima semana? En 2 semanas? 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Vamos a representar una distribución probabilística de estados con la variable π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π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(s) =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 nuestro ejemplo, si consideramos que esta semana corresponde a t = 0: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Altista) = </a:t>
            </a:r>
            <a:r>
              <a:rPr lang="en" sz="1800">
                <a:solidFill>
                  <a:srgbClr val="FF0000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Bajista) = 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Estable) = </a:t>
            </a: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π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π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es la distribución inicial de estados en el proceso markoviano.</a:t>
            </a:r>
            <a:r>
              <a:rPr baseline="-25000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156" name="Google Shape;115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left[&#10;\begin{matrix}&#10;0 &amp; 1 &amp; 0&#10;\end{matrix}&#10;\right]&#10;%e937bb97-f5ad-4af7-ba23-8232616adbd7" id="1157" name="Google Shape;115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2225" y="3974075"/>
            <a:ext cx="1055600" cy="27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8" name="Google Shape;1158;p70"/>
          <p:cNvCxnSpPr>
            <a:endCxn id="1157" idx="1"/>
          </p:cNvCxnSpPr>
          <p:nvPr/>
        </p:nvCxnSpPr>
        <p:spPr>
          <a:xfrm>
            <a:off x="3206125" y="3677375"/>
            <a:ext cx="1076100" cy="43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9" name="Google Shape;1159;p70"/>
          <p:cNvCxnSpPr>
            <a:endCxn id="1157" idx="0"/>
          </p:cNvCxnSpPr>
          <p:nvPr/>
        </p:nvCxnSpPr>
        <p:spPr>
          <a:xfrm flipH="1">
            <a:off x="4810025" y="3692975"/>
            <a:ext cx="660300" cy="28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0" name="Google Shape;1160;p70"/>
          <p:cNvCxnSpPr>
            <a:endCxn id="1157" idx="3"/>
          </p:cNvCxnSpPr>
          <p:nvPr/>
        </p:nvCxnSpPr>
        <p:spPr>
          <a:xfrm flipH="1">
            <a:off x="5337825" y="3692975"/>
            <a:ext cx="2459100" cy="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7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71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7" name="Google Shape;1167;p71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Si esta semana el mercado es bajista, cuál es la probabilidad de que sea bajista en la próxima semana?</a:t>
            </a:r>
            <a:r>
              <a:rPr lang="en" sz="1800">
                <a:solidFill>
                  <a:schemeClr val="dk2"/>
                </a:solidFill>
              </a:rPr>
              <a:t> En 2 semanas? 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      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8" name="Google Shape;1168;p71"/>
          <p:cNvSpPr/>
          <p:nvPr/>
        </p:nvSpPr>
        <p:spPr>
          <a:xfrm>
            <a:off x="4932739" y="3037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71"/>
          <p:cNvSpPr txBox="1"/>
          <p:nvPr/>
        </p:nvSpPr>
        <p:spPr>
          <a:xfrm>
            <a:off x="4425326" y="3042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0" name="Google Shape;1170;p71"/>
          <p:cNvSpPr/>
          <p:nvPr/>
        </p:nvSpPr>
        <p:spPr>
          <a:xfrm>
            <a:off x="7823965" y="3037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71"/>
          <p:cNvSpPr txBox="1"/>
          <p:nvPr/>
        </p:nvSpPr>
        <p:spPr>
          <a:xfrm>
            <a:off x="7359526" y="3088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2" name="Google Shape;1172;p71"/>
          <p:cNvSpPr/>
          <p:nvPr/>
        </p:nvSpPr>
        <p:spPr>
          <a:xfrm>
            <a:off x="6291764" y="3945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71"/>
          <p:cNvSpPr txBox="1"/>
          <p:nvPr/>
        </p:nvSpPr>
        <p:spPr>
          <a:xfrm>
            <a:off x="6239128" y="3956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4" name="Google Shape;1174;p71"/>
          <p:cNvSpPr/>
          <p:nvPr/>
        </p:nvSpPr>
        <p:spPr>
          <a:xfrm>
            <a:off x="4968899" y="2504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75" name="Google Shape;1175;p71"/>
          <p:cNvSpPr/>
          <p:nvPr/>
        </p:nvSpPr>
        <p:spPr>
          <a:xfrm flipH="1" rot="10800000">
            <a:off x="5233955" y="2845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71"/>
          <p:cNvSpPr txBox="1"/>
          <p:nvPr/>
        </p:nvSpPr>
        <p:spPr>
          <a:xfrm>
            <a:off x="5310142" y="2415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177" name="Google Shape;1177;p71"/>
          <p:cNvGrpSpPr/>
          <p:nvPr/>
        </p:nvGrpSpPr>
        <p:grpSpPr>
          <a:xfrm>
            <a:off x="5736481" y="3087608"/>
            <a:ext cx="2074035" cy="212542"/>
            <a:chOff x="3084775" y="3358200"/>
            <a:chExt cx="3088200" cy="259800"/>
          </a:xfrm>
        </p:grpSpPr>
        <p:cxnSp>
          <p:nvCxnSpPr>
            <p:cNvPr id="1178" name="Google Shape;1178;p71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9" name="Google Shape;1179;p71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0" name="Google Shape;1180;p71"/>
          <p:cNvSpPr txBox="1"/>
          <p:nvPr/>
        </p:nvSpPr>
        <p:spPr>
          <a:xfrm>
            <a:off x="6303128" y="2831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1" name="Google Shape;1181;p71"/>
          <p:cNvSpPr/>
          <p:nvPr/>
        </p:nvSpPr>
        <p:spPr>
          <a:xfrm flipH="1" rot="5400000">
            <a:off x="6072188" y="4229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71"/>
          <p:cNvSpPr/>
          <p:nvPr/>
        </p:nvSpPr>
        <p:spPr>
          <a:xfrm>
            <a:off x="5463694" y="3626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83" name="Google Shape;1183;p71"/>
          <p:cNvSpPr txBox="1"/>
          <p:nvPr/>
        </p:nvSpPr>
        <p:spPr>
          <a:xfrm>
            <a:off x="5208924" y="4140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4" name="Google Shape;1184;p71"/>
          <p:cNvSpPr/>
          <p:nvPr/>
        </p:nvSpPr>
        <p:spPr>
          <a:xfrm>
            <a:off x="7942302" y="2473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85" name="Google Shape;1185;p71"/>
          <p:cNvSpPr/>
          <p:nvPr/>
        </p:nvSpPr>
        <p:spPr>
          <a:xfrm flipH="1" rot="10800000">
            <a:off x="8207358" y="2815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71"/>
          <p:cNvSpPr txBox="1"/>
          <p:nvPr/>
        </p:nvSpPr>
        <p:spPr>
          <a:xfrm>
            <a:off x="8330661" y="2443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87" name="Google Shape;1187;p71"/>
          <p:cNvCxnSpPr/>
          <p:nvPr/>
        </p:nvCxnSpPr>
        <p:spPr>
          <a:xfrm>
            <a:off x="5825438" y="3330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8" name="Google Shape;1188;p71"/>
          <p:cNvSpPr txBox="1"/>
          <p:nvPr/>
        </p:nvSpPr>
        <p:spPr>
          <a:xfrm>
            <a:off x="6327628" y="3243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9" name="Google Shape;1189;p71"/>
          <p:cNvSpPr/>
          <p:nvPr/>
        </p:nvSpPr>
        <p:spPr>
          <a:xfrm rot="-5400000">
            <a:off x="5761277" y="3253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71"/>
          <p:cNvSpPr/>
          <p:nvPr/>
        </p:nvSpPr>
        <p:spPr>
          <a:xfrm flipH="1">
            <a:off x="7204617" y="3630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1" name="Google Shape;1191;p71"/>
          <p:cNvSpPr txBox="1"/>
          <p:nvPr/>
        </p:nvSpPr>
        <p:spPr>
          <a:xfrm>
            <a:off x="7650777" y="4128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2" name="Google Shape;1192;p71"/>
          <p:cNvSpPr/>
          <p:nvPr/>
        </p:nvSpPr>
        <p:spPr>
          <a:xfrm flipH="1" rot="-5400000">
            <a:off x="7075863" y="4191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71"/>
          <p:cNvSpPr/>
          <p:nvPr/>
        </p:nvSpPr>
        <p:spPr>
          <a:xfrm flipH="1" rot="10800000">
            <a:off x="6377600" y="4507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4" name="Google Shape;1194;p71"/>
          <p:cNvSpPr/>
          <p:nvPr/>
        </p:nvSpPr>
        <p:spPr>
          <a:xfrm>
            <a:off x="6648089" y="4535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71"/>
          <p:cNvSpPr/>
          <p:nvPr/>
        </p:nvSpPr>
        <p:spPr>
          <a:xfrm rot="10800000">
            <a:off x="5685374" y="3534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6" name="Google Shape;1196;p71"/>
          <p:cNvSpPr/>
          <p:nvPr/>
        </p:nvSpPr>
        <p:spPr>
          <a:xfrm rot="-5400000">
            <a:off x="5639263" y="3461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71"/>
          <p:cNvSpPr/>
          <p:nvPr/>
        </p:nvSpPr>
        <p:spPr>
          <a:xfrm flipH="1" rot="10800000">
            <a:off x="6822572" y="3450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8" name="Google Shape;1198;p71"/>
          <p:cNvSpPr/>
          <p:nvPr/>
        </p:nvSpPr>
        <p:spPr>
          <a:xfrm flipH="1" rot="5400000">
            <a:off x="7665608" y="3390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71"/>
          <p:cNvSpPr txBox="1"/>
          <p:nvPr/>
        </p:nvSpPr>
        <p:spPr>
          <a:xfrm>
            <a:off x="6049012" y="4698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0" name="Google Shape;1200;p71"/>
          <p:cNvSpPr txBox="1"/>
          <p:nvPr/>
        </p:nvSpPr>
        <p:spPr>
          <a:xfrm>
            <a:off x="5752038" y="3561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1" name="Google Shape;1201;p71"/>
          <p:cNvSpPr txBox="1"/>
          <p:nvPr/>
        </p:nvSpPr>
        <p:spPr>
          <a:xfrm>
            <a:off x="6836798" y="3557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202" name="Google Shape;120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 = \left[&#10;\begin{matrix}&#10;0.9 &amp; 0.075 &amp; 0.025 \\&#10;0.15 &amp; 0.8 &amp; 0.05 \\&#10;0.25 &amp; 0.25 &amp; 0.5&#10;\end{matrix}&#10;\right]&#10;%74a806e7-2ce4-4d20-aa46-673b58781cae" id="1203" name="Google Shape;120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557650"/>
            <a:ext cx="3229615" cy="10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7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72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0" name="Google Shape;1210;p72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Si esta semana el mercado es bajista, cuál es la probabilidad de que sea bajista en la próxima semana?</a:t>
            </a:r>
            <a:r>
              <a:rPr lang="en" sz="1800">
                <a:solidFill>
                  <a:schemeClr val="dk2"/>
                </a:solidFill>
              </a:rPr>
              <a:t> En 2 semanas? 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 probabilidad de que sea bajista en la próxima semana es 0.8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      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1" name="Google Shape;1211;p72"/>
          <p:cNvSpPr/>
          <p:nvPr/>
        </p:nvSpPr>
        <p:spPr>
          <a:xfrm>
            <a:off x="4932739" y="3037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72"/>
          <p:cNvSpPr txBox="1"/>
          <p:nvPr/>
        </p:nvSpPr>
        <p:spPr>
          <a:xfrm>
            <a:off x="4425326" y="3042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3" name="Google Shape;1213;p72"/>
          <p:cNvSpPr/>
          <p:nvPr/>
        </p:nvSpPr>
        <p:spPr>
          <a:xfrm>
            <a:off x="7823965" y="3037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72"/>
          <p:cNvSpPr txBox="1"/>
          <p:nvPr/>
        </p:nvSpPr>
        <p:spPr>
          <a:xfrm>
            <a:off x="7359526" y="3088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Bajista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15" name="Google Shape;1215;p72"/>
          <p:cNvSpPr/>
          <p:nvPr/>
        </p:nvSpPr>
        <p:spPr>
          <a:xfrm>
            <a:off x="6291764" y="3945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72"/>
          <p:cNvSpPr txBox="1"/>
          <p:nvPr/>
        </p:nvSpPr>
        <p:spPr>
          <a:xfrm>
            <a:off x="6239128" y="3956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7" name="Google Shape;1217;p72"/>
          <p:cNvSpPr/>
          <p:nvPr/>
        </p:nvSpPr>
        <p:spPr>
          <a:xfrm>
            <a:off x="4968899" y="2504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18" name="Google Shape;1218;p72"/>
          <p:cNvSpPr/>
          <p:nvPr/>
        </p:nvSpPr>
        <p:spPr>
          <a:xfrm flipH="1" rot="10800000">
            <a:off x="5233955" y="2845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72"/>
          <p:cNvSpPr txBox="1"/>
          <p:nvPr/>
        </p:nvSpPr>
        <p:spPr>
          <a:xfrm>
            <a:off x="5310142" y="2415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220" name="Google Shape;1220;p72"/>
          <p:cNvGrpSpPr/>
          <p:nvPr/>
        </p:nvGrpSpPr>
        <p:grpSpPr>
          <a:xfrm>
            <a:off x="5736481" y="3087608"/>
            <a:ext cx="2074035" cy="212542"/>
            <a:chOff x="3084775" y="3358200"/>
            <a:chExt cx="3088200" cy="259800"/>
          </a:xfrm>
        </p:grpSpPr>
        <p:cxnSp>
          <p:nvCxnSpPr>
            <p:cNvPr id="1221" name="Google Shape;1221;p72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2" name="Google Shape;1222;p72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3" name="Google Shape;1223;p72"/>
          <p:cNvSpPr txBox="1"/>
          <p:nvPr/>
        </p:nvSpPr>
        <p:spPr>
          <a:xfrm>
            <a:off x="6303128" y="2831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4" name="Google Shape;1224;p72"/>
          <p:cNvSpPr/>
          <p:nvPr/>
        </p:nvSpPr>
        <p:spPr>
          <a:xfrm flipH="1" rot="5400000">
            <a:off x="6072188" y="4229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72"/>
          <p:cNvSpPr/>
          <p:nvPr/>
        </p:nvSpPr>
        <p:spPr>
          <a:xfrm>
            <a:off x="5463694" y="3626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26" name="Google Shape;1226;p72"/>
          <p:cNvSpPr txBox="1"/>
          <p:nvPr/>
        </p:nvSpPr>
        <p:spPr>
          <a:xfrm>
            <a:off x="5208924" y="4140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7" name="Google Shape;1227;p72"/>
          <p:cNvSpPr/>
          <p:nvPr/>
        </p:nvSpPr>
        <p:spPr>
          <a:xfrm>
            <a:off x="7942302" y="2473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28" name="Google Shape;1228;p72"/>
          <p:cNvSpPr/>
          <p:nvPr/>
        </p:nvSpPr>
        <p:spPr>
          <a:xfrm flipH="1" rot="10800000">
            <a:off x="8207358" y="2815428"/>
            <a:ext cx="174300" cy="1917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72"/>
          <p:cNvSpPr txBox="1"/>
          <p:nvPr/>
        </p:nvSpPr>
        <p:spPr>
          <a:xfrm>
            <a:off x="8330661" y="2443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0.8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1230" name="Google Shape;1230;p72"/>
          <p:cNvCxnSpPr/>
          <p:nvPr/>
        </p:nvCxnSpPr>
        <p:spPr>
          <a:xfrm>
            <a:off x="5825438" y="3330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1" name="Google Shape;1231;p72"/>
          <p:cNvSpPr txBox="1"/>
          <p:nvPr/>
        </p:nvSpPr>
        <p:spPr>
          <a:xfrm>
            <a:off x="6327628" y="3243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2" name="Google Shape;1232;p72"/>
          <p:cNvSpPr/>
          <p:nvPr/>
        </p:nvSpPr>
        <p:spPr>
          <a:xfrm rot="-5400000">
            <a:off x="5761277" y="3253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72"/>
          <p:cNvSpPr/>
          <p:nvPr/>
        </p:nvSpPr>
        <p:spPr>
          <a:xfrm flipH="1">
            <a:off x="7204617" y="3630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4" name="Google Shape;1234;p72"/>
          <p:cNvSpPr txBox="1"/>
          <p:nvPr/>
        </p:nvSpPr>
        <p:spPr>
          <a:xfrm>
            <a:off x="7650777" y="4128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5" name="Google Shape;1235;p72"/>
          <p:cNvSpPr/>
          <p:nvPr/>
        </p:nvSpPr>
        <p:spPr>
          <a:xfrm flipH="1" rot="-5400000">
            <a:off x="7075863" y="4191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72"/>
          <p:cNvSpPr/>
          <p:nvPr/>
        </p:nvSpPr>
        <p:spPr>
          <a:xfrm flipH="1" rot="10800000">
            <a:off x="6377600" y="4507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7" name="Google Shape;1237;p72"/>
          <p:cNvSpPr/>
          <p:nvPr/>
        </p:nvSpPr>
        <p:spPr>
          <a:xfrm>
            <a:off x="6648089" y="4535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72"/>
          <p:cNvSpPr/>
          <p:nvPr/>
        </p:nvSpPr>
        <p:spPr>
          <a:xfrm rot="10800000">
            <a:off x="5685374" y="3534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9" name="Google Shape;1239;p72"/>
          <p:cNvSpPr/>
          <p:nvPr/>
        </p:nvSpPr>
        <p:spPr>
          <a:xfrm rot="-5400000">
            <a:off x="5639263" y="3461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72"/>
          <p:cNvSpPr/>
          <p:nvPr/>
        </p:nvSpPr>
        <p:spPr>
          <a:xfrm flipH="1" rot="10800000">
            <a:off x="6822572" y="3450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41" name="Google Shape;1241;p72"/>
          <p:cNvSpPr/>
          <p:nvPr/>
        </p:nvSpPr>
        <p:spPr>
          <a:xfrm flipH="1" rot="5400000">
            <a:off x="7665608" y="3390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72"/>
          <p:cNvSpPr txBox="1"/>
          <p:nvPr/>
        </p:nvSpPr>
        <p:spPr>
          <a:xfrm>
            <a:off x="6049012" y="4698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3" name="Google Shape;1243;p72"/>
          <p:cNvSpPr txBox="1"/>
          <p:nvPr/>
        </p:nvSpPr>
        <p:spPr>
          <a:xfrm>
            <a:off x="5752038" y="3561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4" name="Google Shape;1244;p72"/>
          <p:cNvSpPr txBox="1"/>
          <p:nvPr/>
        </p:nvSpPr>
        <p:spPr>
          <a:xfrm>
            <a:off x="6836798" y="3557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245" name="Google Shape;124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 = \left[&#10;\begin{matrix}&#10;0.9 &amp; 0.075 &amp; 0.025 \\&#10;0.15 &amp; 0.8 &amp; 0.05 \\&#10;0.25 &amp; 0.25 &amp; 0.5&#10;\end{matrix}&#10;\right]&#10;%74a806e7-2ce4-4d20-aa46-673b58781cae" id="1246" name="Google Shape;124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557650"/>
            <a:ext cx="3229615" cy="10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72"/>
          <p:cNvSpPr/>
          <p:nvPr/>
        </p:nvSpPr>
        <p:spPr>
          <a:xfrm>
            <a:off x="1834350" y="3891100"/>
            <a:ext cx="562800" cy="3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7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73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54" name="Google Shape;1254;p73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esta semana el mercado es bajista, cuál es la probabilidad de que sea bajista en la próxima semana?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b="1" lang="en" sz="1800">
                <a:solidFill>
                  <a:schemeClr val="dk2"/>
                </a:solidFill>
              </a:rPr>
              <a:t>En 2 semanas?</a:t>
            </a:r>
            <a:r>
              <a:rPr lang="en" sz="1800">
                <a:solidFill>
                  <a:schemeClr val="dk2"/>
                </a:solidFill>
              </a:rPr>
              <a:t> 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      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55" name="Google Shape;1255;p73"/>
          <p:cNvSpPr/>
          <p:nvPr/>
        </p:nvSpPr>
        <p:spPr>
          <a:xfrm>
            <a:off x="4932739" y="3037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73"/>
          <p:cNvSpPr txBox="1"/>
          <p:nvPr/>
        </p:nvSpPr>
        <p:spPr>
          <a:xfrm>
            <a:off x="4425326" y="3071341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57" name="Google Shape;1257;p73"/>
          <p:cNvSpPr/>
          <p:nvPr/>
        </p:nvSpPr>
        <p:spPr>
          <a:xfrm>
            <a:off x="7823965" y="3037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73"/>
          <p:cNvSpPr txBox="1"/>
          <p:nvPr/>
        </p:nvSpPr>
        <p:spPr>
          <a:xfrm>
            <a:off x="7321356" y="3088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59" name="Google Shape;1259;p73"/>
          <p:cNvSpPr/>
          <p:nvPr/>
        </p:nvSpPr>
        <p:spPr>
          <a:xfrm>
            <a:off x="6291764" y="3945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73"/>
          <p:cNvSpPr txBox="1"/>
          <p:nvPr/>
        </p:nvSpPr>
        <p:spPr>
          <a:xfrm>
            <a:off x="6210500" y="3985522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1" name="Google Shape;1261;p73"/>
          <p:cNvSpPr/>
          <p:nvPr/>
        </p:nvSpPr>
        <p:spPr>
          <a:xfrm>
            <a:off x="4968899" y="2504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62" name="Google Shape;1262;p73"/>
          <p:cNvSpPr/>
          <p:nvPr/>
        </p:nvSpPr>
        <p:spPr>
          <a:xfrm flipH="1" rot="10800000">
            <a:off x="5233955" y="2845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73"/>
          <p:cNvSpPr txBox="1"/>
          <p:nvPr/>
        </p:nvSpPr>
        <p:spPr>
          <a:xfrm>
            <a:off x="5310142" y="2415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264" name="Google Shape;1264;p73"/>
          <p:cNvGrpSpPr/>
          <p:nvPr/>
        </p:nvGrpSpPr>
        <p:grpSpPr>
          <a:xfrm>
            <a:off x="5736481" y="3087608"/>
            <a:ext cx="2074035" cy="212542"/>
            <a:chOff x="3084775" y="3358200"/>
            <a:chExt cx="3088200" cy="259800"/>
          </a:xfrm>
        </p:grpSpPr>
        <p:cxnSp>
          <p:nvCxnSpPr>
            <p:cNvPr id="1265" name="Google Shape;1265;p73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6" name="Google Shape;1266;p73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7" name="Google Shape;1267;p73"/>
          <p:cNvSpPr txBox="1"/>
          <p:nvPr/>
        </p:nvSpPr>
        <p:spPr>
          <a:xfrm>
            <a:off x="6303128" y="2831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8" name="Google Shape;1268;p73"/>
          <p:cNvSpPr/>
          <p:nvPr/>
        </p:nvSpPr>
        <p:spPr>
          <a:xfrm flipH="1" rot="5400000">
            <a:off x="6072188" y="4229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73"/>
          <p:cNvSpPr/>
          <p:nvPr/>
        </p:nvSpPr>
        <p:spPr>
          <a:xfrm>
            <a:off x="5463694" y="3626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70" name="Google Shape;1270;p73"/>
          <p:cNvSpPr txBox="1"/>
          <p:nvPr/>
        </p:nvSpPr>
        <p:spPr>
          <a:xfrm>
            <a:off x="5208924" y="4140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71" name="Google Shape;1271;p73"/>
          <p:cNvSpPr/>
          <p:nvPr/>
        </p:nvSpPr>
        <p:spPr>
          <a:xfrm>
            <a:off x="7942302" y="2473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72" name="Google Shape;1272;p73"/>
          <p:cNvSpPr/>
          <p:nvPr/>
        </p:nvSpPr>
        <p:spPr>
          <a:xfrm flipH="1" rot="10800000">
            <a:off x="8207358" y="2815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73"/>
          <p:cNvSpPr txBox="1"/>
          <p:nvPr/>
        </p:nvSpPr>
        <p:spPr>
          <a:xfrm>
            <a:off x="8330661" y="2443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74" name="Google Shape;1274;p73"/>
          <p:cNvCxnSpPr/>
          <p:nvPr/>
        </p:nvCxnSpPr>
        <p:spPr>
          <a:xfrm>
            <a:off x="5825438" y="3330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5" name="Google Shape;1275;p73"/>
          <p:cNvSpPr txBox="1"/>
          <p:nvPr/>
        </p:nvSpPr>
        <p:spPr>
          <a:xfrm>
            <a:off x="6327628" y="3243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76" name="Google Shape;1276;p73"/>
          <p:cNvSpPr/>
          <p:nvPr/>
        </p:nvSpPr>
        <p:spPr>
          <a:xfrm rot="-5400000">
            <a:off x="5761277" y="3253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73"/>
          <p:cNvSpPr/>
          <p:nvPr/>
        </p:nvSpPr>
        <p:spPr>
          <a:xfrm flipH="1">
            <a:off x="7204617" y="3630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78" name="Google Shape;1278;p73"/>
          <p:cNvSpPr txBox="1"/>
          <p:nvPr/>
        </p:nvSpPr>
        <p:spPr>
          <a:xfrm>
            <a:off x="7650777" y="4128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79" name="Google Shape;1279;p73"/>
          <p:cNvSpPr/>
          <p:nvPr/>
        </p:nvSpPr>
        <p:spPr>
          <a:xfrm flipH="1" rot="-5400000">
            <a:off x="7075863" y="4191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73"/>
          <p:cNvSpPr/>
          <p:nvPr/>
        </p:nvSpPr>
        <p:spPr>
          <a:xfrm flipH="1" rot="10800000">
            <a:off x="6377600" y="4507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81" name="Google Shape;1281;p73"/>
          <p:cNvSpPr/>
          <p:nvPr/>
        </p:nvSpPr>
        <p:spPr>
          <a:xfrm>
            <a:off x="6648089" y="4535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73"/>
          <p:cNvSpPr/>
          <p:nvPr/>
        </p:nvSpPr>
        <p:spPr>
          <a:xfrm rot="10800000">
            <a:off x="5685374" y="3534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83" name="Google Shape;1283;p73"/>
          <p:cNvSpPr/>
          <p:nvPr/>
        </p:nvSpPr>
        <p:spPr>
          <a:xfrm rot="-5400000">
            <a:off x="5639263" y="3461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73"/>
          <p:cNvSpPr/>
          <p:nvPr/>
        </p:nvSpPr>
        <p:spPr>
          <a:xfrm flipH="1" rot="10800000">
            <a:off x="6822572" y="3450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85" name="Google Shape;1285;p73"/>
          <p:cNvSpPr/>
          <p:nvPr/>
        </p:nvSpPr>
        <p:spPr>
          <a:xfrm flipH="1" rot="5400000">
            <a:off x="7665608" y="3390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73"/>
          <p:cNvSpPr txBox="1"/>
          <p:nvPr/>
        </p:nvSpPr>
        <p:spPr>
          <a:xfrm>
            <a:off x="6049012" y="4698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7" name="Google Shape;1287;p73"/>
          <p:cNvSpPr txBox="1"/>
          <p:nvPr/>
        </p:nvSpPr>
        <p:spPr>
          <a:xfrm>
            <a:off x="5752038" y="3561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8" name="Google Shape;1288;p73"/>
          <p:cNvSpPr txBox="1"/>
          <p:nvPr/>
        </p:nvSpPr>
        <p:spPr>
          <a:xfrm>
            <a:off x="6836798" y="3557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289" name="Google Shape;128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 = \left[&#10;\begin{matrix}&#10;0.9 &amp; 0.075 &amp; 0.025 \\&#10;0.15 &amp; 0.8 &amp; 0.05 \\&#10;0.25 &amp; 0.25 &amp; 0.5&#10;\end{matrix}&#10;\right]&#10;%74a806e7-2ce4-4d20-aa46-673b58781cae" id="1290" name="Google Shape;129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557650"/>
            <a:ext cx="3229615" cy="10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7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74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7" name="Google Shape;1297;p74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esta semana el mercado es bajista, cuál es la probabilidad de que sea bajista en la próxima semana? </a:t>
            </a:r>
            <a:r>
              <a:rPr b="1" lang="en" sz="1800">
                <a:solidFill>
                  <a:schemeClr val="dk2"/>
                </a:solidFill>
              </a:rPr>
              <a:t>En 2 semanas?</a:t>
            </a:r>
            <a:r>
              <a:rPr lang="en" sz="1800">
                <a:solidFill>
                  <a:schemeClr val="dk2"/>
                </a:solidFill>
              </a:rPr>
              <a:t> 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Podemos enumerar las posibilidades y sumarlas…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r>
              <a:rPr lang="en" sz="1800">
                <a:solidFill>
                  <a:schemeClr val="dk2"/>
                </a:solidFill>
              </a:rPr>
              <a:t>Prob(Alcista, Bajista) + </a:t>
            </a:r>
            <a:r>
              <a:rPr lang="en" sz="1800">
                <a:solidFill>
                  <a:schemeClr val="dk2"/>
                </a:solidFill>
              </a:rPr>
              <a:t>Prob(Bajista, Bajista) + Prob(Estable, Bajista)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r>
              <a:rPr b="1" i="1" lang="en" sz="1800">
                <a:solidFill>
                  <a:schemeClr val="dk2"/>
                </a:solidFill>
              </a:rPr>
              <a:t>    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8" name="Google Shape;1298;p74"/>
          <p:cNvSpPr/>
          <p:nvPr/>
        </p:nvSpPr>
        <p:spPr>
          <a:xfrm>
            <a:off x="4932739" y="3037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74"/>
          <p:cNvSpPr txBox="1"/>
          <p:nvPr/>
        </p:nvSpPr>
        <p:spPr>
          <a:xfrm>
            <a:off x="4425326" y="3042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0" name="Google Shape;1300;p74"/>
          <p:cNvSpPr/>
          <p:nvPr/>
        </p:nvSpPr>
        <p:spPr>
          <a:xfrm>
            <a:off x="7823965" y="3037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74"/>
          <p:cNvSpPr txBox="1"/>
          <p:nvPr/>
        </p:nvSpPr>
        <p:spPr>
          <a:xfrm>
            <a:off x="7359526" y="3088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2" name="Google Shape;1302;p74"/>
          <p:cNvSpPr/>
          <p:nvPr/>
        </p:nvSpPr>
        <p:spPr>
          <a:xfrm>
            <a:off x="6291764" y="3945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74"/>
          <p:cNvSpPr txBox="1"/>
          <p:nvPr/>
        </p:nvSpPr>
        <p:spPr>
          <a:xfrm>
            <a:off x="6239128" y="3956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4" name="Google Shape;1304;p74"/>
          <p:cNvSpPr/>
          <p:nvPr/>
        </p:nvSpPr>
        <p:spPr>
          <a:xfrm>
            <a:off x="4968899" y="2504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05" name="Google Shape;1305;p74"/>
          <p:cNvSpPr/>
          <p:nvPr/>
        </p:nvSpPr>
        <p:spPr>
          <a:xfrm flipH="1" rot="10800000">
            <a:off x="5233955" y="2845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74"/>
          <p:cNvSpPr txBox="1"/>
          <p:nvPr/>
        </p:nvSpPr>
        <p:spPr>
          <a:xfrm>
            <a:off x="5310142" y="2415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307" name="Google Shape;1307;p74"/>
          <p:cNvGrpSpPr/>
          <p:nvPr/>
        </p:nvGrpSpPr>
        <p:grpSpPr>
          <a:xfrm>
            <a:off x="5736481" y="3087608"/>
            <a:ext cx="2074035" cy="212542"/>
            <a:chOff x="3084775" y="3358200"/>
            <a:chExt cx="3088200" cy="259800"/>
          </a:xfrm>
        </p:grpSpPr>
        <p:cxnSp>
          <p:nvCxnSpPr>
            <p:cNvPr id="1308" name="Google Shape;1308;p74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9" name="Google Shape;1309;p74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0" name="Google Shape;1310;p74"/>
          <p:cNvSpPr txBox="1"/>
          <p:nvPr/>
        </p:nvSpPr>
        <p:spPr>
          <a:xfrm>
            <a:off x="6303128" y="2831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1" name="Google Shape;1311;p74"/>
          <p:cNvSpPr/>
          <p:nvPr/>
        </p:nvSpPr>
        <p:spPr>
          <a:xfrm flipH="1" rot="5400000">
            <a:off x="6072188" y="4229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74"/>
          <p:cNvSpPr/>
          <p:nvPr/>
        </p:nvSpPr>
        <p:spPr>
          <a:xfrm>
            <a:off x="5463694" y="3626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13" name="Google Shape;1313;p74"/>
          <p:cNvSpPr txBox="1"/>
          <p:nvPr/>
        </p:nvSpPr>
        <p:spPr>
          <a:xfrm>
            <a:off x="5208924" y="4140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4" name="Google Shape;1314;p74"/>
          <p:cNvSpPr/>
          <p:nvPr/>
        </p:nvSpPr>
        <p:spPr>
          <a:xfrm>
            <a:off x="7942302" y="2473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15" name="Google Shape;1315;p74"/>
          <p:cNvSpPr/>
          <p:nvPr/>
        </p:nvSpPr>
        <p:spPr>
          <a:xfrm flipH="1" rot="10800000">
            <a:off x="8207358" y="2815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74"/>
          <p:cNvSpPr txBox="1"/>
          <p:nvPr/>
        </p:nvSpPr>
        <p:spPr>
          <a:xfrm>
            <a:off x="8330661" y="2443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17" name="Google Shape;1317;p74"/>
          <p:cNvCxnSpPr/>
          <p:nvPr/>
        </p:nvCxnSpPr>
        <p:spPr>
          <a:xfrm>
            <a:off x="5825438" y="3330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8" name="Google Shape;1318;p74"/>
          <p:cNvSpPr txBox="1"/>
          <p:nvPr/>
        </p:nvSpPr>
        <p:spPr>
          <a:xfrm>
            <a:off x="6327628" y="3243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9" name="Google Shape;1319;p74"/>
          <p:cNvSpPr/>
          <p:nvPr/>
        </p:nvSpPr>
        <p:spPr>
          <a:xfrm rot="-5400000">
            <a:off x="5761277" y="3253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74"/>
          <p:cNvSpPr/>
          <p:nvPr/>
        </p:nvSpPr>
        <p:spPr>
          <a:xfrm flipH="1">
            <a:off x="7204617" y="3630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21" name="Google Shape;1321;p74"/>
          <p:cNvSpPr txBox="1"/>
          <p:nvPr/>
        </p:nvSpPr>
        <p:spPr>
          <a:xfrm>
            <a:off x="7650777" y="4128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2" name="Google Shape;1322;p74"/>
          <p:cNvSpPr/>
          <p:nvPr/>
        </p:nvSpPr>
        <p:spPr>
          <a:xfrm flipH="1" rot="-5400000">
            <a:off x="7075863" y="4191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74"/>
          <p:cNvSpPr/>
          <p:nvPr/>
        </p:nvSpPr>
        <p:spPr>
          <a:xfrm flipH="1" rot="10800000">
            <a:off x="6377600" y="4507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24" name="Google Shape;1324;p74"/>
          <p:cNvSpPr/>
          <p:nvPr/>
        </p:nvSpPr>
        <p:spPr>
          <a:xfrm>
            <a:off x="6648089" y="4535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74"/>
          <p:cNvSpPr/>
          <p:nvPr/>
        </p:nvSpPr>
        <p:spPr>
          <a:xfrm rot="10800000">
            <a:off x="5685374" y="3534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26" name="Google Shape;1326;p74"/>
          <p:cNvSpPr/>
          <p:nvPr/>
        </p:nvSpPr>
        <p:spPr>
          <a:xfrm rot="-5400000">
            <a:off x="5639263" y="3461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74"/>
          <p:cNvSpPr/>
          <p:nvPr/>
        </p:nvSpPr>
        <p:spPr>
          <a:xfrm flipH="1" rot="10800000">
            <a:off x="6822572" y="3450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28" name="Google Shape;1328;p74"/>
          <p:cNvSpPr/>
          <p:nvPr/>
        </p:nvSpPr>
        <p:spPr>
          <a:xfrm flipH="1" rot="5400000">
            <a:off x="7665608" y="3390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74"/>
          <p:cNvSpPr txBox="1"/>
          <p:nvPr/>
        </p:nvSpPr>
        <p:spPr>
          <a:xfrm>
            <a:off x="6049012" y="4698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0" name="Google Shape;1330;p74"/>
          <p:cNvSpPr txBox="1"/>
          <p:nvPr/>
        </p:nvSpPr>
        <p:spPr>
          <a:xfrm>
            <a:off x="5752038" y="3561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1" name="Google Shape;1331;p74"/>
          <p:cNvSpPr txBox="1"/>
          <p:nvPr/>
        </p:nvSpPr>
        <p:spPr>
          <a:xfrm>
            <a:off x="6836798" y="3557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332" name="Google Shape;133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 = \left[&#10;\begin{matrix}&#10;0.9 &amp; 0.075 &amp; 0.025 \\&#10;0.15 &amp; 0.8 &amp; 0.05 \\&#10;0.25 &amp; 0.25 &amp; 0.5&#10;\end{matrix}&#10;\right]&#10;%74a806e7-2ce4-4d20-aa46-673b58781cae" id="1333" name="Google Shape;133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557650"/>
            <a:ext cx="3229615" cy="10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7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75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0" name="Google Shape;1340;p75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esta semana el mercado es bajista, cuál es la probabilidad de que sea bajista en la próxima semana? </a:t>
            </a:r>
            <a:r>
              <a:rPr b="1" lang="en" sz="1800">
                <a:solidFill>
                  <a:schemeClr val="dk2"/>
                </a:solidFill>
              </a:rPr>
              <a:t>En 2 semanas?</a:t>
            </a:r>
            <a:r>
              <a:rPr lang="en" sz="1800">
                <a:solidFill>
                  <a:schemeClr val="dk2"/>
                </a:solidFill>
              </a:rPr>
              <a:t> 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Podemos enumerar las posibilidades y sumarlas…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Prob(</a:t>
            </a:r>
            <a:r>
              <a:rPr lang="en" sz="1800">
                <a:solidFill>
                  <a:schemeClr val="dk2"/>
                </a:solidFill>
              </a:rPr>
              <a:t>Alcista</a:t>
            </a:r>
            <a:r>
              <a:rPr lang="en" sz="1800">
                <a:solidFill>
                  <a:schemeClr val="dk2"/>
                </a:solidFill>
              </a:rPr>
              <a:t>, Bajista) + Prob(Bajista, Bajista) + Prob(Estable, Bajista)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= 0.15*0.075 + 0.8*0.8 + 0.05*0.25</a:t>
            </a:r>
            <a:r>
              <a:rPr b="1" i="1" lang="en" sz="1800">
                <a:solidFill>
                  <a:schemeClr val="dk2"/>
                </a:solidFill>
              </a:rPr>
              <a:t>      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= </a:t>
            </a:r>
            <a:r>
              <a:rPr b="1" lang="en" sz="1800">
                <a:solidFill>
                  <a:schemeClr val="dk2"/>
                </a:solidFill>
              </a:rPr>
              <a:t>0.66375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= </a:t>
            </a:r>
            <a:r>
              <a:rPr b="1" lang="en" sz="1800">
                <a:solidFill>
                  <a:schemeClr val="dk2"/>
                </a:solidFill>
              </a:rPr>
              <a:t>{Alcista, Bajista, Estable}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1" name="Google Shape;1341;p75"/>
          <p:cNvSpPr/>
          <p:nvPr/>
        </p:nvSpPr>
        <p:spPr>
          <a:xfrm>
            <a:off x="4932739" y="3037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75"/>
          <p:cNvSpPr txBox="1"/>
          <p:nvPr/>
        </p:nvSpPr>
        <p:spPr>
          <a:xfrm>
            <a:off x="4425326" y="30427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3" name="Google Shape;1343;p75"/>
          <p:cNvSpPr/>
          <p:nvPr/>
        </p:nvSpPr>
        <p:spPr>
          <a:xfrm>
            <a:off x="7823965" y="3037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75"/>
          <p:cNvSpPr txBox="1"/>
          <p:nvPr/>
        </p:nvSpPr>
        <p:spPr>
          <a:xfrm>
            <a:off x="7359526" y="30888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5" name="Google Shape;1345;p75"/>
          <p:cNvSpPr/>
          <p:nvPr/>
        </p:nvSpPr>
        <p:spPr>
          <a:xfrm>
            <a:off x="6291764" y="3945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75"/>
          <p:cNvSpPr txBox="1"/>
          <p:nvPr/>
        </p:nvSpPr>
        <p:spPr>
          <a:xfrm>
            <a:off x="6239128" y="3956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7" name="Google Shape;1347;p75"/>
          <p:cNvSpPr/>
          <p:nvPr/>
        </p:nvSpPr>
        <p:spPr>
          <a:xfrm>
            <a:off x="4968899" y="2504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48" name="Google Shape;1348;p75"/>
          <p:cNvSpPr/>
          <p:nvPr/>
        </p:nvSpPr>
        <p:spPr>
          <a:xfrm flipH="1" rot="10800000">
            <a:off x="5233955" y="2845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75"/>
          <p:cNvSpPr txBox="1"/>
          <p:nvPr/>
        </p:nvSpPr>
        <p:spPr>
          <a:xfrm>
            <a:off x="5310142" y="2415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350" name="Google Shape;1350;p75"/>
          <p:cNvGrpSpPr/>
          <p:nvPr/>
        </p:nvGrpSpPr>
        <p:grpSpPr>
          <a:xfrm>
            <a:off x="5736481" y="3087608"/>
            <a:ext cx="2074035" cy="212542"/>
            <a:chOff x="3084775" y="3358200"/>
            <a:chExt cx="3088200" cy="259800"/>
          </a:xfrm>
        </p:grpSpPr>
        <p:cxnSp>
          <p:nvCxnSpPr>
            <p:cNvPr id="1351" name="Google Shape;1351;p75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2" name="Google Shape;1352;p75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3" name="Google Shape;1353;p75"/>
          <p:cNvSpPr txBox="1"/>
          <p:nvPr/>
        </p:nvSpPr>
        <p:spPr>
          <a:xfrm>
            <a:off x="6303128" y="2831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4" name="Google Shape;1354;p75"/>
          <p:cNvSpPr/>
          <p:nvPr/>
        </p:nvSpPr>
        <p:spPr>
          <a:xfrm flipH="1" rot="5400000">
            <a:off x="6072188" y="4229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75"/>
          <p:cNvSpPr/>
          <p:nvPr/>
        </p:nvSpPr>
        <p:spPr>
          <a:xfrm>
            <a:off x="5463694" y="3626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56" name="Google Shape;1356;p75"/>
          <p:cNvSpPr txBox="1"/>
          <p:nvPr/>
        </p:nvSpPr>
        <p:spPr>
          <a:xfrm>
            <a:off x="5208924" y="4140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7" name="Google Shape;1357;p75"/>
          <p:cNvSpPr/>
          <p:nvPr/>
        </p:nvSpPr>
        <p:spPr>
          <a:xfrm>
            <a:off x="7942302" y="2473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58" name="Google Shape;1358;p75"/>
          <p:cNvSpPr/>
          <p:nvPr/>
        </p:nvSpPr>
        <p:spPr>
          <a:xfrm flipH="1" rot="10800000">
            <a:off x="8207358" y="2815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75"/>
          <p:cNvSpPr txBox="1"/>
          <p:nvPr/>
        </p:nvSpPr>
        <p:spPr>
          <a:xfrm>
            <a:off x="8330661" y="2443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60" name="Google Shape;1360;p75"/>
          <p:cNvCxnSpPr/>
          <p:nvPr/>
        </p:nvCxnSpPr>
        <p:spPr>
          <a:xfrm>
            <a:off x="5825438" y="3330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75"/>
          <p:cNvSpPr txBox="1"/>
          <p:nvPr/>
        </p:nvSpPr>
        <p:spPr>
          <a:xfrm>
            <a:off x="6327628" y="3243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62" name="Google Shape;1362;p75"/>
          <p:cNvSpPr/>
          <p:nvPr/>
        </p:nvSpPr>
        <p:spPr>
          <a:xfrm rot="-5400000">
            <a:off x="5761277" y="3253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75"/>
          <p:cNvSpPr/>
          <p:nvPr/>
        </p:nvSpPr>
        <p:spPr>
          <a:xfrm flipH="1">
            <a:off x="7204617" y="3630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64" name="Google Shape;1364;p75"/>
          <p:cNvSpPr txBox="1"/>
          <p:nvPr/>
        </p:nvSpPr>
        <p:spPr>
          <a:xfrm>
            <a:off x="7650777" y="4128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65" name="Google Shape;1365;p75"/>
          <p:cNvSpPr/>
          <p:nvPr/>
        </p:nvSpPr>
        <p:spPr>
          <a:xfrm flipH="1" rot="-5400000">
            <a:off x="7075863" y="4191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75"/>
          <p:cNvSpPr/>
          <p:nvPr/>
        </p:nvSpPr>
        <p:spPr>
          <a:xfrm flipH="1" rot="10800000">
            <a:off x="6377600" y="4507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67" name="Google Shape;1367;p75"/>
          <p:cNvSpPr/>
          <p:nvPr/>
        </p:nvSpPr>
        <p:spPr>
          <a:xfrm>
            <a:off x="6648089" y="4535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75"/>
          <p:cNvSpPr/>
          <p:nvPr/>
        </p:nvSpPr>
        <p:spPr>
          <a:xfrm rot="10800000">
            <a:off x="5685374" y="3534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69" name="Google Shape;1369;p75"/>
          <p:cNvSpPr/>
          <p:nvPr/>
        </p:nvSpPr>
        <p:spPr>
          <a:xfrm rot="-5400000">
            <a:off x="5639263" y="3461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75"/>
          <p:cNvSpPr/>
          <p:nvPr/>
        </p:nvSpPr>
        <p:spPr>
          <a:xfrm flipH="1" rot="10800000">
            <a:off x="6822572" y="3450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71" name="Google Shape;1371;p75"/>
          <p:cNvSpPr/>
          <p:nvPr/>
        </p:nvSpPr>
        <p:spPr>
          <a:xfrm flipH="1" rot="5400000">
            <a:off x="7665608" y="3390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75"/>
          <p:cNvSpPr txBox="1"/>
          <p:nvPr/>
        </p:nvSpPr>
        <p:spPr>
          <a:xfrm>
            <a:off x="6049012" y="4698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3" name="Google Shape;1373;p75"/>
          <p:cNvSpPr txBox="1"/>
          <p:nvPr/>
        </p:nvSpPr>
        <p:spPr>
          <a:xfrm>
            <a:off x="5752038" y="3561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4" name="Google Shape;1374;p75"/>
          <p:cNvSpPr txBox="1"/>
          <p:nvPr/>
        </p:nvSpPr>
        <p:spPr>
          <a:xfrm>
            <a:off x="6836798" y="3557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375" name="Google Shape;137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 = \left[&#10;\begin{matrix}&#10;0.9 &amp; 0.075 &amp; 0.025 \\&#10;0.15 &amp; 0.8 &amp; 0.05 \\&#10;0.25 &amp; 0.25 &amp; 0.5&#10;\end{matrix}&#10;\right]&#10;%74a806e7-2ce4-4d20-aa46-673b58781cae" id="1376" name="Google Shape;137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557650"/>
            <a:ext cx="3229615" cy="10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7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76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3" name="Google Shape;1383;p76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esta semana el mercado es bajista, cuál es la probabilidad de que sea bajista en la próxima semana?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En 2 semanas? </a:t>
            </a:r>
            <a:r>
              <a:rPr lang="en" sz="1800">
                <a:solidFill>
                  <a:schemeClr val="dk2"/>
                </a:solidFill>
              </a:rPr>
              <a:t>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Se puede responder a esas preguntas más fácilmente con álgebra linear!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      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384" name="Google Shape;138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7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77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1" name="Google Shape;1391;p77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esta semana el mercado es bajista, cuál es la probabilidad de que sea bajista en la próxima semana? </a:t>
            </a:r>
            <a:r>
              <a:rPr lang="en" sz="1800">
                <a:solidFill>
                  <a:schemeClr val="dk2"/>
                </a:solidFill>
              </a:rPr>
              <a:t>En 2 semanas? </a:t>
            </a:r>
            <a:r>
              <a:rPr lang="en" sz="1800">
                <a:solidFill>
                  <a:schemeClr val="dk2"/>
                </a:solidFill>
              </a:rPr>
              <a:t>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Se puede responder a esas preguntas más fácilmente con álgebra linear!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Recordemos que </a:t>
            </a:r>
            <a:r>
              <a:rPr lang="en" sz="1800">
                <a:solidFill>
                  <a:schemeClr val="dk2"/>
                </a:solidFill>
              </a:rPr>
              <a:t>π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(s) =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s). Resulta que </a:t>
            </a:r>
            <a:r>
              <a:rPr lang="en" sz="1800">
                <a:solidFill>
                  <a:srgbClr val="FF0000"/>
                </a:solidFill>
              </a:rPr>
              <a:t>π</a:t>
            </a:r>
            <a:r>
              <a:rPr baseline="-25000" lang="en" sz="1800">
                <a:solidFill>
                  <a:srgbClr val="FF0000"/>
                </a:solidFill>
              </a:rPr>
              <a:t>t+1</a:t>
            </a:r>
            <a:r>
              <a:rPr lang="en" sz="1800">
                <a:solidFill>
                  <a:srgbClr val="FF0000"/>
                </a:solidFill>
              </a:rPr>
              <a:t> = π</a:t>
            </a:r>
            <a:r>
              <a:rPr baseline="-25000" lang="en" sz="1800">
                <a:solidFill>
                  <a:srgbClr val="FF0000"/>
                </a:solidFill>
              </a:rPr>
              <a:t>t</a:t>
            </a:r>
            <a:r>
              <a:rPr lang="en" sz="1800">
                <a:solidFill>
                  <a:srgbClr val="FF0000"/>
                </a:solidFill>
              </a:rPr>
              <a:t>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  y  </a:t>
            </a:r>
            <a:r>
              <a:rPr lang="en" sz="1800">
                <a:solidFill>
                  <a:srgbClr val="FF0000"/>
                </a:solidFill>
              </a:rPr>
              <a:t>π</a:t>
            </a:r>
            <a:r>
              <a:rPr baseline="-25000" lang="en" sz="1800">
                <a:solidFill>
                  <a:srgbClr val="FF0000"/>
                </a:solidFill>
              </a:rPr>
              <a:t>t</a:t>
            </a:r>
            <a:r>
              <a:rPr lang="en" sz="1800">
                <a:solidFill>
                  <a:srgbClr val="FF0000"/>
                </a:solidFill>
              </a:rPr>
              <a:t> = π</a:t>
            </a:r>
            <a:r>
              <a:rPr baseline="-25000" lang="en" sz="1800">
                <a:solidFill>
                  <a:srgbClr val="FF0000"/>
                </a:solidFill>
              </a:rPr>
              <a:t>0</a:t>
            </a:r>
            <a:r>
              <a:rPr lang="en" sz="1800">
                <a:solidFill>
                  <a:srgbClr val="FF0000"/>
                </a:solidFill>
              </a:rPr>
              <a:t>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r>
              <a:rPr b="1" baseline="30000" i="1" lang="en" sz="1800">
                <a:solidFill>
                  <a:srgbClr val="FF0000"/>
                </a:solidFill>
              </a:rPr>
              <a:t>t</a:t>
            </a:r>
            <a:endParaRPr baseline="30000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      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392" name="Google Shape;139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77"/>
          <p:cNvSpPr/>
          <p:nvPr/>
        </p:nvSpPr>
        <p:spPr>
          <a:xfrm>
            <a:off x="5398850" y="2281175"/>
            <a:ext cx="1313100" cy="38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77"/>
          <p:cNvSpPr/>
          <p:nvPr/>
        </p:nvSpPr>
        <p:spPr>
          <a:xfrm>
            <a:off x="6989550" y="2281175"/>
            <a:ext cx="1192200" cy="38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left[ &#10;\begin{matrix} &#10;0 &amp; 1 &amp; 0 &#10;\end{matrix} &#10;\right] \times\left[ &#10;\begin{matrix} &#10;0.9 &amp; 0.075 &amp; 0.025 \\ &#10;0.15 &amp; 0.8 &amp; 0.05 \\ &#10;0.25 &amp; 0.25 &amp; 0.5 &#10;\end{matrix} &#10;\right]^{1}= &#10;\left[ &#10;\begin{matrix} &#10;0.15 &amp; 0.8 &amp; 0.05 &#10;\end{matrix} &#10;\right] &#10;%4ed91251-5da5-4eeb-a813-4258f276959d" id="1399" name="Google Shape;139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275" y="3063900"/>
            <a:ext cx="5869325" cy="98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7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78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2" name="Google Shape;1402;p78"/>
          <p:cNvSpPr txBox="1"/>
          <p:nvPr/>
        </p:nvSpPr>
        <p:spPr>
          <a:xfrm>
            <a:off x="210875" y="822450"/>
            <a:ext cx="86898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esta semana el mercado es bajista, </a:t>
            </a:r>
            <a:r>
              <a:rPr lang="en" sz="1800">
                <a:solidFill>
                  <a:schemeClr val="dk2"/>
                </a:solidFill>
              </a:rPr>
              <a:t>cuál es la probabilidad de que sea bajista en la próxima semana?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En 2 semanas?</a:t>
            </a:r>
            <a:r>
              <a:rPr lang="en" sz="1800">
                <a:solidFill>
                  <a:schemeClr val="dk2"/>
                </a:solidFill>
              </a:rPr>
              <a:t> 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 puede responder a esas preguntas más fácilmente con álgebra linear!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Recordemos que π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(s) =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s). Resulta que </a:t>
            </a:r>
            <a:r>
              <a:rPr lang="en" sz="1800">
                <a:solidFill>
                  <a:srgbClr val="FF0000"/>
                </a:solidFill>
              </a:rPr>
              <a:t>π</a:t>
            </a:r>
            <a:r>
              <a:rPr baseline="-25000" lang="en" sz="1800">
                <a:solidFill>
                  <a:srgbClr val="FF0000"/>
                </a:solidFill>
              </a:rPr>
              <a:t>t+1</a:t>
            </a:r>
            <a:r>
              <a:rPr lang="en" sz="1800">
                <a:solidFill>
                  <a:srgbClr val="FF0000"/>
                </a:solidFill>
              </a:rPr>
              <a:t> = π</a:t>
            </a:r>
            <a:r>
              <a:rPr baseline="-25000" lang="en" sz="1800">
                <a:solidFill>
                  <a:srgbClr val="FF0000"/>
                </a:solidFill>
              </a:rPr>
              <a:t>t</a:t>
            </a:r>
            <a:r>
              <a:rPr lang="en" sz="1800">
                <a:solidFill>
                  <a:srgbClr val="FF0000"/>
                </a:solidFill>
              </a:rPr>
              <a:t>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  y  </a:t>
            </a:r>
            <a:r>
              <a:rPr lang="en" sz="1800">
                <a:solidFill>
                  <a:srgbClr val="FF0000"/>
                </a:solidFill>
              </a:rPr>
              <a:t>π</a:t>
            </a:r>
            <a:r>
              <a:rPr baseline="-25000" lang="en" sz="1800">
                <a:solidFill>
                  <a:srgbClr val="FF0000"/>
                </a:solidFill>
              </a:rPr>
              <a:t>t</a:t>
            </a:r>
            <a:r>
              <a:rPr lang="en" sz="1800">
                <a:solidFill>
                  <a:srgbClr val="FF0000"/>
                </a:solidFill>
              </a:rPr>
              <a:t> = π</a:t>
            </a:r>
            <a:r>
              <a:rPr baseline="-25000" lang="en" sz="1800">
                <a:solidFill>
                  <a:srgbClr val="FF0000"/>
                </a:solidFill>
              </a:rPr>
              <a:t>0</a:t>
            </a:r>
            <a:r>
              <a:rPr lang="en" sz="1800">
                <a:solidFill>
                  <a:srgbClr val="FF0000"/>
                </a:solidFill>
              </a:rPr>
              <a:t>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r>
              <a:rPr b="1" baseline="30000" i="1" lang="en" sz="1800">
                <a:solidFill>
                  <a:srgbClr val="FF0000"/>
                </a:solidFill>
              </a:rPr>
              <a:t>t</a:t>
            </a:r>
            <a:endParaRPr baseline="30000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Entonces: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       </a:t>
            </a:r>
            <a:r>
              <a:rPr lang="en" sz="1800">
                <a:solidFill>
                  <a:schemeClr val="dk2"/>
                </a:solidFill>
              </a:rPr>
              <a:t>π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Bajista |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Bajista) = 0.8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403" name="Google Shape;1403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78"/>
          <p:cNvSpPr/>
          <p:nvPr/>
        </p:nvSpPr>
        <p:spPr>
          <a:xfrm>
            <a:off x="5973375" y="3375525"/>
            <a:ext cx="562800" cy="3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78"/>
          <p:cNvSpPr/>
          <p:nvPr/>
        </p:nvSpPr>
        <p:spPr>
          <a:xfrm>
            <a:off x="5398850" y="2281175"/>
            <a:ext cx="1313100" cy="38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78"/>
          <p:cNvSpPr/>
          <p:nvPr/>
        </p:nvSpPr>
        <p:spPr>
          <a:xfrm>
            <a:off x="6989550" y="2281175"/>
            <a:ext cx="1192200" cy="38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left[ &#10;\begin{matrix} &#10;0 &amp; 1 &amp; 0 &#10;\end{matrix} &#10;\right] \times\left[ &#10;\begin{matrix} &#10;0.9 &amp; 0.075 &amp; 0.025 \\ &#10;0.15 &amp; 0.8 &amp; 0.05 \\ &#10;0.25 &amp; 0.25 &amp; 0.5 &#10;\end{matrix} &#10;\right]^{2}= &#10;\left[ &#10;\begin{matrix} &#10;0.2675 &amp; 0.66375 &amp; 0.06875 &#10;\end{matrix} &#10;\right] &#10;%8d4acb8a-b398-4edc-bb3d-2a5abbf88780" id="1411" name="Google Shape;141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875" y="3069199"/>
            <a:ext cx="6636975" cy="93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7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79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4" name="Google Shape;1414;p79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esta semana el mercado es bajista, cuál es la probabilidad de que sea bajista en la próxima semana? </a:t>
            </a:r>
            <a:r>
              <a:rPr b="1" lang="en" sz="1800">
                <a:solidFill>
                  <a:schemeClr val="dk2"/>
                </a:solidFill>
              </a:rPr>
              <a:t>En 2 semanas?</a:t>
            </a:r>
            <a:r>
              <a:rPr lang="en" sz="1800">
                <a:solidFill>
                  <a:schemeClr val="dk2"/>
                </a:solidFill>
              </a:rPr>
              <a:t> En 10 semanas?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 puede responder más fácilmente con álgebra linear!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Recordemos que π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(s) =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s). Resulta que </a:t>
            </a:r>
            <a:r>
              <a:rPr lang="en" sz="1800">
                <a:solidFill>
                  <a:srgbClr val="FF0000"/>
                </a:solidFill>
              </a:rPr>
              <a:t>π</a:t>
            </a:r>
            <a:r>
              <a:rPr baseline="-25000" lang="en" sz="1800">
                <a:solidFill>
                  <a:srgbClr val="FF0000"/>
                </a:solidFill>
              </a:rPr>
              <a:t>t+1</a:t>
            </a:r>
            <a:r>
              <a:rPr lang="en" sz="1800">
                <a:solidFill>
                  <a:srgbClr val="FF0000"/>
                </a:solidFill>
              </a:rPr>
              <a:t> = π</a:t>
            </a:r>
            <a:r>
              <a:rPr baseline="-25000" lang="en" sz="1800">
                <a:solidFill>
                  <a:srgbClr val="FF0000"/>
                </a:solidFill>
              </a:rPr>
              <a:t>t</a:t>
            </a:r>
            <a:r>
              <a:rPr lang="en" sz="1800">
                <a:solidFill>
                  <a:srgbClr val="FF0000"/>
                </a:solidFill>
              </a:rPr>
              <a:t>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  y  </a:t>
            </a:r>
            <a:r>
              <a:rPr lang="en" sz="1800">
                <a:solidFill>
                  <a:srgbClr val="FF0000"/>
                </a:solidFill>
              </a:rPr>
              <a:t>π</a:t>
            </a:r>
            <a:r>
              <a:rPr baseline="-25000" lang="en" sz="1800">
                <a:solidFill>
                  <a:srgbClr val="FF0000"/>
                </a:solidFill>
              </a:rPr>
              <a:t>t</a:t>
            </a:r>
            <a:r>
              <a:rPr lang="en" sz="1800">
                <a:solidFill>
                  <a:srgbClr val="FF0000"/>
                </a:solidFill>
              </a:rPr>
              <a:t> = π</a:t>
            </a:r>
            <a:r>
              <a:rPr baseline="-25000" lang="en" sz="1800">
                <a:solidFill>
                  <a:srgbClr val="FF0000"/>
                </a:solidFill>
              </a:rPr>
              <a:t>0</a:t>
            </a:r>
            <a:r>
              <a:rPr lang="en" sz="1800">
                <a:solidFill>
                  <a:srgbClr val="FF0000"/>
                </a:solidFill>
              </a:rPr>
              <a:t>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r>
              <a:rPr b="1" baseline="30000" i="1" lang="en" sz="1800">
                <a:solidFill>
                  <a:srgbClr val="FF0000"/>
                </a:solidFill>
              </a:rPr>
              <a:t>t</a:t>
            </a:r>
            <a:endParaRPr baseline="30000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Entonces (Python):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       </a:t>
            </a:r>
            <a:r>
              <a:rPr lang="en" sz="1800">
                <a:solidFill>
                  <a:schemeClr val="dk2"/>
                </a:solidFill>
              </a:rPr>
              <a:t>π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=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= Bajista |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Bajista) = 0.66375</a:t>
            </a:r>
            <a:endParaRPr b="1" i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415" name="Google Shape;141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79"/>
          <p:cNvSpPr/>
          <p:nvPr/>
        </p:nvSpPr>
        <p:spPr>
          <a:xfrm>
            <a:off x="6158900" y="3346713"/>
            <a:ext cx="938100" cy="3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79"/>
          <p:cNvSpPr/>
          <p:nvPr/>
        </p:nvSpPr>
        <p:spPr>
          <a:xfrm>
            <a:off x="5398850" y="2281175"/>
            <a:ext cx="1313100" cy="38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79"/>
          <p:cNvSpPr/>
          <p:nvPr/>
        </p:nvSpPr>
        <p:spPr>
          <a:xfrm>
            <a:off x="6989550" y="2281175"/>
            <a:ext cx="1192200" cy="38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left[ &#10;\begin{matrix} &#10;0 &amp; 1 &amp; 0 &#10;\end{matrix} &#10;\right] \times\left[ &#10;\begin{matrix} &#10;0.9 &amp; 0.075 &amp; 0.025 \\ &#10;0.15 &amp; 0.8 &amp; 0.05 \\ &#10;0.25 &amp; 0.25 &amp; 0.5 &#10;\end{matrix} &#10;\right]^{10}= &#10;\left[ &#10;\begin{matrix} &#10;0.59159 &amp; 0.34310 &amp; 0.06532 &#10;\end{matrix} &#10;\right] &#10;%8936d852-2c02-4c1c-b554-f690cce12960" id="1423" name="Google Shape;142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975" y="3069199"/>
            <a:ext cx="7025826" cy="9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8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Probabilística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80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6" name="Google Shape;1426;p80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esta semana el mercado es bajista, cuál es la probabilidad de que sea bajista en la próxima semana? </a:t>
            </a:r>
            <a:r>
              <a:rPr lang="en" sz="1800">
                <a:solidFill>
                  <a:schemeClr val="dk2"/>
                </a:solidFill>
              </a:rPr>
              <a:t>En 2 semanas? </a:t>
            </a:r>
            <a:r>
              <a:rPr b="1" lang="en" sz="1800">
                <a:solidFill>
                  <a:schemeClr val="dk2"/>
                </a:solidFill>
              </a:rPr>
              <a:t>En 10 semanas?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 puede responder más fácilmente con álgebra linear!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Recordemos que π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(s) = 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s). Resulta que </a:t>
            </a:r>
            <a:r>
              <a:rPr lang="en" sz="1800">
                <a:solidFill>
                  <a:srgbClr val="FF0000"/>
                </a:solidFill>
              </a:rPr>
              <a:t>π</a:t>
            </a:r>
            <a:r>
              <a:rPr baseline="-25000" lang="en" sz="1800">
                <a:solidFill>
                  <a:srgbClr val="FF0000"/>
                </a:solidFill>
              </a:rPr>
              <a:t>t+1</a:t>
            </a:r>
            <a:r>
              <a:rPr lang="en" sz="1800">
                <a:solidFill>
                  <a:srgbClr val="FF0000"/>
                </a:solidFill>
              </a:rPr>
              <a:t> = π</a:t>
            </a:r>
            <a:r>
              <a:rPr baseline="-25000" lang="en" sz="1800">
                <a:solidFill>
                  <a:srgbClr val="FF0000"/>
                </a:solidFill>
              </a:rPr>
              <a:t>t</a:t>
            </a:r>
            <a:r>
              <a:rPr lang="en" sz="1800">
                <a:solidFill>
                  <a:srgbClr val="FF0000"/>
                </a:solidFill>
              </a:rPr>
              <a:t>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  y  </a:t>
            </a:r>
            <a:r>
              <a:rPr lang="en" sz="1800">
                <a:solidFill>
                  <a:srgbClr val="FF0000"/>
                </a:solidFill>
              </a:rPr>
              <a:t>π</a:t>
            </a:r>
            <a:r>
              <a:rPr baseline="-25000" lang="en" sz="1800">
                <a:solidFill>
                  <a:srgbClr val="FF0000"/>
                </a:solidFill>
              </a:rPr>
              <a:t>t</a:t>
            </a:r>
            <a:r>
              <a:rPr lang="en" sz="1800">
                <a:solidFill>
                  <a:srgbClr val="FF0000"/>
                </a:solidFill>
              </a:rPr>
              <a:t> = π</a:t>
            </a:r>
            <a:r>
              <a:rPr baseline="-25000" lang="en" sz="1800">
                <a:solidFill>
                  <a:srgbClr val="FF0000"/>
                </a:solidFill>
              </a:rPr>
              <a:t>0</a:t>
            </a:r>
            <a:r>
              <a:rPr lang="en" sz="1800">
                <a:solidFill>
                  <a:srgbClr val="FF0000"/>
                </a:solidFill>
              </a:rPr>
              <a:t>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r>
              <a:rPr b="1" baseline="30000" i="1" lang="en" sz="1800">
                <a:solidFill>
                  <a:srgbClr val="FF0000"/>
                </a:solidFill>
              </a:rPr>
              <a:t>t</a:t>
            </a:r>
            <a:endParaRPr baseline="30000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Entonces </a:t>
            </a:r>
            <a:r>
              <a:rPr lang="en" sz="1800">
                <a:solidFill>
                  <a:schemeClr val="dk2"/>
                </a:solidFill>
              </a:rPr>
              <a:t>(Python)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       </a:t>
            </a:r>
            <a:r>
              <a:rPr lang="en" sz="1800">
                <a:solidFill>
                  <a:schemeClr val="dk2"/>
                </a:solidFill>
              </a:rPr>
              <a:t>π</a:t>
            </a:r>
            <a:r>
              <a:rPr baseline="-25000" lang="en" sz="1800">
                <a:solidFill>
                  <a:schemeClr val="dk2"/>
                </a:solidFill>
              </a:rPr>
              <a:t>10</a:t>
            </a:r>
            <a:r>
              <a:rPr lang="en" sz="1800">
                <a:solidFill>
                  <a:schemeClr val="dk2"/>
                </a:solidFill>
              </a:rPr>
              <a:t> = 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Prob(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10</a:t>
            </a:r>
            <a:r>
              <a:rPr lang="en" sz="1800">
                <a:solidFill>
                  <a:schemeClr val="dk2"/>
                </a:solidFill>
              </a:rPr>
              <a:t> = Bajista |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r>
              <a:rPr b="1" baseline="-25000" i="1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= Bajista) = 0.34310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427" name="Google Shape;142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80"/>
          <p:cNvSpPr/>
          <p:nvPr/>
        </p:nvSpPr>
        <p:spPr>
          <a:xfrm>
            <a:off x="6522400" y="3377400"/>
            <a:ext cx="938100" cy="3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80"/>
          <p:cNvSpPr/>
          <p:nvPr/>
        </p:nvSpPr>
        <p:spPr>
          <a:xfrm>
            <a:off x="5398850" y="2281175"/>
            <a:ext cx="1313100" cy="38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80"/>
          <p:cNvSpPr/>
          <p:nvPr/>
        </p:nvSpPr>
        <p:spPr>
          <a:xfrm>
            <a:off x="6989550" y="2281175"/>
            <a:ext cx="1192200" cy="38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8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Estacionaria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81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7" name="Google Shape;1437;p81"/>
          <p:cNvSpPr txBox="1"/>
          <p:nvPr/>
        </p:nvSpPr>
        <p:spPr>
          <a:xfrm>
            <a:off x="210875" y="822450"/>
            <a:ext cx="86214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Cuál es la frecuencia de semanas alcistas, bajistas y estables en ese mercado?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Distribución estacionaria: </a:t>
            </a:r>
            <a:r>
              <a:rPr lang="en" sz="1800">
                <a:solidFill>
                  <a:srgbClr val="FF0000"/>
                </a:solidFill>
              </a:rPr>
              <a:t>π</a:t>
            </a:r>
            <a:r>
              <a:rPr baseline="-25000" lang="en" sz="1800">
                <a:solidFill>
                  <a:srgbClr val="FF0000"/>
                </a:solidFill>
              </a:rPr>
              <a:t>t+1</a:t>
            </a:r>
            <a:r>
              <a:rPr lang="en" sz="1800">
                <a:solidFill>
                  <a:srgbClr val="FF0000"/>
                </a:solidFill>
              </a:rPr>
              <a:t> = π</a:t>
            </a:r>
            <a:r>
              <a:rPr baseline="-25000" lang="en" sz="1800">
                <a:solidFill>
                  <a:srgbClr val="FF0000"/>
                </a:solidFill>
              </a:rPr>
              <a:t>t</a:t>
            </a:r>
            <a:r>
              <a:rPr lang="en" sz="1800">
                <a:solidFill>
                  <a:srgbClr val="FF0000"/>
                </a:solidFill>
              </a:rPr>
              <a:t>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, pero estacionariedad implica </a:t>
            </a:r>
            <a:r>
              <a:rPr lang="en" sz="1800">
                <a:solidFill>
                  <a:srgbClr val="FF0000"/>
                </a:solidFill>
              </a:rPr>
              <a:t>π</a:t>
            </a:r>
            <a:r>
              <a:rPr baseline="-25000" lang="en" sz="1800">
                <a:solidFill>
                  <a:srgbClr val="FF0000"/>
                </a:solidFill>
              </a:rPr>
              <a:t>t+1</a:t>
            </a:r>
            <a:r>
              <a:rPr lang="en" sz="1800">
                <a:solidFill>
                  <a:srgbClr val="FF0000"/>
                </a:solidFill>
              </a:rPr>
              <a:t> = π</a:t>
            </a:r>
            <a:r>
              <a:rPr baseline="-25000" lang="en" sz="1800">
                <a:solidFill>
                  <a:srgbClr val="FF0000"/>
                </a:solidFill>
              </a:rPr>
              <a:t>t</a:t>
            </a:r>
            <a:r>
              <a:rPr lang="en" sz="1800">
                <a:solidFill>
                  <a:srgbClr val="FF0000"/>
                </a:solidFill>
              </a:rPr>
              <a:t> = π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438" name="Google Shape;143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8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Estacionaria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82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45" name="Google Shape;1445;p82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Cuál es la frecuencia de semanas alcistas, bajistas y estables en ese mercado?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Distribución estacionaria: </a:t>
            </a:r>
            <a:r>
              <a:rPr lang="en" sz="1800">
                <a:solidFill>
                  <a:srgbClr val="FF0000"/>
                </a:solidFill>
              </a:rPr>
              <a:t>π = π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endParaRPr b="1" i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446" name="Google Shape;144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8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Estacionaria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83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3" name="Google Shape;1453;p83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Cuál es la frecuencia de semanas alcistas, bajistas y estables en ese mercado?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Distribución estacionaria: </a:t>
            </a:r>
            <a:r>
              <a:rPr lang="en" sz="1800">
                <a:solidFill>
                  <a:srgbClr val="FF0000"/>
                </a:solidFill>
              </a:rPr>
              <a:t>π = π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endParaRPr b="1" i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el número de estados es finito, siempre existe una solución, pero no es necesariamente única.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454" name="Google Shape;145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8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Estacionaria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84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1" name="Google Shape;1461;p84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Cuál es la frecuencia de semanas alcistas, bajistas y estables en ese mercado?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Distribución estacionaria: </a:t>
            </a:r>
            <a:r>
              <a:rPr lang="en" sz="1800">
                <a:solidFill>
                  <a:srgbClr val="FF0000"/>
                </a:solidFill>
              </a:rPr>
              <a:t>π = π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endParaRPr b="1" i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el número de estados es finito, siempre existe una solución, pero no es necesariamente única.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Resolvemos este ejemplo con Python…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462" name="Google Shape;146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8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Estacionaria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85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9" name="Google Shape;1469;p85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Cuál es la frecuencia de semanas alcistas, bajistas y estables en ese mercado?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Distribución estacionaria: </a:t>
            </a:r>
            <a:r>
              <a:rPr lang="en" sz="1800">
                <a:solidFill>
                  <a:srgbClr val="FF0000"/>
                </a:solidFill>
              </a:rPr>
              <a:t>π = π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endParaRPr b="1" i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el número de estados es finito, siempre existe una solución, pero no es necesariamente única.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r>
              <a:rPr lang="en" sz="1800">
                <a:solidFill>
                  <a:schemeClr val="dk2"/>
                </a:solidFill>
              </a:rPr>
              <a:t>π =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470" name="Google Shape;147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left[ &#10;\begin{matrix} &#10;0 &amp; 1 &amp; 0 &#10;\end{matrix} &#10;\right] \times\left[ &#10;\begin{matrix} &#10;0.9 &amp; 0.075 &amp; 0.025 \\ &#10;0.15 &amp; 0.8 &amp; 0.05 \\ &#10;0.25 &amp; 0.25 &amp; 0.5 &#10;\end{matrix} &#10;\right]^{\infty}= &#10;\left[ &#10;\begin{matrix} &#10;0.625 &amp; 0.3125 &amp; 0.0625 &#10;\end{matrix} &#10;\right] &#10;%95af61db-5c4c-4a79-8154-5b330fb02237" id="1471" name="Google Shape;1471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988" y="2827750"/>
            <a:ext cx="5925322" cy="84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8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Estacionaria de Estados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86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8" name="Google Shape;1478;p86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Cuál es la frecuencia de semanas alcistas, bajistas y estables en ese mercado?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Distribución estacionaria: </a:t>
            </a:r>
            <a:r>
              <a:rPr lang="en" sz="1800">
                <a:solidFill>
                  <a:srgbClr val="FF0000"/>
                </a:solidFill>
              </a:rPr>
              <a:t>π = π x </a:t>
            </a:r>
            <a:r>
              <a:rPr b="1" i="1" lang="en" sz="1800">
                <a:solidFill>
                  <a:srgbClr val="FF0000"/>
                </a:solidFill>
              </a:rPr>
              <a:t>P</a:t>
            </a:r>
            <a:endParaRPr b="1" i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el número de estados es finito, siempre existe una solución, pero no es necesariamente única.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π =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En ese mercado, 62.5% de las semanas son alcistas, 31.25% son bajistas, y 6.25% son estables.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479" name="Google Shape;147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left[ &#10;\begin{matrix} &#10;0 &amp; 1 &amp; 0 &#10;\end{matrix} &#10;\right] \times\left[ &#10;\begin{matrix} &#10;0.9 &amp; 0.075 &amp; 0.025 \\ &#10;0.15 &amp; 0.8 &amp; 0.05 \\ &#10;0.25 &amp; 0.25 &amp; 0.5 &#10;\end{matrix} &#10;\right]^{\infty}= &#10;\left[ &#10;\begin{matrix} &#10;0.625 &amp; 0.3125 &amp; 0.0625 &#10;\end{matrix} &#10;\right] &#10;%95af61db-5c4c-4a79-8154-5b330fb02237" id="1480" name="Google Shape;1480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988" y="2827750"/>
            <a:ext cx="5925322" cy="84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8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Google PageRank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87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7" name="Google Shape;1487;p87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Cuando hacemos una búsqueda en Google, las páginas que satisfacen a nuestras condiciones son presentadas en orden de importancia.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Cómo determinar importancia/ranking?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488" name="Google Shape;148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8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Google PageRank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88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95" name="Google Shape;1495;p88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Cuando hacemos una búsqueda en Google, las páginas que satisfacen a nuestras condiciones son presentadas en orden de importancia.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Cómo determinar importancia/ranking?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496" name="Google Shape;149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7" name="Google Shape;1497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200" y="2177850"/>
            <a:ext cx="5931300" cy="29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88"/>
          <p:cNvSpPr/>
          <p:nvPr/>
        </p:nvSpPr>
        <p:spPr>
          <a:xfrm>
            <a:off x="4241950" y="2324225"/>
            <a:ext cx="2657700" cy="273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8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Google PageRank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89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05" name="Google Shape;1505;p89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Cuando hacemos una búsqueda en Google, las páginas que satisfacen a nuestras condiciones son presentadas en orden de importancia.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Cómo determinar importancia/ranking?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506" name="Google Shape;150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7" name="Google Shape;150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6350" y="2041100"/>
            <a:ext cx="5931300" cy="296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9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Google PageRank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90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14" name="Google Shape;1514;p90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Cuando hacemos una búsqueda en Google, las páginas que satisfacen a nuestras condiciones son presentadas en orden de importancia.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Cómo determinar importancia/ranking? Ranking = distribucion estacionaria!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515" name="Google Shape;151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6" name="Google Shape;1516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2433" y="2101650"/>
            <a:ext cx="5979133" cy="296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9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Participación en El Mercado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91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23" name="Google Shape;1523;p91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Cadenas markovianas son frecuentemente utilizadas para modelar el comportamiento de consumidores de marcas adversarias y predecir la participación en el mercado de esas marcas al largo del tiempo.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524" name="Google Shape;152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9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Participación en El Mercado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92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1" name="Google Shape;1531;p92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Cadenas markovianas son frecuentemente utilizadas para modelar el comportamiento de consumidores de marcas adversarias y predecir la participación en el mercado de esas marcas al largo del tiempo.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532" name="Google Shape;153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92"/>
          <p:cNvSpPr/>
          <p:nvPr/>
        </p:nvSpPr>
        <p:spPr>
          <a:xfrm>
            <a:off x="2606827" y="301631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92"/>
          <p:cNvSpPr txBox="1"/>
          <p:nvPr/>
        </p:nvSpPr>
        <p:spPr>
          <a:xfrm>
            <a:off x="2805877" y="3103616"/>
            <a:ext cx="378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5" name="Google Shape;1535;p92"/>
          <p:cNvSpPr/>
          <p:nvPr/>
        </p:nvSpPr>
        <p:spPr>
          <a:xfrm>
            <a:off x="5498053" y="301632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92"/>
          <p:cNvSpPr/>
          <p:nvPr/>
        </p:nvSpPr>
        <p:spPr>
          <a:xfrm>
            <a:off x="3965852" y="392440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92"/>
          <p:cNvSpPr/>
          <p:nvPr/>
        </p:nvSpPr>
        <p:spPr>
          <a:xfrm>
            <a:off x="2642986" y="248281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38" name="Google Shape;1538;p92"/>
          <p:cNvSpPr/>
          <p:nvPr/>
        </p:nvSpPr>
        <p:spPr>
          <a:xfrm flipH="1" rot="10800000">
            <a:off x="2908042" y="282426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92"/>
          <p:cNvSpPr txBox="1"/>
          <p:nvPr/>
        </p:nvSpPr>
        <p:spPr>
          <a:xfrm>
            <a:off x="2984230" y="239423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11</a:t>
            </a:r>
            <a:endParaRPr baseline="-25000" sz="1800">
              <a:solidFill>
                <a:schemeClr val="dk2"/>
              </a:solidFill>
            </a:endParaRPr>
          </a:p>
        </p:txBody>
      </p:sp>
      <p:grpSp>
        <p:nvGrpSpPr>
          <p:cNvPr id="1540" name="Google Shape;1540;p92"/>
          <p:cNvGrpSpPr/>
          <p:nvPr/>
        </p:nvGrpSpPr>
        <p:grpSpPr>
          <a:xfrm>
            <a:off x="3410569" y="3066158"/>
            <a:ext cx="2074035" cy="212542"/>
            <a:chOff x="3084775" y="3358200"/>
            <a:chExt cx="3088200" cy="259800"/>
          </a:xfrm>
        </p:grpSpPr>
        <p:cxnSp>
          <p:nvCxnSpPr>
            <p:cNvPr id="1541" name="Google Shape;1541;p92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42" name="Google Shape;1542;p92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3" name="Google Shape;1543;p92"/>
          <p:cNvSpPr txBox="1"/>
          <p:nvPr/>
        </p:nvSpPr>
        <p:spPr>
          <a:xfrm>
            <a:off x="3977215" y="2734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44" name="Google Shape;1544;p92"/>
          <p:cNvSpPr/>
          <p:nvPr/>
        </p:nvSpPr>
        <p:spPr>
          <a:xfrm flipH="1" rot="5400000">
            <a:off x="3746276" y="420765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92"/>
          <p:cNvSpPr/>
          <p:nvPr/>
        </p:nvSpPr>
        <p:spPr>
          <a:xfrm>
            <a:off x="3137782" y="360483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46" name="Google Shape;1546;p92"/>
          <p:cNvSpPr txBox="1"/>
          <p:nvPr/>
        </p:nvSpPr>
        <p:spPr>
          <a:xfrm>
            <a:off x="2959212" y="39663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13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47" name="Google Shape;1547;p92"/>
          <p:cNvSpPr/>
          <p:nvPr/>
        </p:nvSpPr>
        <p:spPr>
          <a:xfrm>
            <a:off x="5616389" y="245252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48" name="Google Shape;1548;p92"/>
          <p:cNvSpPr/>
          <p:nvPr/>
        </p:nvSpPr>
        <p:spPr>
          <a:xfrm flipH="1" rot="10800000">
            <a:off x="5881445" y="279397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92"/>
          <p:cNvSpPr txBox="1"/>
          <p:nvPr/>
        </p:nvSpPr>
        <p:spPr>
          <a:xfrm>
            <a:off x="6004748" y="242188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50" name="Google Shape;1550;p92"/>
          <p:cNvCxnSpPr/>
          <p:nvPr/>
        </p:nvCxnSpPr>
        <p:spPr>
          <a:xfrm>
            <a:off x="3499526" y="330861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1" name="Google Shape;1551;p92"/>
          <p:cNvSpPr txBox="1"/>
          <p:nvPr/>
        </p:nvSpPr>
        <p:spPr>
          <a:xfrm>
            <a:off x="4001716" y="322179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2" name="Google Shape;1552;p92"/>
          <p:cNvSpPr/>
          <p:nvPr/>
        </p:nvSpPr>
        <p:spPr>
          <a:xfrm rot="-5400000">
            <a:off x="3435365" y="32324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92"/>
          <p:cNvSpPr/>
          <p:nvPr/>
        </p:nvSpPr>
        <p:spPr>
          <a:xfrm flipH="1">
            <a:off x="4878705" y="360884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54" name="Google Shape;1554;p92"/>
          <p:cNvSpPr txBox="1"/>
          <p:nvPr/>
        </p:nvSpPr>
        <p:spPr>
          <a:xfrm>
            <a:off x="5324864" y="410673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23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5" name="Google Shape;1555;p92"/>
          <p:cNvSpPr/>
          <p:nvPr/>
        </p:nvSpPr>
        <p:spPr>
          <a:xfrm flipH="1" rot="-5400000">
            <a:off x="4749950" y="41700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92"/>
          <p:cNvSpPr/>
          <p:nvPr/>
        </p:nvSpPr>
        <p:spPr>
          <a:xfrm flipH="1" rot="10800000">
            <a:off x="4051687" y="448557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57" name="Google Shape;1557;p92"/>
          <p:cNvSpPr/>
          <p:nvPr/>
        </p:nvSpPr>
        <p:spPr>
          <a:xfrm>
            <a:off x="4322177" y="451416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92"/>
          <p:cNvSpPr/>
          <p:nvPr/>
        </p:nvSpPr>
        <p:spPr>
          <a:xfrm rot="10800000">
            <a:off x="3359461" y="351353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59" name="Google Shape;1559;p92"/>
          <p:cNvSpPr/>
          <p:nvPr/>
        </p:nvSpPr>
        <p:spPr>
          <a:xfrm rot="-5400000">
            <a:off x="3313351" y="343994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92"/>
          <p:cNvSpPr/>
          <p:nvPr/>
        </p:nvSpPr>
        <p:spPr>
          <a:xfrm flipH="1" rot="10800000">
            <a:off x="4496660" y="342943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61" name="Google Shape;1561;p92"/>
          <p:cNvSpPr/>
          <p:nvPr/>
        </p:nvSpPr>
        <p:spPr>
          <a:xfrm flipH="1" rot="5400000">
            <a:off x="5339695" y="336925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92"/>
          <p:cNvSpPr txBox="1"/>
          <p:nvPr/>
        </p:nvSpPr>
        <p:spPr>
          <a:xfrm>
            <a:off x="3723100" y="467700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33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3" name="Google Shape;1563;p92"/>
          <p:cNvSpPr txBox="1"/>
          <p:nvPr/>
        </p:nvSpPr>
        <p:spPr>
          <a:xfrm>
            <a:off x="3578526" y="34640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31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4" name="Google Shape;1564;p92"/>
          <p:cNvSpPr txBox="1"/>
          <p:nvPr/>
        </p:nvSpPr>
        <p:spPr>
          <a:xfrm>
            <a:off x="4510886" y="34599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32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5" name="Google Shape;1565;p92"/>
          <p:cNvSpPr txBox="1"/>
          <p:nvPr/>
        </p:nvSpPr>
        <p:spPr>
          <a:xfrm>
            <a:off x="5697103" y="3103626"/>
            <a:ext cx="378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6" name="Google Shape;1566;p92"/>
          <p:cNvSpPr txBox="1"/>
          <p:nvPr/>
        </p:nvSpPr>
        <p:spPr>
          <a:xfrm>
            <a:off x="4164902" y="4011700"/>
            <a:ext cx="378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9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Participación en El Mercado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93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3" name="Google Shape;1573;p93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Cadenas markovianas son frecuentemente utilizadas para modelar el comportamiento de consumidores de marcas adversarias y predecir la participación en el mercado de esas marcas al largo del tiempo.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600">
                <a:solidFill>
                  <a:schemeClr val="dk2"/>
                </a:solidFill>
              </a:rPr>
              <a:t>11</a:t>
            </a:r>
            <a:r>
              <a:rPr lang="en" sz="1800">
                <a:solidFill>
                  <a:schemeClr val="dk2"/>
                </a:solidFill>
              </a:rPr>
              <a:t> = probabilidad que consumidor de marca i se pase a marca j</a:t>
            </a:r>
            <a:r>
              <a:rPr baseline="-25000" lang="en" sz="17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574" name="Google Shape;157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93"/>
          <p:cNvSpPr/>
          <p:nvPr/>
        </p:nvSpPr>
        <p:spPr>
          <a:xfrm>
            <a:off x="2606827" y="301631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93"/>
          <p:cNvSpPr txBox="1"/>
          <p:nvPr/>
        </p:nvSpPr>
        <p:spPr>
          <a:xfrm>
            <a:off x="2805877" y="3103616"/>
            <a:ext cx="378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7" name="Google Shape;1577;p93"/>
          <p:cNvSpPr/>
          <p:nvPr/>
        </p:nvSpPr>
        <p:spPr>
          <a:xfrm>
            <a:off x="5498053" y="301632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93"/>
          <p:cNvSpPr/>
          <p:nvPr/>
        </p:nvSpPr>
        <p:spPr>
          <a:xfrm>
            <a:off x="3965852" y="392440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93"/>
          <p:cNvSpPr/>
          <p:nvPr/>
        </p:nvSpPr>
        <p:spPr>
          <a:xfrm>
            <a:off x="2642986" y="248281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0" name="Google Shape;1580;p93"/>
          <p:cNvSpPr/>
          <p:nvPr/>
        </p:nvSpPr>
        <p:spPr>
          <a:xfrm flipH="1" rot="10800000">
            <a:off x="2908042" y="282426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93"/>
          <p:cNvSpPr txBox="1"/>
          <p:nvPr/>
        </p:nvSpPr>
        <p:spPr>
          <a:xfrm>
            <a:off x="2984230" y="239423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11</a:t>
            </a:r>
            <a:endParaRPr baseline="-25000" sz="1800">
              <a:solidFill>
                <a:schemeClr val="dk2"/>
              </a:solidFill>
            </a:endParaRPr>
          </a:p>
        </p:txBody>
      </p:sp>
      <p:grpSp>
        <p:nvGrpSpPr>
          <p:cNvPr id="1582" name="Google Shape;1582;p93"/>
          <p:cNvGrpSpPr/>
          <p:nvPr/>
        </p:nvGrpSpPr>
        <p:grpSpPr>
          <a:xfrm>
            <a:off x="3410569" y="3066158"/>
            <a:ext cx="2074035" cy="212542"/>
            <a:chOff x="3084775" y="3358200"/>
            <a:chExt cx="3088200" cy="259800"/>
          </a:xfrm>
        </p:grpSpPr>
        <p:cxnSp>
          <p:nvCxnSpPr>
            <p:cNvPr id="1583" name="Google Shape;1583;p93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4" name="Google Shape;1584;p93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5" name="Google Shape;1585;p93"/>
          <p:cNvSpPr txBox="1"/>
          <p:nvPr/>
        </p:nvSpPr>
        <p:spPr>
          <a:xfrm>
            <a:off x="3977215" y="2734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6" name="Google Shape;1586;p93"/>
          <p:cNvSpPr/>
          <p:nvPr/>
        </p:nvSpPr>
        <p:spPr>
          <a:xfrm flipH="1" rot="5400000">
            <a:off x="3746276" y="420765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93"/>
          <p:cNvSpPr/>
          <p:nvPr/>
        </p:nvSpPr>
        <p:spPr>
          <a:xfrm>
            <a:off x="3137782" y="360483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8" name="Google Shape;1588;p93"/>
          <p:cNvSpPr txBox="1"/>
          <p:nvPr/>
        </p:nvSpPr>
        <p:spPr>
          <a:xfrm>
            <a:off x="2959212" y="39663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13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9" name="Google Shape;1589;p93"/>
          <p:cNvSpPr/>
          <p:nvPr/>
        </p:nvSpPr>
        <p:spPr>
          <a:xfrm>
            <a:off x="5616389" y="245252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0" name="Google Shape;1590;p93"/>
          <p:cNvSpPr/>
          <p:nvPr/>
        </p:nvSpPr>
        <p:spPr>
          <a:xfrm flipH="1" rot="10800000">
            <a:off x="5881445" y="279397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93"/>
          <p:cNvSpPr txBox="1"/>
          <p:nvPr/>
        </p:nvSpPr>
        <p:spPr>
          <a:xfrm>
            <a:off x="6004748" y="242188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92" name="Google Shape;1592;p93"/>
          <p:cNvCxnSpPr/>
          <p:nvPr/>
        </p:nvCxnSpPr>
        <p:spPr>
          <a:xfrm>
            <a:off x="3499526" y="330861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3" name="Google Shape;1593;p93"/>
          <p:cNvSpPr txBox="1"/>
          <p:nvPr/>
        </p:nvSpPr>
        <p:spPr>
          <a:xfrm>
            <a:off x="4001716" y="322179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4" name="Google Shape;1594;p93"/>
          <p:cNvSpPr/>
          <p:nvPr/>
        </p:nvSpPr>
        <p:spPr>
          <a:xfrm rot="-5400000">
            <a:off x="3435365" y="32324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93"/>
          <p:cNvSpPr/>
          <p:nvPr/>
        </p:nvSpPr>
        <p:spPr>
          <a:xfrm flipH="1">
            <a:off x="4878705" y="360884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6" name="Google Shape;1596;p93"/>
          <p:cNvSpPr txBox="1"/>
          <p:nvPr/>
        </p:nvSpPr>
        <p:spPr>
          <a:xfrm>
            <a:off x="5324864" y="410673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23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7" name="Google Shape;1597;p93"/>
          <p:cNvSpPr/>
          <p:nvPr/>
        </p:nvSpPr>
        <p:spPr>
          <a:xfrm flipH="1" rot="-5400000">
            <a:off x="4749950" y="41700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93"/>
          <p:cNvSpPr/>
          <p:nvPr/>
        </p:nvSpPr>
        <p:spPr>
          <a:xfrm flipH="1" rot="10800000">
            <a:off x="4051687" y="448557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9" name="Google Shape;1599;p93"/>
          <p:cNvSpPr/>
          <p:nvPr/>
        </p:nvSpPr>
        <p:spPr>
          <a:xfrm>
            <a:off x="4322177" y="451416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93"/>
          <p:cNvSpPr/>
          <p:nvPr/>
        </p:nvSpPr>
        <p:spPr>
          <a:xfrm rot="10800000">
            <a:off x="3359461" y="351353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1" name="Google Shape;1601;p93"/>
          <p:cNvSpPr/>
          <p:nvPr/>
        </p:nvSpPr>
        <p:spPr>
          <a:xfrm rot="-5400000">
            <a:off x="3313351" y="343994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93"/>
          <p:cNvSpPr/>
          <p:nvPr/>
        </p:nvSpPr>
        <p:spPr>
          <a:xfrm flipH="1" rot="10800000">
            <a:off x="4496660" y="342943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3" name="Google Shape;1603;p93"/>
          <p:cNvSpPr/>
          <p:nvPr/>
        </p:nvSpPr>
        <p:spPr>
          <a:xfrm flipH="1" rot="5400000">
            <a:off x="5339695" y="336925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93"/>
          <p:cNvSpPr txBox="1"/>
          <p:nvPr/>
        </p:nvSpPr>
        <p:spPr>
          <a:xfrm>
            <a:off x="3723100" y="467700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33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05" name="Google Shape;1605;p93"/>
          <p:cNvSpPr txBox="1"/>
          <p:nvPr/>
        </p:nvSpPr>
        <p:spPr>
          <a:xfrm>
            <a:off x="3578526" y="34640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31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06" name="Google Shape;1606;p93"/>
          <p:cNvSpPr txBox="1"/>
          <p:nvPr/>
        </p:nvSpPr>
        <p:spPr>
          <a:xfrm>
            <a:off x="4510886" y="34599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32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07" name="Google Shape;1607;p93"/>
          <p:cNvSpPr txBox="1"/>
          <p:nvPr/>
        </p:nvSpPr>
        <p:spPr>
          <a:xfrm>
            <a:off x="5697103" y="3103626"/>
            <a:ext cx="378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08" name="Google Shape;1608;p93"/>
          <p:cNvSpPr txBox="1"/>
          <p:nvPr/>
        </p:nvSpPr>
        <p:spPr>
          <a:xfrm>
            <a:off x="4164902" y="4011700"/>
            <a:ext cx="378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9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Participación en El Mercado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94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15" name="Google Shape;1615;p94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Cadenas markovianas son frecuentemente utilizadas para modelar el comportamiento de usuarios de proveedores adversarios y predecir la participación en el mercado de esas marcas al largo del tiempo.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600">
                <a:solidFill>
                  <a:schemeClr val="dk2"/>
                </a:solidFill>
              </a:rPr>
              <a:t>11</a:t>
            </a:r>
            <a:r>
              <a:rPr lang="en" sz="1800">
                <a:solidFill>
                  <a:schemeClr val="dk2"/>
                </a:solidFill>
              </a:rPr>
              <a:t> = probabilidad que usuario de proveedor i se pase a proveedor j</a:t>
            </a:r>
            <a:r>
              <a:rPr baseline="-25000" lang="en" sz="17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616" name="Google Shape;161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Google Shape;1617;p94"/>
          <p:cNvSpPr/>
          <p:nvPr/>
        </p:nvSpPr>
        <p:spPr>
          <a:xfrm>
            <a:off x="2606827" y="301631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94"/>
          <p:cNvSpPr txBox="1"/>
          <p:nvPr/>
        </p:nvSpPr>
        <p:spPr>
          <a:xfrm>
            <a:off x="2805877" y="3103616"/>
            <a:ext cx="378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19" name="Google Shape;1619;p94"/>
          <p:cNvSpPr/>
          <p:nvPr/>
        </p:nvSpPr>
        <p:spPr>
          <a:xfrm>
            <a:off x="5498053" y="301632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94"/>
          <p:cNvSpPr/>
          <p:nvPr/>
        </p:nvSpPr>
        <p:spPr>
          <a:xfrm>
            <a:off x="3965852" y="392440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94"/>
          <p:cNvSpPr/>
          <p:nvPr/>
        </p:nvSpPr>
        <p:spPr>
          <a:xfrm>
            <a:off x="2642986" y="248281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22" name="Google Shape;1622;p94"/>
          <p:cNvSpPr/>
          <p:nvPr/>
        </p:nvSpPr>
        <p:spPr>
          <a:xfrm flipH="1" rot="10800000">
            <a:off x="2908042" y="282426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94"/>
          <p:cNvSpPr txBox="1"/>
          <p:nvPr/>
        </p:nvSpPr>
        <p:spPr>
          <a:xfrm>
            <a:off x="2984230" y="239423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11</a:t>
            </a:r>
            <a:endParaRPr baseline="-25000" sz="1800">
              <a:solidFill>
                <a:schemeClr val="dk2"/>
              </a:solidFill>
            </a:endParaRPr>
          </a:p>
        </p:txBody>
      </p:sp>
      <p:grpSp>
        <p:nvGrpSpPr>
          <p:cNvPr id="1624" name="Google Shape;1624;p94"/>
          <p:cNvGrpSpPr/>
          <p:nvPr/>
        </p:nvGrpSpPr>
        <p:grpSpPr>
          <a:xfrm>
            <a:off x="3410569" y="3066158"/>
            <a:ext cx="2074035" cy="212542"/>
            <a:chOff x="3084775" y="3358200"/>
            <a:chExt cx="3088200" cy="259800"/>
          </a:xfrm>
        </p:grpSpPr>
        <p:cxnSp>
          <p:nvCxnSpPr>
            <p:cNvPr id="1625" name="Google Shape;1625;p94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26" name="Google Shape;1626;p94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7" name="Google Shape;1627;p94"/>
          <p:cNvSpPr txBox="1"/>
          <p:nvPr/>
        </p:nvSpPr>
        <p:spPr>
          <a:xfrm>
            <a:off x="3977215" y="2734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28" name="Google Shape;1628;p94"/>
          <p:cNvSpPr/>
          <p:nvPr/>
        </p:nvSpPr>
        <p:spPr>
          <a:xfrm flipH="1" rot="5400000">
            <a:off x="3746276" y="420765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94"/>
          <p:cNvSpPr/>
          <p:nvPr/>
        </p:nvSpPr>
        <p:spPr>
          <a:xfrm>
            <a:off x="3137782" y="360483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30" name="Google Shape;1630;p94"/>
          <p:cNvSpPr txBox="1"/>
          <p:nvPr/>
        </p:nvSpPr>
        <p:spPr>
          <a:xfrm>
            <a:off x="2959212" y="39663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13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1" name="Google Shape;1631;p94"/>
          <p:cNvSpPr/>
          <p:nvPr/>
        </p:nvSpPr>
        <p:spPr>
          <a:xfrm>
            <a:off x="5616389" y="245252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32" name="Google Shape;1632;p94"/>
          <p:cNvSpPr/>
          <p:nvPr/>
        </p:nvSpPr>
        <p:spPr>
          <a:xfrm flipH="1" rot="10800000">
            <a:off x="5881445" y="279397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94"/>
          <p:cNvSpPr txBox="1"/>
          <p:nvPr/>
        </p:nvSpPr>
        <p:spPr>
          <a:xfrm>
            <a:off x="6004748" y="242188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634" name="Google Shape;1634;p94"/>
          <p:cNvCxnSpPr/>
          <p:nvPr/>
        </p:nvCxnSpPr>
        <p:spPr>
          <a:xfrm>
            <a:off x="3499526" y="330861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5" name="Google Shape;1635;p94"/>
          <p:cNvSpPr txBox="1"/>
          <p:nvPr/>
        </p:nvSpPr>
        <p:spPr>
          <a:xfrm>
            <a:off x="4001716" y="322179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6" name="Google Shape;1636;p94"/>
          <p:cNvSpPr/>
          <p:nvPr/>
        </p:nvSpPr>
        <p:spPr>
          <a:xfrm rot="-5400000">
            <a:off x="3435365" y="32324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94"/>
          <p:cNvSpPr/>
          <p:nvPr/>
        </p:nvSpPr>
        <p:spPr>
          <a:xfrm flipH="1">
            <a:off x="4878705" y="360884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38" name="Google Shape;1638;p94"/>
          <p:cNvSpPr txBox="1"/>
          <p:nvPr/>
        </p:nvSpPr>
        <p:spPr>
          <a:xfrm>
            <a:off x="5324864" y="410673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23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9" name="Google Shape;1639;p94"/>
          <p:cNvSpPr/>
          <p:nvPr/>
        </p:nvSpPr>
        <p:spPr>
          <a:xfrm flipH="1" rot="-5400000">
            <a:off x="4749950" y="41700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94"/>
          <p:cNvSpPr/>
          <p:nvPr/>
        </p:nvSpPr>
        <p:spPr>
          <a:xfrm flipH="1" rot="10800000">
            <a:off x="4051687" y="448557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41" name="Google Shape;1641;p94"/>
          <p:cNvSpPr/>
          <p:nvPr/>
        </p:nvSpPr>
        <p:spPr>
          <a:xfrm>
            <a:off x="4322177" y="451416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94"/>
          <p:cNvSpPr/>
          <p:nvPr/>
        </p:nvSpPr>
        <p:spPr>
          <a:xfrm rot="10800000">
            <a:off x="3359461" y="351353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43" name="Google Shape;1643;p94"/>
          <p:cNvSpPr/>
          <p:nvPr/>
        </p:nvSpPr>
        <p:spPr>
          <a:xfrm rot="-5400000">
            <a:off x="3313351" y="343994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94"/>
          <p:cNvSpPr/>
          <p:nvPr/>
        </p:nvSpPr>
        <p:spPr>
          <a:xfrm flipH="1" rot="10800000">
            <a:off x="4496660" y="342943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45" name="Google Shape;1645;p94"/>
          <p:cNvSpPr/>
          <p:nvPr/>
        </p:nvSpPr>
        <p:spPr>
          <a:xfrm flipH="1" rot="5400000">
            <a:off x="5339695" y="336925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94"/>
          <p:cNvSpPr txBox="1"/>
          <p:nvPr/>
        </p:nvSpPr>
        <p:spPr>
          <a:xfrm>
            <a:off x="3723100" y="467700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33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7" name="Google Shape;1647;p94"/>
          <p:cNvSpPr txBox="1"/>
          <p:nvPr/>
        </p:nvSpPr>
        <p:spPr>
          <a:xfrm>
            <a:off x="3578526" y="34640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31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8" name="Google Shape;1648;p94"/>
          <p:cNvSpPr txBox="1"/>
          <p:nvPr/>
        </p:nvSpPr>
        <p:spPr>
          <a:xfrm>
            <a:off x="4510886" y="34599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32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9" name="Google Shape;1649;p94"/>
          <p:cNvSpPr txBox="1"/>
          <p:nvPr/>
        </p:nvSpPr>
        <p:spPr>
          <a:xfrm>
            <a:off x="5697103" y="3103626"/>
            <a:ext cx="378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0" name="Google Shape;1650;p94"/>
          <p:cNvSpPr txBox="1"/>
          <p:nvPr/>
        </p:nvSpPr>
        <p:spPr>
          <a:xfrm>
            <a:off x="4164902" y="4011700"/>
            <a:ext cx="378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9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Participación en El Mercado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95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7" name="Google Shape;1657;p95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658" name="Google Shape;165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9" name="Google Shape;165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475" y="1093800"/>
            <a:ext cx="763905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0" name="Google Shape;1660;p95"/>
          <p:cNvSpPr txBox="1"/>
          <p:nvPr/>
        </p:nvSpPr>
        <p:spPr>
          <a:xfrm>
            <a:off x="818175" y="4282375"/>
            <a:ext cx="8343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“Prediction of Subscribers’ Brand Switching Behaviour and Ergodic Market Share of Network Service Providers in Ghana Using Markov Chain Model”, Ezekiel Nortey</a:t>
            </a:r>
            <a:endParaRPr sz="1500">
              <a:solidFill>
                <a:schemeClr val="hlink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9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Participación en El Mercado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96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67" name="Google Shape;1667;p96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668" name="Google Shape;166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9" name="Google Shape;1669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475" y="1093800"/>
            <a:ext cx="763905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96"/>
          <p:cNvSpPr txBox="1"/>
          <p:nvPr/>
        </p:nvSpPr>
        <p:spPr>
          <a:xfrm>
            <a:off x="818175" y="4282375"/>
            <a:ext cx="8343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Current market share derived from totals = [405 235 237 30 209 114]/1230 </a:t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							     =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[0.33, 0.19, 0.19, 0.02, 0.17, 0.09]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	</a:t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671" name="Google Shape;1671;p96"/>
          <p:cNvSpPr/>
          <p:nvPr/>
        </p:nvSpPr>
        <p:spPr>
          <a:xfrm>
            <a:off x="6946600" y="2105350"/>
            <a:ext cx="453300" cy="1688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9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Participación en El Mercado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97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78" name="Google Shape;1678;p97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679" name="Google Shape;167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475" y="1093800"/>
            <a:ext cx="763905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97"/>
          <p:cNvSpPr txBox="1"/>
          <p:nvPr/>
        </p:nvSpPr>
        <p:spPr>
          <a:xfrm>
            <a:off x="818175" y="4282375"/>
            <a:ext cx="8343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Transition probability P derived similarly, e.g. P(M,V) = 38/405 = 0.094</a:t>
            </a: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	</a:t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682" name="Google Shape;1682;p97"/>
          <p:cNvSpPr/>
          <p:nvPr/>
        </p:nvSpPr>
        <p:spPr>
          <a:xfrm>
            <a:off x="3366475" y="2105350"/>
            <a:ext cx="4033500" cy="21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9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Participación en El Mercado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98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9" name="Google Shape;1689;p98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690" name="Google Shape;169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1" name="Google Shape;1691;p98"/>
          <p:cNvSpPr txBox="1"/>
          <p:nvPr/>
        </p:nvSpPr>
        <p:spPr>
          <a:xfrm>
            <a:off x="400350" y="1036375"/>
            <a:ext cx="8343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π</a:t>
            </a:r>
            <a:r>
              <a:rPr baseline="-25000" lang="en" sz="1500">
                <a:solidFill>
                  <a:srgbClr val="141413"/>
                </a:solidFill>
                <a:highlight>
                  <a:srgbClr val="FFFFFF"/>
                </a:highlight>
              </a:rPr>
              <a:t>0</a:t>
            </a: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 =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[0.33, 0.19, 0.19, 0.02, 0.17, 0.09]</a:t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aseline="30000" i="1"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9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Participación en El Mercado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99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98" name="Google Shape;1698;p99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699" name="Google Shape;169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0" name="Google Shape;1700;p99"/>
          <p:cNvSpPr txBox="1"/>
          <p:nvPr/>
        </p:nvSpPr>
        <p:spPr>
          <a:xfrm>
            <a:off x="400350" y="1036375"/>
            <a:ext cx="8343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π</a:t>
            </a:r>
            <a:r>
              <a:rPr baseline="-25000" lang="en" sz="1500">
                <a:solidFill>
                  <a:srgbClr val="141413"/>
                </a:solidFill>
                <a:highlight>
                  <a:srgbClr val="FFFFFF"/>
                </a:highlight>
              </a:rPr>
              <a:t>0</a:t>
            </a: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 =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[0.33, 0.19, 0.19, 0.02, 0.17, 0.09]</a:t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i="1"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descr="P = \left[&#10;\begin{matrix}&#10;0.716 &amp; 0.094 &amp; 0.059 &amp; 0.005 &amp; 0.089 &amp; 0.037 \\&#10;0.34 &amp; 0.387 &amp; 0.094 &amp; 0.017 &amp; 0.136 &amp; 0.026 \\&#10;0.35 &amp; 0.072 &amp; 0.426 &amp; 0.017 &amp; 0.089 &amp; 0.046 \\&#10;0.3 &amp; 0.2 &amp; 0.367 &amp; 0.133 &amp; 0.0 &amp; 0.0\\ &#10;0.344 &amp; 0.105 &amp; 0.1 &amp; 0.01 &amp; 0.416 &amp; 0.024\\&#10;0.333 &amp; 0.079 &amp; 0.114 &amp; 0.009 &amp; 0.184 &amp; 0.281&#10;\end{matrix}&#10;\right]&#10;%4bc79575-7ef1-4804-b8bd-9e10adfc9837" id="1701" name="Google Shape;1701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025" y="1495425"/>
            <a:ext cx="3873050" cy="140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10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Participación en El Mercado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100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08" name="Google Shape;1708;p100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709" name="Google Shape;170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0" name="Google Shape;1710;p100"/>
          <p:cNvSpPr txBox="1"/>
          <p:nvPr/>
        </p:nvSpPr>
        <p:spPr>
          <a:xfrm>
            <a:off x="400350" y="1036375"/>
            <a:ext cx="8343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π</a:t>
            </a:r>
            <a:r>
              <a:rPr baseline="-25000" lang="en" sz="1500">
                <a:solidFill>
                  <a:srgbClr val="141413"/>
                </a:solidFill>
                <a:highlight>
                  <a:srgbClr val="FFFFFF"/>
                </a:highlight>
              </a:rPr>
              <a:t>0</a:t>
            </a: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 =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[0.33, 0.19, 0.19, 0.02, 0.17, 0.09]</a:t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41413"/>
                </a:solidFill>
                <a:highlight>
                  <a:schemeClr val="lt1"/>
                </a:highlight>
              </a:rPr>
              <a:t>Recordando que </a:t>
            </a:r>
            <a:r>
              <a:rPr lang="en" sz="1500">
                <a:solidFill>
                  <a:srgbClr val="141413"/>
                </a:solidFill>
                <a:highlight>
                  <a:schemeClr val="lt1"/>
                </a:highlight>
              </a:rPr>
              <a:t>π</a:t>
            </a:r>
            <a:r>
              <a:rPr baseline="-25000" lang="en" sz="1500">
                <a:solidFill>
                  <a:srgbClr val="141413"/>
                </a:solidFill>
                <a:highlight>
                  <a:schemeClr val="lt1"/>
                </a:highlight>
              </a:rPr>
              <a:t>t</a:t>
            </a:r>
            <a:r>
              <a:rPr lang="en" sz="1500">
                <a:solidFill>
                  <a:srgbClr val="141413"/>
                </a:solidFill>
                <a:highlight>
                  <a:schemeClr val="lt1"/>
                </a:highlight>
              </a:rPr>
              <a:t> = π</a:t>
            </a:r>
            <a:r>
              <a:rPr baseline="-25000" lang="en" sz="1500">
                <a:solidFill>
                  <a:srgbClr val="141413"/>
                </a:solidFill>
                <a:highlight>
                  <a:schemeClr val="lt1"/>
                </a:highlight>
              </a:rPr>
              <a:t>0</a:t>
            </a:r>
            <a:r>
              <a:rPr lang="en" sz="1500">
                <a:solidFill>
                  <a:srgbClr val="141413"/>
                </a:solidFill>
                <a:highlight>
                  <a:schemeClr val="lt1"/>
                </a:highlight>
              </a:rPr>
              <a:t> x </a:t>
            </a:r>
            <a:r>
              <a:rPr i="1" lang="en" sz="1500">
                <a:solidFill>
                  <a:srgbClr val="141413"/>
                </a:solidFill>
                <a:highlight>
                  <a:schemeClr val="lt1"/>
                </a:highlight>
              </a:rPr>
              <a:t>P</a:t>
            </a:r>
            <a:r>
              <a:rPr baseline="30000" i="1" lang="en" sz="1500">
                <a:solidFill>
                  <a:srgbClr val="141413"/>
                </a:solidFill>
                <a:highlight>
                  <a:schemeClr val="lt1"/>
                </a:highlight>
              </a:rPr>
              <a:t>t</a:t>
            </a: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 </a:t>
            </a:r>
            <a:r>
              <a:rPr lang="en" sz="1500">
                <a:solidFill>
                  <a:srgbClr val="141413"/>
                </a:solidFill>
                <a:highlight>
                  <a:srgbClr val="FFFFFF"/>
                </a:highlight>
              </a:rPr>
              <a:t>, perform Markov chain analysis on Python.</a:t>
            </a:r>
            <a:endParaRPr sz="1500">
              <a:solidFill>
                <a:srgbClr val="14141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descr="P = \left[&#10;\begin{matrix}&#10;0.716 &amp; 0.094 &amp; 0.059 &amp; 0.005 &amp; 0.089 &amp; 0.037 \\&#10;0.34 &amp; 0.387 &amp; 0.094 &amp; 0.017 &amp; 0.136 &amp; 0.026 \\&#10;0.35 &amp; 0.072 &amp; 0.426 &amp; 0.017 &amp; 0.089 &amp; 0.046 \\&#10;0.3 &amp; 0.2 &amp; 0.367 &amp; 0.133 &amp; 0.0 &amp; 0.0\\ &#10;0.344 &amp; 0.105 &amp; 0.1 &amp; 0.01 &amp; 0.416 &amp; 0.024\\&#10;0.333 &amp; 0.079 &amp; 0.114 &amp; 0.009 &amp; 0.184 &amp; 0.281&#10;\end{matrix}&#10;\right]&#10;%4bc79575-7ef1-4804-b8bd-9e10adfc9837" id="1711" name="Google Shape;1711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025" y="1495425"/>
            <a:ext cx="3873050" cy="140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0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Ejemplo: Participación en El Mercado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101"/>
          <p:cNvSpPr txBox="1"/>
          <p:nvPr/>
        </p:nvSpPr>
        <p:spPr>
          <a:xfrm>
            <a:off x="680950" y="977575"/>
            <a:ext cx="69390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8" name="Google Shape;1718;p101"/>
          <p:cNvSpPr txBox="1"/>
          <p:nvPr/>
        </p:nvSpPr>
        <p:spPr>
          <a:xfrm>
            <a:off x="210875" y="822450"/>
            <a:ext cx="83901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719" name="Google Shape;1719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1575" y="1147525"/>
            <a:ext cx="6628699" cy="3353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