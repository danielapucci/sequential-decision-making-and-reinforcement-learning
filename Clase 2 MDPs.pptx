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F5268B-74A8-4DEB-B074-E46F9DFDBE95}">
  <a:tblStyle styleId="{5AF5268B-74A8-4DEB-B074-E46F9DFDBE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21f8fea248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21f8fea248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21f8fea248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21f8fea248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1f8fea248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1f8fea248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21f8fea248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21f8fea248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1f8fea248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1f8fea248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1f8fea248_0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21f8fea248_0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21f8fea248_0_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21f8fea248_0_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1f8fea248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21f8fea248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21f8fea248_0_1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21f8fea248_0_1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d75151232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d75151232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d75151232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d75151232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d75151232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d75151232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d75151232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d75151232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d75151232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d75151232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d75151232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d75151232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d751512324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d751512324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d751512324_0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d751512324_0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d751512324_0_1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d751512324_0_1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d751512324_0_1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d751512324_0_1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d751512324_0_1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d751512324_0_1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21f8fea248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21f8fea248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21f8fea248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21f8fea248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21f8fea248_0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21f8fea248_0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21f8fea248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21f8fea248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d75151232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d75151232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d751512324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d751512324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d751512324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d751512324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d751512324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d751512324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d751512324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2d751512324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2d751512324_0_15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1" name="Google Shape;981;g2d751512324_0_15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d751512324_0_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d751512324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d751512324_0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d751512324_0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d751512324_0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d751512324_0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d751512324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d751512324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2d751512324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2d751512324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d751512324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d751512324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g2d751512324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" name="Google Shape;1363;g2d751512324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2d751512324_0_1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2d751512324_0_1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g2d751512324_0_1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" name="Google Shape;1381;g2d751512324_0_1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g2d751512324_0_1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2" name="Google Shape;1392;g2d751512324_0_1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g2d751512324_0_1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0" name="Google Shape;1400;g2d751512324_0_1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g2d751512324_0_1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0" name="Google Shape;1410;g2d751512324_0_1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g2d751512324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8" name="Google Shape;1418;g2d751512324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2d751512324_0_1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2d751512324_0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5" name="Shape 1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Google Shape;1436;g2d751512324_0_1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7" name="Google Shape;1437;g2d751512324_0_1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g2d751512324_0_16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4" name="Google Shape;1444;g2d751512324_0_1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2d751512324_0_16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2d751512324_0_16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d751512324_0_1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2d751512324_0_1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2d751512324_0_2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2d751512324_0_2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322712a7c6f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3" name="Google Shape;1503;g322712a7c6f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322712a7c6f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322712a7c6f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2d751512324_0_19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d751512324_0_19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3" name="Shape 1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4" name="Google Shape;1614;g2d751512324_0_2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5" name="Google Shape;1615;g2d751512324_0_2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2d751512324_0_1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2d751512324_0_1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2d751512324_0_2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2" name="Google Shape;1702;g2d751512324_0_2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2d751512324_0_2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2d751512324_0_2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g2d751512324_0_2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1" name="Google Shape;1791;g2d751512324_0_2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7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g2d751512324_0_2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9" name="Google Shape;1799;g2d751512324_0_2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g2d751512324_0_2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7" name="Google Shape;1807;g2d751512324_0_2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3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g2d751512324_0_2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5" name="Google Shape;1815;g2d751512324_0_2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g2d751512324_0_2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3" name="Google Shape;1823;g2d751512324_0_2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g322712a7c6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3" name="Google Shape;1833;g322712a7c6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2" name="Shape 1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" name="Google Shape;1843;g322712a7c6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4" name="Google Shape;1844;g322712a7c6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322712a7c6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322712a7c6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g322712a7c6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5" name="Google Shape;1865;g322712a7c6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3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4" name="Google Shape;1874;g322712a7c6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5" name="Google Shape;1875;g322712a7c6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g322712a7c6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4" name="Google Shape;1884;g322712a7c6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322712a7c6f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322712a7c6f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7" name="Shape 1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8" name="Google Shape;1918;g322712a7c6f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9" name="Google Shape;1919;g322712a7c6f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g322712a7c6f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5" name="Google Shape;1945;g322712a7c6f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g322712a7c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3" name="Google Shape;1973;g322712a7c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9" name="Shape 1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0" name="Google Shape;1980;g322712a7c6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1" name="Google Shape;1981;g322712a7c6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322712a7c6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0" name="Google Shape;1990;g322712a7c6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9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0" name="Google Shape;2000;g322712a7c6f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1" name="Google Shape;2001;g322712a7c6f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2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g322712a7c6f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4" name="Google Shape;2044;g322712a7c6f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g322712a7c6f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2" name="Google Shape;2052;g322712a7c6f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8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g322712a7c6f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0" name="Google Shape;2060;g322712a7c6f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g322712a7c6f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0" name="Google Shape;2070;g322712a7c6f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5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9" Type="http://schemas.openxmlformats.org/officeDocument/2006/relationships/image" Target="../media/image26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.png"/><Relationship Id="rId4" Type="http://schemas.openxmlformats.org/officeDocument/2006/relationships/image" Target="../media/image3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.png"/><Relationship Id="rId4" Type="http://schemas.openxmlformats.org/officeDocument/2006/relationships/image" Target="../media/image3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3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de Decisión </a:t>
            </a:r>
            <a:r>
              <a:rPr lang="en"/>
              <a:t>Markovianos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108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Clase 2</a:t>
            </a:r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93800" y="1000550"/>
            <a:ext cx="8738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Procesos markovianos con recompensa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Resolución por recursión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La función valor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Procesos de decisión markovianos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Espacio de acciones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Políticas de decisión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Algoritmo de programación dinámica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Aplicación: Precificación dinámica</a:t>
            </a:r>
            <a:r>
              <a:rPr lang="en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5"/>
          <p:cNvSpPr txBox="1"/>
          <p:nvPr/>
        </p:nvSpPr>
        <p:spPr>
          <a:xfrm>
            <a:off x="49500" y="965750"/>
            <a:ext cx="9045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markoviano: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6"/>
          <p:cNvSpPr txBox="1"/>
          <p:nvPr/>
        </p:nvSpPr>
        <p:spPr>
          <a:xfrm>
            <a:off x="49500" y="965750"/>
            <a:ext cx="9045000" cy="10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markoviano: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 recompensa: tupla </a:t>
            </a:r>
            <a:r>
              <a:rPr b="1" i="1" lang="en" sz="1800">
                <a:solidFill>
                  <a:schemeClr val="dk2"/>
                </a:solidFill>
              </a:rPr>
              <a:t>(S,P,r)</a:t>
            </a:r>
            <a:endParaRPr b="1" i="1"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r(x) </a:t>
            </a:r>
            <a:r>
              <a:rPr lang="en" sz="1800">
                <a:solidFill>
                  <a:schemeClr val="dk2"/>
                </a:solidFill>
              </a:rPr>
              <a:t>= recompensa (o costo) de estar en el estado x</a:t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49500" y="9657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</a:t>
            </a:r>
            <a:r>
              <a:rPr lang="en" sz="1800">
                <a:solidFill>
                  <a:schemeClr val="dk2"/>
                </a:solidFill>
              </a:rPr>
              <a:t>markoviano</a:t>
            </a:r>
            <a:r>
              <a:rPr lang="en" sz="1800">
                <a:solidFill>
                  <a:schemeClr val="dk2"/>
                </a:solidFill>
              </a:rPr>
              <a:t>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 recompensa: tupla </a:t>
            </a:r>
            <a:r>
              <a:rPr b="1" i="1" lang="en" sz="1800">
                <a:solidFill>
                  <a:schemeClr val="dk2"/>
                </a:solidFill>
              </a:rPr>
              <a:t>(S,P,r)</a:t>
            </a:r>
            <a:endParaRPr b="1" i="1"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r(x) </a:t>
            </a:r>
            <a:r>
              <a:rPr lang="en" sz="1800">
                <a:solidFill>
                  <a:schemeClr val="dk2"/>
                </a:solidFill>
              </a:rPr>
              <a:t>= recompensa (o costo) de estar en el estado x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regímenes de mercado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Ganancia (o pérdida) dependiendo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del estado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4425326" y="25855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7359526" y="26316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87" name="Google Shape;87;p17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89" name="Google Shape;89;p17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90" name="Google Shape;90;p17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1" name="Google Shape;91;p17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" name="Google Shape;92;p17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17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5" name="Google Shape;95;p17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97" name="Google Shape;97;p17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9" name="Google Shape;99;p17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7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3" name="Google Shape;103;p17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" name="Google Shape;104;p17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6" name="Google Shape;106;p17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8" name="Google Shape;108;p17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0" name="Google Shape;110;p17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17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14" name="Google Shape;11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7"/>
          <p:cNvSpPr txBox="1"/>
          <p:nvPr/>
        </p:nvSpPr>
        <p:spPr>
          <a:xfrm>
            <a:off x="4891952" y="28207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837252" y="2820413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</a:t>
            </a: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6552790" y="37470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/>
        </p:nvSpPr>
        <p:spPr>
          <a:xfrm>
            <a:off x="49500" y="9657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</a:t>
            </a:r>
            <a:r>
              <a:rPr lang="en" sz="1800">
                <a:solidFill>
                  <a:schemeClr val="dk2"/>
                </a:solidFill>
              </a:rPr>
              <a:t>markoviano</a:t>
            </a:r>
            <a:r>
              <a:rPr lang="en" sz="1800">
                <a:solidFill>
                  <a:schemeClr val="dk2"/>
                </a:solidFill>
              </a:rPr>
              <a:t>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 recompensa: tupla </a:t>
            </a:r>
            <a:r>
              <a:rPr b="1" i="1" lang="en" sz="1800">
                <a:solidFill>
                  <a:schemeClr val="dk2"/>
                </a:solidFill>
              </a:rPr>
              <a:t>(S,P,r)</a:t>
            </a:r>
            <a:endParaRPr b="1" i="1"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r(x) </a:t>
            </a:r>
            <a:r>
              <a:rPr lang="en" sz="1800">
                <a:solidFill>
                  <a:schemeClr val="dk2"/>
                </a:solidFill>
              </a:rPr>
              <a:t>= recompensa (o costo) de estar en el estado x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regímenes de mercado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Ganancia (o pérdida) dependiendo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del estado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Interpretación: Inversión de $1 resulta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 $(1+r(x))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8"/>
          <p:cNvSpPr txBox="1"/>
          <p:nvPr/>
        </p:nvSpPr>
        <p:spPr>
          <a:xfrm>
            <a:off x="4425326" y="25855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7359526" y="26316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1" name="Google Shape;131;p18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8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33" name="Google Shape;133;p18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134" name="Google Shape;134;p18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5" name="Google Shape;135;p18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8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" name="Google Shape;137;p18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39" name="Google Shape;139;p18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1" name="Google Shape;141;p18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43" name="Google Shape;143;p18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8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18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7" name="Google Shape;147;p18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8" name="Google Shape;148;p18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0" name="Google Shape;150;p18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2" name="Google Shape;152;p18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8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4" name="Google Shape;154;p18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158" name="Google Shape;15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4891952" y="28207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61" name="Google Shape;161;p18"/>
          <p:cNvSpPr txBox="1"/>
          <p:nvPr/>
        </p:nvSpPr>
        <p:spPr>
          <a:xfrm>
            <a:off x="7837252" y="2820413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6552790" y="37470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/>
        </p:nvSpPr>
        <p:spPr>
          <a:xfrm>
            <a:off x="49500" y="9657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</a:t>
            </a:r>
            <a:r>
              <a:rPr lang="en" sz="1800">
                <a:solidFill>
                  <a:schemeClr val="dk2"/>
                </a:solidFill>
              </a:rPr>
              <a:t>markoviano</a:t>
            </a:r>
            <a:r>
              <a:rPr lang="en" sz="1800">
                <a:solidFill>
                  <a:schemeClr val="dk2"/>
                </a:solidFill>
              </a:rPr>
              <a:t>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 recompensa: tupla </a:t>
            </a:r>
            <a:r>
              <a:rPr b="1" i="1" lang="en" sz="1800">
                <a:solidFill>
                  <a:schemeClr val="dk2"/>
                </a:solidFill>
              </a:rPr>
              <a:t>(S,P,r)</a:t>
            </a:r>
            <a:endParaRPr b="1" i="1"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r(x) </a:t>
            </a:r>
            <a:r>
              <a:rPr lang="en" sz="1800">
                <a:solidFill>
                  <a:schemeClr val="dk2"/>
                </a:solidFill>
              </a:rPr>
              <a:t>= recompensa (o costo) de estar en el estado x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regímenes de mercado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Ganancia (o pérdida) dependiendo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del estado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Interpretación: Inversión de $1 resulta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 $(1+r(x))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r(alcista) = 0.005, r(bajista) = -0.005,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r(estable) = 0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4425326" y="25855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359526" y="26316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75" name="Google Shape;175;p19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77" name="Google Shape;177;p19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178" name="Google Shape;178;p19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9" name="Google Shape;179;p19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" name="Google Shape;180;p19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1" name="Google Shape;181;p19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3" name="Google Shape;183;p19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85" name="Google Shape;185;p19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87" name="Google Shape;187;p19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19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9" name="Google Shape;189;p19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1" name="Google Shape;191;p19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" name="Google Shape;192;p19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4" name="Google Shape;194;p19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6" name="Google Shape;196;p19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98" name="Google Shape;198;p19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1" name="Google Shape;201;p19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202" name="Google Shape;2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4891952" y="28207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7837252" y="2820413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6552790" y="37470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0"/>
          <p:cNvSpPr txBox="1"/>
          <p:nvPr/>
        </p:nvSpPr>
        <p:spPr>
          <a:xfrm>
            <a:off x="49500" y="9657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</a:t>
            </a:r>
            <a:r>
              <a:rPr lang="en" sz="1800">
                <a:solidFill>
                  <a:schemeClr val="dk2"/>
                </a:solidFill>
              </a:rPr>
              <a:t>markoviano</a:t>
            </a:r>
            <a:r>
              <a:rPr lang="en" sz="1800">
                <a:solidFill>
                  <a:schemeClr val="dk2"/>
                </a:solidFill>
              </a:rPr>
              <a:t>: tupla </a:t>
            </a:r>
            <a:r>
              <a:rPr b="1" i="1" lang="en" sz="1800">
                <a:solidFill>
                  <a:schemeClr val="dk2"/>
                </a:solidFill>
              </a:rPr>
              <a:t>(S,P)</a:t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 recompensa: tupla </a:t>
            </a:r>
            <a:r>
              <a:rPr b="1" i="1" lang="en" sz="1800">
                <a:solidFill>
                  <a:schemeClr val="dk2"/>
                </a:solidFill>
              </a:rPr>
              <a:t>(S,P,r)</a:t>
            </a:r>
            <a:endParaRPr b="1" i="1"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i="1" lang="en" sz="1800">
                <a:solidFill>
                  <a:schemeClr val="dk2"/>
                </a:solidFill>
              </a:rPr>
              <a:t>r(x) </a:t>
            </a:r>
            <a:r>
              <a:rPr lang="en" sz="1800">
                <a:solidFill>
                  <a:schemeClr val="dk2"/>
                </a:solidFill>
              </a:rPr>
              <a:t>= recompensa (o costo) de estar en el estado x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Ejemplo: regímenes de mercado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Ganancia (o pérdida) dependiendo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del estado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Interpretación: Inversión de $1 resulta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en $(1+r(x)) 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r(alcista) = 0.005, r(bajista) = -0.005,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r(estable) = 0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Invirtiendo $1 hoy, cuánta plata habrá </a:t>
            </a:r>
            <a:endParaRPr b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después de 3 semanas?</a:t>
            </a:r>
            <a:endParaRPr b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4932739" y="26567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4425326" y="25855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823965" y="26567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359526" y="26316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6291764" y="35648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6239128" y="35758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968899" y="21232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19" name="Google Shape;219;p20"/>
          <p:cNvSpPr/>
          <p:nvPr/>
        </p:nvSpPr>
        <p:spPr>
          <a:xfrm flipH="1" rot="10800000">
            <a:off x="5233955" y="24647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 txBox="1"/>
          <p:nvPr/>
        </p:nvSpPr>
        <p:spPr>
          <a:xfrm>
            <a:off x="5310142" y="20346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21" name="Google Shape;221;p20"/>
          <p:cNvGrpSpPr/>
          <p:nvPr/>
        </p:nvGrpSpPr>
        <p:grpSpPr>
          <a:xfrm>
            <a:off x="5736481" y="2706608"/>
            <a:ext cx="2074035" cy="212542"/>
            <a:chOff x="3084775" y="3358200"/>
            <a:chExt cx="3088200" cy="259800"/>
          </a:xfrm>
        </p:grpSpPr>
        <p:cxnSp>
          <p:nvCxnSpPr>
            <p:cNvPr id="222" name="Google Shape;222;p20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3" name="Google Shape;223;p20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" name="Google Shape;224;p20"/>
          <p:cNvSpPr txBox="1"/>
          <p:nvPr/>
        </p:nvSpPr>
        <p:spPr>
          <a:xfrm>
            <a:off x="6303128" y="24508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5" name="Google Shape;225;p20"/>
          <p:cNvSpPr/>
          <p:nvPr/>
        </p:nvSpPr>
        <p:spPr>
          <a:xfrm flipH="1" rot="5400000">
            <a:off x="6072188" y="38481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463694" y="32452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7" name="Google Shape;227;p20"/>
          <p:cNvSpPr txBox="1"/>
          <p:nvPr/>
        </p:nvSpPr>
        <p:spPr>
          <a:xfrm>
            <a:off x="5208924" y="37592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7942302" y="20929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29" name="Google Shape;229;p20"/>
          <p:cNvSpPr/>
          <p:nvPr/>
        </p:nvSpPr>
        <p:spPr>
          <a:xfrm flipH="1" rot="10800000">
            <a:off x="8207358" y="24344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8330661" y="20623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31" name="Google Shape;231;p20"/>
          <p:cNvCxnSpPr/>
          <p:nvPr/>
        </p:nvCxnSpPr>
        <p:spPr>
          <a:xfrm>
            <a:off x="5825438" y="29490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0"/>
          <p:cNvSpPr txBox="1"/>
          <p:nvPr/>
        </p:nvSpPr>
        <p:spPr>
          <a:xfrm>
            <a:off x="6327628" y="28622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3" name="Google Shape;233;p20"/>
          <p:cNvSpPr/>
          <p:nvPr/>
        </p:nvSpPr>
        <p:spPr>
          <a:xfrm rot="-5400000">
            <a:off x="5761277" y="28728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 flipH="1">
            <a:off x="7204617" y="32492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5" name="Google Shape;235;p20"/>
          <p:cNvSpPr txBox="1"/>
          <p:nvPr/>
        </p:nvSpPr>
        <p:spPr>
          <a:xfrm>
            <a:off x="7650777" y="37471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6" name="Google Shape;236;p20"/>
          <p:cNvSpPr/>
          <p:nvPr/>
        </p:nvSpPr>
        <p:spPr>
          <a:xfrm flipH="1" rot="-5400000">
            <a:off x="7075863" y="38105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0"/>
          <p:cNvSpPr/>
          <p:nvPr/>
        </p:nvSpPr>
        <p:spPr>
          <a:xfrm flipH="1" rot="10800000">
            <a:off x="6377600" y="41260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38" name="Google Shape;238;p20"/>
          <p:cNvSpPr/>
          <p:nvPr/>
        </p:nvSpPr>
        <p:spPr>
          <a:xfrm>
            <a:off x="6648089" y="41546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0"/>
          <p:cNvSpPr/>
          <p:nvPr/>
        </p:nvSpPr>
        <p:spPr>
          <a:xfrm rot="10800000">
            <a:off x="5685374" y="31539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0" name="Google Shape;240;p20"/>
          <p:cNvSpPr/>
          <p:nvPr/>
        </p:nvSpPr>
        <p:spPr>
          <a:xfrm rot="-5400000">
            <a:off x="5639263" y="30803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0"/>
          <p:cNvSpPr/>
          <p:nvPr/>
        </p:nvSpPr>
        <p:spPr>
          <a:xfrm flipH="1" rot="10800000">
            <a:off x="6822572" y="30698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2" name="Google Shape;242;p20"/>
          <p:cNvSpPr/>
          <p:nvPr/>
        </p:nvSpPr>
        <p:spPr>
          <a:xfrm flipH="1" rot="5400000">
            <a:off x="7665608" y="30097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049012" y="43174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5752038" y="31806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6836798" y="31766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246" name="Google Shape;24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4891952" y="28207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7837252" y="2820413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6552790" y="37470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"/>
          <p:cNvSpPr txBox="1"/>
          <p:nvPr/>
        </p:nvSpPr>
        <p:spPr>
          <a:xfrm>
            <a:off x="49500" y="9657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Invirtiendo $1 hoy, cuánta plata habrá después de 3 semanas?</a:t>
            </a:r>
            <a:endParaRPr b="1"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2772902" y="25160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2265489" y="24448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5664128" y="25160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5199689" y="24909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4131927" y="34241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4079290" y="34351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2809061" y="19825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63" name="Google Shape;263;p21"/>
          <p:cNvSpPr/>
          <p:nvPr/>
        </p:nvSpPr>
        <p:spPr>
          <a:xfrm flipH="1" rot="10800000">
            <a:off x="3074117" y="23240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3150305" y="18939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265" name="Google Shape;265;p21"/>
          <p:cNvGrpSpPr/>
          <p:nvPr/>
        </p:nvGrpSpPr>
        <p:grpSpPr>
          <a:xfrm>
            <a:off x="3576644" y="2565908"/>
            <a:ext cx="2074035" cy="212542"/>
            <a:chOff x="3084775" y="3358200"/>
            <a:chExt cx="3088200" cy="259800"/>
          </a:xfrm>
        </p:grpSpPr>
        <p:cxnSp>
          <p:nvCxnSpPr>
            <p:cNvPr id="266" name="Google Shape;266;p21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7" name="Google Shape;267;p21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" name="Google Shape;268;p21"/>
          <p:cNvSpPr txBox="1"/>
          <p:nvPr/>
        </p:nvSpPr>
        <p:spPr>
          <a:xfrm>
            <a:off x="4143290" y="23101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69" name="Google Shape;269;p21"/>
          <p:cNvSpPr/>
          <p:nvPr/>
        </p:nvSpPr>
        <p:spPr>
          <a:xfrm flipH="1" rot="5400000">
            <a:off x="3912351" y="37074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1"/>
          <p:cNvSpPr/>
          <p:nvPr/>
        </p:nvSpPr>
        <p:spPr>
          <a:xfrm>
            <a:off x="3303857" y="31045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1" name="Google Shape;271;p21"/>
          <p:cNvSpPr txBox="1"/>
          <p:nvPr/>
        </p:nvSpPr>
        <p:spPr>
          <a:xfrm>
            <a:off x="3049087" y="36185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2" name="Google Shape;272;p21"/>
          <p:cNvSpPr/>
          <p:nvPr/>
        </p:nvSpPr>
        <p:spPr>
          <a:xfrm>
            <a:off x="5782464" y="19522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3" name="Google Shape;273;p21"/>
          <p:cNvSpPr/>
          <p:nvPr/>
        </p:nvSpPr>
        <p:spPr>
          <a:xfrm flipH="1" rot="10800000">
            <a:off x="6047520" y="22937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6170823" y="19216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75" name="Google Shape;275;p21"/>
          <p:cNvCxnSpPr/>
          <p:nvPr/>
        </p:nvCxnSpPr>
        <p:spPr>
          <a:xfrm>
            <a:off x="3665601" y="28083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21"/>
          <p:cNvSpPr txBox="1"/>
          <p:nvPr/>
        </p:nvSpPr>
        <p:spPr>
          <a:xfrm>
            <a:off x="4167791" y="27215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77" name="Google Shape;277;p21"/>
          <p:cNvSpPr/>
          <p:nvPr/>
        </p:nvSpPr>
        <p:spPr>
          <a:xfrm rot="-5400000">
            <a:off x="3601440" y="27321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 flipH="1">
            <a:off x="5044780" y="31085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9" name="Google Shape;279;p21"/>
          <p:cNvSpPr txBox="1"/>
          <p:nvPr/>
        </p:nvSpPr>
        <p:spPr>
          <a:xfrm>
            <a:off x="5490939" y="36064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0" name="Google Shape;280;p21"/>
          <p:cNvSpPr/>
          <p:nvPr/>
        </p:nvSpPr>
        <p:spPr>
          <a:xfrm flipH="1" rot="-5400000">
            <a:off x="4916025" y="36698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 flipH="1" rot="10800000">
            <a:off x="4217762" y="39853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2" name="Google Shape;282;p21"/>
          <p:cNvSpPr/>
          <p:nvPr/>
        </p:nvSpPr>
        <p:spPr>
          <a:xfrm>
            <a:off x="4488252" y="40139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 rot="10800000">
            <a:off x="3525536" y="30132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4" name="Google Shape;284;p21"/>
          <p:cNvSpPr/>
          <p:nvPr/>
        </p:nvSpPr>
        <p:spPr>
          <a:xfrm rot="-5400000">
            <a:off x="3479426" y="29396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 flipH="1" rot="10800000">
            <a:off x="4662735" y="29291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86" name="Google Shape;286;p21"/>
          <p:cNvSpPr/>
          <p:nvPr/>
        </p:nvSpPr>
        <p:spPr>
          <a:xfrm flipH="1" rot="5400000">
            <a:off x="5505770" y="28690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 txBox="1"/>
          <p:nvPr/>
        </p:nvSpPr>
        <p:spPr>
          <a:xfrm>
            <a:off x="3889175" y="41767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3592201" y="30399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676961" y="30359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290" name="Google Shape;2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1"/>
          <p:cNvSpPr txBox="1"/>
          <p:nvPr/>
        </p:nvSpPr>
        <p:spPr>
          <a:xfrm>
            <a:off x="2732115" y="26800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5677415" y="2679713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4392952" y="36063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99" name="Google Shape;2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2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Invirtiendo $1 hoy, cuánta plata habrá después de 3 semanas?</a:t>
            </a:r>
            <a:endParaRPr b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una secuencia de estados </a:t>
            </a: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E.g. </a:t>
            </a: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,= alcista,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,= alcista,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,=bajista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06" name="Google Shape;30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Invirtiendo $1 hoy, cuánta plata habrá después de 3 semanas?</a:t>
            </a:r>
            <a:endParaRPr b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una secuencia de estados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3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E.g.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,= alcista,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,= alcista,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,=bajista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Después de 3 semanas, tenemos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(1+r(alcista))(1+r(alcista))(1+r(bajista))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13" name="Google Shape;3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4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Invirtiendo $1 hoy, cuánta plata habrá después de 3 semanas?</a:t>
            </a:r>
            <a:endParaRPr b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una secuencia de estados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Generalizando: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(1+r(</a:t>
            </a: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</a:t>
            </a: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</a:t>
            </a: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20" name="Google Shape;32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Invirtiendo $1 hoy, cuánta plata habrá después de 3 semanas?</a:t>
            </a:r>
            <a:endParaRPr b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una secuencia de estados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Generalizando: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t = 0, no sabemos cuáles serán los </a:t>
            </a:r>
            <a:r>
              <a:rPr lang="en" sz="1800">
                <a:solidFill>
                  <a:schemeClr val="dk2"/>
                </a:solidFill>
              </a:rPr>
              <a:t>próximos</a:t>
            </a:r>
            <a:r>
              <a:rPr lang="en" sz="1800">
                <a:solidFill>
                  <a:schemeClr val="dk2"/>
                </a:solidFill>
              </a:rPr>
              <a:t> estados </a:t>
            </a:r>
            <a:r>
              <a:rPr lang="en" sz="1800">
                <a:solidFill>
                  <a:schemeClr val="dk2"/>
                </a:solidFill>
              </a:rPr>
              <a:t>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. Utilizamos el valor esperado: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E[ (1+r(x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 | </a:t>
            </a: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]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27" name="Google Shape;3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Invirtiendo $1 hoy, cuánta plata habrá después de 3 semanas?</a:t>
            </a:r>
            <a:endParaRPr b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una secuencia de estados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3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Generalizando: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t = 0, no sabemos cuáles serán los próximos estados </a:t>
            </a: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. Utilizamos el valor esperado: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 = </a:t>
            </a:r>
            <a:r>
              <a:rPr lang="en" sz="1800">
                <a:solidFill>
                  <a:schemeClr val="dk2"/>
                </a:solidFill>
              </a:rPr>
              <a:t>E[ (1+r(x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34" name="Google Shape;33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Invirtiendo $1 hoy, cuánta plata habrá después de 3 semanas?</a:t>
            </a:r>
            <a:endParaRPr b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una secuencia de estados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3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Generalizando: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t = 0, no sabemos cuáles serán los próximos estados </a:t>
            </a: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. Utilizamos el valor esperado: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 = E[ (1+r(x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 representa el valor de estar en el estado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 en t = 0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41" name="Google Shape;34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 Markoviano con Recompensa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</a:rPr>
              <a:t>Invirtiendo $1 hoy, cuánta plata habrá después de 3 semanas?</a:t>
            </a:r>
            <a:endParaRPr b="1"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Consideramos una secuencia de estados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3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Generalizando: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t = 0, no sabemos cuáles serán los próximos estados </a:t>
            </a:r>
            <a:r>
              <a:rPr lang="en" sz="1800">
                <a:solidFill>
                  <a:schemeClr val="dk2"/>
                </a:solidFill>
              </a:rPr>
              <a:t>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 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. Utilizamos el valor esperado: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= E[ (1+r(x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= x]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denote el valor de estar en el estado x en t = 0</a:t>
            </a:r>
            <a:endParaRPr sz="1800">
              <a:solidFill>
                <a:schemeClr val="dk2"/>
              </a:solidFill>
            </a:endParaRPr>
          </a:p>
          <a:p>
            <a:pPr indent="-342900" lvl="1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Cómo calcular </a:t>
            </a: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</a:t>
            </a:r>
            <a:r>
              <a:rPr lang="en" sz="1800">
                <a:solidFill>
                  <a:schemeClr val="dk2"/>
                </a:solidFill>
              </a:rPr>
              <a:t>?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48" name="Google Shape;34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9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= E[ (1+r(x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= x]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55" name="Google Shape;35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0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= E[ (1+r(x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= x]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1+E[</a:t>
            </a:r>
            <a:r>
              <a:rPr lang="en" sz="1800">
                <a:solidFill>
                  <a:schemeClr val="dk2"/>
                </a:solidFill>
              </a:rPr>
              <a:t>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62" name="Google Shape;36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31"/>
          <p:cNvSpPr txBox="1"/>
          <p:nvPr/>
        </p:nvSpPr>
        <p:spPr>
          <a:xfrm>
            <a:off x="49500" y="851521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= E[ (1+r(x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= x]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1+E[r(x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Como r es pequeño, los productos r(x)r(y) son mucho menores que r(x), así que vamos a simplificar: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≈ 1 + E[ 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 = x]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65" name="Google Shape;365;p31"/>
          <p:cNvSpPr/>
          <p:nvPr/>
        </p:nvSpPr>
        <p:spPr>
          <a:xfrm rot="-5400000">
            <a:off x="4958150" y="-603329"/>
            <a:ext cx="1461300" cy="43710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31"/>
          <p:cNvSpPr/>
          <p:nvPr/>
        </p:nvSpPr>
        <p:spPr>
          <a:xfrm>
            <a:off x="3503300" y="851521"/>
            <a:ext cx="4473300" cy="2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1"/>
          <p:cNvSpPr txBox="1"/>
          <p:nvPr/>
        </p:nvSpPr>
        <p:spPr>
          <a:xfrm>
            <a:off x="3745300" y="219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≈ 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72" name="Google Shape;3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3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32"/>
          <p:cNvSpPr txBox="1"/>
          <p:nvPr/>
        </p:nvSpPr>
        <p:spPr>
          <a:xfrm>
            <a:off x="49500" y="851521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= E[ (1+r(x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= x]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1+E[r(x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Como r es pequeño, los productos r(x)r(y) son mucho menores que r(x), así que vamos a simplificar la expresión: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≈ 1 + E[ 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 = x]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5" name="Google Shape;375;p32"/>
          <p:cNvSpPr/>
          <p:nvPr/>
        </p:nvSpPr>
        <p:spPr>
          <a:xfrm rot="-5400000">
            <a:off x="4958150" y="-603329"/>
            <a:ext cx="1461300" cy="43710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2"/>
          <p:cNvSpPr/>
          <p:nvPr/>
        </p:nvSpPr>
        <p:spPr>
          <a:xfrm>
            <a:off x="3503300" y="851521"/>
            <a:ext cx="4473300" cy="2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2"/>
          <p:cNvSpPr txBox="1"/>
          <p:nvPr/>
        </p:nvSpPr>
        <p:spPr>
          <a:xfrm>
            <a:off x="3745300" y="219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≈ 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382" name="Google Shape;3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1009050" y="813350"/>
            <a:ext cx="7823400" cy="42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= E[ (1+r(x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))(1+r(x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)) | x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= x]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1+E[r(x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)+r(x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)r(x</a:t>
            </a:r>
            <a:r>
              <a:rPr baseline="-25000" lang="en" sz="1800">
                <a:solidFill>
                  <a:schemeClr val="dk2"/>
                </a:solidFill>
              </a:rPr>
              <a:t>2</a:t>
            </a:r>
            <a:r>
              <a:rPr lang="en" sz="1800">
                <a:solidFill>
                  <a:schemeClr val="dk2"/>
                </a:solidFill>
              </a:rPr>
              <a:t>)]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Como r es pequeño, los productos r(x)r(y) son mucho menores que r(x), así que vamos a simplificar la expresión: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≈ 1 + </a:t>
            </a:r>
            <a:r>
              <a:rPr b="1" lang="en" sz="1800">
                <a:solidFill>
                  <a:schemeClr val="dk2"/>
                </a:solidFill>
              </a:rPr>
              <a:t>E[ r(x</a:t>
            </a:r>
            <a:r>
              <a:rPr b="1" baseline="-25000" lang="en" sz="1800">
                <a:solidFill>
                  <a:schemeClr val="dk2"/>
                </a:solidFill>
              </a:rPr>
              <a:t>0</a:t>
            </a:r>
            <a:r>
              <a:rPr b="1" lang="en" sz="1800">
                <a:solidFill>
                  <a:schemeClr val="dk2"/>
                </a:solidFill>
              </a:rPr>
              <a:t>)+r(x</a:t>
            </a:r>
            <a:r>
              <a:rPr b="1" baseline="-25000" lang="en" sz="1800">
                <a:solidFill>
                  <a:schemeClr val="dk2"/>
                </a:solidFill>
              </a:rPr>
              <a:t>1</a:t>
            </a:r>
            <a:r>
              <a:rPr b="1" lang="en" sz="1800">
                <a:solidFill>
                  <a:schemeClr val="dk2"/>
                </a:solidFill>
              </a:rPr>
              <a:t>)+r(x</a:t>
            </a:r>
            <a:r>
              <a:rPr b="1" baseline="-25000" lang="en" sz="1800">
                <a:solidFill>
                  <a:schemeClr val="dk2"/>
                </a:solidFill>
              </a:rPr>
              <a:t>2</a:t>
            </a:r>
            <a:r>
              <a:rPr b="1" lang="en" sz="1800">
                <a:solidFill>
                  <a:schemeClr val="dk2"/>
                </a:solidFill>
              </a:rPr>
              <a:t>) | x</a:t>
            </a:r>
            <a:r>
              <a:rPr b="1" baseline="-25000" lang="en" sz="1800">
                <a:solidFill>
                  <a:schemeClr val="dk2"/>
                </a:solidFill>
              </a:rPr>
              <a:t>0 </a:t>
            </a:r>
            <a:r>
              <a:rPr b="1" lang="en" sz="1800">
                <a:solidFill>
                  <a:schemeClr val="dk2"/>
                </a:solidFill>
              </a:rPr>
              <a:t> = x]</a:t>
            </a:r>
            <a:endParaRPr b="1"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Vamos a derivar un algoritmo para calcular el valor esperado. También es posible trabajar con la expresión multiplicativa, pero la suma es más comúnmente utilizada.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85" name="Google Shape;385;p33"/>
          <p:cNvSpPr/>
          <p:nvPr/>
        </p:nvSpPr>
        <p:spPr>
          <a:xfrm rot="-5400000">
            <a:off x="5339150" y="-641500"/>
            <a:ext cx="1461300" cy="43710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3"/>
          <p:cNvSpPr/>
          <p:nvPr/>
        </p:nvSpPr>
        <p:spPr>
          <a:xfrm>
            <a:off x="3884300" y="889550"/>
            <a:ext cx="4473300" cy="27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4126300" y="219665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≈ 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4"/>
          <p:cNvSpPr txBox="1"/>
          <p:nvPr/>
        </p:nvSpPr>
        <p:spPr>
          <a:xfrm>
            <a:off x="49500" y="813350"/>
            <a:ext cx="9045000" cy="3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Vamos a representar el proceso con un nuevo grafo, mostrando su evolución semana a semana.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3" name="Google Shape;393;p34"/>
          <p:cNvSpPr/>
          <p:nvPr/>
        </p:nvSpPr>
        <p:spPr>
          <a:xfrm>
            <a:off x="2772902" y="297326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4"/>
          <p:cNvSpPr txBox="1"/>
          <p:nvPr/>
        </p:nvSpPr>
        <p:spPr>
          <a:xfrm>
            <a:off x="2265489" y="2902013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Alcista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5664128" y="2973276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5199689" y="2948175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7" name="Google Shape;397;p34"/>
          <p:cNvSpPr/>
          <p:nvPr/>
        </p:nvSpPr>
        <p:spPr>
          <a:xfrm>
            <a:off x="4131927" y="3881350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4"/>
          <p:cNvSpPr txBox="1"/>
          <p:nvPr/>
        </p:nvSpPr>
        <p:spPr>
          <a:xfrm>
            <a:off x="4079290" y="3892394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99" name="Google Shape;399;p34"/>
          <p:cNvSpPr/>
          <p:nvPr/>
        </p:nvSpPr>
        <p:spPr>
          <a:xfrm>
            <a:off x="2809061" y="243976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0" name="Google Shape;400;p34"/>
          <p:cNvSpPr/>
          <p:nvPr/>
        </p:nvSpPr>
        <p:spPr>
          <a:xfrm flipH="1" rot="10800000">
            <a:off x="3074117" y="278121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4"/>
          <p:cNvSpPr txBox="1"/>
          <p:nvPr/>
        </p:nvSpPr>
        <p:spPr>
          <a:xfrm>
            <a:off x="3150305" y="23511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02" name="Google Shape;402;p34"/>
          <p:cNvGrpSpPr/>
          <p:nvPr/>
        </p:nvGrpSpPr>
        <p:grpSpPr>
          <a:xfrm>
            <a:off x="3576644" y="3023108"/>
            <a:ext cx="2074035" cy="212542"/>
            <a:chOff x="3084775" y="3358200"/>
            <a:chExt cx="3088200" cy="259800"/>
          </a:xfrm>
        </p:grpSpPr>
        <p:cxnSp>
          <p:nvCxnSpPr>
            <p:cNvPr id="403" name="Google Shape;403;p34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4" name="Google Shape;404;p34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p34"/>
          <p:cNvSpPr txBox="1"/>
          <p:nvPr/>
        </p:nvSpPr>
        <p:spPr>
          <a:xfrm>
            <a:off x="4143290" y="276737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6" name="Google Shape;406;p34"/>
          <p:cNvSpPr/>
          <p:nvPr/>
        </p:nvSpPr>
        <p:spPr>
          <a:xfrm flipH="1" rot="5400000">
            <a:off x="3912351" y="416460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4"/>
          <p:cNvSpPr/>
          <p:nvPr/>
        </p:nvSpPr>
        <p:spPr>
          <a:xfrm>
            <a:off x="3303857" y="3561786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08" name="Google Shape;408;p34"/>
          <p:cNvSpPr txBox="1"/>
          <p:nvPr/>
        </p:nvSpPr>
        <p:spPr>
          <a:xfrm>
            <a:off x="3049087" y="4075725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5782464" y="2409475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0" name="Google Shape;410;p34"/>
          <p:cNvSpPr/>
          <p:nvPr/>
        </p:nvSpPr>
        <p:spPr>
          <a:xfrm flipH="1" rot="10800000">
            <a:off x="6047520" y="2750928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4"/>
          <p:cNvSpPr txBox="1"/>
          <p:nvPr/>
        </p:nvSpPr>
        <p:spPr>
          <a:xfrm>
            <a:off x="6170823" y="237883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12" name="Google Shape;412;p34"/>
          <p:cNvCxnSpPr/>
          <p:nvPr/>
        </p:nvCxnSpPr>
        <p:spPr>
          <a:xfrm>
            <a:off x="3665601" y="3265561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" name="Google Shape;413;p34"/>
          <p:cNvSpPr txBox="1"/>
          <p:nvPr/>
        </p:nvSpPr>
        <p:spPr>
          <a:xfrm>
            <a:off x="4167791" y="317874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4" name="Google Shape;414;p34"/>
          <p:cNvSpPr/>
          <p:nvPr/>
        </p:nvSpPr>
        <p:spPr>
          <a:xfrm rot="-5400000">
            <a:off x="3601440" y="318939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4"/>
          <p:cNvSpPr/>
          <p:nvPr/>
        </p:nvSpPr>
        <p:spPr>
          <a:xfrm flipH="1">
            <a:off x="5044780" y="3565791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6" name="Google Shape;416;p34"/>
          <p:cNvSpPr txBox="1"/>
          <p:nvPr/>
        </p:nvSpPr>
        <p:spPr>
          <a:xfrm>
            <a:off x="5490939" y="4063683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17" name="Google Shape;417;p34"/>
          <p:cNvSpPr/>
          <p:nvPr/>
        </p:nvSpPr>
        <p:spPr>
          <a:xfrm flipH="1" rot="-5400000">
            <a:off x="4916025" y="4127040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/>
          <p:nvPr/>
        </p:nvSpPr>
        <p:spPr>
          <a:xfrm flipH="1" rot="10800000">
            <a:off x="4217762" y="4442529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19" name="Google Shape;419;p34"/>
          <p:cNvSpPr/>
          <p:nvPr/>
        </p:nvSpPr>
        <p:spPr>
          <a:xfrm>
            <a:off x="4488252" y="4471114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34"/>
          <p:cNvSpPr/>
          <p:nvPr/>
        </p:nvSpPr>
        <p:spPr>
          <a:xfrm rot="10800000">
            <a:off x="3525536" y="3470484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1" name="Google Shape;421;p34"/>
          <p:cNvSpPr/>
          <p:nvPr/>
        </p:nvSpPr>
        <p:spPr>
          <a:xfrm rot="-5400000">
            <a:off x="3479426" y="3396899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4"/>
          <p:cNvSpPr/>
          <p:nvPr/>
        </p:nvSpPr>
        <p:spPr>
          <a:xfrm flipH="1" rot="10800000">
            <a:off x="4662735" y="3386385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23" name="Google Shape;423;p34"/>
          <p:cNvSpPr/>
          <p:nvPr/>
        </p:nvSpPr>
        <p:spPr>
          <a:xfrm flipH="1" rot="5400000">
            <a:off x="5505770" y="3326206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4"/>
          <p:cNvSpPr txBox="1"/>
          <p:nvPr/>
        </p:nvSpPr>
        <p:spPr>
          <a:xfrm>
            <a:off x="3889175" y="4633950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5" name="Google Shape;425;p34"/>
          <p:cNvSpPr txBox="1"/>
          <p:nvPr/>
        </p:nvSpPr>
        <p:spPr>
          <a:xfrm>
            <a:off x="3592201" y="349719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26" name="Google Shape;426;p34"/>
          <p:cNvSpPr txBox="1"/>
          <p:nvPr/>
        </p:nvSpPr>
        <p:spPr>
          <a:xfrm>
            <a:off x="4676961" y="349314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27" name="Google Shape;4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4"/>
          <p:cNvSpPr txBox="1"/>
          <p:nvPr/>
        </p:nvSpPr>
        <p:spPr>
          <a:xfrm>
            <a:off x="2732115" y="31372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29" name="Google Shape;429;p34"/>
          <p:cNvSpPr txBox="1"/>
          <p:nvPr/>
        </p:nvSpPr>
        <p:spPr>
          <a:xfrm>
            <a:off x="5677415" y="3136913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30" name="Google Shape;430;p34"/>
          <p:cNvSpPr txBox="1"/>
          <p:nvPr/>
        </p:nvSpPr>
        <p:spPr>
          <a:xfrm>
            <a:off x="4392952" y="4063550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31" name="Google Shape;431;p3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5"/>
          <p:cNvSpPr txBox="1"/>
          <p:nvPr/>
        </p:nvSpPr>
        <p:spPr>
          <a:xfrm>
            <a:off x="2417549" y="3152513"/>
            <a:ext cx="867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37" name="Google Shape;437;p35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Vamos a representar el proceso con un nuevo grafo, desplegando su evolución semana a semana.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38" name="Google Shape;438;p35"/>
          <p:cNvSpPr/>
          <p:nvPr/>
        </p:nvSpPr>
        <p:spPr>
          <a:xfrm>
            <a:off x="7981978" y="2922551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35"/>
          <p:cNvSpPr txBox="1"/>
          <p:nvPr/>
        </p:nvSpPr>
        <p:spPr>
          <a:xfrm>
            <a:off x="7517539" y="2897450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0" name="Google Shape;440;p35"/>
          <p:cNvSpPr/>
          <p:nvPr/>
        </p:nvSpPr>
        <p:spPr>
          <a:xfrm>
            <a:off x="6449777" y="3830625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5"/>
          <p:cNvSpPr txBox="1"/>
          <p:nvPr/>
        </p:nvSpPr>
        <p:spPr>
          <a:xfrm>
            <a:off x="6397140" y="3841669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2" name="Google Shape;442;p35"/>
          <p:cNvSpPr/>
          <p:nvPr/>
        </p:nvSpPr>
        <p:spPr>
          <a:xfrm>
            <a:off x="5126911" y="2389040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43" name="Google Shape;443;p35"/>
          <p:cNvSpPr/>
          <p:nvPr/>
        </p:nvSpPr>
        <p:spPr>
          <a:xfrm flipH="1" rot="10800000">
            <a:off x="5391967" y="2730493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35"/>
          <p:cNvSpPr txBox="1"/>
          <p:nvPr/>
        </p:nvSpPr>
        <p:spPr>
          <a:xfrm>
            <a:off x="5468155" y="2300457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45" name="Google Shape;445;p35"/>
          <p:cNvGrpSpPr/>
          <p:nvPr/>
        </p:nvGrpSpPr>
        <p:grpSpPr>
          <a:xfrm>
            <a:off x="5894494" y="2972383"/>
            <a:ext cx="2074035" cy="212542"/>
            <a:chOff x="3084775" y="3358200"/>
            <a:chExt cx="3088200" cy="259800"/>
          </a:xfrm>
        </p:grpSpPr>
        <p:cxnSp>
          <p:nvCxnSpPr>
            <p:cNvPr id="446" name="Google Shape;446;p35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47" name="Google Shape;447;p35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8" name="Google Shape;448;p35"/>
          <p:cNvSpPr txBox="1"/>
          <p:nvPr/>
        </p:nvSpPr>
        <p:spPr>
          <a:xfrm>
            <a:off x="6461140" y="2716650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49" name="Google Shape;449;p35"/>
          <p:cNvSpPr/>
          <p:nvPr/>
        </p:nvSpPr>
        <p:spPr>
          <a:xfrm flipH="1" rot="5400000">
            <a:off x="6230201" y="4113884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5"/>
          <p:cNvSpPr/>
          <p:nvPr/>
        </p:nvSpPr>
        <p:spPr>
          <a:xfrm>
            <a:off x="5662957" y="3539611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51" name="Google Shape;451;p35"/>
          <p:cNvSpPr txBox="1"/>
          <p:nvPr/>
        </p:nvSpPr>
        <p:spPr>
          <a:xfrm>
            <a:off x="5366937" y="4025000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8100314" y="2358750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53" name="Google Shape;453;p35"/>
          <p:cNvSpPr/>
          <p:nvPr/>
        </p:nvSpPr>
        <p:spPr>
          <a:xfrm flipH="1" rot="10800000">
            <a:off x="8365370" y="2700203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5"/>
          <p:cNvSpPr txBox="1"/>
          <p:nvPr/>
        </p:nvSpPr>
        <p:spPr>
          <a:xfrm>
            <a:off x="8488673" y="232811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455" name="Google Shape;455;p35"/>
          <p:cNvCxnSpPr/>
          <p:nvPr/>
        </p:nvCxnSpPr>
        <p:spPr>
          <a:xfrm>
            <a:off x="5983451" y="3214836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6" name="Google Shape;456;p35"/>
          <p:cNvSpPr txBox="1"/>
          <p:nvPr/>
        </p:nvSpPr>
        <p:spPr>
          <a:xfrm>
            <a:off x="6485641" y="3128015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57" name="Google Shape;457;p35"/>
          <p:cNvSpPr/>
          <p:nvPr/>
        </p:nvSpPr>
        <p:spPr>
          <a:xfrm rot="-5400000">
            <a:off x="5919290" y="3138665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5"/>
          <p:cNvSpPr/>
          <p:nvPr/>
        </p:nvSpPr>
        <p:spPr>
          <a:xfrm flipH="1">
            <a:off x="7362630" y="3515066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59" name="Google Shape;459;p35"/>
          <p:cNvSpPr txBox="1"/>
          <p:nvPr/>
        </p:nvSpPr>
        <p:spPr>
          <a:xfrm>
            <a:off x="7808789" y="4012958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0" name="Google Shape;460;p35"/>
          <p:cNvSpPr/>
          <p:nvPr/>
        </p:nvSpPr>
        <p:spPr>
          <a:xfrm flipH="1" rot="-5400000">
            <a:off x="7233875" y="4076315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5"/>
          <p:cNvSpPr/>
          <p:nvPr/>
        </p:nvSpPr>
        <p:spPr>
          <a:xfrm flipH="1" rot="10800000">
            <a:off x="6535612" y="4391804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2" name="Google Shape;462;p35"/>
          <p:cNvSpPr/>
          <p:nvPr/>
        </p:nvSpPr>
        <p:spPr>
          <a:xfrm>
            <a:off x="6806102" y="4420389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5"/>
          <p:cNvSpPr/>
          <p:nvPr/>
        </p:nvSpPr>
        <p:spPr>
          <a:xfrm rot="10800000">
            <a:off x="5843386" y="3419759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4" name="Google Shape;464;p35"/>
          <p:cNvSpPr/>
          <p:nvPr/>
        </p:nvSpPr>
        <p:spPr>
          <a:xfrm rot="-5400000">
            <a:off x="5797276" y="3346174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5"/>
          <p:cNvSpPr/>
          <p:nvPr/>
        </p:nvSpPr>
        <p:spPr>
          <a:xfrm flipH="1" rot="10800000">
            <a:off x="6980585" y="3335660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66" name="Google Shape;466;p35"/>
          <p:cNvSpPr/>
          <p:nvPr/>
        </p:nvSpPr>
        <p:spPr>
          <a:xfrm flipH="1" rot="5400000">
            <a:off x="7823620" y="3275481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5"/>
          <p:cNvSpPr txBox="1"/>
          <p:nvPr/>
        </p:nvSpPr>
        <p:spPr>
          <a:xfrm>
            <a:off x="6207025" y="4583225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8" name="Google Shape;468;p35"/>
          <p:cNvSpPr txBox="1"/>
          <p:nvPr/>
        </p:nvSpPr>
        <p:spPr>
          <a:xfrm>
            <a:off x="5910051" y="344646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69" name="Google Shape;469;p35"/>
          <p:cNvSpPr txBox="1"/>
          <p:nvPr/>
        </p:nvSpPr>
        <p:spPr>
          <a:xfrm>
            <a:off x="6994811" y="344241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470" name="Google Shape;4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1" name="Google Shape;471;p35"/>
          <p:cNvGrpSpPr/>
          <p:nvPr/>
        </p:nvGrpSpPr>
        <p:grpSpPr>
          <a:xfrm>
            <a:off x="451989" y="2826375"/>
            <a:ext cx="1452900" cy="609703"/>
            <a:chOff x="451989" y="2028050"/>
            <a:chExt cx="1452900" cy="609703"/>
          </a:xfrm>
        </p:grpSpPr>
        <p:sp>
          <p:nvSpPr>
            <p:cNvPr id="472" name="Google Shape;472;p3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74" name="Google Shape;474;p3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475" name="Google Shape;475;p35"/>
          <p:cNvSpPr txBox="1"/>
          <p:nvPr/>
        </p:nvSpPr>
        <p:spPr>
          <a:xfrm>
            <a:off x="7995265" y="3086188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-0.005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6710802" y="40128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0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477" name="Google Shape;477;p35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78" name="Google Shape;478;p35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479" name="Google Shape;479;p3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81" name="Google Shape;481;p3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482" name="Google Shape;482;p35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483" name="Google Shape;483;p3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85" name="Google Shape;485;p3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486" name="Google Shape;486;p35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487" name="Google Shape;487;p35"/>
          <p:cNvGrpSpPr/>
          <p:nvPr/>
        </p:nvGrpSpPr>
        <p:grpSpPr>
          <a:xfrm>
            <a:off x="4575076" y="2889050"/>
            <a:ext cx="1452900" cy="609703"/>
            <a:chOff x="451989" y="2028050"/>
            <a:chExt cx="1452900" cy="609703"/>
          </a:xfrm>
        </p:grpSpPr>
        <p:sp>
          <p:nvSpPr>
            <p:cNvPr id="488" name="Google Shape;488;p3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90" name="Google Shape;490;p3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491" name="Google Shape;491;p35"/>
          <p:cNvSpPr txBox="1"/>
          <p:nvPr/>
        </p:nvSpPr>
        <p:spPr>
          <a:xfrm>
            <a:off x="1929655" y="26999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2" name="Google Shape;492;p35"/>
          <p:cNvSpPr txBox="1"/>
          <p:nvPr/>
        </p:nvSpPr>
        <p:spPr>
          <a:xfrm>
            <a:off x="1842062" y="3685238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93" name="Google Shape;493;p3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4" name="Google Shape;494;p35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95" name="Google Shape;495;p35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96" name="Google Shape;496;p35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497" name="Google Shape;497;p3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5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499" name="Google Shape;499;p35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500" name="Google Shape;500;p35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Vamos a representar el proceso con un nuevo grafo, desplegando su evolución semana a semana.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&#10;%b2ec40be-a735-4635-8f85-29b8913da8e5" id="506" name="Google Shape;5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36"/>
          <p:cNvSpPr/>
          <p:nvPr/>
        </p:nvSpPr>
        <p:spPr>
          <a:xfrm>
            <a:off x="7981978" y="2922551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6"/>
          <p:cNvSpPr txBox="1"/>
          <p:nvPr/>
        </p:nvSpPr>
        <p:spPr>
          <a:xfrm>
            <a:off x="7517539" y="2897450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Bajista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09" name="Google Shape;509;p36"/>
          <p:cNvSpPr/>
          <p:nvPr/>
        </p:nvSpPr>
        <p:spPr>
          <a:xfrm>
            <a:off x="6449777" y="3830625"/>
            <a:ext cx="777000" cy="5616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6"/>
          <p:cNvSpPr txBox="1"/>
          <p:nvPr/>
        </p:nvSpPr>
        <p:spPr>
          <a:xfrm>
            <a:off x="6397140" y="3841669"/>
            <a:ext cx="956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Estable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1" name="Google Shape;511;p36"/>
          <p:cNvSpPr/>
          <p:nvPr/>
        </p:nvSpPr>
        <p:spPr>
          <a:xfrm>
            <a:off x="5126911" y="2389040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2" name="Google Shape;512;p36"/>
          <p:cNvSpPr/>
          <p:nvPr/>
        </p:nvSpPr>
        <p:spPr>
          <a:xfrm flipH="1" rot="10800000">
            <a:off x="5391967" y="2730493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36"/>
          <p:cNvSpPr txBox="1"/>
          <p:nvPr/>
        </p:nvSpPr>
        <p:spPr>
          <a:xfrm>
            <a:off x="5468155" y="2300457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514" name="Google Shape;514;p36"/>
          <p:cNvGrpSpPr/>
          <p:nvPr/>
        </p:nvGrpSpPr>
        <p:grpSpPr>
          <a:xfrm>
            <a:off x="5894494" y="2972383"/>
            <a:ext cx="2074035" cy="212542"/>
            <a:chOff x="3084775" y="3358200"/>
            <a:chExt cx="3088200" cy="259800"/>
          </a:xfrm>
        </p:grpSpPr>
        <p:cxnSp>
          <p:nvCxnSpPr>
            <p:cNvPr id="515" name="Google Shape;515;p36"/>
            <p:cNvCxnSpPr/>
            <p:nvPr/>
          </p:nvCxnSpPr>
          <p:spPr>
            <a:xfrm>
              <a:off x="3084775" y="3483750"/>
              <a:ext cx="3002700" cy="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16" name="Google Shape;516;p36"/>
            <p:cNvSpPr/>
            <p:nvPr/>
          </p:nvSpPr>
          <p:spPr>
            <a:xfrm rot="5400000">
              <a:off x="5924125" y="3369150"/>
              <a:ext cx="259800" cy="237900"/>
            </a:xfrm>
            <a:prstGeom prst="triangle">
              <a:avLst>
                <a:gd fmla="val 50000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7" name="Google Shape;517;p36"/>
          <p:cNvSpPr txBox="1"/>
          <p:nvPr/>
        </p:nvSpPr>
        <p:spPr>
          <a:xfrm>
            <a:off x="6461140" y="2716650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18" name="Google Shape;518;p36"/>
          <p:cNvSpPr/>
          <p:nvPr/>
        </p:nvSpPr>
        <p:spPr>
          <a:xfrm flipH="1" rot="5400000">
            <a:off x="6230201" y="4113884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6"/>
          <p:cNvSpPr/>
          <p:nvPr/>
        </p:nvSpPr>
        <p:spPr>
          <a:xfrm>
            <a:off x="5662957" y="3539611"/>
            <a:ext cx="650956" cy="688935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0" name="Google Shape;520;p36"/>
          <p:cNvSpPr txBox="1"/>
          <p:nvPr/>
        </p:nvSpPr>
        <p:spPr>
          <a:xfrm>
            <a:off x="5366937" y="4025000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8100314" y="2358750"/>
            <a:ext cx="379017" cy="503213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2" name="Google Shape;522;p36"/>
          <p:cNvSpPr/>
          <p:nvPr/>
        </p:nvSpPr>
        <p:spPr>
          <a:xfrm flipH="1" rot="10800000">
            <a:off x="8365370" y="2700203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6"/>
          <p:cNvSpPr txBox="1"/>
          <p:nvPr/>
        </p:nvSpPr>
        <p:spPr>
          <a:xfrm>
            <a:off x="8488673" y="2328114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0.8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24" name="Google Shape;524;p36"/>
          <p:cNvCxnSpPr/>
          <p:nvPr/>
        </p:nvCxnSpPr>
        <p:spPr>
          <a:xfrm>
            <a:off x="5983451" y="3214836"/>
            <a:ext cx="2016600" cy="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5" name="Google Shape;525;p36"/>
          <p:cNvSpPr txBox="1"/>
          <p:nvPr/>
        </p:nvSpPr>
        <p:spPr>
          <a:xfrm>
            <a:off x="6485641" y="3128015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0.15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6" name="Google Shape;526;p36"/>
          <p:cNvSpPr/>
          <p:nvPr/>
        </p:nvSpPr>
        <p:spPr>
          <a:xfrm rot="-5400000">
            <a:off x="5919290" y="3138665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6"/>
          <p:cNvSpPr/>
          <p:nvPr/>
        </p:nvSpPr>
        <p:spPr>
          <a:xfrm flipH="1">
            <a:off x="7362630" y="3515066"/>
            <a:ext cx="955896" cy="659520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8" name="Google Shape;528;p36"/>
          <p:cNvSpPr txBox="1"/>
          <p:nvPr/>
        </p:nvSpPr>
        <p:spPr>
          <a:xfrm>
            <a:off x="7808789" y="4012958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29" name="Google Shape;529;p36"/>
          <p:cNvSpPr/>
          <p:nvPr/>
        </p:nvSpPr>
        <p:spPr>
          <a:xfrm flipH="1" rot="-5400000">
            <a:off x="7233875" y="4076315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36"/>
          <p:cNvSpPr/>
          <p:nvPr/>
        </p:nvSpPr>
        <p:spPr>
          <a:xfrm flipH="1" rot="10800000">
            <a:off x="6535612" y="4391804"/>
            <a:ext cx="379017" cy="383699"/>
          </a:xfrm>
          <a:custGeom>
            <a:rect b="b" l="l" r="r" t="t"/>
            <a:pathLst>
              <a:path extrusionOk="0" h="24604" w="22574">
                <a:moveTo>
                  <a:pt x="8833" y="24604"/>
                </a:moveTo>
                <a:cubicBezTo>
                  <a:pt x="7478" y="22728"/>
                  <a:pt x="1641" y="17100"/>
                  <a:pt x="703" y="13348"/>
                </a:cubicBezTo>
                <a:cubicBezTo>
                  <a:pt x="-235" y="9596"/>
                  <a:pt x="-234" y="3967"/>
                  <a:pt x="3205" y="2091"/>
                </a:cubicBezTo>
                <a:cubicBezTo>
                  <a:pt x="6645" y="215"/>
                  <a:pt x="18422" y="-1348"/>
                  <a:pt x="21340" y="2091"/>
                </a:cubicBezTo>
                <a:cubicBezTo>
                  <a:pt x="24258" y="5531"/>
                  <a:pt x="20818" y="19289"/>
                  <a:pt x="20714" y="22728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1" name="Google Shape;531;p36"/>
          <p:cNvSpPr/>
          <p:nvPr/>
        </p:nvSpPr>
        <p:spPr>
          <a:xfrm>
            <a:off x="6806102" y="4420389"/>
            <a:ext cx="174300" cy="1917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6"/>
          <p:cNvSpPr/>
          <p:nvPr/>
        </p:nvSpPr>
        <p:spPr>
          <a:xfrm rot="10800000">
            <a:off x="5843386" y="3419759"/>
            <a:ext cx="650956" cy="460443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3" name="Google Shape;533;p36"/>
          <p:cNvSpPr/>
          <p:nvPr/>
        </p:nvSpPr>
        <p:spPr>
          <a:xfrm rot="-5400000">
            <a:off x="5797276" y="3346174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6"/>
          <p:cNvSpPr/>
          <p:nvPr/>
        </p:nvSpPr>
        <p:spPr>
          <a:xfrm flipH="1" rot="10800000">
            <a:off x="6980585" y="3335660"/>
            <a:ext cx="877553" cy="468541"/>
          </a:xfrm>
          <a:custGeom>
            <a:rect b="b" l="l" r="r" t="t"/>
            <a:pathLst>
              <a:path extrusionOk="0" h="17509" w="36270">
                <a:moveTo>
                  <a:pt x="0" y="0"/>
                </a:moveTo>
                <a:cubicBezTo>
                  <a:pt x="1042" y="2189"/>
                  <a:pt x="208" y="10214"/>
                  <a:pt x="6253" y="13132"/>
                </a:cubicBezTo>
                <a:cubicBezTo>
                  <a:pt x="12298" y="16050"/>
                  <a:pt x="31267" y="16780"/>
                  <a:pt x="36270" y="17509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35" name="Google Shape;535;p36"/>
          <p:cNvSpPr/>
          <p:nvPr/>
        </p:nvSpPr>
        <p:spPr>
          <a:xfrm flipH="1" rot="5400000">
            <a:off x="7823620" y="3275481"/>
            <a:ext cx="212400" cy="1596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6"/>
          <p:cNvSpPr txBox="1"/>
          <p:nvPr/>
        </p:nvSpPr>
        <p:spPr>
          <a:xfrm>
            <a:off x="6207025" y="4583225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5910051" y="344646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8" name="Google Shape;538;p36"/>
          <p:cNvSpPr txBox="1"/>
          <p:nvPr/>
        </p:nvSpPr>
        <p:spPr>
          <a:xfrm>
            <a:off x="6994811" y="3442419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0.25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9" name="Google Shape;539;p36"/>
          <p:cNvSpPr txBox="1"/>
          <p:nvPr/>
        </p:nvSpPr>
        <p:spPr>
          <a:xfrm>
            <a:off x="7995265" y="3086188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-0.005</a:t>
            </a:r>
            <a:endParaRPr sz="1800">
              <a:solidFill>
                <a:srgbClr val="666666"/>
              </a:solidFill>
            </a:endParaRPr>
          </a:p>
        </p:txBody>
      </p:sp>
      <p:sp>
        <p:nvSpPr>
          <p:cNvPr id="540" name="Google Shape;540;p36"/>
          <p:cNvSpPr txBox="1"/>
          <p:nvPr/>
        </p:nvSpPr>
        <p:spPr>
          <a:xfrm>
            <a:off x="6710802" y="40128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666666"/>
                </a:solidFill>
              </a:rPr>
              <a:t>0</a:t>
            </a:r>
            <a:endParaRPr sz="1800">
              <a:solidFill>
                <a:srgbClr val="666666"/>
              </a:solidFill>
            </a:endParaRPr>
          </a:p>
        </p:txBody>
      </p:sp>
      <p:grpSp>
        <p:nvGrpSpPr>
          <p:cNvPr id="541" name="Google Shape;541;p36"/>
          <p:cNvGrpSpPr/>
          <p:nvPr/>
        </p:nvGrpSpPr>
        <p:grpSpPr>
          <a:xfrm>
            <a:off x="4575076" y="2889050"/>
            <a:ext cx="1452900" cy="609703"/>
            <a:chOff x="451989" y="2028050"/>
            <a:chExt cx="1452900" cy="609703"/>
          </a:xfrm>
        </p:grpSpPr>
        <p:sp>
          <p:nvSpPr>
            <p:cNvPr id="542" name="Google Shape;542;p3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44" name="Google Shape;544;p3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545" name="Google Shape;545;p3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6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547" name="Google Shape;547;p36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548" name="Google Shape;548;p3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50" name="Google Shape;550;p3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551" name="Google Shape;551;p36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552" name="Google Shape;552;p3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54" name="Google Shape;554;p3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555" name="Google Shape;555;p36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56" name="Google Shape;556;p36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7" name="Google Shape;557;p36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58" name="Google Shape;558;p36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559" name="Google Shape;559;p3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6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61" name="Google Shape;561;p36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562" name="Google Shape;562;p36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63" name="Google Shape;563;p36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564" name="Google Shape;564;p3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66" name="Google Shape;566;p3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567" name="Google Shape;567;p36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568" name="Google Shape;568;p3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70" name="Google Shape;570;p3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571" name="Google Shape;571;p36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572" name="Google Shape;572;p3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6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74" name="Google Shape;574;p36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575" name="Google Shape;575;p36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36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36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36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" name="Google Shape;579;p36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36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585" name="Google Shape;58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587" name="Google Shape;587;p37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588" name="Google Shape;588;p37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589" name="Google Shape;589;p3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91" name="Google Shape;591;p3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592" name="Google Shape;592;p37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593" name="Google Shape;593;p3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595" name="Google Shape;595;p3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596" name="Google Shape;596;p37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597" name="Google Shape;597;p37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37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9" name="Google Shape;599;p37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600" name="Google Shape;600;p3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37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02" name="Google Shape;602;p37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603" name="Google Shape;603;p37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04" name="Google Shape;604;p37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605" name="Google Shape;605;p3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3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07" name="Google Shape;607;p3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608" name="Google Shape;608;p37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609" name="Google Shape;609;p3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3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11" name="Google Shape;611;p3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612" name="Google Shape;612;p37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613" name="Google Shape;613;p3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37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15" name="Google Shape;615;p37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616" name="Google Shape;616;p37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7" name="Google Shape;617;p37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8" name="Google Shape;618;p37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9" name="Google Shape;619;p37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0" name="Google Shape;620;p37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1" name="Google Shape;621;p37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22" name="Google Shape;622;p37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623" name="Google Shape;623;p3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25" name="Google Shape;625;p3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626" name="Google Shape;626;p37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627" name="Google Shape;627;p3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29" name="Google Shape;629;p3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630" name="Google Shape;630;p37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31" name="Google Shape;631;p37"/>
          <p:cNvCxnSpPr/>
          <p:nvPr/>
        </p:nvCxnSpPr>
        <p:spPr>
          <a:xfrm>
            <a:off x="45414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2" name="Google Shape;632;p37"/>
          <p:cNvCxnSpPr/>
          <p:nvPr/>
        </p:nvCxnSpPr>
        <p:spPr>
          <a:xfrm rot="300627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33" name="Google Shape;633;p37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634" name="Google Shape;634;p3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37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36" name="Google Shape;636;p37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637" name="Google Shape;637;p37"/>
          <p:cNvCxnSpPr/>
          <p:nvPr/>
        </p:nvCxnSpPr>
        <p:spPr>
          <a:xfrm rot="1500468">
            <a:off x="42734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8" name="Google Shape;638;p37"/>
          <p:cNvCxnSpPr/>
          <p:nvPr/>
        </p:nvCxnSpPr>
        <p:spPr>
          <a:xfrm>
            <a:off x="45414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39" name="Google Shape;639;p37"/>
          <p:cNvCxnSpPr/>
          <p:nvPr/>
        </p:nvCxnSpPr>
        <p:spPr>
          <a:xfrm>
            <a:off x="45414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0" name="Google Shape;640;p37"/>
          <p:cNvCxnSpPr/>
          <p:nvPr/>
        </p:nvCxnSpPr>
        <p:spPr>
          <a:xfrm flipH="1" rot="9299532">
            <a:off x="42734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1" name="Google Shape;641;p37"/>
          <p:cNvCxnSpPr/>
          <p:nvPr/>
        </p:nvCxnSpPr>
        <p:spPr>
          <a:xfrm rot="300627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2" name="Google Shape;642;p37"/>
          <p:cNvCxnSpPr/>
          <p:nvPr/>
        </p:nvCxnSpPr>
        <p:spPr>
          <a:xfrm flipH="1" rot="10499373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43" name="Google Shape;643;p37"/>
          <p:cNvCxnSpPr/>
          <p:nvPr/>
        </p:nvCxnSpPr>
        <p:spPr>
          <a:xfrm flipH="1" rot="10499373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648" name="Google Shape;6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38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Idea: resolver una serie de problemas más fáciles, hasta llegar a la respuesta original.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50" name="Google Shape;650;p3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51" name="Google Shape;651;p38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52" name="Google Shape;652;p38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653" name="Google Shape;653;p3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55" name="Google Shape;655;p3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656" name="Google Shape;656;p38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657" name="Google Shape;657;p3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59" name="Google Shape;659;p3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660" name="Google Shape;660;p38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61" name="Google Shape;661;p38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2" name="Google Shape;662;p38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63" name="Google Shape;663;p38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664" name="Google Shape;664;p3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38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66" name="Google Shape;666;p38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667" name="Google Shape;667;p38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68" name="Google Shape;668;p38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669" name="Google Shape;669;p3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71" name="Google Shape;671;p3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672" name="Google Shape;672;p38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673" name="Google Shape;673;p3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3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75" name="Google Shape;675;p3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676" name="Google Shape;676;p38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677" name="Google Shape;677;p3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38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79" name="Google Shape;679;p38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680" name="Google Shape;680;p38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1" name="Google Shape;681;p38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2" name="Google Shape;682;p38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3" name="Google Shape;683;p38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4" name="Google Shape;684;p38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38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86" name="Google Shape;686;p38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687" name="Google Shape;687;p3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3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89" name="Google Shape;689;p3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690" name="Google Shape;690;p38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691" name="Google Shape;691;p3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3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693" name="Google Shape;693;p3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694" name="Google Shape;694;p38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695" name="Google Shape;695;p38"/>
          <p:cNvCxnSpPr/>
          <p:nvPr/>
        </p:nvCxnSpPr>
        <p:spPr>
          <a:xfrm>
            <a:off x="45414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38"/>
          <p:cNvCxnSpPr/>
          <p:nvPr/>
        </p:nvCxnSpPr>
        <p:spPr>
          <a:xfrm rot="300627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97" name="Google Shape;697;p38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698" name="Google Shape;698;p3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8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00" name="Google Shape;700;p38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701" name="Google Shape;701;p38"/>
          <p:cNvCxnSpPr/>
          <p:nvPr/>
        </p:nvCxnSpPr>
        <p:spPr>
          <a:xfrm rot="1500468">
            <a:off x="42734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2" name="Google Shape;702;p38"/>
          <p:cNvCxnSpPr/>
          <p:nvPr/>
        </p:nvCxnSpPr>
        <p:spPr>
          <a:xfrm>
            <a:off x="45414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3" name="Google Shape;703;p38"/>
          <p:cNvCxnSpPr/>
          <p:nvPr/>
        </p:nvCxnSpPr>
        <p:spPr>
          <a:xfrm>
            <a:off x="45414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4" name="Google Shape;704;p38"/>
          <p:cNvCxnSpPr/>
          <p:nvPr/>
        </p:nvCxnSpPr>
        <p:spPr>
          <a:xfrm flipH="1" rot="9299532">
            <a:off x="42734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5" name="Google Shape;705;p38"/>
          <p:cNvCxnSpPr/>
          <p:nvPr/>
        </p:nvCxnSpPr>
        <p:spPr>
          <a:xfrm rot="300627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6" name="Google Shape;706;p38"/>
          <p:cNvCxnSpPr/>
          <p:nvPr/>
        </p:nvCxnSpPr>
        <p:spPr>
          <a:xfrm flipH="1" rot="10499373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7" name="Google Shape;707;p38"/>
          <p:cNvCxnSpPr/>
          <p:nvPr/>
        </p:nvCxnSpPr>
        <p:spPr>
          <a:xfrm flipH="1" rot="10499373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712" name="Google Shape;71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39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Idea: resolver una serie de problemas más fáciles, hasta llegar a la respuesta original.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Calculamos </a:t>
            </a: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(x</a:t>
            </a:r>
            <a:r>
              <a:rPr lang="en" sz="1800">
                <a:solidFill>
                  <a:schemeClr val="dk2"/>
                </a:solidFill>
              </a:rPr>
              <a:t>).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4" name="Google Shape;714;p3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15" name="Google Shape;715;p39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716" name="Google Shape;716;p39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717" name="Google Shape;717;p39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39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19" name="Google Shape;719;p39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720" name="Google Shape;720;p39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721" name="Google Shape;721;p39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9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23" name="Google Shape;723;p39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724" name="Google Shape;724;p39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25" name="Google Shape;725;p39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6" name="Google Shape;726;p39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27" name="Google Shape;727;p39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728" name="Google Shape;728;p39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9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30" name="Google Shape;730;p39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731" name="Google Shape;731;p39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32" name="Google Shape;732;p39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733" name="Google Shape;733;p39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9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35" name="Google Shape;735;p39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736" name="Google Shape;736;p39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737" name="Google Shape;737;p39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9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39" name="Google Shape;739;p39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740" name="Google Shape;740;p39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741" name="Google Shape;741;p39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9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43" name="Google Shape;743;p39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744" name="Google Shape;744;p39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5" name="Google Shape;745;p39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6" name="Google Shape;746;p39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7" name="Google Shape;747;p39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8" name="Google Shape;748;p39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39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50" name="Google Shape;750;p39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751" name="Google Shape;751;p39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39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53" name="Google Shape;753;p39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754" name="Google Shape;754;p39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755" name="Google Shape;755;p39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39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57" name="Google Shape;757;p39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758" name="Google Shape;758;p39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59" name="Google Shape;759;p39"/>
          <p:cNvCxnSpPr/>
          <p:nvPr/>
        </p:nvCxnSpPr>
        <p:spPr>
          <a:xfrm>
            <a:off x="45414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0" name="Google Shape;760;p39"/>
          <p:cNvCxnSpPr/>
          <p:nvPr/>
        </p:nvCxnSpPr>
        <p:spPr>
          <a:xfrm rot="300627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61" name="Google Shape;761;p39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762" name="Google Shape;762;p39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39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64" name="Google Shape;764;p39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765" name="Google Shape;765;p39"/>
          <p:cNvCxnSpPr/>
          <p:nvPr/>
        </p:nvCxnSpPr>
        <p:spPr>
          <a:xfrm rot="1500468">
            <a:off x="42734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6" name="Google Shape;766;p39"/>
          <p:cNvCxnSpPr/>
          <p:nvPr/>
        </p:nvCxnSpPr>
        <p:spPr>
          <a:xfrm>
            <a:off x="45414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7" name="Google Shape;767;p39"/>
          <p:cNvCxnSpPr/>
          <p:nvPr/>
        </p:nvCxnSpPr>
        <p:spPr>
          <a:xfrm>
            <a:off x="45414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8" name="Google Shape;768;p39"/>
          <p:cNvCxnSpPr/>
          <p:nvPr/>
        </p:nvCxnSpPr>
        <p:spPr>
          <a:xfrm flipH="1" rot="9299532">
            <a:off x="42734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69" name="Google Shape;769;p39"/>
          <p:cNvCxnSpPr/>
          <p:nvPr/>
        </p:nvCxnSpPr>
        <p:spPr>
          <a:xfrm rot="300627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0" name="Google Shape;770;p39"/>
          <p:cNvCxnSpPr/>
          <p:nvPr/>
        </p:nvCxnSpPr>
        <p:spPr>
          <a:xfrm flipH="1" rot="10499373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1" name="Google Shape;771;p39"/>
          <p:cNvCxnSpPr/>
          <p:nvPr/>
        </p:nvCxnSpPr>
        <p:spPr>
          <a:xfrm flipH="1" rot="10499373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776" name="Google Shape;776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40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Idea: resolver una serie de problemas más fáciles, hasta llegar a la respuesta original.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Calculamos 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(x).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8" name="Google Shape;778;p4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779" name="Google Shape;779;p40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780" name="Google Shape;780;p40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781" name="Google Shape;781;p40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40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83" name="Google Shape;783;p40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784" name="Google Shape;784;p40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785" name="Google Shape;785;p40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40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87" name="Google Shape;787;p40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788" name="Google Shape;788;p40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89" name="Google Shape;789;p40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0" name="Google Shape;790;p40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91" name="Google Shape;791;p40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792" name="Google Shape;792;p40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40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94" name="Google Shape;794;p40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795" name="Google Shape;795;p40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96" name="Google Shape;796;p40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797" name="Google Shape;797;p40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40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799" name="Google Shape;799;p40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800" name="Google Shape;800;p40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801" name="Google Shape;801;p40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40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03" name="Google Shape;803;p40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804" name="Google Shape;804;p40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805" name="Google Shape;805;p40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0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07" name="Google Shape;807;p40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808" name="Google Shape;808;p40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9" name="Google Shape;809;p40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0" name="Google Shape;810;p40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1" name="Google Shape;811;p40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2" name="Google Shape;812;p40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3" name="Google Shape;813;p40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14" name="Google Shape;814;p40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815" name="Google Shape;815;p40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40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17" name="Google Shape;817;p40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818" name="Google Shape;818;p40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819" name="Google Shape;819;p40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40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21" name="Google Shape;821;p40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822" name="Google Shape;822;p40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23" name="Google Shape;823;p40"/>
          <p:cNvCxnSpPr/>
          <p:nvPr/>
        </p:nvCxnSpPr>
        <p:spPr>
          <a:xfrm>
            <a:off x="45414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4" name="Google Shape;824;p40"/>
          <p:cNvCxnSpPr/>
          <p:nvPr/>
        </p:nvCxnSpPr>
        <p:spPr>
          <a:xfrm rot="300627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25" name="Google Shape;825;p40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826" name="Google Shape;826;p40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40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28" name="Google Shape;828;p40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829" name="Google Shape;829;p40"/>
          <p:cNvCxnSpPr/>
          <p:nvPr/>
        </p:nvCxnSpPr>
        <p:spPr>
          <a:xfrm rot="1500468">
            <a:off x="42734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0" name="Google Shape;830;p40"/>
          <p:cNvCxnSpPr/>
          <p:nvPr/>
        </p:nvCxnSpPr>
        <p:spPr>
          <a:xfrm>
            <a:off x="45414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1" name="Google Shape;831;p40"/>
          <p:cNvCxnSpPr/>
          <p:nvPr/>
        </p:nvCxnSpPr>
        <p:spPr>
          <a:xfrm>
            <a:off x="45414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2" name="Google Shape;832;p40"/>
          <p:cNvCxnSpPr/>
          <p:nvPr/>
        </p:nvCxnSpPr>
        <p:spPr>
          <a:xfrm flipH="1" rot="9299532">
            <a:off x="42734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3" name="Google Shape;833;p40"/>
          <p:cNvCxnSpPr/>
          <p:nvPr/>
        </p:nvCxnSpPr>
        <p:spPr>
          <a:xfrm rot="300627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4" name="Google Shape;834;p40"/>
          <p:cNvCxnSpPr/>
          <p:nvPr/>
        </p:nvCxnSpPr>
        <p:spPr>
          <a:xfrm flipH="1" rot="10499373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5" name="Google Shape;835;p40"/>
          <p:cNvCxnSpPr/>
          <p:nvPr/>
        </p:nvCxnSpPr>
        <p:spPr>
          <a:xfrm flipH="1" rot="10499373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" name="Google Shape;836;p40"/>
          <p:cNvSpPr txBox="1"/>
          <p:nvPr/>
        </p:nvSpPr>
        <p:spPr>
          <a:xfrm>
            <a:off x="7574925" y="227257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837" name="Google Shape;837;p40"/>
          <p:cNvSpPr txBox="1"/>
          <p:nvPr/>
        </p:nvSpPr>
        <p:spPr>
          <a:xfrm>
            <a:off x="7575124" y="3673950"/>
            <a:ext cx="870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38" name="Google Shape;838;p40"/>
          <p:cNvSpPr txBox="1"/>
          <p:nvPr/>
        </p:nvSpPr>
        <p:spPr>
          <a:xfrm>
            <a:off x="78703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39" name="Google Shape;839;p40"/>
          <p:cNvSpPr txBox="1"/>
          <p:nvPr/>
        </p:nvSpPr>
        <p:spPr>
          <a:xfrm>
            <a:off x="7613224" y="2950250"/>
            <a:ext cx="794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844" name="Google Shape;84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41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Idea: resolver una serie de problemas más fáciles, hasta llegar a la respuesta original.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Calculamos 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(x).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Retrocedemos</a:t>
            </a:r>
            <a:r>
              <a:rPr lang="en" sz="1800">
                <a:solidFill>
                  <a:schemeClr val="dk2"/>
                </a:solidFill>
              </a:rPr>
              <a:t> una semana y calculamos</a:t>
            </a:r>
            <a:r>
              <a:rPr lang="en" sz="1800">
                <a:solidFill>
                  <a:schemeClr val="dk2"/>
                </a:solidFill>
              </a:rPr>
              <a:t> V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(x).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46" name="Google Shape;846;p4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847" name="Google Shape;847;p41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848" name="Google Shape;848;p41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849" name="Google Shape;849;p4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1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51" name="Google Shape;851;p41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852" name="Google Shape;852;p41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853" name="Google Shape;853;p4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1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55" name="Google Shape;855;p41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856" name="Google Shape;856;p41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57" name="Google Shape;857;p41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8" name="Google Shape;858;p41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59" name="Google Shape;859;p41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860" name="Google Shape;860;p4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41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62" name="Google Shape;862;p41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863" name="Google Shape;863;p41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64" name="Google Shape;864;p41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865" name="Google Shape;865;p4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41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67" name="Google Shape;867;p41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868" name="Google Shape;868;p41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869" name="Google Shape;869;p4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41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71" name="Google Shape;871;p41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872" name="Google Shape;872;p41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873" name="Google Shape;873;p4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41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75" name="Google Shape;875;p41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876" name="Google Shape;876;p41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7" name="Google Shape;877;p41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8" name="Google Shape;878;p41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41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0" name="Google Shape;880;p41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41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82" name="Google Shape;882;p41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883" name="Google Shape;883;p4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41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85" name="Google Shape;885;p41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886" name="Google Shape;886;p41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887" name="Google Shape;887;p4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41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89" name="Google Shape;889;p41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890" name="Google Shape;890;p41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91" name="Google Shape;891;p41"/>
          <p:cNvCxnSpPr/>
          <p:nvPr/>
        </p:nvCxnSpPr>
        <p:spPr>
          <a:xfrm>
            <a:off x="45414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2" name="Google Shape;892;p41"/>
          <p:cNvCxnSpPr/>
          <p:nvPr/>
        </p:nvCxnSpPr>
        <p:spPr>
          <a:xfrm rot="300627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93" name="Google Shape;893;p41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894" name="Google Shape;894;p4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41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896" name="Google Shape;896;p41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897" name="Google Shape;897;p41"/>
          <p:cNvCxnSpPr/>
          <p:nvPr/>
        </p:nvCxnSpPr>
        <p:spPr>
          <a:xfrm rot="1500468">
            <a:off x="42734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8" name="Google Shape;898;p41"/>
          <p:cNvCxnSpPr/>
          <p:nvPr/>
        </p:nvCxnSpPr>
        <p:spPr>
          <a:xfrm>
            <a:off x="45414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9" name="Google Shape;899;p41"/>
          <p:cNvCxnSpPr/>
          <p:nvPr/>
        </p:nvCxnSpPr>
        <p:spPr>
          <a:xfrm>
            <a:off x="45414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0" name="Google Shape;900;p41"/>
          <p:cNvCxnSpPr/>
          <p:nvPr/>
        </p:nvCxnSpPr>
        <p:spPr>
          <a:xfrm flipH="1" rot="9299532">
            <a:off x="42734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1" name="Google Shape;901;p41"/>
          <p:cNvCxnSpPr/>
          <p:nvPr/>
        </p:nvCxnSpPr>
        <p:spPr>
          <a:xfrm rot="300627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2" name="Google Shape;902;p41"/>
          <p:cNvCxnSpPr/>
          <p:nvPr/>
        </p:nvCxnSpPr>
        <p:spPr>
          <a:xfrm flipH="1" rot="10499373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3" name="Google Shape;903;p41"/>
          <p:cNvCxnSpPr/>
          <p:nvPr/>
        </p:nvCxnSpPr>
        <p:spPr>
          <a:xfrm flipH="1" rot="10499373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4" name="Google Shape;904;p41"/>
          <p:cNvSpPr txBox="1"/>
          <p:nvPr/>
        </p:nvSpPr>
        <p:spPr>
          <a:xfrm>
            <a:off x="7574925" y="227257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05" name="Google Shape;905;p41"/>
          <p:cNvSpPr txBox="1"/>
          <p:nvPr/>
        </p:nvSpPr>
        <p:spPr>
          <a:xfrm>
            <a:off x="7575124" y="3673950"/>
            <a:ext cx="870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06" name="Google Shape;906;p41"/>
          <p:cNvSpPr txBox="1"/>
          <p:nvPr/>
        </p:nvSpPr>
        <p:spPr>
          <a:xfrm>
            <a:off x="78703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07" name="Google Shape;907;p41"/>
          <p:cNvSpPr txBox="1"/>
          <p:nvPr/>
        </p:nvSpPr>
        <p:spPr>
          <a:xfrm>
            <a:off x="7613224" y="2950250"/>
            <a:ext cx="794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912" name="Google Shape;91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42"/>
          <p:cNvSpPr txBox="1"/>
          <p:nvPr/>
        </p:nvSpPr>
        <p:spPr>
          <a:xfrm>
            <a:off x="8877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14" name="Google Shape;914;p4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1</a:t>
            </a:r>
            <a:r>
              <a:rPr baseline="-25000" lang="en" sz="2500">
                <a:solidFill>
                  <a:schemeClr val="dk2"/>
                </a:solidFill>
              </a:rPr>
              <a:t>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15" name="Google Shape;915;p42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16" name="Google Shape;916;p42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917" name="Google Shape;917;p4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42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19" name="Google Shape;919;p42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920" name="Google Shape;920;p42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921" name="Google Shape;921;p4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42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23" name="Google Shape;923;p42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924" name="Google Shape;924;p42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25" name="Google Shape;925;p42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6" name="Google Shape;926;p42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27" name="Google Shape;927;p42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928" name="Google Shape;928;p4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42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30" name="Google Shape;930;p42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931" name="Google Shape;931;p42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32" name="Google Shape;932;p42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933" name="Google Shape;933;p4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42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35" name="Google Shape;935;p42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936" name="Google Shape;936;p42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937" name="Google Shape;937;p4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42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39" name="Google Shape;939;p42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940" name="Google Shape;940;p42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941" name="Google Shape;941;p4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42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43" name="Google Shape;943;p42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944" name="Google Shape;944;p42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5" name="Google Shape;945;p42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6" name="Google Shape;946;p42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7" name="Google Shape;947;p42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8" name="Google Shape;948;p42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9" name="Google Shape;949;p42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50" name="Google Shape;950;p42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951" name="Google Shape;951;p4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2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53" name="Google Shape;953;p42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954" name="Google Shape;954;p42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955" name="Google Shape;955;p4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42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57" name="Google Shape;957;p42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958" name="Google Shape;958;p42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59" name="Google Shape;959;p42"/>
          <p:cNvCxnSpPr/>
          <p:nvPr/>
        </p:nvCxnSpPr>
        <p:spPr>
          <a:xfrm>
            <a:off x="45414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0" name="Google Shape;960;p42"/>
          <p:cNvCxnSpPr/>
          <p:nvPr/>
        </p:nvCxnSpPr>
        <p:spPr>
          <a:xfrm rot="300627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61" name="Google Shape;961;p42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962" name="Google Shape;962;p4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42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64" name="Google Shape;964;p42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965" name="Google Shape;965;p42"/>
          <p:cNvCxnSpPr/>
          <p:nvPr/>
        </p:nvCxnSpPr>
        <p:spPr>
          <a:xfrm rot="1500468">
            <a:off x="42734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6" name="Google Shape;966;p42"/>
          <p:cNvCxnSpPr/>
          <p:nvPr/>
        </p:nvCxnSpPr>
        <p:spPr>
          <a:xfrm>
            <a:off x="45414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7" name="Google Shape;967;p42"/>
          <p:cNvCxnSpPr/>
          <p:nvPr/>
        </p:nvCxnSpPr>
        <p:spPr>
          <a:xfrm>
            <a:off x="45414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8" name="Google Shape;968;p42"/>
          <p:cNvCxnSpPr/>
          <p:nvPr/>
        </p:nvCxnSpPr>
        <p:spPr>
          <a:xfrm flipH="1" rot="9299532">
            <a:off x="42734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9" name="Google Shape;969;p42"/>
          <p:cNvCxnSpPr/>
          <p:nvPr/>
        </p:nvCxnSpPr>
        <p:spPr>
          <a:xfrm rot="300627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0" name="Google Shape;970;p42"/>
          <p:cNvCxnSpPr/>
          <p:nvPr/>
        </p:nvCxnSpPr>
        <p:spPr>
          <a:xfrm flipH="1" rot="10499373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42"/>
          <p:cNvCxnSpPr/>
          <p:nvPr/>
        </p:nvCxnSpPr>
        <p:spPr>
          <a:xfrm flipH="1" rot="10499373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2" name="Google Shape;972;p42"/>
          <p:cNvSpPr txBox="1"/>
          <p:nvPr/>
        </p:nvSpPr>
        <p:spPr>
          <a:xfrm>
            <a:off x="7574925" y="227257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973" name="Google Shape;973;p42"/>
          <p:cNvSpPr txBox="1"/>
          <p:nvPr/>
        </p:nvSpPr>
        <p:spPr>
          <a:xfrm>
            <a:off x="7575124" y="3673950"/>
            <a:ext cx="870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74" name="Google Shape;974;p42"/>
          <p:cNvSpPr txBox="1"/>
          <p:nvPr/>
        </p:nvSpPr>
        <p:spPr>
          <a:xfrm>
            <a:off x="78703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75" name="Google Shape;975;p42"/>
          <p:cNvSpPr txBox="1"/>
          <p:nvPr/>
        </p:nvSpPr>
        <p:spPr>
          <a:xfrm>
            <a:off x="7613224" y="2950250"/>
            <a:ext cx="794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976" name="Google Shape;976;p42"/>
          <p:cNvSpPr txBox="1"/>
          <p:nvPr/>
        </p:nvSpPr>
        <p:spPr>
          <a:xfrm>
            <a:off x="5251574" y="3186813"/>
            <a:ext cx="867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7" name="Google Shape;977;p42"/>
          <p:cNvSpPr txBox="1"/>
          <p:nvPr/>
        </p:nvSpPr>
        <p:spPr>
          <a:xfrm>
            <a:off x="4763680" y="27342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78" name="Google Shape;978;p42"/>
          <p:cNvSpPr txBox="1"/>
          <p:nvPr/>
        </p:nvSpPr>
        <p:spPr>
          <a:xfrm>
            <a:off x="4676087" y="3719538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983" name="Google Shape;98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43"/>
          <p:cNvSpPr txBox="1"/>
          <p:nvPr/>
        </p:nvSpPr>
        <p:spPr>
          <a:xfrm>
            <a:off x="8877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(alcista) 	= r(alcista) + P(alcista,alcista)V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(alcista)+P(alcista,bajista)V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endParaRPr baseline="-25000"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(bajista)+P(alcista,estable)V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(estable)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0.005+0.9*0.005+0.075*(-0.005)+0.025*0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0.009125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5" name="Google Shape;985;p4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1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986" name="Google Shape;986;p43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987" name="Google Shape;987;p43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988" name="Google Shape;988;p4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43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90" name="Google Shape;990;p43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991" name="Google Shape;991;p43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992" name="Google Shape;992;p4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43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994" name="Google Shape;994;p43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995" name="Google Shape;995;p43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96" name="Google Shape;996;p43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7" name="Google Shape;997;p43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98" name="Google Shape;998;p43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999" name="Google Shape;999;p4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3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01" name="Google Shape;1001;p43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1002" name="Google Shape;1002;p43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03" name="Google Shape;1003;p43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1004" name="Google Shape;1004;p4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43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06" name="Google Shape;1006;p43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007" name="Google Shape;1007;p43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1008" name="Google Shape;1008;p4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43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10" name="Google Shape;1010;p43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1011" name="Google Shape;1011;p43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1012" name="Google Shape;1012;p4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3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14" name="Google Shape;1014;p43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1015" name="Google Shape;1015;p43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6" name="Google Shape;1016;p43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7" name="Google Shape;1017;p43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8" name="Google Shape;1018;p43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9" name="Google Shape;1019;p43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0" name="Google Shape;1020;p43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21" name="Google Shape;1021;p43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1022" name="Google Shape;1022;p4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43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24" name="Google Shape;1024;p43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025" name="Google Shape;1025;p43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1026" name="Google Shape;1026;p4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43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28" name="Google Shape;1028;p43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029" name="Google Shape;1029;p43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30" name="Google Shape;1030;p43"/>
          <p:cNvCxnSpPr/>
          <p:nvPr/>
        </p:nvCxnSpPr>
        <p:spPr>
          <a:xfrm>
            <a:off x="45414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1" name="Google Shape;1031;p43"/>
          <p:cNvCxnSpPr/>
          <p:nvPr/>
        </p:nvCxnSpPr>
        <p:spPr>
          <a:xfrm rot="300627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32" name="Google Shape;1032;p43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1033" name="Google Shape;1033;p4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43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35" name="Google Shape;1035;p43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1036" name="Google Shape;1036;p43"/>
          <p:cNvCxnSpPr/>
          <p:nvPr/>
        </p:nvCxnSpPr>
        <p:spPr>
          <a:xfrm rot="1500468">
            <a:off x="42734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7" name="Google Shape;1037;p43"/>
          <p:cNvCxnSpPr/>
          <p:nvPr/>
        </p:nvCxnSpPr>
        <p:spPr>
          <a:xfrm>
            <a:off x="45414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8" name="Google Shape;1038;p43"/>
          <p:cNvCxnSpPr/>
          <p:nvPr/>
        </p:nvCxnSpPr>
        <p:spPr>
          <a:xfrm>
            <a:off x="45414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39" name="Google Shape;1039;p43"/>
          <p:cNvCxnSpPr/>
          <p:nvPr/>
        </p:nvCxnSpPr>
        <p:spPr>
          <a:xfrm flipH="1" rot="9299532">
            <a:off x="42734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0" name="Google Shape;1040;p43"/>
          <p:cNvCxnSpPr/>
          <p:nvPr/>
        </p:nvCxnSpPr>
        <p:spPr>
          <a:xfrm rot="300627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1" name="Google Shape;1041;p43"/>
          <p:cNvCxnSpPr/>
          <p:nvPr/>
        </p:nvCxnSpPr>
        <p:spPr>
          <a:xfrm flipH="1" rot="10499373">
            <a:off x="44649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2" name="Google Shape;1042;p43"/>
          <p:cNvCxnSpPr/>
          <p:nvPr/>
        </p:nvCxnSpPr>
        <p:spPr>
          <a:xfrm flipH="1" rot="10499373">
            <a:off x="44649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3" name="Google Shape;1043;p43"/>
          <p:cNvSpPr txBox="1"/>
          <p:nvPr/>
        </p:nvSpPr>
        <p:spPr>
          <a:xfrm>
            <a:off x="7574925" y="227257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044" name="Google Shape;1044;p43"/>
          <p:cNvSpPr txBox="1"/>
          <p:nvPr/>
        </p:nvSpPr>
        <p:spPr>
          <a:xfrm>
            <a:off x="7575124" y="3673950"/>
            <a:ext cx="870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45" name="Google Shape;1045;p43"/>
          <p:cNvSpPr txBox="1"/>
          <p:nvPr/>
        </p:nvSpPr>
        <p:spPr>
          <a:xfrm>
            <a:off x="78703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46" name="Google Shape;1046;p43"/>
          <p:cNvSpPr txBox="1"/>
          <p:nvPr/>
        </p:nvSpPr>
        <p:spPr>
          <a:xfrm>
            <a:off x="7613224" y="2950250"/>
            <a:ext cx="794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047" name="Google Shape;1047;p43"/>
          <p:cNvSpPr txBox="1"/>
          <p:nvPr/>
        </p:nvSpPr>
        <p:spPr>
          <a:xfrm>
            <a:off x="5251574" y="3186813"/>
            <a:ext cx="867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0.075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8" name="Google Shape;1048;p43"/>
          <p:cNvSpPr txBox="1"/>
          <p:nvPr/>
        </p:nvSpPr>
        <p:spPr>
          <a:xfrm>
            <a:off x="4763680" y="2734282"/>
            <a:ext cx="7077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0.9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49" name="Google Shape;1049;p43"/>
          <p:cNvSpPr txBox="1"/>
          <p:nvPr/>
        </p:nvSpPr>
        <p:spPr>
          <a:xfrm>
            <a:off x="4676087" y="3719538"/>
            <a:ext cx="877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0.025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054" name="Google Shape;105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44"/>
          <p:cNvSpPr txBox="1"/>
          <p:nvPr/>
        </p:nvSpPr>
        <p:spPr>
          <a:xfrm>
            <a:off x="8877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(alcista) 	= r(alcista) + P(alcista,alcista)V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(alcista)+P(alcista,bajista)V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endParaRPr baseline="-25000"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(bajista)+P(alcista,estable)V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(estable)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0.005+0.9*0.005+0.075*(-0.005)+0.025*0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</a:t>
            </a:r>
            <a:r>
              <a:rPr lang="en" sz="1800">
                <a:solidFill>
                  <a:srgbClr val="1F1F1F"/>
                </a:solidFill>
                <a:highlight>
                  <a:srgbClr val="FFFFFF"/>
                </a:highlight>
              </a:rPr>
              <a:t>0.009125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56" name="Google Shape;1056;p4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1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 sz="2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057" name="Google Shape;1057;p44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058" name="Google Shape;1058;p44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1059" name="Google Shape;1059;p44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4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61" name="Google Shape;1061;p44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062" name="Google Shape;1062;p44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1063" name="Google Shape;1063;p44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44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65" name="Google Shape;1065;p44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066" name="Google Shape;1066;p44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67" name="Google Shape;1067;p44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8" name="Google Shape;1068;p44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69" name="Google Shape;1069;p44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1070" name="Google Shape;1070;p44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4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72" name="Google Shape;1072;p44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1073" name="Google Shape;1073;p44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74" name="Google Shape;1074;p44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1075" name="Google Shape;1075;p44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44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77" name="Google Shape;1077;p44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078" name="Google Shape;1078;p44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1079" name="Google Shape;1079;p44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44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81" name="Google Shape;1081;p44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1082" name="Google Shape;1082;p44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1083" name="Google Shape;1083;p44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4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85" name="Google Shape;1085;p44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1086" name="Google Shape;1086;p44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7" name="Google Shape;1087;p44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8" name="Google Shape;1088;p44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9" name="Google Shape;1089;p44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44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1" name="Google Shape;1091;p44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92" name="Google Shape;1092;p44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1093" name="Google Shape;1093;p44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4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95" name="Google Shape;1095;p44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096" name="Google Shape;1096;p44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1097" name="Google Shape;1097;p44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4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099" name="Google Shape;1099;p44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100" name="Google Shape;1100;p44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101" name="Google Shape;1101;p44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1102" name="Google Shape;1102;p44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44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04" name="Google Shape;1104;p44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1105" name="Google Shape;1105;p44"/>
          <p:cNvSpPr txBox="1"/>
          <p:nvPr/>
        </p:nvSpPr>
        <p:spPr>
          <a:xfrm>
            <a:off x="7574925" y="227257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06" name="Google Shape;1106;p44"/>
          <p:cNvSpPr txBox="1"/>
          <p:nvPr/>
        </p:nvSpPr>
        <p:spPr>
          <a:xfrm>
            <a:off x="7575124" y="3673950"/>
            <a:ext cx="870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07" name="Google Shape;1107;p44"/>
          <p:cNvSpPr txBox="1"/>
          <p:nvPr/>
        </p:nvSpPr>
        <p:spPr>
          <a:xfrm>
            <a:off x="78703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08" name="Google Shape;1108;p44"/>
          <p:cNvSpPr txBox="1"/>
          <p:nvPr/>
        </p:nvSpPr>
        <p:spPr>
          <a:xfrm>
            <a:off x="7613224" y="2950250"/>
            <a:ext cx="794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09" name="Google Shape;1109;p44"/>
          <p:cNvSpPr txBox="1"/>
          <p:nvPr/>
        </p:nvSpPr>
        <p:spPr>
          <a:xfrm>
            <a:off x="4779288" y="232472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10" name="Google Shape;1110;p44"/>
          <p:cNvSpPr txBox="1"/>
          <p:nvPr/>
        </p:nvSpPr>
        <p:spPr>
          <a:xfrm>
            <a:off x="4741369" y="3002400"/>
            <a:ext cx="1170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0.009125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115" name="Google Shape;111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45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Repetimos el mismo proceso con x = bajista y x = estable: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(x) = r(x) + ∑</a:t>
            </a:r>
            <a:r>
              <a:rPr baseline="-25000" lang="en" sz="1800">
                <a:solidFill>
                  <a:schemeClr val="dk2"/>
                </a:solidFill>
              </a:rPr>
              <a:t>y</a:t>
            </a:r>
            <a:r>
              <a:rPr lang="en" sz="1800">
                <a:solidFill>
                  <a:schemeClr val="dk2"/>
                </a:solidFill>
              </a:rPr>
              <a:t>P(x,y)V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(y)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17" name="Google Shape;1117;p4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1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/>
          </a:p>
        </p:txBody>
      </p:sp>
      <p:sp>
        <p:nvSpPr>
          <p:cNvPr id="1118" name="Google Shape;1118;p45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119" name="Google Shape;1119;p45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1120" name="Google Shape;1120;p4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4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22" name="Google Shape;1122;p4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123" name="Google Shape;1123;p45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1124" name="Google Shape;1124;p4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4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26" name="Google Shape;1126;p4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127" name="Google Shape;1127;p45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28" name="Google Shape;1128;p45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9" name="Google Shape;1129;p45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30" name="Google Shape;1130;p45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1131" name="Google Shape;1131;p4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5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33" name="Google Shape;1133;p45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1134" name="Google Shape;1134;p45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35" name="Google Shape;1135;p45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1136" name="Google Shape;1136;p4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38" name="Google Shape;1138;p4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139" name="Google Shape;1139;p45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1140" name="Google Shape;1140;p4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42" name="Google Shape;1142;p4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1143" name="Google Shape;1143;p45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1144" name="Google Shape;1144;p4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5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46" name="Google Shape;1146;p45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1147" name="Google Shape;1147;p45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8" name="Google Shape;1148;p45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9" name="Google Shape;1149;p45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0" name="Google Shape;1150;p45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1" name="Google Shape;1151;p45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2" name="Google Shape;1152;p45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53" name="Google Shape;1153;p45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1154" name="Google Shape;1154;p4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56" name="Google Shape;1156;p4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157" name="Google Shape;1157;p45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1158" name="Google Shape;1158;p4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5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60" name="Google Shape;1160;p45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161" name="Google Shape;1161;p45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162" name="Google Shape;1162;p45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1163" name="Google Shape;1163;p45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45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65" name="Google Shape;1165;p45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1166" name="Google Shape;1166;p45"/>
          <p:cNvSpPr txBox="1"/>
          <p:nvPr/>
        </p:nvSpPr>
        <p:spPr>
          <a:xfrm>
            <a:off x="7574925" y="227257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67" name="Google Shape;1167;p45"/>
          <p:cNvSpPr txBox="1"/>
          <p:nvPr/>
        </p:nvSpPr>
        <p:spPr>
          <a:xfrm>
            <a:off x="7575124" y="3673950"/>
            <a:ext cx="870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68" name="Google Shape;1168;p45"/>
          <p:cNvSpPr txBox="1"/>
          <p:nvPr/>
        </p:nvSpPr>
        <p:spPr>
          <a:xfrm>
            <a:off x="78703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69" name="Google Shape;1169;p45"/>
          <p:cNvSpPr txBox="1"/>
          <p:nvPr/>
        </p:nvSpPr>
        <p:spPr>
          <a:xfrm>
            <a:off x="7613224" y="2950250"/>
            <a:ext cx="794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70" name="Google Shape;1170;p45"/>
          <p:cNvSpPr txBox="1"/>
          <p:nvPr/>
        </p:nvSpPr>
        <p:spPr>
          <a:xfrm>
            <a:off x="4779288" y="232472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171" name="Google Shape;1171;p45"/>
          <p:cNvSpPr txBox="1"/>
          <p:nvPr/>
        </p:nvSpPr>
        <p:spPr>
          <a:xfrm>
            <a:off x="4741369" y="3002400"/>
            <a:ext cx="1170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0.009125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72" name="Google Shape;1172;p45"/>
          <p:cNvSpPr txBox="1"/>
          <p:nvPr/>
        </p:nvSpPr>
        <p:spPr>
          <a:xfrm>
            <a:off x="4703269" y="3735313"/>
            <a:ext cx="1170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</a:t>
            </a:r>
            <a:r>
              <a:rPr lang="en" sz="1800">
                <a:solidFill>
                  <a:srgbClr val="FF0000"/>
                </a:solidFill>
              </a:rPr>
              <a:t>0.00825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73" name="Google Shape;1173;p45"/>
          <p:cNvSpPr txBox="1"/>
          <p:nvPr/>
        </p:nvSpPr>
        <p:spPr>
          <a:xfrm>
            <a:off x="50509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178" name="Google Shape;11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9" name="Google Shape;1179;p46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Idea: resolver una serie de problemas más fáciles, hasta llegar a la respuesta original.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Calculamos 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(x).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Retrocedemos una semana y calculamos V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(x).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Retrocedemos otra semana y calculamos </a:t>
            </a:r>
            <a:r>
              <a:rPr lang="en" sz="1800">
                <a:solidFill>
                  <a:schemeClr val="dk2"/>
                </a:solidFill>
              </a:rPr>
              <a:t>V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(x) = r(x) + ∑</a:t>
            </a:r>
            <a:r>
              <a:rPr baseline="-25000" lang="en" sz="1800">
                <a:solidFill>
                  <a:schemeClr val="dk2"/>
                </a:solidFill>
              </a:rPr>
              <a:t>y</a:t>
            </a:r>
            <a:r>
              <a:rPr lang="en" sz="1800">
                <a:solidFill>
                  <a:schemeClr val="dk2"/>
                </a:solidFill>
              </a:rPr>
              <a:t>P(x,y)V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baseline="-25000" lang="en" sz="1800">
                <a:solidFill>
                  <a:schemeClr val="dk2"/>
                </a:solidFill>
              </a:rPr>
              <a:t> </a:t>
            </a:r>
            <a:r>
              <a:rPr lang="en" sz="1800">
                <a:solidFill>
                  <a:schemeClr val="dk2"/>
                </a:solidFill>
              </a:rPr>
              <a:t>(y)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0" name="Google Shape;1180;p4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</a:t>
            </a:r>
            <a:r>
              <a:rPr baseline="-25000" lang="en" sz="2500">
                <a:solidFill>
                  <a:schemeClr val="dk2"/>
                </a:solidFill>
              </a:rPr>
              <a:t>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/>
          </a:p>
        </p:txBody>
      </p:sp>
      <p:sp>
        <p:nvSpPr>
          <p:cNvPr id="1181" name="Google Shape;1181;p46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182" name="Google Shape;1182;p46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1183" name="Google Shape;1183;p4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4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85" name="Google Shape;1185;p4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186" name="Google Shape;1186;p46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1187" name="Google Shape;1187;p4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4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89" name="Google Shape;1189;p4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190" name="Google Shape;1190;p46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191" name="Google Shape;1191;p46"/>
          <p:cNvCxnSpPr/>
          <p:nvPr/>
        </p:nvCxnSpPr>
        <p:spPr>
          <a:xfrm>
            <a:off x="1798215" y="31552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2" name="Google Shape;1192;p46"/>
          <p:cNvCxnSpPr/>
          <p:nvPr/>
        </p:nvCxnSpPr>
        <p:spPr>
          <a:xfrm rot="300627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93" name="Google Shape;1193;p46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1194" name="Google Shape;1194;p4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46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196" name="Google Shape;1196;p46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1197" name="Google Shape;1197;p46"/>
          <p:cNvCxnSpPr/>
          <p:nvPr/>
        </p:nvCxnSpPr>
        <p:spPr>
          <a:xfrm rot="1500468">
            <a:off x="1530285" y="37260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198" name="Google Shape;1198;p46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1199" name="Google Shape;1199;p4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4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01" name="Google Shape;1201;p4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202" name="Google Shape;1202;p46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1203" name="Google Shape;1203;p4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4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05" name="Google Shape;1205;p4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1206" name="Google Shape;1206;p46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1207" name="Google Shape;1207;p4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46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09" name="Google Shape;1209;p46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cxnSp>
        <p:nvCxnSpPr>
          <p:cNvPr id="1210" name="Google Shape;1210;p46"/>
          <p:cNvCxnSpPr/>
          <p:nvPr/>
        </p:nvCxnSpPr>
        <p:spPr>
          <a:xfrm>
            <a:off x="1798215" y="39934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1" name="Google Shape;1211;p46"/>
          <p:cNvCxnSpPr/>
          <p:nvPr/>
        </p:nvCxnSpPr>
        <p:spPr>
          <a:xfrm>
            <a:off x="1798215" y="4831663"/>
            <a:ext cx="1751400" cy="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2" name="Google Shape;1212;p46"/>
          <p:cNvCxnSpPr/>
          <p:nvPr/>
        </p:nvCxnSpPr>
        <p:spPr>
          <a:xfrm flipH="1" rot="9299532">
            <a:off x="1530285" y="3802255"/>
            <a:ext cx="2285793" cy="484246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3" name="Google Shape;1213;p46"/>
          <p:cNvCxnSpPr/>
          <p:nvPr/>
        </p:nvCxnSpPr>
        <p:spPr>
          <a:xfrm rot="300627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4" name="Google Shape;1214;p46"/>
          <p:cNvCxnSpPr/>
          <p:nvPr/>
        </p:nvCxnSpPr>
        <p:spPr>
          <a:xfrm flipH="1" rot="10499373">
            <a:off x="1721762" y="42261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5" name="Google Shape;1215;p46"/>
          <p:cNvCxnSpPr/>
          <p:nvPr/>
        </p:nvCxnSpPr>
        <p:spPr>
          <a:xfrm flipH="1" rot="10499373">
            <a:off x="1721762" y="3311798"/>
            <a:ext cx="1920137" cy="48425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16" name="Google Shape;1216;p46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1217" name="Google Shape;1217;p4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4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19" name="Google Shape;1219;p4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220" name="Google Shape;1220;p46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1221" name="Google Shape;1221;p4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46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23" name="Google Shape;1223;p46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224" name="Google Shape;1224;p46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225" name="Google Shape;1225;p46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1226" name="Google Shape;1226;p46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46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28" name="Google Shape;1228;p46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1229" name="Google Shape;1229;p46"/>
          <p:cNvSpPr txBox="1"/>
          <p:nvPr/>
        </p:nvSpPr>
        <p:spPr>
          <a:xfrm>
            <a:off x="7574925" y="227257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30" name="Google Shape;1230;p46"/>
          <p:cNvSpPr txBox="1"/>
          <p:nvPr/>
        </p:nvSpPr>
        <p:spPr>
          <a:xfrm>
            <a:off x="7575124" y="3673950"/>
            <a:ext cx="870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31" name="Google Shape;1231;p46"/>
          <p:cNvSpPr txBox="1"/>
          <p:nvPr/>
        </p:nvSpPr>
        <p:spPr>
          <a:xfrm>
            <a:off x="78703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32" name="Google Shape;1232;p46"/>
          <p:cNvSpPr txBox="1"/>
          <p:nvPr/>
        </p:nvSpPr>
        <p:spPr>
          <a:xfrm>
            <a:off x="7613224" y="2950250"/>
            <a:ext cx="794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33" name="Google Shape;1233;p46"/>
          <p:cNvSpPr txBox="1"/>
          <p:nvPr/>
        </p:nvSpPr>
        <p:spPr>
          <a:xfrm>
            <a:off x="4779288" y="232472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baseline="-25000" lang="en" sz="1800">
                <a:solidFill>
                  <a:srgbClr val="FF0000"/>
                </a:solidFill>
              </a:rPr>
              <a:t>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34" name="Google Shape;1234;p46"/>
          <p:cNvSpPr txBox="1"/>
          <p:nvPr/>
        </p:nvSpPr>
        <p:spPr>
          <a:xfrm>
            <a:off x="4741369" y="3002400"/>
            <a:ext cx="1170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0.009125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35" name="Google Shape;1235;p46"/>
          <p:cNvSpPr txBox="1"/>
          <p:nvPr/>
        </p:nvSpPr>
        <p:spPr>
          <a:xfrm>
            <a:off x="4703269" y="3735313"/>
            <a:ext cx="1170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-0.00825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36" name="Google Shape;1236;p46"/>
          <p:cNvSpPr txBox="1"/>
          <p:nvPr/>
        </p:nvSpPr>
        <p:spPr>
          <a:xfrm>
            <a:off x="50509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241" name="Google Shape;124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47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Idea: resolver una serie de problemas más fáciles, hasta llegar a la respuesta original.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Calculamos V</a:t>
            </a:r>
            <a:r>
              <a:rPr baseline="-25000" lang="en" sz="1800">
                <a:solidFill>
                  <a:schemeClr val="dk2"/>
                </a:solidFill>
              </a:rPr>
              <a:t>2 </a:t>
            </a:r>
            <a:r>
              <a:rPr lang="en" sz="1800">
                <a:solidFill>
                  <a:schemeClr val="dk2"/>
                </a:solidFill>
              </a:rPr>
              <a:t>(x).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Retrocedemos una semana y calculamos V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(x).</a:t>
            </a:r>
            <a:endParaRPr sz="1800">
              <a:solidFill>
                <a:schemeClr val="dk2"/>
              </a:solidFill>
            </a:endParaRPr>
          </a:p>
          <a:p>
            <a:pPr indent="-342900" lvl="0" marL="13716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arenR"/>
            </a:pPr>
            <a:r>
              <a:rPr lang="en" sz="1800">
                <a:solidFill>
                  <a:schemeClr val="dk2"/>
                </a:solidFill>
              </a:rPr>
              <a:t>Retrocedemos otra semana y calculamos V</a:t>
            </a:r>
            <a:r>
              <a:rPr baseline="-25000" lang="en" sz="1800">
                <a:solidFill>
                  <a:schemeClr val="dk2"/>
                </a:solidFill>
              </a:rPr>
              <a:t>0 </a:t>
            </a:r>
            <a:r>
              <a:rPr lang="en" sz="1800">
                <a:solidFill>
                  <a:schemeClr val="dk2"/>
                </a:solidFill>
              </a:rPr>
              <a:t>(x) = r(x) + ∑</a:t>
            </a:r>
            <a:r>
              <a:rPr baseline="-25000" lang="en" sz="1800">
                <a:solidFill>
                  <a:schemeClr val="dk2"/>
                </a:solidFill>
              </a:rPr>
              <a:t>y</a:t>
            </a:r>
            <a:r>
              <a:rPr lang="en" sz="1800">
                <a:solidFill>
                  <a:schemeClr val="dk2"/>
                </a:solidFill>
              </a:rPr>
              <a:t>P(x,y)V</a:t>
            </a:r>
            <a:r>
              <a:rPr baseline="-25000" lang="en" sz="1800">
                <a:solidFill>
                  <a:schemeClr val="dk2"/>
                </a:solidFill>
              </a:rPr>
              <a:t>1 </a:t>
            </a:r>
            <a:r>
              <a:rPr lang="en" sz="1800">
                <a:solidFill>
                  <a:schemeClr val="dk2"/>
                </a:solidFill>
              </a:rPr>
              <a:t>(y)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43" name="Google Shape;1243;p4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</a:t>
            </a:r>
            <a:r>
              <a:rPr baseline="-25000" lang="en" sz="2500">
                <a:solidFill>
                  <a:schemeClr val="dk2"/>
                </a:solidFill>
              </a:rPr>
              <a:t>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/>
          </a:p>
        </p:txBody>
      </p:sp>
      <p:sp>
        <p:nvSpPr>
          <p:cNvPr id="1244" name="Google Shape;1244;p47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245" name="Google Shape;1245;p47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1246" name="Google Shape;1246;p4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4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48" name="Google Shape;1248;p4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249" name="Google Shape;1249;p47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1250" name="Google Shape;1250;p4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4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52" name="Google Shape;1252;p4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253" name="Google Shape;1253;p47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254" name="Google Shape;1254;p47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1255" name="Google Shape;1255;p4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47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57" name="Google Shape;1257;p47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1258" name="Google Shape;1258;p47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1259" name="Google Shape;1259;p4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4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61" name="Google Shape;1261;p4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262" name="Google Shape;1262;p47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1263" name="Google Shape;1263;p4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4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65" name="Google Shape;1265;p4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1266" name="Google Shape;1266;p47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1267" name="Google Shape;1267;p4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47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69" name="Google Shape;1269;p47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1270" name="Google Shape;1270;p47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1271" name="Google Shape;1271;p4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4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73" name="Google Shape;1273;p4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274" name="Google Shape;1274;p47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1275" name="Google Shape;1275;p4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47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77" name="Google Shape;1277;p47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278" name="Google Shape;1278;p47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279" name="Google Shape;1279;p47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1280" name="Google Shape;1280;p47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47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82" name="Google Shape;1282;p47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1283" name="Google Shape;1283;p47"/>
          <p:cNvSpPr txBox="1"/>
          <p:nvPr/>
        </p:nvSpPr>
        <p:spPr>
          <a:xfrm>
            <a:off x="7574925" y="227257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84" name="Google Shape;1284;p47"/>
          <p:cNvSpPr txBox="1"/>
          <p:nvPr/>
        </p:nvSpPr>
        <p:spPr>
          <a:xfrm>
            <a:off x="7575124" y="3673950"/>
            <a:ext cx="870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85" name="Google Shape;1285;p47"/>
          <p:cNvSpPr txBox="1"/>
          <p:nvPr/>
        </p:nvSpPr>
        <p:spPr>
          <a:xfrm>
            <a:off x="78703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86" name="Google Shape;1286;p47"/>
          <p:cNvSpPr txBox="1"/>
          <p:nvPr/>
        </p:nvSpPr>
        <p:spPr>
          <a:xfrm>
            <a:off x="7613224" y="2950250"/>
            <a:ext cx="794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87" name="Google Shape;1287;p47"/>
          <p:cNvSpPr txBox="1"/>
          <p:nvPr/>
        </p:nvSpPr>
        <p:spPr>
          <a:xfrm>
            <a:off x="4779288" y="232472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88" name="Google Shape;1288;p47"/>
          <p:cNvSpPr txBox="1"/>
          <p:nvPr/>
        </p:nvSpPr>
        <p:spPr>
          <a:xfrm>
            <a:off x="4741369" y="3002400"/>
            <a:ext cx="1170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0.009125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89" name="Google Shape;1289;p47"/>
          <p:cNvSpPr txBox="1"/>
          <p:nvPr/>
        </p:nvSpPr>
        <p:spPr>
          <a:xfrm>
            <a:off x="4703269" y="3735313"/>
            <a:ext cx="1170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-0.00825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90" name="Google Shape;1290;p47"/>
          <p:cNvSpPr txBox="1"/>
          <p:nvPr/>
        </p:nvSpPr>
        <p:spPr>
          <a:xfrm>
            <a:off x="50509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91" name="Google Shape;1291;p47"/>
          <p:cNvSpPr txBox="1"/>
          <p:nvPr/>
        </p:nvSpPr>
        <p:spPr>
          <a:xfrm>
            <a:off x="2036088" y="232472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0</a:t>
            </a:r>
            <a:r>
              <a:rPr baseline="-25000" lang="en" sz="1800">
                <a:solidFill>
                  <a:srgbClr val="FF0000"/>
                </a:solidFill>
              </a:rPr>
              <a:t>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292" name="Google Shape;1292;p47"/>
          <p:cNvSpPr txBox="1"/>
          <p:nvPr/>
        </p:nvSpPr>
        <p:spPr>
          <a:xfrm>
            <a:off x="1845777" y="3002400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0.01259375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93" name="Google Shape;1293;p47"/>
          <p:cNvSpPr txBox="1"/>
          <p:nvPr/>
        </p:nvSpPr>
        <p:spPr>
          <a:xfrm>
            <a:off x="1807675" y="3735325"/>
            <a:ext cx="1672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-0.01023125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94" name="Google Shape;1294;p47"/>
          <p:cNvSpPr txBox="1"/>
          <p:nvPr/>
        </p:nvSpPr>
        <p:spPr>
          <a:xfrm>
            <a:off x="1850525" y="4439800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0.00021875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299" name="Google Shape;129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48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Invirtiendo $1 at t = 0, si la semana actual es alcista se espera tener </a:t>
            </a:r>
            <a:r>
              <a:rPr lang="en" sz="1800">
                <a:solidFill>
                  <a:srgbClr val="FF0000"/>
                </a:solidFill>
              </a:rPr>
              <a:t>$1</a:t>
            </a:r>
            <a:r>
              <a:rPr lang="en" sz="1800">
                <a:solidFill>
                  <a:srgbClr val="FF0000"/>
                </a:solidFill>
              </a:rPr>
              <a:t>.01259375</a:t>
            </a:r>
            <a:r>
              <a:rPr lang="en" sz="1800">
                <a:solidFill>
                  <a:schemeClr val="dk2"/>
                </a:solidFill>
              </a:rPr>
              <a:t> después de 3 semanas.</a:t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01" name="Google Shape;1301;p4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Calculando </a:t>
            </a:r>
            <a:r>
              <a:rPr lang="en" sz="2500">
                <a:solidFill>
                  <a:schemeClr val="dk2"/>
                </a:solidFill>
              </a:rPr>
              <a:t>V</a:t>
            </a:r>
            <a:r>
              <a:rPr baseline="-25000" lang="en" sz="2500">
                <a:solidFill>
                  <a:schemeClr val="dk2"/>
                </a:solidFill>
              </a:rPr>
              <a:t>0 </a:t>
            </a:r>
            <a:r>
              <a:rPr lang="en" sz="2500">
                <a:solidFill>
                  <a:schemeClr val="dk2"/>
                </a:solidFill>
              </a:rPr>
              <a:t>(x)</a:t>
            </a:r>
            <a:endParaRPr/>
          </a:p>
        </p:txBody>
      </p:sp>
      <p:sp>
        <p:nvSpPr>
          <p:cNvPr id="1302" name="Google Shape;1302;p48"/>
          <p:cNvSpPr txBox="1"/>
          <p:nvPr/>
        </p:nvSpPr>
        <p:spPr>
          <a:xfrm>
            <a:off x="1004549" y="2309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0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303" name="Google Shape;1303;p48"/>
          <p:cNvGrpSpPr/>
          <p:nvPr/>
        </p:nvGrpSpPr>
        <p:grpSpPr>
          <a:xfrm>
            <a:off x="3159139" y="2830375"/>
            <a:ext cx="1452900" cy="609703"/>
            <a:chOff x="451989" y="2028050"/>
            <a:chExt cx="1452900" cy="609703"/>
          </a:xfrm>
        </p:grpSpPr>
        <p:sp>
          <p:nvSpPr>
            <p:cNvPr id="1304" name="Google Shape;1304;p4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4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06" name="Google Shape;1306;p4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307" name="Google Shape;1307;p48"/>
          <p:cNvGrpSpPr/>
          <p:nvPr/>
        </p:nvGrpSpPr>
        <p:grpSpPr>
          <a:xfrm>
            <a:off x="3159139" y="3630275"/>
            <a:ext cx="1452900" cy="609703"/>
            <a:chOff x="451989" y="2028050"/>
            <a:chExt cx="1452900" cy="609703"/>
          </a:xfrm>
        </p:grpSpPr>
        <p:sp>
          <p:nvSpPr>
            <p:cNvPr id="1308" name="Google Shape;1308;p4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4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10" name="Google Shape;1310;p4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311" name="Google Shape;1311;p48"/>
          <p:cNvSpPr txBox="1"/>
          <p:nvPr/>
        </p:nvSpPr>
        <p:spPr>
          <a:xfrm>
            <a:off x="37116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1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312" name="Google Shape;1312;p48"/>
          <p:cNvGrpSpPr/>
          <p:nvPr/>
        </p:nvGrpSpPr>
        <p:grpSpPr>
          <a:xfrm>
            <a:off x="3082939" y="4468228"/>
            <a:ext cx="1672576" cy="602684"/>
            <a:chOff x="375789" y="2076153"/>
            <a:chExt cx="1672576" cy="602684"/>
          </a:xfrm>
        </p:grpSpPr>
        <p:sp>
          <p:nvSpPr>
            <p:cNvPr id="1313" name="Google Shape;1313;p4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48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15" name="Google Shape;1315;p48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1316" name="Google Shape;1316;p48"/>
          <p:cNvGrpSpPr/>
          <p:nvPr/>
        </p:nvGrpSpPr>
        <p:grpSpPr>
          <a:xfrm>
            <a:off x="395364" y="2839850"/>
            <a:ext cx="1452900" cy="609703"/>
            <a:chOff x="451989" y="2028050"/>
            <a:chExt cx="1452900" cy="609703"/>
          </a:xfrm>
        </p:grpSpPr>
        <p:sp>
          <p:nvSpPr>
            <p:cNvPr id="1317" name="Google Shape;1317;p4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4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19" name="Google Shape;1319;p4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320" name="Google Shape;1320;p48"/>
          <p:cNvGrpSpPr/>
          <p:nvPr/>
        </p:nvGrpSpPr>
        <p:grpSpPr>
          <a:xfrm>
            <a:off x="395364" y="3639750"/>
            <a:ext cx="1452900" cy="609703"/>
            <a:chOff x="451989" y="2028050"/>
            <a:chExt cx="1452900" cy="609703"/>
          </a:xfrm>
        </p:grpSpPr>
        <p:sp>
          <p:nvSpPr>
            <p:cNvPr id="1321" name="Google Shape;1321;p4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4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23" name="Google Shape;1323;p4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grpSp>
        <p:nvGrpSpPr>
          <p:cNvPr id="1324" name="Google Shape;1324;p48"/>
          <p:cNvGrpSpPr/>
          <p:nvPr/>
        </p:nvGrpSpPr>
        <p:grpSpPr>
          <a:xfrm>
            <a:off x="319164" y="4477703"/>
            <a:ext cx="1672576" cy="602684"/>
            <a:chOff x="375789" y="2076153"/>
            <a:chExt cx="1672576" cy="602684"/>
          </a:xfrm>
        </p:grpSpPr>
        <p:sp>
          <p:nvSpPr>
            <p:cNvPr id="1325" name="Google Shape;1325;p4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48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27" name="Google Shape;1327;p48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pSp>
        <p:nvGrpSpPr>
          <p:cNvPr id="1328" name="Google Shape;1328;p48"/>
          <p:cNvGrpSpPr/>
          <p:nvPr/>
        </p:nvGrpSpPr>
        <p:grpSpPr>
          <a:xfrm>
            <a:off x="5902339" y="2830375"/>
            <a:ext cx="1452900" cy="609703"/>
            <a:chOff x="451989" y="2028050"/>
            <a:chExt cx="1452900" cy="609703"/>
          </a:xfrm>
        </p:grpSpPr>
        <p:sp>
          <p:nvSpPr>
            <p:cNvPr id="1329" name="Google Shape;1329;p4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4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Alcista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31" name="Google Shape;1331;p4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0.005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grpSp>
        <p:nvGrpSpPr>
          <p:cNvPr id="1332" name="Google Shape;1332;p48"/>
          <p:cNvGrpSpPr/>
          <p:nvPr/>
        </p:nvGrpSpPr>
        <p:grpSpPr>
          <a:xfrm>
            <a:off x="5902339" y="3630275"/>
            <a:ext cx="1452900" cy="609703"/>
            <a:chOff x="451989" y="2028050"/>
            <a:chExt cx="1452900" cy="609703"/>
          </a:xfrm>
        </p:grpSpPr>
        <p:sp>
          <p:nvSpPr>
            <p:cNvPr id="1333" name="Google Shape;1333;p4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48"/>
            <p:cNvSpPr txBox="1"/>
            <p:nvPr/>
          </p:nvSpPr>
          <p:spPr>
            <a:xfrm>
              <a:off x="451989" y="20280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Bajista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35" name="Google Shape;1335;p48"/>
            <p:cNvSpPr txBox="1"/>
            <p:nvPr/>
          </p:nvSpPr>
          <p:spPr>
            <a:xfrm>
              <a:off x="918615" y="22396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-0.005</a:t>
              </a:r>
              <a:endParaRPr sz="1800">
                <a:solidFill>
                  <a:srgbClr val="666666"/>
                </a:solidFill>
              </a:endParaRPr>
            </a:p>
          </p:txBody>
        </p:sp>
      </p:grpSp>
      <p:sp>
        <p:nvSpPr>
          <p:cNvPr id="1336" name="Google Shape;1336;p48"/>
          <p:cNvSpPr txBox="1"/>
          <p:nvPr/>
        </p:nvSpPr>
        <p:spPr>
          <a:xfrm>
            <a:off x="6454899" y="2313925"/>
            <a:ext cx="9558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 = 2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337" name="Google Shape;1337;p48"/>
          <p:cNvGrpSpPr/>
          <p:nvPr/>
        </p:nvGrpSpPr>
        <p:grpSpPr>
          <a:xfrm>
            <a:off x="5826139" y="4468228"/>
            <a:ext cx="1672576" cy="602684"/>
            <a:chOff x="375789" y="2076153"/>
            <a:chExt cx="1672576" cy="602684"/>
          </a:xfrm>
        </p:grpSpPr>
        <p:sp>
          <p:nvSpPr>
            <p:cNvPr id="1338" name="Google Shape;1338;p48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48"/>
            <p:cNvSpPr txBox="1"/>
            <p:nvPr/>
          </p:nvSpPr>
          <p:spPr>
            <a:xfrm>
              <a:off x="375789" y="2104250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Estable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40" name="Google Shape;1340;p48"/>
            <p:cNvSpPr txBox="1"/>
            <p:nvPr/>
          </p:nvSpPr>
          <p:spPr>
            <a:xfrm>
              <a:off x="1092565" y="2291838"/>
              <a:ext cx="9558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666666"/>
                  </a:solidFill>
                </a:rPr>
                <a:t>0</a:t>
              </a:r>
              <a:endParaRPr sz="18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sp>
        <p:nvSpPr>
          <p:cNvPr id="1341" name="Google Shape;1341;p48"/>
          <p:cNvSpPr txBox="1"/>
          <p:nvPr/>
        </p:nvSpPr>
        <p:spPr>
          <a:xfrm>
            <a:off x="7574925" y="227257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2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42" name="Google Shape;1342;p48"/>
          <p:cNvSpPr txBox="1"/>
          <p:nvPr/>
        </p:nvSpPr>
        <p:spPr>
          <a:xfrm>
            <a:off x="7575124" y="3673950"/>
            <a:ext cx="8703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43" name="Google Shape;1343;p48"/>
          <p:cNvSpPr txBox="1"/>
          <p:nvPr/>
        </p:nvSpPr>
        <p:spPr>
          <a:xfrm>
            <a:off x="78703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44" name="Google Shape;1344;p48"/>
          <p:cNvSpPr txBox="1"/>
          <p:nvPr/>
        </p:nvSpPr>
        <p:spPr>
          <a:xfrm>
            <a:off x="7613224" y="2950250"/>
            <a:ext cx="7941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45" name="Google Shape;1345;p48"/>
          <p:cNvSpPr txBox="1"/>
          <p:nvPr/>
        </p:nvSpPr>
        <p:spPr>
          <a:xfrm>
            <a:off x="4779288" y="232472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46" name="Google Shape;1346;p48"/>
          <p:cNvSpPr txBox="1"/>
          <p:nvPr/>
        </p:nvSpPr>
        <p:spPr>
          <a:xfrm>
            <a:off x="4741369" y="3002400"/>
            <a:ext cx="1170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0.009125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47" name="Google Shape;1347;p48"/>
          <p:cNvSpPr txBox="1"/>
          <p:nvPr/>
        </p:nvSpPr>
        <p:spPr>
          <a:xfrm>
            <a:off x="4703269" y="3735313"/>
            <a:ext cx="11706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-0.00825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48" name="Google Shape;1348;p48"/>
          <p:cNvSpPr txBox="1"/>
          <p:nvPr/>
        </p:nvSpPr>
        <p:spPr>
          <a:xfrm>
            <a:off x="5050924" y="4439800"/>
            <a:ext cx="279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49" name="Google Shape;1349;p48"/>
          <p:cNvSpPr txBox="1"/>
          <p:nvPr/>
        </p:nvSpPr>
        <p:spPr>
          <a:xfrm>
            <a:off x="2036088" y="2324725"/>
            <a:ext cx="95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V</a:t>
            </a:r>
            <a:r>
              <a:rPr baseline="-25000" lang="en" sz="1800">
                <a:solidFill>
                  <a:srgbClr val="FF0000"/>
                </a:solidFill>
              </a:rPr>
              <a:t>0 </a:t>
            </a:r>
            <a:r>
              <a:rPr lang="en" sz="1800">
                <a:solidFill>
                  <a:srgbClr val="FF0000"/>
                </a:solidFill>
              </a:rPr>
              <a:t>(x)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350" name="Google Shape;1350;p48"/>
          <p:cNvSpPr txBox="1"/>
          <p:nvPr/>
        </p:nvSpPr>
        <p:spPr>
          <a:xfrm>
            <a:off x="1845777" y="3002400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0.01259375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51" name="Google Shape;1351;p48"/>
          <p:cNvSpPr txBox="1"/>
          <p:nvPr/>
        </p:nvSpPr>
        <p:spPr>
          <a:xfrm>
            <a:off x="1807675" y="3735325"/>
            <a:ext cx="16725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-0.01023125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352" name="Google Shape;1352;p48"/>
          <p:cNvSpPr txBox="1"/>
          <p:nvPr/>
        </p:nvSpPr>
        <p:spPr>
          <a:xfrm>
            <a:off x="1850525" y="4439800"/>
            <a:ext cx="1452900" cy="3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0.00021875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357" name="Google Shape;135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49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markoviano definido por la tupla</a:t>
            </a:r>
            <a:r>
              <a:rPr b="1" i="1" lang="en" sz="1800">
                <a:solidFill>
                  <a:schemeClr val="dk2"/>
                </a:solidFill>
              </a:rPr>
              <a:t> </a:t>
            </a:r>
            <a:r>
              <a:rPr b="1" i="1" lang="en" sz="1800">
                <a:solidFill>
                  <a:schemeClr val="dk2"/>
                </a:solidFill>
              </a:rPr>
              <a:t>(S,P,r)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Distintas maneras de combinar r(x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 en un único criterio (suma, multiplicación, medidas de riesgo)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Una de las definiciones más comúnmente utilizadas es la recompensa total: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9" name="Google Shape;1359;p49"/>
          <p:cNvSpPr txBox="1"/>
          <p:nvPr>
            <p:ph type="title"/>
          </p:nvPr>
        </p:nvSpPr>
        <p:spPr>
          <a:xfrm>
            <a:off x="246063" y="287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Función Valor</a:t>
            </a:r>
            <a:endParaRPr/>
          </a:p>
        </p:txBody>
      </p:sp>
      <p:pic>
        <p:nvPicPr>
          <p:cNvPr descr="V_t(x) =  {\rm E}\left[ \sum_{\tau=t}^{T} r(x_\tau) | x_t = x \right]&#10;%40affb9e-bb34-437f-bf41-ea7e43b486f6" id="1360" name="Google Shape;136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6850" y="2571750"/>
            <a:ext cx="411903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365" name="Google Shape;136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6" name="Google Shape;1366;p50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 puede expandir la definición introduciendo un factor de descuento                  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67" name="Google Shape;1367;p5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Función Valor con Factor de Descuento</a:t>
            </a:r>
            <a:endParaRPr/>
          </a:p>
        </p:txBody>
      </p:sp>
      <p:pic>
        <p:nvPicPr>
          <p:cNvPr descr="V_t(x) = {\rm E}\left[\sum_{\tau = t}^T \alpha^\tau r(x_\tau)| x_t = x\right]&#10;%2ac91c18-c620-45af-9336-eb52101b260e" id="1368" name="Google Shape;136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6850" y="1299816"/>
            <a:ext cx="444943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 \leq \alpha \leq 1&#10;%47e0f942-5370-4632-83aa-9d13b7f7941a" id="1369" name="Google Shape;136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2550" y="971100"/>
            <a:ext cx="1164338" cy="2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374" name="Google Shape;137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5" name="Google Shape;1375;p51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 puede expandir la definición introduciendo un factor de descuento                  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interpretación económica ($1 vale más en el presente que en el futuro) 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menos confianza en lo que pasará en el futuro distante que cercano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76" name="Google Shape;1376;p5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Función Valor con Factor de Descuento</a:t>
            </a:r>
            <a:endParaRPr/>
          </a:p>
        </p:txBody>
      </p:sp>
      <p:pic>
        <p:nvPicPr>
          <p:cNvPr descr="V_t(x) = {\rm E}\left[\sum_{\tau = t}^T \alpha^\tau r(x_\tau)| x_t = x\right]&#10;%2ac91c18-c620-45af-9336-eb52101b260e" id="1377" name="Google Shape;137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6850" y="1299816"/>
            <a:ext cx="444943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 \leq \alpha \leq 1&#10;%47e0f942-5370-4632-83aa-9d13b7f7941a" id="1378" name="Google Shape;137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2550" y="971100"/>
            <a:ext cx="1164338" cy="22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383" name="Google Shape;138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52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Se puede expandir la definición introduciendo un factor de descuento                   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interpretación económica ($1 vale más en el presente que en el futuro) 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menos confianza en lo que pasará en el futuro distante que cercano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 implica que el criterio de valoración es miope 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 es el caso sin descuento  </a:t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85" name="Google Shape;1385;p5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Función Valor con Factor de Descuento</a:t>
            </a:r>
            <a:endParaRPr/>
          </a:p>
        </p:txBody>
      </p:sp>
      <p:pic>
        <p:nvPicPr>
          <p:cNvPr descr="V_t(x) = {\rm E}\left[\sum_{\tau = t}^T \alpha^\tau r(x_\tau)| x_t = x\right]&#10;%2ac91c18-c620-45af-9336-eb52101b260e" id="1386" name="Google Shape;138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6850" y="1299816"/>
            <a:ext cx="4449438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 \leq \alpha \leq 1&#10;%47e0f942-5370-4632-83aa-9d13b7f7941a" id="1387" name="Google Shape;1387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2550" y="971100"/>
            <a:ext cx="1164338" cy="2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alpha = 0&#10;%2ad2245c-c2d3-4139-8a02-5eaf935dfab0" id="1388" name="Google Shape;1388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1600" y="2861850"/>
            <a:ext cx="728795" cy="229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alpha = 1&#10;%c33fc4ba-fabc-4d68-bb35-4192d5c5b8ba" id="1389" name="Google Shape;1389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1600" y="3165200"/>
            <a:ext cx="728800" cy="22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394" name="Google Shape;139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53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Definimos V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(x) recursivamente: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6" name="Google Shape;1396;p5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</a:t>
            </a:r>
            <a:endParaRPr/>
          </a:p>
        </p:txBody>
      </p:sp>
      <p:pic>
        <p:nvPicPr>
          <p:cNvPr descr="\begin{array}{rcl}&#10;V_t(x) &amp; = &amp; r(x) + \alpha {\rm E} \left[ V_{t+1}(x_{t+1})|x_t = x\right] \\&#10;&amp; = &amp; r(x) + \alpha \sum_{y \in S}&#10;P(x,y)V_{t+1}(y)\\&#10;V_T(x) &amp; = &amp; r(x)&#10;\end{array}&#10;%4cac27f5-df17-42bf-a528-2ba1dde9271a" id="1397" name="Google Shape;139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1250" y="1465825"/>
            <a:ext cx="4494000" cy="10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402" name="Google Shape;140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54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Definimos V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(x) recursivamente: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Usando matrices: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donde                                                         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Podemos implementar el algoritmo en Python.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4" name="Google Shape;1404;p5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</a:t>
            </a:r>
            <a:endParaRPr/>
          </a:p>
        </p:txBody>
      </p:sp>
      <p:pic>
        <p:nvPicPr>
          <p:cNvPr descr="r \in \Re^{|S|},~V_t \in {\Re^{|S|}},~ P \in \Re^{|S|\times|S|} &#10;%53eb3308-9adb-4ec2-acf6-475b5ddc2d83" id="1405" name="Google Shape;1405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2550" y="4191000"/>
            <a:ext cx="3495875" cy="285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V_t(x) &amp; = &amp; r(x) + \alpha {\rm E} \left[ V_{t+1}(x_{t+1})|x_t = x\right] \\&#10;&amp; = &amp; r(x) + \alpha \sum_{y \in S}&#10;P(x,y)V_{t+1}(y)\\&#10;V_T(x) &amp; = &amp; r(x)&#10;\end{array}&#10;%4cac27f5-df17-42bf-a528-2ba1dde9271a" id="1406" name="Google Shape;1406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41250" y="1465825"/>
            <a:ext cx="4494000" cy="101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V_t &amp; = &amp; r + \alpha PV_{t+1}\\&#10;V_T &amp; = &amp; r&#10;\end{array}&#10;%4c16616f-d2a5-4f61-a145-4d397a7c5b41" id="1407" name="Google Shape;1407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41250" y="3174762"/>
            <a:ext cx="2319525" cy="63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412" name="Google Shape;141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3" name="Google Shape;1413;p55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Asumimos que </a:t>
            </a:r>
            <a:r>
              <a:rPr b="1" i="1" lang="en" sz="1800">
                <a:solidFill>
                  <a:schemeClr val="dk2"/>
                </a:solidFill>
              </a:rPr>
              <a:t>r</a:t>
            </a:r>
            <a:r>
              <a:rPr lang="en" sz="1800">
                <a:solidFill>
                  <a:schemeClr val="dk2"/>
                </a:solidFill>
              </a:rPr>
              <a:t> y </a:t>
            </a:r>
            <a:r>
              <a:rPr b="1" i="1" lang="en" sz="1800">
                <a:solidFill>
                  <a:schemeClr val="dk2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no dependen de t, i.e., el proceso markoviano es homogeneo en el tiempo. Pero se puede extender el resultado al caso en que dependen de t: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4" name="Google Shape;1414;p5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Observaciones</a:t>
            </a:r>
            <a:r>
              <a:rPr lang="en" sz="2500"/>
              <a:t> </a:t>
            </a:r>
            <a:endParaRPr/>
          </a:p>
        </p:txBody>
      </p:sp>
      <p:pic>
        <p:nvPicPr>
          <p:cNvPr descr="\begin{array}{rcl}&#10;V_t &amp; = &amp; r_t + \alpha P_tV_{t+1}\\&#10;V_T &amp; = &amp; r_T&#10;\end{array}&#10;%1d5047f5-5afc-4e6b-b9c2-0ba870247677" id="1415" name="Google Shape;1415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5677" y="1561075"/>
            <a:ext cx="2761195" cy="7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420" name="Google Shape;142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1" name="Google Shape;1421;p56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Asumimos que </a:t>
            </a:r>
            <a:r>
              <a:rPr b="1" i="1" lang="en" sz="1800">
                <a:solidFill>
                  <a:schemeClr val="dk2"/>
                </a:solidFill>
              </a:rPr>
              <a:t>r</a:t>
            </a:r>
            <a:r>
              <a:rPr lang="en" sz="1800">
                <a:solidFill>
                  <a:schemeClr val="dk2"/>
                </a:solidFill>
              </a:rPr>
              <a:t> y </a:t>
            </a:r>
            <a:r>
              <a:rPr b="1" i="1" lang="en" sz="1800">
                <a:solidFill>
                  <a:schemeClr val="dk2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no dependen de </a:t>
            </a:r>
            <a:r>
              <a:rPr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, i.e., el proceso markoviano es homogeneo en el tiempo. Pero se puede extender el resultado al caso en que dependen de </a:t>
            </a:r>
            <a:r>
              <a:rPr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También asumimos que la recompensa es determinística, pero podemos incorporar casos en que es aleatoria: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</a:t>
            </a:r>
            <a:r>
              <a:rPr lang="en" sz="1800">
                <a:solidFill>
                  <a:schemeClr val="dk2"/>
                </a:solidFill>
              </a:rPr>
              <a:t>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2" name="Google Shape;1422;p5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Observaciones </a:t>
            </a:r>
            <a:endParaRPr/>
          </a:p>
        </p:txBody>
      </p:sp>
      <p:pic>
        <p:nvPicPr>
          <p:cNvPr descr="\bar{r}(x) = {\rm E}_{w}[r(x,w)]&#10;%b3764ee9-ff6f-435a-a3cd-0bdf80a5eb0c" id="1423" name="Google Shape;1423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9900" y="3200400"/>
            <a:ext cx="24655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V_t &amp; = &amp; r_t + \alpha P_tV_{t+1}\\&#10;V_T &amp; = &amp; r_T&#10;\end{array}&#10;%1d5047f5-5afc-4e6b-b9c2-0ba870247677" id="1424" name="Google Shape;1424;p5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5677" y="1561075"/>
            <a:ext cx="2761195" cy="7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429" name="Google Shape;142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0" name="Google Shape;1430;p57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Asumimos que </a:t>
            </a:r>
            <a:r>
              <a:rPr b="1" i="1" lang="en" sz="1800">
                <a:solidFill>
                  <a:schemeClr val="dk2"/>
                </a:solidFill>
              </a:rPr>
              <a:t>r</a:t>
            </a:r>
            <a:r>
              <a:rPr lang="en" sz="1800">
                <a:solidFill>
                  <a:schemeClr val="dk2"/>
                </a:solidFill>
              </a:rPr>
              <a:t> y </a:t>
            </a:r>
            <a:r>
              <a:rPr b="1" i="1" lang="en" sz="1800">
                <a:solidFill>
                  <a:schemeClr val="dk2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 no dependen de </a:t>
            </a:r>
            <a:r>
              <a:rPr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, i.e., el proceso markoviano es homogeneo en el tiempo. Pero se puede extender el resultado al caso en que dependen de </a:t>
            </a:r>
            <a:r>
              <a:rPr i="1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También asumimos que la recompensa es determinística, pero podemos incorporar casos en que es aleatoria: 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                                      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Si la recompensa depende del próximo estado además del actual, también se puede incorporar utilizando: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31" name="Google Shape;1431;p5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Observaciones </a:t>
            </a:r>
            <a:endParaRPr/>
          </a:p>
        </p:txBody>
      </p:sp>
      <p:pic>
        <p:nvPicPr>
          <p:cNvPr descr="\bar{r}(x) = {\rm E}_{w}[r(x,w)]&#10;%b3764ee9-ff6f-435a-a3cd-0bdf80a5eb0c" id="1432" name="Google Shape;1432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9900" y="3200400"/>
            <a:ext cx="246550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ar{r}(x) = \sum_y P(x,y)r(x,y) = {\rm E}[r(x,x_{t+1})|x_t = x]&#10;%cd291745-055a-4aad-ad96-45f5989ac9a5" id="1433" name="Google Shape;1433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28800" y="4386150"/>
            <a:ext cx="5555130" cy="33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array}{rcl}&#10;V_t &amp; = &amp; r_t + \alpha P_tV_{t+1}\\&#10;V_T &amp; = &amp; r_T&#10;\end{array}&#10;%1d5047f5-5afc-4e6b-b9c2-0ba870247677" id="1434" name="Google Shape;1434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75677" y="1561075"/>
            <a:ext cx="2761195" cy="70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58"/>
          <p:cNvSpPr txBox="1"/>
          <p:nvPr>
            <p:ph idx="4294967295" type="title"/>
          </p:nvPr>
        </p:nvSpPr>
        <p:spPr>
          <a:xfrm>
            <a:off x="311700" y="19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de Decisión Markovianos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0" name="Google Shape;1440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38" y="947600"/>
            <a:ext cx="4356573" cy="39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1" name="Google Shape;1441;p58"/>
          <p:cNvSpPr txBox="1"/>
          <p:nvPr/>
        </p:nvSpPr>
        <p:spPr>
          <a:xfrm>
            <a:off x="4257975" y="947600"/>
            <a:ext cx="46452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Hasta ahora, consideramos procesos markovianos </a:t>
            </a:r>
            <a:r>
              <a:rPr b="1" i="1" lang="en" sz="1800">
                <a:solidFill>
                  <a:schemeClr val="dk2"/>
                </a:solidFill>
              </a:rPr>
              <a:t>(S,P,r)</a:t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Ahora agregaremos decisiones: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Acciones </a:t>
            </a:r>
            <a:r>
              <a:rPr b="1" i="1" lang="en" sz="1800">
                <a:solidFill>
                  <a:schemeClr val="dk2"/>
                </a:solidFill>
              </a:rPr>
              <a:t>A</a:t>
            </a:r>
            <a:endParaRPr b="1" i="1"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Recompensa r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Probabilidad de transición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(x,y)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59"/>
          <p:cNvSpPr txBox="1"/>
          <p:nvPr>
            <p:ph idx="4294967295" type="title"/>
          </p:nvPr>
        </p:nvSpPr>
        <p:spPr>
          <a:xfrm>
            <a:off x="311700" y="1900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Procesos de Decisión Markovianos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7" name="Google Shape;144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138" y="947600"/>
            <a:ext cx="4356573" cy="3961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59"/>
          <p:cNvSpPr txBox="1"/>
          <p:nvPr/>
        </p:nvSpPr>
        <p:spPr>
          <a:xfrm>
            <a:off x="4257975" y="947600"/>
            <a:ext cx="4645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Hasta ahora, consideramos procesos markovianos </a:t>
            </a:r>
            <a:r>
              <a:rPr b="1" i="1" lang="en" sz="1800">
                <a:solidFill>
                  <a:schemeClr val="dk2"/>
                </a:solidFill>
              </a:rPr>
              <a:t>(S,P,r)</a:t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Ahora agregaremos decisiones: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Estados </a:t>
            </a:r>
            <a:r>
              <a:rPr b="1" i="1" lang="en" sz="1800">
                <a:solidFill>
                  <a:schemeClr val="dk2"/>
                </a:solidFill>
              </a:rPr>
              <a:t>S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Espacio de Acciones </a:t>
            </a:r>
            <a:r>
              <a:rPr b="1" i="1" lang="en" sz="1800">
                <a:solidFill>
                  <a:schemeClr val="dk2"/>
                </a:solidFill>
              </a:rPr>
              <a:t>A</a:t>
            </a:r>
            <a:endParaRPr b="1" i="1"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Recompensa r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(x)</a:t>
            </a:r>
            <a:endParaRPr sz="1800">
              <a:solidFill>
                <a:schemeClr val="dk2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Probabilidad de transición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(x,y)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Proceso de Decisión Markoviano caracterizado por la tupla </a:t>
            </a:r>
            <a:r>
              <a:rPr b="1" i="1" lang="en" sz="1800">
                <a:solidFill>
                  <a:schemeClr val="dk2"/>
                </a:solidFill>
              </a:rPr>
              <a:t>(S,A,P,r)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453" name="Google Shape;145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60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</a:rPr>
              <a:t>Un vuelo parte en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Qué precio la aerolínea debe ofrecer a cada día para maximizar su ganancia?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	</a:t>
            </a:r>
            <a:endParaRPr sz="1800">
              <a:solidFill>
                <a:schemeClr val="dk2"/>
              </a:solidFill>
            </a:endParaRPr>
          </a:p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5" name="Google Shape;1455;p6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</a:t>
            </a:r>
            <a:r>
              <a:rPr lang="en" sz="2500"/>
              <a:t> 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460" name="Google Shape;146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61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61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3" name="Google Shape;1463;p61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64" name="Google Shape;1464;p6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8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62"/>
          <p:cNvSpPr/>
          <p:nvPr/>
        </p:nvSpPr>
        <p:spPr>
          <a:xfrm rot="597912">
            <a:off x="9817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62"/>
          <p:cNvSpPr/>
          <p:nvPr/>
        </p:nvSpPr>
        <p:spPr>
          <a:xfrm>
            <a:off x="9614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471" name="Google Shape;147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2" name="Google Shape;1472;p62"/>
          <p:cNvGrpSpPr/>
          <p:nvPr/>
        </p:nvGrpSpPr>
        <p:grpSpPr>
          <a:xfrm>
            <a:off x="787225" y="1998750"/>
            <a:ext cx="404400" cy="461700"/>
            <a:chOff x="787225" y="1981200"/>
            <a:chExt cx="404400" cy="461700"/>
          </a:xfrm>
        </p:grpSpPr>
        <p:sp>
          <p:nvSpPr>
            <p:cNvPr id="1473" name="Google Shape;1473;p62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2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</a:t>
              </a:r>
              <a:endParaRPr/>
            </a:p>
          </p:txBody>
        </p:sp>
      </p:grpSp>
      <p:sp>
        <p:nvSpPr>
          <p:cNvPr id="1475" name="Google Shape;1475;p62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6" name="Google Shape;1476;p62"/>
          <p:cNvCxnSpPr>
            <a:stCxn id="1473" idx="6"/>
            <a:endCxn id="1477" idx="2"/>
          </p:cNvCxnSpPr>
          <p:nvPr/>
        </p:nvCxnSpPr>
        <p:spPr>
          <a:xfrm>
            <a:off x="11916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8" name="Google Shape;1478;p62"/>
          <p:cNvCxnSpPr/>
          <p:nvPr/>
        </p:nvCxnSpPr>
        <p:spPr>
          <a:xfrm rot="10800000">
            <a:off x="9860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9" name="Google Shape;1479;p62"/>
          <p:cNvSpPr/>
          <p:nvPr/>
        </p:nvSpPr>
        <p:spPr>
          <a:xfrm rot="597912">
            <a:off x="22009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62"/>
          <p:cNvSpPr/>
          <p:nvPr/>
        </p:nvSpPr>
        <p:spPr>
          <a:xfrm>
            <a:off x="21806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81" name="Google Shape;1481;p62"/>
          <p:cNvGrpSpPr/>
          <p:nvPr/>
        </p:nvGrpSpPr>
        <p:grpSpPr>
          <a:xfrm>
            <a:off x="2006425" y="1998750"/>
            <a:ext cx="404400" cy="461700"/>
            <a:chOff x="787225" y="1981200"/>
            <a:chExt cx="404400" cy="461700"/>
          </a:xfrm>
        </p:grpSpPr>
        <p:sp>
          <p:nvSpPr>
            <p:cNvPr id="1482" name="Google Shape;1482;p62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62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</a:t>
              </a:r>
              <a:endParaRPr/>
            </a:p>
          </p:txBody>
        </p:sp>
      </p:grpSp>
      <p:sp>
        <p:nvSpPr>
          <p:cNvPr id="1484" name="Google Shape;1484;p62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5" name="Google Shape;1485;p62"/>
          <p:cNvCxnSpPr>
            <a:stCxn id="1482" idx="6"/>
          </p:cNvCxnSpPr>
          <p:nvPr/>
        </p:nvCxnSpPr>
        <p:spPr>
          <a:xfrm>
            <a:off x="24108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6" name="Google Shape;1486;p62"/>
          <p:cNvCxnSpPr/>
          <p:nvPr/>
        </p:nvCxnSpPr>
        <p:spPr>
          <a:xfrm rot="10800000">
            <a:off x="22052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87" name="Google Shape;1487;p62"/>
          <p:cNvSpPr/>
          <p:nvPr/>
        </p:nvSpPr>
        <p:spPr>
          <a:xfrm>
            <a:off x="34838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62"/>
          <p:cNvSpPr/>
          <p:nvPr/>
        </p:nvSpPr>
        <p:spPr>
          <a:xfrm>
            <a:off x="37886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62"/>
          <p:cNvSpPr/>
          <p:nvPr/>
        </p:nvSpPr>
        <p:spPr>
          <a:xfrm>
            <a:off x="40934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90" name="Google Shape;1490;p62"/>
          <p:cNvCxnSpPr/>
          <p:nvPr/>
        </p:nvCxnSpPr>
        <p:spPr>
          <a:xfrm>
            <a:off x="4489625" y="2233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1" name="Google Shape;1491;p62"/>
          <p:cNvSpPr/>
          <p:nvPr/>
        </p:nvSpPr>
        <p:spPr>
          <a:xfrm rot="597912">
            <a:off x="5465291" y="1951703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92" name="Google Shape;1492;p62"/>
          <p:cNvGrpSpPr/>
          <p:nvPr/>
        </p:nvGrpSpPr>
        <p:grpSpPr>
          <a:xfrm>
            <a:off x="5170580" y="1992475"/>
            <a:ext cx="643800" cy="461700"/>
            <a:chOff x="687034" y="1981196"/>
            <a:chExt cx="643800" cy="461700"/>
          </a:xfrm>
        </p:grpSpPr>
        <p:sp>
          <p:nvSpPr>
            <p:cNvPr id="1493" name="Google Shape;1493;p62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62"/>
            <p:cNvSpPr txBox="1"/>
            <p:nvPr/>
          </p:nvSpPr>
          <p:spPr>
            <a:xfrm>
              <a:off x="687034" y="1981196"/>
              <a:ext cx="64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100</a:t>
              </a:r>
              <a:endParaRPr/>
            </a:p>
          </p:txBody>
        </p:sp>
      </p:grpSp>
      <p:cxnSp>
        <p:nvCxnSpPr>
          <p:cNvPr id="1495" name="Google Shape;1495;p62"/>
          <p:cNvCxnSpPr/>
          <p:nvPr/>
        </p:nvCxnSpPr>
        <p:spPr>
          <a:xfrm rot="10800000">
            <a:off x="5469558" y="2425639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6" name="Google Shape;1496;p62"/>
          <p:cNvSpPr txBox="1"/>
          <p:nvPr/>
        </p:nvSpPr>
        <p:spPr>
          <a:xfrm>
            <a:off x="11354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497" name="Google Shape;1497;p62"/>
          <p:cNvSpPr txBox="1"/>
          <p:nvPr/>
        </p:nvSpPr>
        <p:spPr>
          <a:xfrm>
            <a:off x="24308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498" name="Google Shape;1498;p62"/>
          <p:cNvSpPr txBox="1"/>
          <p:nvPr/>
        </p:nvSpPr>
        <p:spPr>
          <a:xfrm>
            <a:off x="5927800" y="2340900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1499" name="Google Shape;1499;p6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500" name="Google Shape;1500;p62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63"/>
          <p:cNvSpPr/>
          <p:nvPr/>
        </p:nvSpPr>
        <p:spPr>
          <a:xfrm rot="597912">
            <a:off x="9817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6" name="Google Shape;1506;p63"/>
          <p:cNvSpPr/>
          <p:nvPr/>
        </p:nvSpPr>
        <p:spPr>
          <a:xfrm>
            <a:off x="9614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507" name="Google Shape;150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8" name="Google Shape;1508;p63"/>
          <p:cNvGrpSpPr/>
          <p:nvPr/>
        </p:nvGrpSpPr>
        <p:grpSpPr>
          <a:xfrm>
            <a:off x="787225" y="1998750"/>
            <a:ext cx="404400" cy="461700"/>
            <a:chOff x="787225" y="1981200"/>
            <a:chExt cx="404400" cy="461700"/>
          </a:xfrm>
        </p:grpSpPr>
        <p:sp>
          <p:nvSpPr>
            <p:cNvPr id="1509" name="Google Shape;1509;p63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63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</a:t>
              </a:r>
              <a:endParaRPr/>
            </a:p>
          </p:txBody>
        </p:sp>
      </p:grpSp>
      <p:sp>
        <p:nvSpPr>
          <p:cNvPr id="1511" name="Google Shape;1511;p63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2" name="Google Shape;1512;p63"/>
          <p:cNvCxnSpPr>
            <a:stCxn id="1509" idx="6"/>
            <a:endCxn id="1513" idx="2"/>
          </p:cNvCxnSpPr>
          <p:nvPr/>
        </p:nvCxnSpPr>
        <p:spPr>
          <a:xfrm>
            <a:off x="11916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4" name="Google Shape;1514;p63"/>
          <p:cNvCxnSpPr/>
          <p:nvPr/>
        </p:nvCxnSpPr>
        <p:spPr>
          <a:xfrm rot="10800000">
            <a:off x="9860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15" name="Google Shape;1515;p63"/>
          <p:cNvSpPr/>
          <p:nvPr/>
        </p:nvSpPr>
        <p:spPr>
          <a:xfrm rot="597912">
            <a:off x="22009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6" name="Google Shape;1516;p63"/>
          <p:cNvSpPr/>
          <p:nvPr/>
        </p:nvSpPr>
        <p:spPr>
          <a:xfrm>
            <a:off x="21806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17" name="Google Shape;1517;p63"/>
          <p:cNvGrpSpPr/>
          <p:nvPr/>
        </p:nvGrpSpPr>
        <p:grpSpPr>
          <a:xfrm>
            <a:off x="2006425" y="1998750"/>
            <a:ext cx="404400" cy="461700"/>
            <a:chOff x="787225" y="1981200"/>
            <a:chExt cx="404400" cy="461700"/>
          </a:xfrm>
        </p:grpSpPr>
        <p:sp>
          <p:nvSpPr>
            <p:cNvPr id="1518" name="Google Shape;1518;p63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3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</a:t>
              </a:r>
              <a:endParaRPr/>
            </a:p>
          </p:txBody>
        </p:sp>
      </p:grpSp>
      <p:sp>
        <p:nvSpPr>
          <p:cNvPr id="1520" name="Google Shape;1520;p63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1" name="Google Shape;1521;p63"/>
          <p:cNvCxnSpPr>
            <a:stCxn id="1518" idx="6"/>
          </p:cNvCxnSpPr>
          <p:nvPr/>
        </p:nvCxnSpPr>
        <p:spPr>
          <a:xfrm>
            <a:off x="24108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2" name="Google Shape;1522;p63"/>
          <p:cNvCxnSpPr/>
          <p:nvPr/>
        </p:nvCxnSpPr>
        <p:spPr>
          <a:xfrm rot="10800000">
            <a:off x="22052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3" name="Google Shape;1523;p63"/>
          <p:cNvSpPr/>
          <p:nvPr/>
        </p:nvSpPr>
        <p:spPr>
          <a:xfrm>
            <a:off x="34838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63"/>
          <p:cNvSpPr/>
          <p:nvPr/>
        </p:nvSpPr>
        <p:spPr>
          <a:xfrm>
            <a:off x="37886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63"/>
          <p:cNvSpPr/>
          <p:nvPr/>
        </p:nvSpPr>
        <p:spPr>
          <a:xfrm>
            <a:off x="40934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6" name="Google Shape;1526;p63"/>
          <p:cNvCxnSpPr/>
          <p:nvPr/>
        </p:nvCxnSpPr>
        <p:spPr>
          <a:xfrm>
            <a:off x="4489625" y="2233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7" name="Google Shape;1527;p63"/>
          <p:cNvSpPr/>
          <p:nvPr/>
        </p:nvSpPr>
        <p:spPr>
          <a:xfrm rot="597912">
            <a:off x="5465291" y="1951703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8" name="Google Shape;1528;p63"/>
          <p:cNvGrpSpPr/>
          <p:nvPr/>
        </p:nvGrpSpPr>
        <p:grpSpPr>
          <a:xfrm>
            <a:off x="5170580" y="1992475"/>
            <a:ext cx="643800" cy="461700"/>
            <a:chOff x="687034" y="1981196"/>
            <a:chExt cx="643800" cy="461700"/>
          </a:xfrm>
        </p:grpSpPr>
        <p:sp>
          <p:nvSpPr>
            <p:cNvPr id="1529" name="Google Shape;1529;p63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3"/>
            <p:cNvSpPr txBox="1"/>
            <p:nvPr/>
          </p:nvSpPr>
          <p:spPr>
            <a:xfrm>
              <a:off x="687034" y="1981196"/>
              <a:ext cx="64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100</a:t>
              </a:r>
              <a:endParaRPr/>
            </a:p>
          </p:txBody>
        </p:sp>
      </p:grpSp>
      <p:cxnSp>
        <p:nvCxnSpPr>
          <p:cNvPr id="1531" name="Google Shape;1531;p63"/>
          <p:cNvCxnSpPr/>
          <p:nvPr/>
        </p:nvCxnSpPr>
        <p:spPr>
          <a:xfrm rot="10800000">
            <a:off x="5469558" y="2425639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2" name="Google Shape;1532;p63"/>
          <p:cNvSpPr txBox="1"/>
          <p:nvPr/>
        </p:nvSpPr>
        <p:spPr>
          <a:xfrm>
            <a:off x="11354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533" name="Google Shape;1533;p63"/>
          <p:cNvSpPr txBox="1"/>
          <p:nvPr/>
        </p:nvSpPr>
        <p:spPr>
          <a:xfrm>
            <a:off x="24308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534" name="Google Shape;1534;p63"/>
          <p:cNvSpPr txBox="1"/>
          <p:nvPr/>
        </p:nvSpPr>
        <p:spPr>
          <a:xfrm>
            <a:off x="5927800" y="2340900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1535" name="Google Shape;1535;p6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536" name="Google Shape;1536;p63"/>
          <p:cNvSpPr txBox="1"/>
          <p:nvPr/>
        </p:nvSpPr>
        <p:spPr>
          <a:xfrm>
            <a:off x="6813250" y="1882675"/>
            <a:ext cx="228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</a:t>
            </a:r>
            <a:r>
              <a:rPr lang="en" sz="1800">
                <a:solidFill>
                  <a:schemeClr val="dk2"/>
                </a:solidFill>
              </a:rPr>
              <a:t>= {0, 1,…,100}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7" name="Google Shape;1537;p63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64"/>
          <p:cNvSpPr/>
          <p:nvPr/>
        </p:nvSpPr>
        <p:spPr>
          <a:xfrm rot="597912">
            <a:off x="9817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3" name="Google Shape;1543;p64"/>
          <p:cNvSpPr/>
          <p:nvPr/>
        </p:nvSpPr>
        <p:spPr>
          <a:xfrm>
            <a:off x="9614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544" name="Google Shape;154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5" name="Google Shape;1545;p64"/>
          <p:cNvGrpSpPr/>
          <p:nvPr/>
        </p:nvGrpSpPr>
        <p:grpSpPr>
          <a:xfrm>
            <a:off x="787225" y="1998750"/>
            <a:ext cx="404400" cy="461700"/>
            <a:chOff x="787225" y="1981200"/>
            <a:chExt cx="404400" cy="461700"/>
          </a:xfrm>
        </p:grpSpPr>
        <p:sp>
          <p:nvSpPr>
            <p:cNvPr id="1546" name="Google Shape;1546;p64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64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</a:t>
              </a:r>
              <a:endParaRPr/>
            </a:p>
          </p:txBody>
        </p:sp>
      </p:grpSp>
      <p:sp>
        <p:nvSpPr>
          <p:cNvPr id="1548" name="Google Shape;1548;p64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49" name="Google Shape;1549;p64"/>
          <p:cNvCxnSpPr>
            <a:stCxn id="1546" idx="6"/>
            <a:endCxn id="1550" idx="2"/>
          </p:cNvCxnSpPr>
          <p:nvPr/>
        </p:nvCxnSpPr>
        <p:spPr>
          <a:xfrm>
            <a:off x="11916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1" name="Google Shape;1551;p64"/>
          <p:cNvCxnSpPr/>
          <p:nvPr/>
        </p:nvCxnSpPr>
        <p:spPr>
          <a:xfrm rot="10800000">
            <a:off x="9860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2" name="Google Shape;1552;p64"/>
          <p:cNvSpPr/>
          <p:nvPr/>
        </p:nvSpPr>
        <p:spPr>
          <a:xfrm rot="597912">
            <a:off x="22009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3" name="Google Shape;1553;p64"/>
          <p:cNvSpPr/>
          <p:nvPr/>
        </p:nvSpPr>
        <p:spPr>
          <a:xfrm>
            <a:off x="21806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54" name="Google Shape;1554;p64"/>
          <p:cNvGrpSpPr/>
          <p:nvPr/>
        </p:nvGrpSpPr>
        <p:grpSpPr>
          <a:xfrm>
            <a:off x="2006425" y="1998750"/>
            <a:ext cx="404400" cy="461700"/>
            <a:chOff x="787225" y="1981200"/>
            <a:chExt cx="404400" cy="461700"/>
          </a:xfrm>
        </p:grpSpPr>
        <p:sp>
          <p:nvSpPr>
            <p:cNvPr id="1555" name="Google Shape;1555;p64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64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</a:t>
              </a:r>
              <a:endParaRPr/>
            </a:p>
          </p:txBody>
        </p:sp>
      </p:grpSp>
      <p:sp>
        <p:nvSpPr>
          <p:cNvPr id="1557" name="Google Shape;1557;p64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8" name="Google Shape;1558;p64"/>
          <p:cNvCxnSpPr>
            <a:stCxn id="1555" idx="6"/>
          </p:cNvCxnSpPr>
          <p:nvPr/>
        </p:nvCxnSpPr>
        <p:spPr>
          <a:xfrm>
            <a:off x="24108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9" name="Google Shape;1559;p64"/>
          <p:cNvCxnSpPr/>
          <p:nvPr/>
        </p:nvCxnSpPr>
        <p:spPr>
          <a:xfrm rot="10800000">
            <a:off x="22052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0" name="Google Shape;1560;p64"/>
          <p:cNvSpPr/>
          <p:nvPr/>
        </p:nvSpPr>
        <p:spPr>
          <a:xfrm>
            <a:off x="34838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1" name="Google Shape;1561;p64"/>
          <p:cNvSpPr/>
          <p:nvPr/>
        </p:nvSpPr>
        <p:spPr>
          <a:xfrm>
            <a:off x="37886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64"/>
          <p:cNvSpPr/>
          <p:nvPr/>
        </p:nvSpPr>
        <p:spPr>
          <a:xfrm>
            <a:off x="40934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3" name="Google Shape;1563;p64"/>
          <p:cNvCxnSpPr/>
          <p:nvPr/>
        </p:nvCxnSpPr>
        <p:spPr>
          <a:xfrm>
            <a:off x="4489625" y="2233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4" name="Google Shape;1564;p64"/>
          <p:cNvSpPr/>
          <p:nvPr/>
        </p:nvSpPr>
        <p:spPr>
          <a:xfrm rot="597912">
            <a:off x="5465291" y="1951703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5" name="Google Shape;1565;p64"/>
          <p:cNvGrpSpPr/>
          <p:nvPr/>
        </p:nvGrpSpPr>
        <p:grpSpPr>
          <a:xfrm>
            <a:off x="5170580" y="1992475"/>
            <a:ext cx="643800" cy="461700"/>
            <a:chOff x="687034" y="1981196"/>
            <a:chExt cx="643800" cy="461700"/>
          </a:xfrm>
        </p:grpSpPr>
        <p:sp>
          <p:nvSpPr>
            <p:cNvPr id="1566" name="Google Shape;1566;p64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64"/>
            <p:cNvSpPr txBox="1"/>
            <p:nvPr/>
          </p:nvSpPr>
          <p:spPr>
            <a:xfrm>
              <a:off x="687034" y="1981196"/>
              <a:ext cx="64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100</a:t>
              </a:r>
              <a:endParaRPr/>
            </a:p>
          </p:txBody>
        </p:sp>
      </p:grpSp>
      <p:cxnSp>
        <p:nvCxnSpPr>
          <p:cNvPr id="1568" name="Google Shape;1568;p64"/>
          <p:cNvCxnSpPr/>
          <p:nvPr/>
        </p:nvCxnSpPr>
        <p:spPr>
          <a:xfrm rot="10800000">
            <a:off x="5469558" y="2425639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69" name="Google Shape;1569;p64"/>
          <p:cNvSpPr txBox="1"/>
          <p:nvPr/>
        </p:nvSpPr>
        <p:spPr>
          <a:xfrm>
            <a:off x="11354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570" name="Google Shape;1570;p64"/>
          <p:cNvSpPr txBox="1"/>
          <p:nvPr/>
        </p:nvSpPr>
        <p:spPr>
          <a:xfrm>
            <a:off x="24308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571" name="Google Shape;1571;p64"/>
          <p:cNvSpPr txBox="1"/>
          <p:nvPr/>
        </p:nvSpPr>
        <p:spPr>
          <a:xfrm>
            <a:off x="5927800" y="2340900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1572" name="Google Shape;1572;p6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573" name="Google Shape;1573;p64"/>
          <p:cNvSpPr txBox="1"/>
          <p:nvPr/>
        </p:nvSpPr>
        <p:spPr>
          <a:xfrm>
            <a:off x="6813250" y="1882675"/>
            <a:ext cx="228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</a:t>
            </a:r>
            <a:r>
              <a:rPr lang="en" sz="1800">
                <a:solidFill>
                  <a:schemeClr val="dk2"/>
                </a:solidFill>
              </a:rPr>
              <a:t>= {0, 1,…,100}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= {50, 70,120}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4" name="Google Shape;1574;p64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65"/>
          <p:cNvSpPr/>
          <p:nvPr/>
        </p:nvSpPr>
        <p:spPr>
          <a:xfrm rot="597912">
            <a:off x="9817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65"/>
          <p:cNvSpPr/>
          <p:nvPr/>
        </p:nvSpPr>
        <p:spPr>
          <a:xfrm>
            <a:off x="9614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581" name="Google Shape;158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2" name="Google Shape;1582;p65"/>
          <p:cNvGrpSpPr/>
          <p:nvPr/>
        </p:nvGrpSpPr>
        <p:grpSpPr>
          <a:xfrm>
            <a:off x="787225" y="1998750"/>
            <a:ext cx="404400" cy="461700"/>
            <a:chOff x="787225" y="1981200"/>
            <a:chExt cx="404400" cy="461700"/>
          </a:xfrm>
        </p:grpSpPr>
        <p:sp>
          <p:nvSpPr>
            <p:cNvPr id="1583" name="Google Shape;1583;p65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65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</a:t>
              </a:r>
              <a:endParaRPr/>
            </a:p>
          </p:txBody>
        </p:sp>
      </p:grpSp>
      <p:sp>
        <p:nvSpPr>
          <p:cNvPr id="1585" name="Google Shape;1585;p65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6" name="Google Shape;1586;p65"/>
          <p:cNvCxnSpPr>
            <a:stCxn id="1583" idx="6"/>
            <a:endCxn id="1587" idx="2"/>
          </p:cNvCxnSpPr>
          <p:nvPr/>
        </p:nvCxnSpPr>
        <p:spPr>
          <a:xfrm>
            <a:off x="11916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8" name="Google Shape;1588;p65"/>
          <p:cNvCxnSpPr/>
          <p:nvPr/>
        </p:nvCxnSpPr>
        <p:spPr>
          <a:xfrm rot="10800000">
            <a:off x="9860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89" name="Google Shape;1589;p65"/>
          <p:cNvSpPr/>
          <p:nvPr/>
        </p:nvSpPr>
        <p:spPr>
          <a:xfrm rot="597912">
            <a:off x="22009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65"/>
          <p:cNvSpPr/>
          <p:nvPr/>
        </p:nvSpPr>
        <p:spPr>
          <a:xfrm>
            <a:off x="21806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91" name="Google Shape;1591;p65"/>
          <p:cNvGrpSpPr/>
          <p:nvPr/>
        </p:nvGrpSpPr>
        <p:grpSpPr>
          <a:xfrm>
            <a:off x="2006425" y="1998750"/>
            <a:ext cx="404400" cy="461700"/>
            <a:chOff x="787225" y="1981200"/>
            <a:chExt cx="404400" cy="461700"/>
          </a:xfrm>
        </p:grpSpPr>
        <p:sp>
          <p:nvSpPr>
            <p:cNvPr id="1592" name="Google Shape;1592;p65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65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</a:t>
              </a:r>
              <a:endParaRPr/>
            </a:p>
          </p:txBody>
        </p:sp>
      </p:grpSp>
      <p:sp>
        <p:nvSpPr>
          <p:cNvPr id="1594" name="Google Shape;1594;p65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95" name="Google Shape;1595;p65"/>
          <p:cNvCxnSpPr>
            <a:stCxn id="1592" idx="6"/>
          </p:cNvCxnSpPr>
          <p:nvPr/>
        </p:nvCxnSpPr>
        <p:spPr>
          <a:xfrm>
            <a:off x="24108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6" name="Google Shape;1596;p65"/>
          <p:cNvCxnSpPr/>
          <p:nvPr/>
        </p:nvCxnSpPr>
        <p:spPr>
          <a:xfrm rot="10800000">
            <a:off x="22052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7" name="Google Shape;1597;p65"/>
          <p:cNvSpPr/>
          <p:nvPr/>
        </p:nvSpPr>
        <p:spPr>
          <a:xfrm>
            <a:off x="34838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65"/>
          <p:cNvSpPr/>
          <p:nvPr/>
        </p:nvSpPr>
        <p:spPr>
          <a:xfrm>
            <a:off x="37886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65"/>
          <p:cNvSpPr/>
          <p:nvPr/>
        </p:nvSpPr>
        <p:spPr>
          <a:xfrm>
            <a:off x="40934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0" name="Google Shape;1600;p65"/>
          <p:cNvCxnSpPr/>
          <p:nvPr/>
        </p:nvCxnSpPr>
        <p:spPr>
          <a:xfrm>
            <a:off x="4489625" y="2233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1" name="Google Shape;1601;p65"/>
          <p:cNvSpPr/>
          <p:nvPr/>
        </p:nvSpPr>
        <p:spPr>
          <a:xfrm rot="597912">
            <a:off x="5465291" y="1951703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2" name="Google Shape;1602;p65"/>
          <p:cNvGrpSpPr/>
          <p:nvPr/>
        </p:nvGrpSpPr>
        <p:grpSpPr>
          <a:xfrm>
            <a:off x="5170580" y="1992475"/>
            <a:ext cx="643800" cy="461700"/>
            <a:chOff x="687034" y="1981196"/>
            <a:chExt cx="643800" cy="461700"/>
          </a:xfrm>
        </p:grpSpPr>
        <p:sp>
          <p:nvSpPr>
            <p:cNvPr id="1603" name="Google Shape;1603;p65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65"/>
            <p:cNvSpPr txBox="1"/>
            <p:nvPr/>
          </p:nvSpPr>
          <p:spPr>
            <a:xfrm>
              <a:off x="687034" y="1981196"/>
              <a:ext cx="64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100</a:t>
              </a:r>
              <a:endParaRPr/>
            </a:p>
          </p:txBody>
        </p:sp>
      </p:grpSp>
      <p:cxnSp>
        <p:nvCxnSpPr>
          <p:cNvPr id="1605" name="Google Shape;1605;p65"/>
          <p:cNvCxnSpPr/>
          <p:nvPr/>
        </p:nvCxnSpPr>
        <p:spPr>
          <a:xfrm rot="10800000">
            <a:off x="5469558" y="2425639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6" name="Google Shape;1606;p65"/>
          <p:cNvSpPr txBox="1"/>
          <p:nvPr/>
        </p:nvSpPr>
        <p:spPr>
          <a:xfrm>
            <a:off x="11354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07" name="Google Shape;1607;p65"/>
          <p:cNvSpPr txBox="1"/>
          <p:nvPr/>
        </p:nvSpPr>
        <p:spPr>
          <a:xfrm>
            <a:off x="24308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08" name="Google Shape;1608;p65"/>
          <p:cNvSpPr txBox="1"/>
          <p:nvPr/>
        </p:nvSpPr>
        <p:spPr>
          <a:xfrm>
            <a:off x="618000" y="2893475"/>
            <a:ext cx="821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(100, 100) = 1 (no hay cancelaciones)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9" name="Google Shape;1609;p65"/>
          <p:cNvSpPr txBox="1"/>
          <p:nvPr/>
        </p:nvSpPr>
        <p:spPr>
          <a:xfrm>
            <a:off x="5927800" y="2340900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1610" name="Google Shape;1610;p6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611" name="Google Shape;1611;p65"/>
          <p:cNvSpPr txBox="1"/>
          <p:nvPr/>
        </p:nvSpPr>
        <p:spPr>
          <a:xfrm>
            <a:off x="6813250" y="1882675"/>
            <a:ext cx="228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</a:t>
            </a:r>
            <a:r>
              <a:rPr lang="en" sz="1800">
                <a:solidFill>
                  <a:schemeClr val="dk2"/>
                </a:solidFill>
              </a:rPr>
              <a:t>= {0, 1,…,100}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= {50, 70,120}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12" name="Google Shape;1612;p65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66"/>
          <p:cNvSpPr/>
          <p:nvPr/>
        </p:nvSpPr>
        <p:spPr>
          <a:xfrm rot="597912">
            <a:off x="9817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8" name="Google Shape;1618;p66"/>
          <p:cNvSpPr/>
          <p:nvPr/>
        </p:nvSpPr>
        <p:spPr>
          <a:xfrm>
            <a:off x="9614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619" name="Google Shape;1619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20" name="Google Shape;1620;p66"/>
          <p:cNvGrpSpPr/>
          <p:nvPr/>
        </p:nvGrpSpPr>
        <p:grpSpPr>
          <a:xfrm>
            <a:off x="787225" y="1998750"/>
            <a:ext cx="404400" cy="461700"/>
            <a:chOff x="787225" y="1981200"/>
            <a:chExt cx="404400" cy="461700"/>
          </a:xfrm>
        </p:grpSpPr>
        <p:sp>
          <p:nvSpPr>
            <p:cNvPr id="1621" name="Google Shape;1621;p66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66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</a:t>
              </a:r>
              <a:endParaRPr/>
            </a:p>
          </p:txBody>
        </p:sp>
      </p:grpSp>
      <p:sp>
        <p:nvSpPr>
          <p:cNvPr id="1623" name="Google Shape;1623;p66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24" name="Google Shape;1624;p66"/>
          <p:cNvCxnSpPr>
            <a:stCxn id="1621" idx="6"/>
            <a:endCxn id="1625" idx="2"/>
          </p:cNvCxnSpPr>
          <p:nvPr/>
        </p:nvCxnSpPr>
        <p:spPr>
          <a:xfrm>
            <a:off x="11916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6" name="Google Shape;1626;p66"/>
          <p:cNvCxnSpPr/>
          <p:nvPr/>
        </p:nvCxnSpPr>
        <p:spPr>
          <a:xfrm rot="10800000">
            <a:off x="9860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7" name="Google Shape;1627;p66"/>
          <p:cNvSpPr/>
          <p:nvPr/>
        </p:nvSpPr>
        <p:spPr>
          <a:xfrm rot="597912">
            <a:off x="22009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8" name="Google Shape;1628;p66"/>
          <p:cNvSpPr/>
          <p:nvPr/>
        </p:nvSpPr>
        <p:spPr>
          <a:xfrm>
            <a:off x="21806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9" name="Google Shape;1629;p66"/>
          <p:cNvGrpSpPr/>
          <p:nvPr/>
        </p:nvGrpSpPr>
        <p:grpSpPr>
          <a:xfrm>
            <a:off x="2006425" y="1998750"/>
            <a:ext cx="404400" cy="461700"/>
            <a:chOff x="787225" y="1981200"/>
            <a:chExt cx="404400" cy="461700"/>
          </a:xfrm>
        </p:grpSpPr>
        <p:sp>
          <p:nvSpPr>
            <p:cNvPr id="1630" name="Google Shape;1630;p66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66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</a:t>
              </a:r>
              <a:endParaRPr/>
            </a:p>
          </p:txBody>
        </p:sp>
      </p:grpSp>
      <p:sp>
        <p:nvSpPr>
          <p:cNvPr id="1632" name="Google Shape;1632;p66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3" name="Google Shape;1633;p66"/>
          <p:cNvCxnSpPr>
            <a:stCxn id="1630" idx="6"/>
          </p:cNvCxnSpPr>
          <p:nvPr/>
        </p:nvCxnSpPr>
        <p:spPr>
          <a:xfrm>
            <a:off x="24108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4" name="Google Shape;1634;p66"/>
          <p:cNvCxnSpPr/>
          <p:nvPr/>
        </p:nvCxnSpPr>
        <p:spPr>
          <a:xfrm rot="10800000">
            <a:off x="22052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5" name="Google Shape;1635;p66"/>
          <p:cNvSpPr/>
          <p:nvPr/>
        </p:nvSpPr>
        <p:spPr>
          <a:xfrm>
            <a:off x="34838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66"/>
          <p:cNvSpPr/>
          <p:nvPr/>
        </p:nvSpPr>
        <p:spPr>
          <a:xfrm>
            <a:off x="37886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66"/>
          <p:cNvSpPr/>
          <p:nvPr/>
        </p:nvSpPr>
        <p:spPr>
          <a:xfrm>
            <a:off x="40934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8" name="Google Shape;1638;p66"/>
          <p:cNvCxnSpPr/>
          <p:nvPr/>
        </p:nvCxnSpPr>
        <p:spPr>
          <a:xfrm>
            <a:off x="4489625" y="2233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39" name="Google Shape;1639;p66"/>
          <p:cNvSpPr/>
          <p:nvPr/>
        </p:nvSpPr>
        <p:spPr>
          <a:xfrm rot="597912">
            <a:off x="5465291" y="1951703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0" name="Google Shape;1640;p66"/>
          <p:cNvGrpSpPr/>
          <p:nvPr/>
        </p:nvGrpSpPr>
        <p:grpSpPr>
          <a:xfrm>
            <a:off x="5170580" y="1992475"/>
            <a:ext cx="643800" cy="461700"/>
            <a:chOff x="687034" y="1981196"/>
            <a:chExt cx="643800" cy="461700"/>
          </a:xfrm>
        </p:grpSpPr>
        <p:sp>
          <p:nvSpPr>
            <p:cNvPr id="1641" name="Google Shape;1641;p66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66"/>
            <p:cNvSpPr txBox="1"/>
            <p:nvPr/>
          </p:nvSpPr>
          <p:spPr>
            <a:xfrm>
              <a:off x="687034" y="1981196"/>
              <a:ext cx="64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100</a:t>
              </a:r>
              <a:endParaRPr/>
            </a:p>
          </p:txBody>
        </p:sp>
      </p:grpSp>
      <p:cxnSp>
        <p:nvCxnSpPr>
          <p:cNvPr id="1643" name="Google Shape;1643;p66"/>
          <p:cNvCxnSpPr/>
          <p:nvPr/>
        </p:nvCxnSpPr>
        <p:spPr>
          <a:xfrm rot="10800000">
            <a:off x="5469558" y="2425639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4" name="Google Shape;1644;p66"/>
          <p:cNvSpPr txBox="1"/>
          <p:nvPr/>
        </p:nvSpPr>
        <p:spPr>
          <a:xfrm>
            <a:off x="11354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45" name="Google Shape;1645;p66"/>
          <p:cNvSpPr txBox="1"/>
          <p:nvPr/>
        </p:nvSpPr>
        <p:spPr>
          <a:xfrm>
            <a:off x="24308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46" name="Google Shape;1646;p66"/>
          <p:cNvSpPr txBox="1"/>
          <p:nvPr/>
        </p:nvSpPr>
        <p:spPr>
          <a:xfrm>
            <a:off x="618000" y="2893475"/>
            <a:ext cx="8214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(100, 100) = 1 (no hay cancelaciones)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Para x &lt; 100: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x+1) = Prob(a≤m) =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x) = 1-p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y) = 0 para y ∉ {x,x+1}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7" name="Google Shape;1647;p66"/>
          <p:cNvSpPr txBox="1"/>
          <p:nvPr/>
        </p:nvSpPr>
        <p:spPr>
          <a:xfrm>
            <a:off x="1566548" y="1775725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 baseline="-25000"/>
          </a:p>
        </p:txBody>
      </p:sp>
      <p:sp>
        <p:nvSpPr>
          <p:cNvPr id="1648" name="Google Shape;1648;p66"/>
          <p:cNvSpPr txBox="1"/>
          <p:nvPr/>
        </p:nvSpPr>
        <p:spPr>
          <a:xfrm>
            <a:off x="1322375" y="2461300"/>
            <a:ext cx="7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49" name="Google Shape;1649;p66"/>
          <p:cNvSpPr txBox="1"/>
          <p:nvPr/>
        </p:nvSpPr>
        <p:spPr>
          <a:xfrm>
            <a:off x="2762806" y="1784600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50" name="Google Shape;1650;p66"/>
          <p:cNvSpPr txBox="1"/>
          <p:nvPr/>
        </p:nvSpPr>
        <p:spPr>
          <a:xfrm>
            <a:off x="2518610" y="2470173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51" name="Google Shape;1651;p66"/>
          <p:cNvSpPr txBox="1"/>
          <p:nvPr/>
        </p:nvSpPr>
        <p:spPr>
          <a:xfrm>
            <a:off x="4919349" y="1775725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52" name="Google Shape;1652;p66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53" name="Google Shape;1653;p66"/>
          <p:cNvSpPr txBox="1"/>
          <p:nvPr/>
        </p:nvSpPr>
        <p:spPr>
          <a:xfrm>
            <a:off x="5927800" y="2340900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1654" name="Google Shape;1654;p6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655" name="Google Shape;1655;p66"/>
          <p:cNvSpPr txBox="1"/>
          <p:nvPr/>
        </p:nvSpPr>
        <p:spPr>
          <a:xfrm>
            <a:off x="6813250" y="1882675"/>
            <a:ext cx="228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</a:t>
            </a:r>
            <a:r>
              <a:rPr lang="en" sz="1800">
                <a:solidFill>
                  <a:schemeClr val="dk2"/>
                </a:solidFill>
              </a:rPr>
              <a:t>= {0, 1,…,100}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= {50, 70,120}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67"/>
          <p:cNvSpPr/>
          <p:nvPr/>
        </p:nvSpPr>
        <p:spPr>
          <a:xfrm rot="597912">
            <a:off x="9817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67"/>
          <p:cNvSpPr/>
          <p:nvPr/>
        </p:nvSpPr>
        <p:spPr>
          <a:xfrm>
            <a:off x="9614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662" name="Google Shape;1662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63" name="Google Shape;1663;p67"/>
          <p:cNvGrpSpPr/>
          <p:nvPr/>
        </p:nvGrpSpPr>
        <p:grpSpPr>
          <a:xfrm>
            <a:off x="787225" y="1998750"/>
            <a:ext cx="404400" cy="461700"/>
            <a:chOff x="787225" y="1981200"/>
            <a:chExt cx="404400" cy="461700"/>
          </a:xfrm>
        </p:grpSpPr>
        <p:sp>
          <p:nvSpPr>
            <p:cNvPr id="1664" name="Google Shape;1664;p67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67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</a:t>
              </a:r>
              <a:endParaRPr/>
            </a:p>
          </p:txBody>
        </p:sp>
      </p:grpSp>
      <p:sp>
        <p:nvSpPr>
          <p:cNvPr id="1666" name="Google Shape;1666;p67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67" name="Google Shape;1667;p67"/>
          <p:cNvCxnSpPr>
            <a:stCxn id="1664" idx="6"/>
            <a:endCxn id="1668" idx="2"/>
          </p:cNvCxnSpPr>
          <p:nvPr/>
        </p:nvCxnSpPr>
        <p:spPr>
          <a:xfrm>
            <a:off x="11916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9" name="Google Shape;1669;p67"/>
          <p:cNvCxnSpPr/>
          <p:nvPr/>
        </p:nvCxnSpPr>
        <p:spPr>
          <a:xfrm rot="10800000">
            <a:off x="9860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0" name="Google Shape;1670;p67"/>
          <p:cNvSpPr/>
          <p:nvPr/>
        </p:nvSpPr>
        <p:spPr>
          <a:xfrm rot="597912">
            <a:off x="22009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67"/>
          <p:cNvSpPr/>
          <p:nvPr/>
        </p:nvSpPr>
        <p:spPr>
          <a:xfrm>
            <a:off x="21806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72" name="Google Shape;1672;p67"/>
          <p:cNvGrpSpPr/>
          <p:nvPr/>
        </p:nvGrpSpPr>
        <p:grpSpPr>
          <a:xfrm>
            <a:off x="2006425" y="1998750"/>
            <a:ext cx="404400" cy="461700"/>
            <a:chOff x="787225" y="1981200"/>
            <a:chExt cx="404400" cy="461700"/>
          </a:xfrm>
        </p:grpSpPr>
        <p:sp>
          <p:nvSpPr>
            <p:cNvPr id="1673" name="Google Shape;1673;p67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67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</a:t>
              </a:r>
              <a:endParaRPr/>
            </a:p>
          </p:txBody>
        </p:sp>
      </p:grpSp>
      <p:sp>
        <p:nvSpPr>
          <p:cNvPr id="1675" name="Google Shape;1675;p67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76" name="Google Shape;1676;p67"/>
          <p:cNvCxnSpPr>
            <a:stCxn id="1673" idx="6"/>
          </p:cNvCxnSpPr>
          <p:nvPr/>
        </p:nvCxnSpPr>
        <p:spPr>
          <a:xfrm>
            <a:off x="24108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7" name="Google Shape;1677;p67"/>
          <p:cNvCxnSpPr/>
          <p:nvPr/>
        </p:nvCxnSpPr>
        <p:spPr>
          <a:xfrm rot="10800000">
            <a:off x="22052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8" name="Google Shape;1678;p67"/>
          <p:cNvSpPr/>
          <p:nvPr/>
        </p:nvSpPr>
        <p:spPr>
          <a:xfrm>
            <a:off x="34838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9" name="Google Shape;1679;p67"/>
          <p:cNvSpPr/>
          <p:nvPr/>
        </p:nvSpPr>
        <p:spPr>
          <a:xfrm>
            <a:off x="37886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67"/>
          <p:cNvSpPr/>
          <p:nvPr/>
        </p:nvSpPr>
        <p:spPr>
          <a:xfrm>
            <a:off x="40934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1" name="Google Shape;1681;p67"/>
          <p:cNvCxnSpPr/>
          <p:nvPr/>
        </p:nvCxnSpPr>
        <p:spPr>
          <a:xfrm>
            <a:off x="4489625" y="2233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2" name="Google Shape;1682;p67"/>
          <p:cNvSpPr/>
          <p:nvPr/>
        </p:nvSpPr>
        <p:spPr>
          <a:xfrm rot="597912">
            <a:off x="5465291" y="1951703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3" name="Google Shape;1683;p67"/>
          <p:cNvGrpSpPr/>
          <p:nvPr/>
        </p:nvGrpSpPr>
        <p:grpSpPr>
          <a:xfrm>
            <a:off x="5170580" y="1992475"/>
            <a:ext cx="643800" cy="461700"/>
            <a:chOff x="687034" y="1981196"/>
            <a:chExt cx="643800" cy="461700"/>
          </a:xfrm>
        </p:grpSpPr>
        <p:sp>
          <p:nvSpPr>
            <p:cNvPr id="1684" name="Google Shape;1684;p67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67"/>
            <p:cNvSpPr txBox="1"/>
            <p:nvPr/>
          </p:nvSpPr>
          <p:spPr>
            <a:xfrm>
              <a:off x="687034" y="1981196"/>
              <a:ext cx="64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100</a:t>
              </a:r>
              <a:endParaRPr/>
            </a:p>
          </p:txBody>
        </p:sp>
      </p:grpSp>
      <p:cxnSp>
        <p:nvCxnSpPr>
          <p:cNvPr id="1686" name="Google Shape;1686;p67"/>
          <p:cNvCxnSpPr/>
          <p:nvPr/>
        </p:nvCxnSpPr>
        <p:spPr>
          <a:xfrm rot="10800000">
            <a:off x="5469558" y="2425639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7" name="Google Shape;1687;p67"/>
          <p:cNvSpPr txBox="1"/>
          <p:nvPr/>
        </p:nvSpPr>
        <p:spPr>
          <a:xfrm>
            <a:off x="11354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88" name="Google Shape;1688;p67"/>
          <p:cNvSpPr txBox="1"/>
          <p:nvPr/>
        </p:nvSpPr>
        <p:spPr>
          <a:xfrm>
            <a:off x="24308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89" name="Google Shape;1689;p67"/>
          <p:cNvSpPr txBox="1"/>
          <p:nvPr/>
        </p:nvSpPr>
        <p:spPr>
          <a:xfrm>
            <a:off x="618000" y="2893475"/>
            <a:ext cx="8214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(100, 100) = 1 (no hay cancelaciones)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Para x &lt; 100: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x+1) = Prob(a≤m) =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x) = 1-p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y) = 0 para y ∉ {x,x+1}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0" name="Google Shape;1690;p67"/>
          <p:cNvSpPr txBox="1"/>
          <p:nvPr/>
        </p:nvSpPr>
        <p:spPr>
          <a:xfrm>
            <a:off x="1566548" y="1775725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 baseline="-25000"/>
          </a:p>
        </p:txBody>
      </p:sp>
      <p:sp>
        <p:nvSpPr>
          <p:cNvPr id="1691" name="Google Shape;1691;p67"/>
          <p:cNvSpPr txBox="1"/>
          <p:nvPr/>
        </p:nvSpPr>
        <p:spPr>
          <a:xfrm>
            <a:off x="1322375" y="2461300"/>
            <a:ext cx="7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92" name="Google Shape;1692;p67"/>
          <p:cNvSpPr txBox="1"/>
          <p:nvPr/>
        </p:nvSpPr>
        <p:spPr>
          <a:xfrm>
            <a:off x="2762806" y="1784600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93" name="Google Shape;1693;p67"/>
          <p:cNvSpPr txBox="1"/>
          <p:nvPr/>
        </p:nvSpPr>
        <p:spPr>
          <a:xfrm>
            <a:off x="2518610" y="2470173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94" name="Google Shape;1694;p67"/>
          <p:cNvSpPr txBox="1"/>
          <p:nvPr/>
        </p:nvSpPr>
        <p:spPr>
          <a:xfrm>
            <a:off x="4919349" y="1775725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695" name="Google Shape;1695;p67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6" name="Google Shape;1696;p67"/>
          <p:cNvSpPr txBox="1"/>
          <p:nvPr/>
        </p:nvSpPr>
        <p:spPr>
          <a:xfrm>
            <a:off x="5927800" y="2340900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1697" name="Google Shape;1697;p6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698" name="Google Shape;1698;p67"/>
          <p:cNvSpPr txBox="1"/>
          <p:nvPr/>
        </p:nvSpPr>
        <p:spPr>
          <a:xfrm>
            <a:off x="618000" y="4493675"/>
            <a:ext cx="821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x+1) = 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(x,y) = 0 para y ≠ 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9" name="Google Shape;1699;p67"/>
          <p:cNvSpPr txBox="1"/>
          <p:nvPr/>
        </p:nvSpPr>
        <p:spPr>
          <a:xfrm>
            <a:off x="6813250" y="1882675"/>
            <a:ext cx="228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</a:t>
            </a:r>
            <a:r>
              <a:rPr lang="en" sz="1800">
                <a:solidFill>
                  <a:schemeClr val="dk2"/>
                </a:solidFill>
              </a:rPr>
              <a:t>= {0, 1,…,100}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= {50, 70,120}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68"/>
          <p:cNvSpPr/>
          <p:nvPr/>
        </p:nvSpPr>
        <p:spPr>
          <a:xfrm rot="597912">
            <a:off x="9817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5" name="Google Shape;1705;p68"/>
          <p:cNvSpPr/>
          <p:nvPr/>
        </p:nvSpPr>
        <p:spPr>
          <a:xfrm>
            <a:off x="9614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706" name="Google Shape;170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7" name="Google Shape;1707;p68"/>
          <p:cNvGrpSpPr/>
          <p:nvPr/>
        </p:nvGrpSpPr>
        <p:grpSpPr>
          <a:xfrm>
            <a:off x="787225" y="1998750"/>
            <a:ext cx="404400" cy="461700"/>
            <a:chOff x="787225" y="1981200"/>
            <a:chExt cx="404400" cy="461700"/>
          </a:xfrm>
        </p:grpSpPr>
        <p:sp>
          <p:nvSpPr>
            <p:cNvPr id="1708" name="Google Shape;1708;p68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68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</a:t>
              </a:r>
              <a:endParaRPr/>
            </a:p>
          </p:txBody>
        </p:sp>
      </p:grpSp>
      <p:sp>
        <p:nvSpPr>
          <p:cNvPr id="1710" name="Google Shape;1710;p68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1" name="Google Shape;1711;p68"/>
          <p:cNvCxnSpPr>
            <a:stCxn id="1708" idx="6"/>
            <a:endCxn id="1712" idx="2"/>
          </p:cNvCxnSpPr>
          <p:nvPr/>
        </p:nvCxnSpPr>
        <p:spPr>
          <a:xfrm>
            <a:off x="11916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3" name="Google Shape;1713;p68"/>
          <p:cNvCxnSpPr/>
          <p:nvPr/>
        </p:nvCxnSpPr>
        <p:spPr>
          <a:xfrm rot="10800000">
            <a:off x="9860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4" name="Google Shape;1714;p68"/>
          <p:cNvSpPr/>
          <p:nvPr/>
        </p:nvSpPr>
        <p:spPr>
          <a:xfrm rot="597912">
            <a:off x="22009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68"/>
          <p:cNvSpPr/>
          <p:nvPr/>
        </p:nvSpPr>
        <p:spPr>
          <a:xfrm>
            <a:off x="21806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6" name="Google Shape;1716;p68"/>
          <p:cNvGrpSpPr/>
          <p:nvPr/>
        </p:nvGrpSpPr>
        <p:grpSpPr>
          <a:xfrm>
            <a:off x="2006425" y="1998750"/>
            <a:ext cx="404400" cy="461700"/>
            <a:chOff x="787225" y="1981200"/>
            <a:chExt cx="404400" cy="461700"/>
          </a:xfrm>
        </p:grpSpPr>
        <p:sp>
          <p:nvSpPr>
            <p:cNvPr id="1717" name="Google Shape;1717;p68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68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</a:t>
              </a:r>
              <a:endParaRPr/>
            </a:p>
          </p:txBody>
        </p:sp>
      </p:grpSp>
      <p:sp>
        <p:nvSpPr>
          <p:cNvPr id="1719" name="Google Shape;1719;p68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0" name="Google Shape;1720;p68"/>
          <p:cNvCxnSpPr>
            <a:stCxn id="1717" idx="6"/>
          </p:cNvCxnSpPr>
          <p:nvPr/>
        </p:nvCxnSpPr>
        <p:spPr>
          <a:xfrm>
            <a:off x="24108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1" name="Google Shape;1721;p68"/>
          <p:cNvCxnSpPr/>
          <p:nvPr/>
        </p:nvCxnSpPr>
        <p:spPr>
          <a:xfrm rot="10800000">
            <a:off x="22052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2" name="Google Shape;1722;p68"/>
          <p:cNvSpPr/>
          <p:nvPr/>
        </p:nvSpPr>
        <p:spPr>
          <a:xfrm>
            <a:off x="34838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68"/>
          <p:cNvSpPr/>
          <p:nvPr/>
        </p:nvSpPr>
        <p:spPr>
          <a:xfrm>
            <a:off x="37886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4" name="Google Shape;1724;p68"/>
          <p:cNvSpPr/>
          <p:nvPr/>
        </p:nvSpPr>
        <p:spPr>
          <a:xfrm>
            <a:off x="40934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5" name="Google Shape;1725;p68"/>
          <p:cNvCxnSpPr/>
          <p:nvPr/>
        </p:nvCxnSpPr>
        <p:spPr>
          <a:xfrm>
            <a:off x="4489625" y="2233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26" name="Google Shape;1726;p68"/>
          <p:cNvSpPr/>
          <p:nvPr/>
        </p:nvSpPr>
        <p:spPr>
          <a:xfrm rot="597912">
            <a:off x="5465291" y="1951703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27" name="Google Shape;1727;p68"/>
          <p:cNvGrpSpPr/>
          <p:nvPr/>
        </p:nvGrpSpPr>
        <p:grpSpPr>
          <a:xfrm>
            <a:off x="5170580" y="1992475"/>
            <a:ext cx="643800" cy="461700"/>
            <a:chOff x="687034" y="1981196"/>
            <a:chExt cx="643800" cy="461700"/>
          </a:xfrm>
        </p:grpSpPr>
        <p:sp>
          <p:nvSpPr>
            <p:cNvPr id="1728" name="Google Shape;1728;p68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68"/>
            <p:cNvSpPr txBox="1"/>
            <p:nvPr/>
          </p:nvSpPr>
          <p:spPr>
            <a:xfrm>
              <a:off x="687034" y="1981196"/>
              <a:ext cx="64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100</a:t>
              </a:r>
              <a:endParaRPr/>
            </a:p>
          </p:txBody>
        </p:sp>
      </p:grpSp>
      <p:cxnSp>
        <p:nvCxnSpPr>
          <p:cNvPr id="1730" name="Google Shape;1730;p68"/>
          <p:cNvCxnSpPr/>
          <p:nvPr/>
        </p:nvCxnSpPr>
        <p:spPr>
          <a:xfrm rot="10800000">
            <a:off x="5469558" y="2425639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31" name="Google Shape;1731;p68"/>
          <p:cNvSpPr txBox="1"/>
          <p:nvPr/>
        </p:nvSpPr>
        <p:spPr>
          <a:xfrm>
            <a:off x="11354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32" name="Google Shape;1732;p68"/>
          <p:cNvSpPr txBox="1"/>
          <p:nvPr/>
        </p:nvSpPr>
        <p:spPr>
          <a:xfrm>
            <a:off x="24308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33" name="Google Shape;1733;p68"/>
          <p:cNvSpPr txBox="1"/>
          <p:nvPr/>
        </p:nvSpPr>
        <p:spPr>
          <a:xfrm>
            <a:off x="618000" y="2893475"/>
            <a:ext cx="8214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(100, 100) = 1 (no hay cancelaciones)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Para x &lt; 100: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x+1) = Prob(a≤m) =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x) = 1-p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 sz="1800">
              <a:solidFill>
                <a:schemeClr val="dk2"/>
              </a:solidFill>
            </a:endParaRPr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y) = 0 para y ∉ {x,x+1}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34" name="Google Shape;1734;p68"/>
          <p:cNvSpPr txBox="1"/>
          <p:nvPr/>
        </p:nvSpPr>
        <p:spPr>
          <a:xfrm>
            <a:off x="1566548" y="1775725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 baseline="-25000"/>
          </a:p>
        </p:txBody>
      </p:sp>
      <p:sp>
        <p:nvSpPr>
          <p:cNvPr id="1735" name="Google Shape;1735;p68"/>
          <p:cNvSpPr txBox="1"/>
          <p:nvPr/>
        </p:nvSpPr>
        <p:spPr>
          <a:xfrm>
            <a:off x="1322375" y="2461300"/>
            <a:ext cx="7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36" name="Google Shape;1736;p68"/>
          <p:cNvSpPr txBox="1"/>
          <p:nvPr/>
        </p:nvSpPr>
        <p:spPr>
          <a:xfrm>
            <a:off x="2762806" y="1784600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37" name="Google Shape;1737;p68"/>
          <p:cNvSpPr txBox="1"/>
          <p:nvPr/>
        </p:nvSpPr>
        <p:spPr>
          <a:xfrm>
            <a:off x="2518610" y="2470173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38" name="Google Shape;1738;p68"/>
          <p:cNvSpPr txBox="1"/>
          <p:nvPr/>
        </p:nvSpPr>
        <p:spPr>
          <a:xfrm>
            <a:off x="4919349" y="1775725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39" name="Google Shape;1739;p68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0" name="Google Shape;1740;p68"/>
          <p:cNvSpPr txBox="1"/>
          <p:nvPr/>
        </p:nvSpPr>
        <p:spPr>
          <a:xfrm>
            <a:off x="5927800" y="2340900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1741" name="Google Shape;1741;p6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742" name="Google Shape;1742;p68"/>
          <p:cNvSpPr txBox="1"/>
          <p:nvPr/>
        </p:nvSpPr>
        <p:spPr>
          <a:xfrm>
            <a:off x="618000" y="4493675"/>
            <a:ext cx="821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x+1) = a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(x,y) = 0 para y ≠ x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3" name="Google Shape;1743;p68"/>
          <p:cNvSpPr txBox="1"/>
          <p:nvPr/>
        </p:nvSpPr>
        <p:spPr>
          <a:xfrm>
            <a:off x="6813250" y="1882675"/>
            <a:ext cx="228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</a:t>
            </a:r>
            <a:r>
              <a:rPr lang="en" sz="1800">
                <a:solidFill>
                  <a:schemeClr val="dk2"/>
                </a:solidFill>
              </a:rPr>
              <a:t>= {0, 1,…,100}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= {50, 70,120}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4" name="Google Shape;1744;p68"/>
          <p:cNvSpPr txBox="1"/>
          <p:nvPr/>
        </p:nvSpPr>
        <p:spPr>
          <a:xfrm>
            <a:off x="3288250" y="4592650"/>
            <a:ext cx="64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⇒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5" name="Google Shape;1745;p68"/>
          <p:cNvSpPr txBox="1"/>
          <p:nvPr/>
        </p:nvSpPr>
        <p:spPr>
          <a:xfrm>
            <a:off x="3840075" y="4593394"/>
            <a:ext cx="363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(x) =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x+1)r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r>
              <a:rPr lang="en" sz="1800">
                <a:solidFill>
                  <a:schemeClr val="dk2"/>
                </a:solidFill>
              </a:rPr>
              <a:t>(x, x+1) = a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69"/>
          <p:cNvSpPr/>
          <p:nvPr/>
        </p:nvSpPr>
        <p:spPr>
          <a:xfrm rot="597912">
            <a:off x="9817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1" name="Google Shape;1751;p69"/>
          <p:cNvSpPr/>
          <p:nvPr/>
        </p:nvSpPr>
        <p:spPr>
          <a:xfrm>
            <a:off x="9614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752" name="Google Shape;1752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3" name="Google Shape;1753;p69"/>
          <p:cNvGrpSpPr/>
          <p:nvPr/>
        </p:nvGrpSpPr>
        <p:grpSpPr>
          <a:xfrm>
            <a:off x="787225" y="1998750"/>
            <a:ext cx="404400" cy="461700"/>
            <a:chOff x="787225" y="1981200"/>
            <a:chExt cx="404400" cy="461700"/>
          </a:xfrm>
        </p:grpSpPr>
        <p:sp>
          <p:nvSpPr>
            <p:cNvPr id="1754" name="Google Shape;1754;p69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69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</a:t>
              </a:r>
              <a:endParaRPr/>
            </a:p>
          </p:txBody>
        </p:sp>
      </p:grpSp>
      <p:sp>
        <p:nvSpPr>
          <p:cNvPr id="1756" name="Google Shape;1756;p69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57" name="Google Shape;1757;p69"/>
          <p:cNvCxnSpPr>
            <a:stCxn id="1754" idx="6"/>
            <a:endCxn id="1758" idx="2"/>
          </p:cNvCxnSpPr>
          <p:nvPr/>
        </p:nvCxnSpPr>
        <p:spPr>
          <a:xfrm>
            <a:off x="11916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9" name="Google Shape;1759;p69"/>
          <p:cNvCxnSpPr/>
          <p:nvPr/>
        </p:nvCxnSpPr>
        <p:spPr>
          <a:xfrm rot="10800000">
            <a:off x="9860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0" name="Google Shape;1760;p69"/>
          <p:cNvSpPr/>
          <p:nvPr/>
        </p:nvSpPr>
        <p:spPr>
          <a:xfrm rot="597912">
            <a:off x="22009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69"/>
          <p:cNvSpPr/>
          <p:nvPr/>
        </p:nvSpPr>
        <p:spPr>
          <a:xfrm>
            <a:off x="21806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62" name="Google Shape;1762;p69"/>
          <p:cNvGrpSpPr/>
          <p:nvPr/>
        </p:nvGrpSpPr>
        <p:grpSpPr>
          <a:xfrm>
            <a:off x="2006425" y="1998750"/>
            <a:ext cx="404400" cy="461700"/>
            <a:chOff x="787225" y="1981200"/>
            <a:chExt cx="404400" cy="461700"/>
          </a:xfrm>
        </p:grpSpPr>
        <p:sp>
          <p:nvSpPr>
            <p:cNvPr id="1763" name="Google Shape;1763;p69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69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</a:t>
              </a:r>
              <a:endParaRPr/>
            </a:p>
          </p:txBody>
        </p:sp>
      </p:grpSp>
      <p:sp>
        <p:nvSpPr>
          <p:cNvPr id="1765" name="Google Shape;1765;p69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66" name="Google Shape;1766;p69"/>
          <p:cNvCxnSpPr>
            <a:stCxn id="1763" idx="6"/>
          </p:cNvCxnSpPr>
          <p:nvPr/>
        </p:nvCxnSpPr>
        <p:spPr>
          <a:xfrm>
            <a:off x="24108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7" name="Google Shape;1767;p69"/>
          <p:cNvCxnSpPr/>
          <p:nvPr/>
        </p:nvCxnSpPr>
        <p:spPr>
          <a:xfrm rot="10800000">
            <a:off x="22052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68" name="Google Shape;1768;p69"/>
          <p:cNvSpPr/>
          <p:nvPr/>
        </p:nvSpPr>
        <p:spPr>
          <a:xfrm>
            <a:off x="34838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9" name="Google Shape;1769;p69"/>
          <p:cNvSpPr/>
          <p:nvPr/>
        </p:nvSpPr>
        <p:spPr>
          <a:xfrm>
            <a:off x="37886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69"/>
          <p:cNvSpPr/>
          <p:nvPr/>
        </p:nvSpPr>
        <p:spPr>
          <a:xfrm>
            <a:off x="40934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1" name="Google Shape;1771;p69"/>
          <p:cNvCxnSpPr/>
          <p:nvPr/>
        </p:nvCxnSpPr>
        <p:spPr>
          <a:xfrm>
            <a:off x="4489625" y="2233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2" name="Google Shape;1772;p69"/>
          <p:cNvSpPr/>
          <p:nvPr/>
        </p:nvSpPr>
        <p:spPr>
          <a:xfrm rot="597912">
            <a:off x="5465291" y="1951703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73" name="Google Shape;1773;p69"/>
          <p:cNvGrpSpPr/>
          <p:nvPr/>
        </p:nvGrpSpPr>
        <p:grpSpPr>
          <a:xfrm>
            <a:off x="5170580" y="1992475"/>
            <a:ext cx="643800" cy="461700"/>
            <a:chOff x="687034" y="1981196"/>
            <a:chExt cx="643800" cy="461700"/>
          </a:xfrm>
        </p:grpSpPr>
        <p:sp>
          <p:nvSpPr>
            <p:cNvPr id="1774" name="Google Shape;1774;p69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69"/>
            <p:cNvSpPr txBox="1"/>
            <p:nvPr/>
          </p:nvSpPr>
          <p:spPr>
            <a:xfrm>
              <a:off x="687034" y="1981196"/>
              <a:ext cx="64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100</a:t>
              </a:r>
              <a:endParaRPr/>
            </a:p>
          </p:txBody>
        </p:sp>
      </p:grpSp>
      <p:cxnSp>
        <p:nvCxnSpPr>
          <p:cNvPr id="1776" name="Google Shape;1776;p69"/>
          <p:cNvCxnSpPr/>
          <p:nvPr/>
        </p:nvCxnSpPr>
        <p:spPr>
          <a:xfrm rot="10800000">
            <a:off x="5469558" y="2425639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7" name="Google Shape;1777;p69"/>
          <p:cNvSpPr txBox="1"/>
          <p:nvPr/>
        </p:nvSpPr>
        <p:spPr>
          <a:xfrm>
            <a:off x="11354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78" name="Google Shape;1778;p69"/>
          <p:cNvSpPr txBox="1"/>
          <p:nvPr/>
        </p:nvSpPr>
        <p:spPr>
          <a:xfrm>
            <a:off x="24308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79" name="Google Shape;1779;p69"/>
          <p:cNvSpPr txBox="1"/>
          <p:nvPr/>
        </p:nvSpPr>
        <p:spPr>
          <a:xfrm>
            <a:off x="1566548" y="1775725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 baseline="-25000"/>
          </a:p>
        </p:txBody>
      </p:sp>
      <p:sp>
        <p:nvSpPr>
          <p:cNvPr id="1780" name="Google Shape;1780;p69"/>
          <p:cNvSpPr txBox="1"/>
          <p:nvPr/>
        </p:nvSpPr>
        <p:spPr>
          <a:xfrm>
            <a:off x="1322375" y="2461300"/>
            <a:ext cx="7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81" name="Google Shape;1781;p69"/>
          <p:cNvSpPr txBox="1"/>
          <p:nvPr/>
        </p:nvSpPr>
        <p:spPr>
          <a:xfrm>
            <a:off x="2762806" y="1784600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82" name="Google Shape;1782;p69"/>
          <p:cNvSpPr txBox="1"/>
          <p:nvPr/>
        </p:nvSpPr>
        <p:spPr>
          <a:xfrm>
            <a:off x="2518610" y="2470173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83" name="Google Shape;1783;p69"/>
          <p:cNvSpPr txBox="1"/>
          <p:nvPr/>
        </p:nvSpPr>
        <p:spPr>
          <a:xfrm>
            <a:off x="4919349" y="1775725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1784" name="Google Shape;1784;p69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85" name="Google Shape;1785;p69"/>
          <p:cNvSpPr txBox="1"/>
          <p:nvPr/>
        </p:nvSpPr>
        <p:spPr>
          <a:xfrm>
            <a:off x="5927800" y="2340900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1786" name="Google Shape;1786;p6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787" name="Google Shape;1787;p69"/>
          <p:cNvSpPr txBox="1"/>
          <p:nvPr/>
        </p:nvSpPr>
        <p:spPr>
          <a:xfrm>
            <a:off x="6813250" y="1882675"/>
            <a:ext cx="228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</a:t>
            </a:r>
            <a:r>
              <a:rPr lang="en" sz="1800">
                <a:solidFill>
                  <a:schemeClr val="dk2"/>
                </a:solidFill>
              </a:rPr>
              <a:t>= {0, 1,…,100}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= {50, 70,120}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1788" name="Google Shape;1788;p69"/>
          <p:cNvGraphicFramePr/>
          <p:nvPr/>
        </p:nvGraphicFramePr>
        <p:xfrm>
          <a:off x="1749250" y="3071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{5AF5268B-74A8-4DEB-B074-E46F9DFDBE95}</a:tableStyleId>
              </a:tblPr>
              <a:tblGrid>
                <a:gridCol w="839050"/>
                <a:gridCol w="3001425"/>
                <a:gridCol w="1587100"/>
              </a:tblGrid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P</a:t>
                      </a:r>
                      <a:r>
                        <a:rPr baseline="-25000" lang="en" sz="1800">
                          <a:solidFill>
                            <a:schemeClr val="dk2"/>
                          </a:solidFill>
                        </a:rPr>
                        <a:t>a</a:t>
                      </a:r>
                      <a:r>
                        <a:rPr lang="en" sz="1800">
                          <a:solidFill>
                            <a:schemeClr val="dk2"/>
                          </a:solidFill>
                        </a:rPr>
                        <a:t>(x, x+1) = Prob</a:t>
                      </a:r>
                      <a:r>
                        <a:rPr lang="en" sz="1800">
                          <a:solidFill>
                            <a:schemeClr val="dk2"/>
                          </a:solidFill>
                        </a:rPr>
                        <a:t>(a≤m) = p</a:t>
                      </a:r>
                      <a:r>
                        <a:rPr baseline="-25000" lang="en" sz="1800">
                          <a:solidFill>
                            <a:schemeClr val="dk2"/>
                          </a:solidFill>
                        </a:rPr>
                        <a:t>a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r</a:t>
                      </a:r>
                      <a:r>
                        <a:rPr baseline="-25000" lang="en" sz="1800">
                          <a:solidFill>
                            <a:schemeClr val="dk2"/>
                          </a:solidFill>
                        </a:rPr>
                        <a:t>a</a:t>
                      </a:r>
                      <a:r>
                        <a:rPr lang="en" sz="1800">
                          <a:solidFill>
                            <a:schemeClr val="dk2"/>
                          </a:solidFill>
                        </a:rPr>
                        <a:t>(x) = </a:t>
                      </a:r>
                      <a:r>
                        <a:rPr lang="en" sz="1800">
                          <a:solidFill>
                            <a:schemeClr val="dk2"/>
                          </a:solidFill>
                        </a:rPr>
                        <a:t>a p</a:t>
                      </a:r>
                      <a:r>
                        <a:rPr baseline="-25000" lang="en" sz="1800">
                          <a:solidFill>
                            <a:schemeClr val="dk2"/>
                          </a:solidFill>
                        </a:rPr>
                        <a:t>a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50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100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0.5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50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150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0.17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25.5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2" name="Shape 1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793" name="Google Shape;1793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4" name="Google Shape;1794;p7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Políticas de Decisión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795" name="Google Shape;1795;p70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Volviendo al caso general de un MDP, queremos encontrar acciones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que maximicen un criterio de optimalidad. Consideremos la recompensa total esperada: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Qué información podemos utilizar para elegir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? 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 \max\limits_{a_t} ~{\rm E}\left[\sum_{t=0}^Tr_{a_t}(x_t)\right]&#10;%665bb49e-19b5-4152-9273-f6bd9835504a" id="1796" name="Google Shape;1796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9127" y="1723250"/>
            <a:ext cx="3259825" cy="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01" name="Google Shape;1801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02" name="Google Shape;1802;p7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Políticas de Decisión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03" name="Google Shape;1803;p71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Volviendo al caso general de un MDP, queremos encontrar acciones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que </a:t>
            </a:r>
            <a:r>
              <a:rPr lang="en" sz="1800">
                <a:solidFill>
                  <a:schemeClr val="dk2"/>
                </a:solidFill>
              </a:rPr>
              <a:t>maximicen un criterio de optimalidad. Consideremos la recompensa total esperada:</a:t>
            </a:r>
            <a:r>
              <a:rPr lang="en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Qué información podemos utilizar para elegir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?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el periodo t, conocemos toda la historia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,...,x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. Entonces podríamos considerar una política que utilice toda la información que tenemos hasta ese momento: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u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,...,x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 \max\limits_{a_t} ~{\rm E}\left[\sum_{t=0}^Tr_{a_t}(x_t)\right]&#10;%665bb49e-19b5-4152-9273-f6bd9835504a" id="1804" name="Google Shape;180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9127" y="1723250"/>
            <a:ext cx="3259825" cy="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09" name="Google Shape;1809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0" name="Google Shape;1810;p7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Políticas de Decisión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11" name="Google Shape;1811;p72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Volviendo al caso general de un MDP, queremos encontrar acciones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que maximicen un criterio de optimalidad. Consideremos la recompensa total esperada: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Qué información podemos utilizar para elegir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?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el periodo t, conocemos toda la historia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,...,x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. Entonces podríamos considerar una política que utilice toda la información que tenemos hasta ese momento: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u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,...,x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Otra opción es tomar decisiones que ignoren la historia del proceso: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u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 \max\limits_{a_t} ~{\rm E}\left[\sum_{t=0}^Tr_{a_t}(x_t)\right]&#10;%665bb49e-19b5-4152-9273-f6bd9835504a" id="1812" name="Google Shape;1812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9127" y="1723250"/>
            <a:ext cx="3259825" cy="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17" name="Google Shape;181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8" name="Google Shape;1818;p7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Políticas de Decisión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19" name="Google Shape;1819;p73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Volviendo al caso general de un MDP, queremos encontrar acciones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que maximicen un criterio de optimalidad. Consideremos la recompensa total esperada: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Qué información podemos utilizar para elegir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? 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En el periodo t, conocemos toda la historia 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,...,x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. Entonces podríamos considerar una política que utilice toda la información que tenemos hasta ese momento: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u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(x</a:t>
            </a:r>
            <a:r>
              <a:rPr baseline="-25000" lang="en" sz="1800">
                <a:solidFill>
                  <a:schemeClr val="dk2"/>
                </a:solidFill>
              </a:rPr>
              <a:t>0</a:t>
            </a:r>
            <a:r>
              <a:rPr lang="en" sz="1800">
                <a:solidFill>
                  <a:schemeClr val="dk2"/>
                </a:solidFill>
              </a:rPr>
              <a:t>,x</a:t>
            </a:r>
            <a:r>
              <a:rPr baseline="-25000" lang="en" sz="1800">
                <a:solidFill>
                  <a:schemeClr val="dk2"/>
                </a:solidFill>
              </a:rPr>
              <a:t>1</a:t>
            </a:r>
            <a:r>
              <a:rPr lang="en" sz="1800">
                <a:solidFill>
                  <a:schemeClr val="dk2"/>
                </a:solidFill>
              </a:rPr>
              <a:t>,...,x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).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Otra opción es tomar decisiones que ignoren la historia del proceso: a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 = u</a:t>
            </a:r>
            <a:r>
              <a:rPr baseline="-25000" lang="en" sz="1800">
                <a:solidFill>
                  <a:schemeClr val="dk2"/>
                </a:solidFill>
              </a:rPr>
              <a:t>t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Resulta que, para obtener optimalidad, es suficiente que la decisión dependa del estado actual: </a:t>
            </a:r>
            <a:r>
              <a:rPr b="1" lang="en" sz="1800">
                <a:solidFill>
                  <a:schemeClr val="dk2"/>
                </a:solidFill>
              </a:rPr>
              <a:t>a</a:t>
            </a:r>
            <a:r>
              <a:rPr b="1" baseline="-25000" lang="en" sz="1800">
                <a:solidFill>
                  <a:schemeClr val="dk2"/>
                </a:solidFill>
              </a:rPr>
              <a:t>t</a:t>
            </a:r>
            <a:r>
              <a:rPr b="1" lang="en" sz="1800">
                <a:solidFill>
                  <a:schemeClr val="dk2"/>
                </a:solidFill>
              </a:rPr>
              <a:t> = u</a:t>
            </a:r>
            <a:r>
              <a:rPr b="1" baseline="-25000" lang="en" sz="1800">
                <a:solidFill>
                  <a:schemeClr val="dk2"/>
                </a:solidFill>
              </a:rPr>
              <a:t>t</a:t>
            </a:r>
            <a:r>
              <a:rPr b="1" lang="en" sz="1800">
                <a:solidFill>
                  <a:schemeClr val="dk2"/>
                </a:solidFill>
              </a:rPr>
              <a:t>(x</a:t>
            </a:r>
            <a:r>
              <a:rPr b="1" baseline="-25000" lang="en" sz="1800">
                <a:solidFill>
                  <a:schemeClr val="dk2"/>
                </a:solidFill>
              </a:rPr>
              <a:t>t</a:t>
            </a:r>
            <a:r>
              <a:rPr b="1" lang="en" sz="1800">
                <a:solidFill>
                  <a:schemeClr val="dk2"/>
                </a:solidFill>
              </a:rPr>
              <a:t>)</a:t>
            </a:r>
            <a:r>
              <a:rPr lang="en" sz="1800">
                <a:solidFill>
                  <a:schemeClr val="dk2"/>
                </a:solidFill>
              </a:rPr>
              <a:t>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 \max\limits_{a_t} ~{\rm E}\left[\sum_{t=0}^Tr_{a_t}(x_t)\right]&#10;%665bb49e-19b5-4152-9273-f6bd9835504a" id="1820" name="Google Shape;1820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9127" y="1723250"/>
            <a:ext cx="3259825" cy="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4" name="Shape 1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25" name="Google Shape;1825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6" name="Google Shape;1826;p7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Política Óptima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27" name="Google Shape;1827;p74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                         es una regla indicando, para cada periodo t y estado x, una acción 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Existe una política óptima      que maximiza la suma de recompensas esperada.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Nuestro problema se vuelve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u_t: S \mapsto A&#10;%1bfe6700-3e92-4828-b11e-7490cf4731d2" id="1828" name="Google Shape;182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972" y="1167274"/>
            <a:ext cx="1560650" cy="30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t^*&#10;%e9dd4df1-fc30-4b77-86fc-2c5922c64dbd" id="1829" name="Google Shape;1829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5808" y="1707332"/>
            <a:ext cx="324429" cy="30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u {\rm E}\left[\sum_{t=0}^T r_{u_t(x_t)}(x_t)\right]&#10;%0c3102cc-46ad-4441-ae20-ecd51b62ccb8" id="1830" name="Google Shape;1830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1825" y="2630625"/>
            <a:ext cx="2399100" cy="44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35" name="Google Shape;1835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6" name="Google Shape;1836;p7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Política Óptima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37" name="Google Shape;1837;p75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                         es una regla indicando, para cada periodo t y estado x, una acción 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Existe una política óptima      que maximiza la suma de recompensas esperada.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Nuestro problema se vuelve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El número de políticas u en T periodos es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u_t: S \mapsto A&#10;%1bfe6700-3e92-4828-b11e-7490cf4731d2" id="1838" name="Google Shape;1838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972" y="1167274"/>
            <a:ext cx="1560650" cy="30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t^*&#10;%e9dd4df1-fc30-4b77-86fc-2c5922c64dbd" id="1839" name="Google Shape;1839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5808" y="1707332"/>
            <a:ext cx="324429" cy="30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u {\rm E}\left[\sum_{t=0}^T r_{u_t(x_t)}(x_t)\right]&#10;%0c3102cc-46ad-4441-ae20-ecd51b62ccb8" id="1840" name="Google Shape;1840;p7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1825" y="2630625"/>
            <a:ext cx="2399100" cy="44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|S|\times|A|)^T&#10;%592c2ee0-d6b4-46d4-8e18-2f317d4f0997" id="1841" name="Google Shape;1841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3339712"/>
            <a:ext cx="1362600" cy="30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46" name="Google Shape;184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7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Política Óptima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48" name="Google Shape;1848;p76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                         es una regla indicando, para cada periodo t y estado x, una acción 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Existe una política óptima      que maximiza la suma de recompensas esperada.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Nuestro problema se vuelve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- El número de políticas u en T periodos es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- Pero podemos resolver el problema con más eficiencia…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u_t: S \mapsto A&#10;%1bfe6700-3e92-4828-b11e-7490cf4731d2" id="1849" name="Google Shape;184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972" y="1167274"/>
            <a:ext cx="1560650" cy="30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t^*&#10;%e9dd4df1-fc30-4b77-86fc-2c5922c64dbd" id="1850" name="Google Shape;1850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35808" y="1707332"/>
            <a:ext cx="324429" cy="30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max\limits_u {\rm E}\left[\sum_{t=0}^T r_{u_t(x_t)}(x_t)\right]&#10;%0c3102cc-46ad-4441-ae20-ecd51b62ccb8" id="1851" name="Google Shape;1851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1825" y="2630625"/>
            <a:ext cx="2399100" cy="440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(|S|\times|A|)^T&#10;%592c2ee0-d6b4-46d4-8e18-2f317d4f0997" id="1852" name="Google Shape;1852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2000" y="3339712"/>
            <a:ext cx="1362600" cy="30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57" name="Google Shape;185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58" name="Google Shape;1858;p7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Principio de Optimalidad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59" name="Google Shape;1859;p77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60" name="Google Shape;1860;p77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 solución del problema de decisión está basada el principio de optimalidad. Se puede </a:t>
            </a:r>
            <a:r>
              <a:rPr lang="en" sz="1800">
                <a:solidFill>
                  <a:schemeClr val="dk2"/>
                </a:solidFill>
              </a:rPr>
              <a:t>demostrar</a:t>
            </a:r>
            <a:r>
              <a:rPr lang="en" sz="1800">
                <a:solidFill>
                  <a:schemeClr val="dk2"/>
                </a:solidFill>
              </a:rPr>
              <a:t> que, si tenemos una política óptima                                        , entonces también hay una política óptima                                  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begin{equation}&#10;\{u_\tau^*, ~\tau = t+1,...T\}\end{equation}&#10;%cfa2c998-c7b9-493b-b856-1256c29fc7d3" id="1861" name="Google Shape;1861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5200" y="1426600"/>
            <a:ext cx="2551200" cy="29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\{u_\tau^*, ~\tau = t,...T\}\end{equation}&#10;%93e0e0cb-3c5f-4156-8225-2fca578c1fbd" id="1862" name="Google Shape;1862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1859" y="1723249"/>
            <a:ext cx="2076550" cy="2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67" name="Google Shape;1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8" name="Google Shape;1868;p7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Principio de Optimalidad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69" name="Google Shape;1869;p78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70" name="Google Shape;1870;p78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 solución del problema de decisión está basada el principio de optimalidad. Se puede demostrar que, si tenemos una política óptima                                        , entonces también hay una política óptima                                  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La solución del problema empezando en el periodo t+1 es óptima también para el problema empezando en el periodo t, entonces se puede resolver por recursión, empezando por t = T y retrocediendo hasta t = 0.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begin{equation}&#10;\{u_\tau^*, ~\tau = t+1,...T\}\end{equation}&#10;%cfa2c998-c7b9-493b-b856-1256c29fc7d3" id="1871" name="Google Shape;1871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5200" y="1426600"/>
            <a:ext cx="2551200" cy="296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\{u_\tau^*, ~\tau = t,...T\}\end{equation}&#10;%93e0e0cb-3c5f-4156-8225-2fca578c1fbd" id="1872" name="Google Shape;1872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1859" y="1723249"/>
            <a:ext cx="2076550" cy="29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6" name="Shape 1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77" name="Google Shape;1877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78" name="Google Shape;1878;p7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- MDPs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79" name="Google Shape;1879;p79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problema en t = T es más sencillo. Elegimos                             . El valor de estar en un estado x en t = T es                                           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begin{equation}&#10;V_T^*(x) = \max_{a \in A} r_a(x)&#10;\end{equation}&#10;%d557848b-9cfb-4151-ae5c-7860256a1785" id="1880" name="Google Shape;188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8524" y="1445838"/>
            <a:ext cx="2655745" cy="2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arg \max_{a \in A}r_a(x)&#10;%17dae641-3c33-472c-bdda-6c4ded084d9c" id="1881" name="Google Shape;1881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6600" y="1204100"/>
            <a:ext cx="1751400" cy="255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886" name="Google Shape;188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7" name="Google Shape;1887;p8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- MDPs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88" name="Google Shape;1888;p80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El problema en t = T es más sencillo. Elegimos                             . El valor de estar en un estado x en t = T es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                                           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Suponiendo que conocemos el valor de estar en cada estado x en el periodo t+1:            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podemos encontrar en valor y la política óptima en el periodo t.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begin{equation}&#10;V_T^*(x) = \max_{a \in A} r_a(x)&#10;\end{equation}&#10;%d557848b-9cfb-4151-ae5c-7860256a1785" id="1889" name="Google Shape;1889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8524" y="1445838"/>
            <a:ext cx="2655745" cy="2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arg \max_{a \in A}r_a(x)&#10;%17dae641-3c33-472c-bdda-6c4ded084d9c" id="1890" name="Google Shape;189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6600" y="1204100"/>
            <a:ext cx="1751400" cy="2550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{t+1}^*(x) = \max\limits_u{\rm E}\left[\sum_{\tau = t+1}^T r_u(x_\tau)| x_{t+1} = x\right]&#10;%07faf393-0128-44aa-9265-8a4562ec81e6" id="1891" name="Google Shape;1891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9050" y="2263945"/>
            <a:ext cx="5408012" cy="5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81"/>
          <p:cNvSpPr/>
          <p:nvPr/>
        </p:nvSpPr>
        <p:spPr>
          <a:xfrm>
            <a:off x="2307261" y="2042580"/>
            <a:ext cx="704700" cy="460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897" name="Google Shape;189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8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- MDPs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899" name="Google Shape;1899;p81"/>
          <p:cNvSpPr txBox="1"/>
          <p:nvPr/>
        </p:nvSpPr>
        <p:spPr>
          <a:xfrm>
            <a:off x="2531477" y="1697948"/>
            <a:ext cx="866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00" name="Google Shape;1900;p81"/>
          <p:cNvSpPr/>
          <p:nvPr/>
        </p:nvSpPr>
        <p:spPr>
          <a:xfrm>
            <a:off x="4742354" y="1337721"/>
            <a:ext cx="704700" cy="460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81"/>
          <p:cNvSpPr txBox="1"/>
          <p:nvPr/>
        </p:nvSpPr>
        <p:spPr>
          <a:xfrm>
            <a:off x="4532822" y="1351939"/>
            <a:ext cx="1317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902" name="Google Shape;1902;p81"/>
          <p:cNvGrpSpPr/>
          <p:nvPr/>
        </p:nvGrpSpPr>
        <p:grpSpPr>
          <a:xfrm>
            <a:off x="4520925" y="1993829"/>
            <a:ext cx="1317490" cy="460624"/>
            <a:chOff x="687569" y="2076153"/>
            <a:chExt cx="1452900" cy="561600"/>
          </a:xfrm>
        </p:grpSpPr>
        <p:sp>
          <p:nvSpPr>
            <p:cNvPr id="1903" name="Google Shape;1903;p8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81"/>
            <p:cNvSpPr txBox="1"/>
            <p:nvPr/>
          </p:nvSpPr>
          <p:spPr>
            <a:xfrm>
              <a:off x="687569" y="2119665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y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05" name="Google Shape;1905;p81"/>
          <p:cNvSpPr txBox="1"/>
          <p:nvPr/>
        </p:nvSpPr>
        <p:spPr>
          <a:xfrm>
            <a:off x="4877504" y="999683"/>
            <a:ext cx="866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t+1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906" name="Google Shape;1906;p81"/>
          <p:cNvGrpSpPr/>
          <p:nvPr/>
        </p:nvGrpSpPr>
        <p:grpSpPr>
          <a:xfrm>
            <a:off x="4533796" y="2641645"/>
            <a:ext cx="1317490" cy="460624"/>
            <a:chOff x="701763" y="2076153"/>
            <a:chExt cx="1452900" cy="561600"/>
          </a:xfrm>
        </p:grpSpPr>
        <p:sp>
          <p:nvSpPr>
            <p:cNvPr id="1907" name="Google Shape;1907;p81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81"/>
            <p:cNvSpPr txBox="1"/>
            <p:nvPr/>
          </p:nvSpPr>
          <p:spPr>
            <a:xfrm>
              <a:off x="701763" y="2132524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z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09" name="Google Shape;1909;p81"/>
          <p:cNvSpPr txBox="1"/>
          <p:nvPr/>
        </p:nvSpPr>
        <p:spPr>
          <a:xfrm>
            <a:off x="2107599" y="2078383"/>
            <a:ext cx="1317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10" name="Google Shape;1910;p81"/>
          <p:cNvCxnSpPr/>
          <p:nvPr/>
        </p:nvCxnSpPr>
        <p:spPr>
          <a:xfrm>
            <a:off x="3073178" y="2252205"/>
            <a:ext cx="15882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1" name="Google Shape;1911;p81"/>
          <p:cNvCxnSpPr/>
          <p:nvPr/>
        </p:nvCxnSpPr>
        <p:spPr>
          <a:xfrm rot="271741">
            <a:off x="3004437" y="2442846"/>
            <a:ext cx="1740033" cy="39755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2" name="Google Shape;1912;p81"/>
          <p:cNvCxnSpPr/>
          <p:nvPr/>
        </p:nvCxnSpPr>
        <p:spPr>
          <a:xfrm flipH="1" rot="10528259">
            <a:off x="3004437" y="1692974"/>
            <a:ext cx="1740033" cy="39755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V_{t+1}^*(y)&#10;%5009c235-11f1-42b0-ad9a-1cb481837dd2" id="1913" name="Google Shape;191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024" y="2047956"/>
            <a:ext cx="759756" cy="2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{t+1}^*(z)&#10;%55ad1090-fc7b-4e38-a0c9-81159ece5629" id="1914" name="Google Shape;1914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3861" y="2707907"/>
            <a:ext cx="777000" cy="282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{t+1}^*(x)&#10;%6ee5d18f-12d6-4ca2-aed0-01e3385fce50" id="1915" name="Google Shape;1915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8109" y="1356025"/>
            <a:ext cx="777000" cy="276267"/>
          </a:xfrm>
          <a:prstGeom prst="rect">
            <a:avLst/>
          </a:prstGeom>
          <a:noFill/>
          <a:ln>
            <a:noFill/>
          </a:ln>
        </p:spPr>
      </p:pic>
      <p:sp>
        <p:nvSpPr>
          <p:cNvPr id="1916" name="Google Shape;1916;p81"/>
          <p:cNvSpPr txBox="1"/>
          <p:nvPr/>
        </p:nvSpPr>
        <p:spPr>
          <a:xfrm>
            <a:off x="311700" y="3334475"/>
            <a:ext cx="84024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1" name="Google Shape;1921;p82"/>
          <p:cNvSpPr/>
          <p:nvPr/>
        </p:nvSpPr>
        <p:spPr>
          <a:xfrm>
            <a:off x="2307261" y="2042580"/>
            <a:ext cx="704700" cy="460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922" name="Google Shape;192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82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- MDPs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924" name="Google Shape;1924;p82"/>
          <p:cNvSpPr txBox="1"/>
          <p:nvPr/>
        </p:nvSpPr>
        <p:spPr>
          <a:xfrm>
            <a:off x="2531477" y="1697948"/>
            <a:ext cx="866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5" name="Google Shape;1925;p82"/>
          <p:cNvSpPr/>
          <p:nvPr/>
        </p:nvSpPr>
        <p:spPr>
          <a:xfrm>
            <a:off x="4742354" y="1337721"/>
            <a:ext cx="704700" cy="460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82"/>
          <p:cNvSpPr txBox="1"/>
          <p:nvPr/>
        </p:nvSpPr>
        <p:spPr>
          <a:xfrm>
            <a:off x="4532822" y="1351939"/>
            <a:ext cx="1317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927" name="Google Shape;1927;p82"/>
          <p:cNvGrpSpPr/>
          <p:nvPr/>
        </p:nvGrpSpPr>
        <p:grpSpPr>
          <a:xfrm>
            <a:off x="4520925" y="1993829"/>
            <a:ext cx="1317490" cy="460624"/>
            <a:chOff x="687569" y="2076153"/>
            <a:chExt cx="1452900" cy="561600"/>
          </a:xfrm>
        </p:grpSpPr>
        <p:sp>
          <p:nvSpPr>
            <p:cNvPr id="1928" name="Google Shape;1928;p8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82"/>
            <p:cNvSpPr txBox="1"/>
            <p:nvPr/>
          </p:nvSpPr>
          <p:spPr>
            <a:xfrm>
              <a:off x="687569" y="2119665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y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30" name="Google Shape;1930;p82"/>
          <p:cNvSpPr txBox="1"/>
          <p:nvPr/>
        </p:nvSpPr>
        <p:spPr>
          <a:xfrm>
            <a:off x="4877504" y="999683"/>
            <a:ext cx="866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t+1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931" name="Google Shape;1931;p82"/>
          <p:cNvGrpSpPr/>
          <p:nvPr/>
        </p:nvGrpSpPr>
        <p:grpSpPr>
          <a:xfrm>
            <a:off x="4533796" y="2641645"/>
            <a:ext cx="1317490" cy="460624"/>
            <a:chOff x="701763" y="2076153"/>
            <a:chExt cx="1452900" cy="561600"/>
          </a:xfrm>
        </p:grpSpPr>
        <p:sp>
          <p:nvSpPr>
            <p:cNvPr id="1932" name="Google Shape;1932;p82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82"/>
            <p:cNvSpPr txBox="1"/>
            <p:nvPr/>
          </p:nvSpPr>
          <p:spPr>
            <a:xfrm>
              <a:off x="701763" y="2132524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z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34" name="Google Shape;1934;p82"/>
          <p:cNvSpPr txBox="1"/>
          <p:nvPr/>
        </p:nvSpPr>
        <p:spPr>
          <a:xfrm>
            <a:off x="2050343" y="2030669"/>
            <a:ext cx="1317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35" name="Google Shape;1935;p82"/>
          <p:cNvCxnSpPr/>
          <p:nvPr/>
        </p:nvCxnSpPr>
        <p:spPr>
          <a:xfrm>
            <a:off x="3073178" y="2252205"/>
            <a:ext cx="15882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6" name="Google Shape;1936;p82"/>
          <p:cNvCxnSpPr/>
          <p:nvPr/>
        </p:nvCxnSpPr>
        <p:spPr>
          <a:xfrm rot="271741">
            <a:off x="3004437" y="2442846"/>
            <a:ext cx="1740033" cy="39755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7" name="Google Shape;1937;p82"/>
          <p:cNvCxnSpPr/>
          <p:nvPr/>
        </p:nvCxnSpPr>
        <p:spPr>
          <a:xfrm flipH="1" rot="10528259">
            <a:off x="3004437" y="1692974"/>
            <a:ext cx="1740033" cy="39755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V_{t+1}^*(y)&#10;%5009c235-11f1-42b0-ad9a-1cb481837dd2" id="1938" name="Google Shape;1938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024" y="2047956"/>
            <a:ext cx="759756" cy="2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{t+1}^*(z)&#10;%55ad1090-fc7b-4e38-a0c9-81159ece5629" id="1939" name="Google Shape;1939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3861" y="2707907"/>
            <a:ext cx="777000" cy="282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{t+1}^*(x)&#10;%6ee5d18f-12d6-4ca2-aed0-01e3385fce50" id="1940" name="Google Shape;1940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8109" y="1356025"/>
            <a:ext cx="777000" cy="276267"/>
          </a:xfrm>
          <a:prstGeom prst="rect">
            <a:avLst/>
          </a:prstGeom>
          <a:noFill/>
          <a:ln>
            <a:noFill/>
          </a:ln>
        </p:spPr>
      </p:pic>
      <p:sp>
        <p:nvSpPr>
          <p:cNvPr id="1941" name="Google Shape;1941;p82"/>
          <p:cNvSpPr txBox="1"/>
          <p:nvPr/>
        </p:nvSpPr>
        <p:spPr>
          <a:xfrm>
            <a:off x="311700" y="3334475"/>
            <a:ext cx="84024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Para cada acción a, recibimos: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r_a(x) + \sum_y P_a(x,y)V_{t+1}^*(y)&#10;%2d8616b5-ed82-40af-a885-1e84c2dbbc99" id="1942" name="Google Shape;1942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3927" y="3702204"/>
            <a:ext cx="3061960" cy="3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6" name="Shape 1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" name="Google Shape;1947;p83"/>
          <p:cNvSpPr/>
          <p:nvPr/>
        </p:nvSpPr>
        <p:spPr>
          <a:xfrm>
            <a:off x="2307261" y="2042580"/>
            <a:ext cx="704700" cy="460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1948" name="Google Shape;1948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83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- MDPs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950" name="Google Shape;1950;p83"/>
          <p:cNvSpPr txBox="1"/>
          <p:nvPr/>
        </p:nvSpPr>
        <p:spPr>
          <a:xfrm>
            <a:off x="2531477" y="1697948"/>
            <a:ext cx="866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51" name="Google Shape;1951;p83"/>
          <p:cNvSpPr/>
          <p:nvPr/>
        </p:nvSpPr>
        <p:spPr>
          <a:xfrm>
            <a:off x="4742354" y="1337721"/>
            <a:ext cx="704700" cy="460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83"/>
          <p:cNvSpPr txBox="1"/>
          <p:nvPr/>
        </p:nvSpPr>
        <p:spPr>
          <a:xfrm>
            <a:off x="4532822" y="1351939"/>
            <a:ext cx="1317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953" name="Google Shape;1953;p83"/>
          <p:cNvGrpSpPr/>
          <p:nvPr/>
        </p:nvGrpSpPr>
        <p:grpSpPr>
          <a:xfrm>
            <a:off x="4520925" y="1993829"/>
            <a:ext cx="1317490" cy="460624"/>
            <a:chOff x="687569" y="2076153"/>
            <a:chExt cx="1452900" cy="561600"/>
          </a:xfrm>
        </p:grpSpPr>
        <p:sp>
          <p:nvSpPr>
            <p:cNvPr id="1954" name="Google Shape;1954;p8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83"/>
            <p:cNvSpPr txBox="1"/>
            <p:nvPr/>
          </p:nvSpPr>
          <p:spPr>
            <a:xfrm>
              <a:off x="687569" y="2119665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y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56" name="Google Shape;1956;p83"/>
          <p:cNvSpPr txBox="1"/>
          <p:nvPr/>
        </p:nvSpPr>
        <p:spPr>
          <a:xfrm>
            <a:off x="4877504" y="999683"/>
            <a:ext cx="8667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t+1</a:t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1957" name="Google Shape;1957;p83"/>
          <p:cNvGrpSpPr/>
          <p:nvPr/>
        </p:nvGrpSpPr>
        <p:grpSpPr>
          <a:xfrm>
            <a:off x="4533796" y="2641645"/>
            <a:ext cx="1317490" cy="460624"/>
            <a:chOff x="701763" y="2076153"/>
            <a:chExt cx="1452900" cy="561600"/>
          </a:xfrm>
        </p:grpSpPr>
        <p:sp>
          <p:nvSpPr>
            <p:cNvPr id="1958" name="Google Shape;1958;p83"/>
            <p:cNvSpPr/>
            <p:nvPr/>
          </p:nvSpPr>
          <p:spPr>
            <a:xfrm>
              <a:off x="918627" y="2076153"/>
              <a:ext cx="777000" cy="5616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83"/>
            <p:cNvSpPr txBox="1"/>
            <p:nvPr/>
          </p:nvSpPr>
          <p:spPr>
            <a:xfrm>
              <a:off x="701763" y="2132524"/>
              <a:ext cx="1452900" cy="38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z</a:t>
              </a:r>
              <a:endParaRPr sz="1800">
                <a:solidFill>
                  <a:schemeClr val="dk2"/>
                </a:solidFill>
              </a:endParaRPr>
            </a:p>
          </p:txBody>
        </p:sp>
      </p:grpSp>
      <p:sp>
        <p:nvSpPr>
          <p:cNvPr id="1960" name="Google Shape;1960;p83"/>
          <p:cNvSpPr txBox="1"/>
          <p:nvPr/>
        </p:nvSpPr>
        <p:spPr>
          <a:xfrm>
            <a:off x="2050343" y="2040212"/>
            <a:ext cx="13176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961" name="Google Shape;1961;p83"/>
          <p:cNvCxnSpPr/>
          <p:nvPr/>
        </p:nvCxnSpPr>
        <p:spPr>
          <a:xfrm>
            <a:off x="3073178" y="2252205"/>
            <a:ext cx="1588200" cy="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2" name="Google Shape;1962;p83"/>
          <p:cNvCxnSpPr/>
          <p:nvPr/>
        </p:nvCxnSpPr>
        <p:spPr>
          <a:xfrm rot="271741">
            <a:off x="3004437" y="2442846"/>
            <a:ext cx="1740033" cy="39755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63" name="Google Shape;1963;p83"/>
          <p:cNvCxnSpPr/>
          <p:nvPr/>
        </p:nvCxnSpPr>
        <p:spPr>
          <a:xfrm flipH="1" rot="10528259">
            <a:off x="3004437" y="1692974"/>
            <a:ext cx="1740033" cy="397559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V_{t+1}^*(y)&#10;%5009c235-11f1-42b0-ad9a-1cb481837dd2" id="1964" name="Google Shape;1964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9024" y="2047956"/>
            <a:ext cx="759756" cy="2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{t+1}^*(z)&#10;%55ad1090-fc7b-4e38-a0c9-81159ece5629" id="1965" name="Google Shape;1965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03861" y="2707907"/>
            <a:ext cx="777000" cy="282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{t+1}^*(x)&#10;%6ee5d18f-12d6-4ca2-aed0-01e3385fce50" id="1966" name="Google Shape;1966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8109" y="1356025"/>
            <a:ext cx="777000" cy="276267"/>
          </a:xfrm>
          <a:prstGeom prst="rect">
            <a:avLst/>
          </a:prstGeom>
          <a:noFill/>
          <a:ln>
            <a:noFill/>
          </a:ln>
        </p:spPr>
      </p:pic>
      <p:sp>
        <p:nvSpPr>
          <p:cNvPr id="1967" name="Google Shape;1967;p83"/>
          <p:cNvSpPr txBox="1"/>
          <p:nvPr/>
        </p:nvSpPr>
        <p:spPr>
          <a:xfrm>
            <a:off x="311700" y="3334475"/>
            <a:ext cx="84024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Para cada acción a, recibimos: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La mejor acción maximiza esa expresión. Tenemos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r_a(x) + \sum_y P_a(x,y)V_{t+1}^*(y)&#10;%2d8616b5-ed82-40af-a885-1e84c2dbbc99" id="1968" name="Google Shape;196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73927" y="3702204"/>
            <a:ext cx="3061960" cy="31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_t^*(x) = \max\limits_{a \in A}\left\{ r_a(x)+\sum_y P_a(x,y)V^*_{t+1}(y)\right\}&#10;%2fe42589-ccaa-49e2-ace2-735d079ac43c" id="1969" name="Google Shape;1969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58825" y="4675925"/>
            <a:ext cx="3329400" cy="349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_t^*(x) = \arg\max\limits_{a \in A}\left\{ r_a(x)+\sum_y P_a(x,y)V^*_{t+1}(y)\right\}&#10;%e3af6205-c1ca-41de-ab75-1fbd83b1b401" id="1970" name="Google Shape;1970;p8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96975" y="4214425"/>
            <a:ext cx="3230650" cy="31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4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975" name="Google Shape;197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76" name="Google Shape;1976;p84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- MDPs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977" name="Google Shape;1977;p84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Hacemos t = T. Calculamos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begin{equation}&#10;V_T^*(x) = \max_{a \in A} r_a(x)&#10;\end{equation}&#10;%d557848b-9cfb-4151-ae5c-7860256a1785" id="1978" name="Google Shape;1978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5099" y="1208686"/>
            <a:ext cx="2655745" cy="29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983" name="Google Shape;198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4" name="Google Shape;1984;p85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- MDPs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985" name="Google Shape;1985;p85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Hacemos t = T. Calculamos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	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Hacemos t = t-1. Calculamos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begin{equation}&#10;V_T^*(x) = \max_{a \in A} r_a(x)&#10;\end{equation}&#10;%d557848b-9cfb-4151-ae5c-7860256a1785" id="1986" name="Google Shape;1986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5099" y="1208686"/>
            <a:ext cx="2655745" cy="2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V_t^*(x) = \max_{a \in A} \left\{r_a(x)+\sum_y P_a(x,y )V_{t+1}^*(y)\right\}&#10;\end{equation}&#10;%a6fce759-6613-45a5-89f0-8e7ed61c0536" id="1987" name="Google Shape;1987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9901" y="1649588"/>
            <a:ext cx="4732464" cy="4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1992" name="Google Shape;199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3" name="Google Shape;1993;p86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Programación Dinámica - MDPs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994" name="Google Shape;1994;p86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Hacemos t = T. Calculamos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 	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Hacemos t = t-1. Calculamos</a:t>
            </a:r>
            <a:endParaRPr sz="1800">
              <a:solidFill>
                <a:schemeClr val="dk2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Si t = 0, fin. Si no, volvemos al paso 2.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Derivamos la política óptima a partir de la función valor             : 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	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\begin{equation}&#10;V_T^*(x) = \max_{a \in A} r_a(x)&#10;\end{equation}&#10;%d557848b-9cfb-4151-ae5c-7860256a1785" id="1995" name="Google Shape;199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35099" y="1208686"/>
            <a:ext cx="2655745" cy="2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V_t^*(x) = \max_{a \in A} \left\{r_a(x)+\sum_y P_a(x,y )V_{t+1}^*(y)\right\}&#10;\end{equation}&#10;%a6fce759-6613-45a5-89f0-8e7ed61c0536" id="1996" name="Google Shape;1996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9901" y="1649588"/>
            <a:ext cx="4732464" cy="42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V_t^*(x)&#10;\end{equation}&#10;%c35b0186-f3d9-40cb-9250-d785a1119cc4" id="1997" name="Google Shape;1997;p8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3749" y="2824724"/>
            <a:ext cx="717245" cy="290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\begin{equation}&#10;u_t^*(x) = \arg \max_{a \in A}\left\{ r_a(x)+\sum_yP_a(x,y)V^*_{t+1}(y)\right\}&#10;\end{equation}&#10;%326bac4b-1c06-4ac6-843b-cafe66f8f9d6" id="1998" name="Google Shape;1998;p8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35350" y="3313525"/>
            <a:ext cx="4732475" cy="402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87"/>
          <p:cNvSpPr/>
          <p:nvPr/>
        </p:nvSpPr>
        <p:spPr>
          <a:xfrm rot="597912">
            <a:off x="9817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87"/>
          <p:cNvSpPr/>
          <p:nvPr/>
        </p:nvSpPr>
        <p:spPr>
          <a:xfrm>
            <a:off x="9614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&#10;%b2ec40be-a735-4635-8f85-29b8913da8e5" id="2005" name="Google Shape;2005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6" name="Google Shape;2006;p87"/>
          <p:cNvGrpSpPr/>
          <p:nvPr/>
        </p:nvGrpSpPr>
        <p:grpSpPr>
          <a:xfrm>
            <a:off x="787225" y="1998750"/>
            <a:ext cx="404400" cy="461700"/>
            <a:chOff x="787225" y="1981200"/>
            <a:chExt cx="404400" cy="461700"/>
          </a:xfrm>
        </p:grpSpPr>
        <p:sp>
          <p:nvSpPr>
            <p:cNvPr id="2007" name="Google Shape;2007;p87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87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0</a:t>
              </a:r>
              <a:endParaRPr/>
            </a:p>
          </p:txBody>
        </p:sp>
      </p:grpSp>
      <p:sp>
        <p:nvSpPr>
          <p:cNvPr id="2009" name="Google Shape;2009;p87"/>
          <p:cNvSpPr/>
          <p:nvPr/>
        </p:nvSpPr>
        <p:spPr>
          <a:xfrm>
            <a:off x="12308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0" name="Google Shape;2010;p87"/>
          <p:cNvCxnSpPr>
            <a:stCxn id="2007" idx="6"/>
            <a:endCxn id="2011" idx="2"/>
          </p:cNvCxnSpPr>
          <p:nvPr/>
        </p:nvCxnSpPr>
        <p:spPr>
          <a:xfrm>
            <a:off x="11916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2" name="Google Shape;2012;p87"/>
          <p:cNvCxnSpPr/>
          <p:nvPr/>
        </p:nvCxnSpPr>
        <p:spPr>
          <a:xfrm rot="10800000">
            <a:off x="9860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3" name="Google Shape;2013;p87"/>
          <p:cNvSpPr/>
          <p:nvPr/>
        </p:nvSpPr>
        <p:spPr>
          <a:xfrm rot="597912">
            <a:off x="2200945" y="1957974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4" name="Google Shape;2014;p87"/>
          <p:cNvSpPr/>
          <p:nvPr/>
        </p:nvSpPr>
        <p:spPr>
          <a:xfrm>
            <a:off x="2180650" y="1575598"/>
            <a:ext cx="643800" cy="643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5" name="Google Shape;2015;p87"/>
          <p:cNvGrpSpPr/>
          <p:nvPr/>
        </p:nvGrpSpPr>
        <p:grpSpPr>
          <a:xfrm>
            <a:off x="2006425" y="1998750"/>
            <a:ext cx="404400" cy="461700"/>
            <a:chOff x="787225" y="1981200"/>
            <a:chExt cx="404400" cy="461700"/>
          </a:xfrm>
        </p:grpSpPr>
        <p:sp>
          <p:nvSpPr>
            <p:cNvPr id="2016" name="Google Shape;2016;p87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87"/>
            <p:cNvSpPr txBox="1"/>
            <p:nvPr/>
          </p:nvSpPr>
          <p:spPr>
            <a:xfrm>
              <a:off x="839425" y="1981200"/>
              <a:ext cx="300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</a:t>
              </a:r>
              <a:endParaRPr/>
            </a:p>
          </p:txBody>
        </p:sp>
      </p:grpSp>
      <p:sp>
        <p:nvSpPr>
          <p:cNvPr id="2018" name="Google Shape;2018;p87"/>
          <p:cNvSpPr/>
          <p:nvPr/>
        </p:nvSpPr>
        <p:spPr>
          <a:xfrm>
            <a:off x="2450050" y="1783225"/>
            <a:ext cx="9600" cy="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9" name="Google Shape;2019;p87"/>
          <p:cNvCxnSpPr>
            <a:stCxn id="2016" idx="6"/>
          </p:cNvCxnSpPr>
          <p:nvPr/>
        </p:nvCxnSpPr>
        <p:spPr>
          <a:xfrm>
            <a:off x="2410825" y="2229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0" name="Google Shape;2020;p87"/>
          <p:cNvCxnSpPr/>
          <p:nvPr/>
        </p:nvCxnSpPr>
        <p:spPr>
          <a:xfrm rot="10800000">
            <a:off x="2205212" y="2431910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1" name="Google Shape;2021;p87"/>
          <p:cNvSpPr/>
          <p:nvPr/>
        </p:nvSpPr>
        <p:spPr>
          <a:xfrm>
            <a:off x="34838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2" name="Google Shape;2022;p87"/>
          <p:cNvSpPr/>
          <p:nvPr/>
        </p:nvSpPr>
        <p:spPr>
          <a:xfrm>
            <a:off x="37886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87"/>
          <p:cNvSpPr/>
          <p:nvPr/>
        </p:nvSpPr>
        <p:spPr>
          <a:xfrm>
            <a:off x="4093400" y="2183354"/>
            <a:ext cx="78300" cy="1005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4" name="Google Shape;2024;p87"/>
          <p:cNvCxnSpPr/>
          <p:nvPr/>
        </p:nvCxnSpPr>
        <p:spPr>
          <a:xfrm>
            <a:off x="4489625" y="2233600"/>
            <a:ext cx="76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5" name="Google Shape;2025;p87"/>
          <p:cNvSpPr/>
          <p:nvPr/>
        </p:nvSpPr>
        <p:spPr>
          <a:xfrm rot="597912">
            <a:off x="5465291" y="1951703"/>
            <a:ext cx="488876" cy="846561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26" name="Google Shape;2026;p87"/>
          <p:cNvGrpSpPr/>
          <p:nvPr/>
        </p:nvGrpSpPr>
        <p:grpSpPr>
          <a:xfrm>
            <a:off x="5170580" y="1992475"/>
            <a:ext cx="643800" cy="461700"/>
            <a:chOff x="687034" y="1981196"/>
            <a:chExt cx="643800" cy="461700"/>
          </a:xfrm>
        </p:grpSpPr>
        <p:sp>
          <p:nvSpPr>
            <p:cNvPr id="2027" name="Google Shape;2027;p87"/>
            <p:cNvSpPr/>
            <p:nvPr/>
          </p:nvSpPr>
          <p:spPr>
            <a:xfrm>
              <a:off x="787225" y="2016300"/>
              <a:ext cx="404400" cy="3915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87"/>
            <p:cNvSpPr txBox="1"/>
            <p:nvPr/>
          </p:nvSpPr>
          <p:spPr>
            <a:xfrm>
              <a:off x="687034" y="1981196"/>
              <a:ext cx="643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100</a:t>
              </a:r>
              <a:endParaRPr/>
            </a:p>
          </p:txBody>
        </p:sp>
      </p:grpSp>
      <p:cxnSp>
        <p:nvCxnSpPr>
          <p:cNvPr id="2029" name="Google Shape;2029;p87"/>
          <p:cNvCxnSpPr/>
          <p:nvPr/>
        </p:nvCxnSpPr>
        <p:spPr>
          <a:xfrm rot="10800000">
            <a:off x="5469558" y="2425639"/>
            <a:ext cx="0" cy="10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0" name="Google Shape;2030;p87"/>
          <p:cNvSpPr txBox="1"/>
          <p:nvPr/>
        </p:nvSpPr>
        <p:spPr>
          <a:xfrm>
            <a:off x="11354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2031" name="Google Shape;2031;p87"/>
          <p:cNvSpPr txBox="1"/>
          <p:nvPr/>
        </p:nvSpPr>
        <p:spPr>
          <a:xfrm>
            <a:off x="2430850" y="1869025"/>
            <a:ext cx="347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2032" name="Google Shape;2032;p87"/>
          <p:cNvSpPr txBox="1"/>
          <p:nvPr/>
        </p:nvSpPr>
        <p:spPr>
          <a:xfrm>
            <a:off x="1566548" y="1775725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 baseline="-25000"/>
          </a:p>
        </p:txBody>
      </p:sp>
      <p:sp>
        <p:nvSpPr>
          <p:cNvPr id="2033" name="Google Shape;2033;p87"/>
          <p:cNvSpPr txBox="1"/>
          <p:nvPr/>
        </p:nvSpPr>
        <p:spPr>
          <a:xfrm>
            <a:off x="1322375" y="2461300"/>
            <a:ext cx="76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 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2034" name="Google Shape;2034;p87"/>
          <p:cNvSpPr txBox="1"/>
          <p:nvPr/>
        </p:nvSpPr>
        <p:spPr>
          <a:xfrm>
            <a:off x="2762806" y="1784600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2035" name="Google Shape;2035;p87"/>
          <p:cNvSpPr txBox="1"/>
          <p:nvPr/>
        </p:nvSpPr>
        <p:spPr>
          <a:xfrm>
            <a:off x="2518610" y="2470173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1-p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2036" name="Google Shape;2036;p87"/>
          <p:cNvSpPr txBox="1"/>
          <p:nvPr/>
        </p:nvSpPr>
        <p:spPr>
          <a:xfrm>
            <a:off x="4919349" y="1775725"/>
            <a:ext cx="50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baseline="-25000" lang="en" sz="1800">
                <a:solidFill>
                  <a:schemeClr val="dk2"/>
                </a:solidFill>
              </a:rPr>
              <a:t>a</a:t>
            </a:r>
            <a:endParaRPr/>
          </a:p>
        </p:txBody>
      </p:sp>
      <p:sp>
        <p:nvSpPr>
          <p:cNvPr id="2037" name="Google Shape;2037;p87"/>
          <p:cNvSpPr txBox="1"/>
          <p:nvPr/>
        </p:nvSpPr>
        <p:spPr>
          <a:xfrm>
            <a:off x="5927800" y="2340900"/>
            <a:ext cx="62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/>
          </a:p>
        </p:txBody>
      </p:sp>
      <p:sp>
        <p:nvSpPr>
          <p:cNvPr id="2038" name="Google Shape;2038;p87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Modelo MDP - (</a:t>
            </a:r>
            <a:r>
              <a:rPr b="1" i="1" lang="en" sz="2500">
                <a:solidFill>
                  <a:schemeClr val="dk2"/>
                </a:solidFill>
              </a:rPr>
              <a:t>S,A,P,r</a:t>
            </a:r>
            <a:r>
              <a:rPr lang="en" sz="2500"/>
              <a:t>)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039" name="Google Shape;2039;p87"/>
          <p:cNvSpPr txBox="1"/>
          <p:nvPr/>
        </p:nvSpPr>
        <p:spPr>
          <a:xfrm>
            <a:off x="6813250" y="1882675"/>
            <a:ext cx="2281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S </a:t>
            </a:r>
            <a:r>
              <a:rPr lang="en" sz="1800">
                <a:solidFill>
                  <a:schemeClr val="dk2"/>
                </a:solidFill>
              </a:rPr>
              <a:t>= {0, 1,…,100}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800">
                <a:solidFill>
                  <a:schemeClr val="dk2"/>
                </a:solidFill>
              </a:rPr>
              <a:t>A </a:t>
            </a:r>
            <a:r>
              <a:rPr lang="en" sz="1800">
                <a:solidFill>
                  <a:schemeClr val="dk2"/>
                </a:solidFill>
              </a:rPr>
              <a:t>= {50, 70,120}</a:t>
            </a:r>
            <a:endParaRPr b="1" i="1"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2040" name="Google Shape;2040;p87"/>
          <p:cNvGraphicFramePr/>
          <p:nvPr/>
        </p:nvGraphicFramePr>
        <p:xfrm>
          <a:off x="6320175" y="2973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{5AF5268B-74A8-4DEB-B074-E46F9DFDBE95}</a:tableStyleId>
              </a:tblPr>
              <a:tblGrid>
                <a:gridCol w="593400"/>
                <a:gridCol w="1253375"/>
                <a:gridCol w="757225"/>
              </a:tblGrid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a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P</a:t>
                      </a:r>
                      <a:r>
                        <a:rPr baseline="-25000" lang="en" sz="1800">
                          <a:solidFill>
                            <a:schemeClr val="dk2"/>
                          </a:solidFill>
                        </a:rPr>
                        <a:t>a</a:t>
                      </a:r>
                      <a:r>
                        <a:rPr lang="en" sz="1800">
                          <a:solidFill>
                            <a:schemeClr val="dk2"/>
                          </a:solidFill>
                        </a:rPr>
                        <a:t>(x, x+1) 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</a:rPr>
                        <a:t>r</a:t>
                      </a:r>
                      <a:r>
                        <a:rPr baseline="-25000" lang="en" sz="1800">
                          <a:solidFill>
                            <a:schemeClr val="dk2"/>
                          </a:solidFill>
                        </a:rPr>
                        <a:t>a</a:t>
                      </a:r>
                      <a:r>
                        <a:rPr lang="en" sz="1800">
                          <a:solidFill>
                            <a:schemeClr val="dk2"/>
                          </a:solidFill>
                        </a:rPr>
                        <a:t>(x) </a:t>
                      </a:r>
                      <a:endParaRPr sz="1800">
                        <a:solidFill>
                          <a:schemeClr val="dk2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50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70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1/2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35</a:t>
                      </a:r>
                      <a:endParaRPr sz="1800"/>
                    </a:p>
                  </a:txBody>
                  <a:tcPr marT="91425" marB="91425" marR="91425" marL="91425"/>
                </a:tc>
              </a:tr>
              <a:tr h="411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12</a:t>
                      </a:r>
                      <a:r>
                        <a:rPr lang="en" sz="1800"/>
                        <a:t>0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1/6</a:t>
                      </a:r>
                      <a:endParaRPr sz="1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20</a:t>
                      </a:r>
                      <a:endParaRPr sz="1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041" name="Google Shape;2041;p87"/>
          <p:cNvSpPr txBox="1"/>
          <p:nvPr/>
        </p:nvSpPr>
        <p:spPr>
          <a:xfrm>
            <a:off x="49500" y="813350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Un vuelo parte el 150 días y tiene capacidad para 100 pasajeros. Un posible pasajero llega por día y acepta pagar un precio máximo 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por el vuelo. Ese precio es distribuido con probabilidades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50) = ½,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70) = ⅓, Prob(</a:t>
            </a:r>
            <a:r>
              <a:rPr i="1" lang="en" sz="1800">
                <a:solidFill>
                  <a:schemeClr val="dk2"/>
                </a:solidFill>
              </a:rPr>
              <a:t>m</a:t>
            </a:r>
            <a:r>
              <a:rPr lang="en" sz="1800">
                <a:solidFill>
                  <a:schemeClr val="dk2"/>
                </a:solidFill>
              </a:rPr>
              <a:t> = 120) = ⅙.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Podemos </a:t>
            </a:r>
            <a:r>
              <a:rPr lang="en" sz="1800">
                <a:solidFill>
                  <a:schemeClr val="dk2"/>
                </a:solidFill>
              </a:rPr>
              <a:t>calcular la política que maximiza la ganancia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esperada usando Python.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046" name="Google Shape;204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7" name="Google Shape;2047;p88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Política Óptima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048" name="Google Shape;2048;p88"/>
          <p:cNvSpPr txBox="1"/>
          <p:nvPr/>
        </p:nvSpPr>
        <p:spPr>
          <a:xfrm>
            <a:off x="311700" y="3952875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Cuánto esperamos ganar manteniendo el precio fijo en $50? En $70? En $120?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49" name="Google Shape;2049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3625" y="972175"/>
            <a:ext cx="4590024" cy="341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3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%b2ec40be-a735-4635-8f85-29b8913da8e5" id="2054" name="Google Shape;205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5" name="Google Shape;2055;p89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Política Óptima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056" name="Google Shape;2056;p89"/>
          <p:cNvSpPr txBox="1"/>
          <p:nvPr/>
        </p:nvSpPr>
        <p:spPr>
          <a:xfrm>
            <a:off x="311700" y="3952875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Cuánto esperamos ganar manteniendo el precio fijo en $50? En $70? En $120?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57" name="Google Shape;2057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8375" y="915000"/>
            <a:ext cx="4644074" cy="34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Google Shape;206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5850" y="1014875"/>
            <a:ext cx="5639026" cy="39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2063" name="Google Shape;2063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90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Política Óptima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065" name="Google Shape;2065;p90"/>
          <p:cNvSpPr txBox="1"/>
          <p:nvPr/>
        </p:nvSpPr>
        <p:spPr>
          <a:xfrm>
            <a:off x="5479625" y="1860825"/>
            <a:ext cx="5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50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66" name="Google Shape;2066;p90"/>
          <p:cNvSpPr txBox="1"/>
          <p:nvPr/>
        </p:nvSpPr>
        <p:spPr>
          <a:xfrm>
            <a:off x="3286150" y="2340900"/>
            <a:ext cx="5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7</a:t>
            </a:r>
            <a:r>
              <a:rPr lang="en" sz="1800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67" name="Google Shape;2067;p90"/>
          <p:cNvSpPr txBox="1"/>
          <p:nvPr/>
        </p:nvSpPr>
        <p:spPr>
          <a:xfrm>
            <a:off x="2531975" y="3950100"/>
            <a:ext cx="7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12</a:t>
            </a:r>
            <a:r>
              <a:rPr lang="en" sz="1800">
                <a:solidFill>
                  <a:schemeClr val="lt1"/>
                </a:solidFill>
              </a:rPr>
              <a:t>0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2" name="Google Shape;2072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651" y="1529175"/>
            <a:ext cx="4909651" cy="34619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#10;%b2ec40be-a735-4635-8f85-29b8913da8e5" id="2073" name="Google Shape;207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525" cy="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4" name="Google Shape;2074;p91"/>
          <p:cNvSpPr txBox="1"/>
          <p:nvPr>
            <p:ph type="title"/>
          </p:nvPr>
        </p:nvSpPr>
        <p:spPr>
          <a:xfrm>
            <a:off x="311700" y="304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Ejemplo: Precios Dinámicos - Política Óptima</a:t>
            </a:r>
            <a:endParaRPr b="1" i="1" sz="1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2075" name="Google Shape;2075;p91"/>
          <p:cNvSpPr txBox="1"/>
          <p:nvPr/>
        </p:nvSpPr>
        <p:spPr>
          <a:xfrm>
            <a:off x="5604875" y="2394225"/>
            <a:ext cx="5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50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76" name="Google Shape;2076;p91"/>
          <p:cNvSpPr txBox="1"/>
          <p:nvPr/>
        </p:nvSpPr>
        <p:spPr>
          <a:xfrm>
            <a:off x="3286150" y="2721900"/>
            <a:ext cx="50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70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77" name="Google Shape;2077;p91"/>
          <p:cNvSpPr txBox="1"/>
          <p:nvPr/>
        </p:nvSpPr>
        <p:spPr>
          <a:xfrm>
            <a:off x="3141575" y="4102500"/>
            <a:ext cx="70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120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078" name="Google Shape;2078;p91"/>
          <p:cNvSpPr txBox="1"/>
          <p:nvPr/>
        </p:nvSpPr>
        <p:spPr>
          <a:xfrm>
            <a:off x="237100" y="877025"/>
            <a:ext cx="90450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Discusión: Cómo interpretar resultados? Corresponden a las expectativas? Qué hipótesis podrían ser distintas?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