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228f6cffb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228f6cffb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228f6cffbc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228f6cffbc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228f6cffbc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228f6cffbc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228f6cffbc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228f6cffbc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228f6cffbc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228f6cffbc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228f6cffbc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228f6cffbc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228f6cffbc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228f6cffbc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228f6cffbc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228f6cffbc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228f6cffbc_0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228f6cffbc_0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228f6cffbc_0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228f6cffbc_0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228f6cffbc_0_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228f6cffbc_0_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228f6cffbc_0_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228f6cffbc_0_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228f6cffbc_0_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228f6cffbc_0_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228f6cffbc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228f6cffbc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228f6cffbc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228f6cffbc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228f6cffbc_0_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228f6cffbc_0_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228f6cffbc_0_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228f6cffbc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228f6cffbc_0_8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228f6cffbc_0_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228f6cffbc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228f6cffbc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228f6cffbc_0_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228f6cffbc_0_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228f6cffbc_0_8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228f6cffbc_0_8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228f6cffbc_0_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228f6cffbc_0_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228f6cffbc_0_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228f6cffbc_0_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228f6cffbc_0_9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228f6cffbc_0_9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228f6cffbc_0_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228f6cffbc_0_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228f6cffbc_0_9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228f6cffbc_0_9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228f6cffbc_0_9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3228f6cffbc_0_9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228f6cffbc_0_10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228f6cffbc_0_10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228f6cffbc_0_9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228f6cffbc_0_9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228f6cffbc_0_1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228f6cffbc_0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228f6cffbc_0_10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228f6cffbc_0_10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228f6cffbc_0_10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228f6cffbc_0_10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228f6cffbc_0_1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3228f6cffbc_0_1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228f6cffbc_0_1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228f6cffbc_0_1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228f6cffbc_0_1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3228f6cffbc_0_1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228f6cffbc_0_1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3228f6cffbc_0_1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228f6cffbc_0_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3228f6cffbc_0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228f6cffbc_0_1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3228f6cffbc_0_1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228f6cffbc_0_1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3228f6cffbc_0_1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228f6cffbc_0_1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3228f6cffbc_0_1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228f6cffbc_0_1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3228f6cffbc_0_1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228f6cffbc_0_1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228f6cffbc_0_1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228f6cffbc_0_1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3228f6cffbc_0_1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228f6cffbc_0_1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3228f6cffbc_0_1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228f6cffbc_0_1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3228f6cffbc_0_1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228f6cffbc_0_1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3228f6cffbc_0_1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3228f6cffbc_0_1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3228f6cffbc_0_1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228f6cffbc_0_1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3228f6cffbc_0_1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3228f6cffbc_0_1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3228f6cffbc_0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3228f6cffbc_0_1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3228f6cffbc_0_1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3228f6cffbc_0_1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8" name="Google Shape;828;g3228f6cffbc_0_1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228f6cffbc_0_1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3228f6cffbc_0_1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228f6cffbc_0_1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1" name="Google Shape;851;g3228f6cffbc_0_1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228f6cffbc_0_1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4" name="Google Shape;864;g3228f6cffbc_0_1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6.png"/><Relationship Id="rId7"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14.png"/><Relationship Id="rId7" Type="http://schemas.openxmlformats.org/officeDocument/2006/relationships/image" Target="../media/image12.png"/><Relationship Id="rId8"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image" Target="../media/image15.png"/><Relationship Id="rId6"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21.png"/><Relationship Id="rId6" Type="http://schemas.openxmlformats.org/officeDocument/2006/relationships/image" Target="../media/image15.png"/><Relationship Id="rId7" Type="http://schemas.openxmlformats.org/officeDocument/2006/relationships/image" Target="../media/image13.png"/><Relationship Id="rId8"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22.png"/><Relationship Id="rId6" Type="http://schemas.openxmlformats.org/officeDocument/2006/relationships/image" Target="../media/image16.png"/><Relationship Id="rId7"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22.png"/><Relationship Id="rId6" Type="http://schemas.openxmlformats.org/officeDocument/2006/relationships/image" Target="../media/image34.png"/><Relationship Id="rId7" Type="http://schemas.openxmlformats.org/officeDocument/2006/relationships/image" Target="../media/image16.png"/><Relationship Id="rId8"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png"/><Relationship Id="rId4" Type="http://schemas.openxmlformats.org/officeDocument/2006/relationships/image" Target="../media/image18.png"/><Relationship Id="rId10" Type="http://schemas.openxmlformats.org/officeDocument/2006/relationships/image" Target="../media/image23.png"/><Relationship Id="rId9" Type="http://schemas.openxmlformats.org/officeDocument/2006/relationships/image" Target="../media/image16.png"/><Relationship Id="rId5" Type="http://schemas.openxmlformats.org/officeDocument/2006/relationships/image" Target="../media/image22.png"/><Relationship Id="rId6" Type="http://schemas.openxmlformats.org/officeDocument/2006/relationships/image" Target="../media/image34.png"/><Relationship Id="rId7" Type="http://schemas.openxmlformats.org/officeDocument/2006/relationships/image" Target="../media/image26.png"/><Relationship Id="rId8"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png"/><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png"/><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29.png"/><Relationship Id="rId5" Type="http://schemas.openxmlformats.org/officeDocument/2006/relationships/image" Target="../media/image25.png"/><Relationship Id="rId6"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8.png"/><Relationship Id="rId4" Type="http://schemas.openxmlformats.org/officeDocument/2006/relationships/image" Target="../media/image36.png"/><Relationship Id="rId5" Type="http://schemas.openxmlformats.org/officeDocument/2006/relationships/image" Target="../media/image32.png"/><Relationship Id="rId6"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1.png"/><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1.png"/><Relationship Id="rId4" Type="http://schemas.openxmlformats.org/officeDocument/2006/relationships/image" Target="../media/image35.png"/><Relationship Id="rId5"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1.png"/><Relationship Id="rId4" Type="http://schemas.openxmlformats.org/officeDocument/2006/relationships/image" Target="../media/image35.png"/><Relationship Id="rId5" Type="http://schemas.openxmlformats.org/officeDocument/2006/relationships/image" Target="../media/image40.png"/><Relationship Id="rId6" Type="http://schemas.openxmlformats.org/officeDocument/2006/relationships/image" Target="../media/image30.png"/><Relationship Id="rId7" Type="http://schemas.openxmlformats.org/officeDocument/2006/relationships/image" Target="../media/image3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0.png"/><Relationship Id="rId4" Type="http://schemas.openxmlformats.org/officeDocument/2006/relationships/image" Target="../media/image39.png"/><Relationship Id="rId5" Type="http://schemas.openxmlformats.org/officeDocument/2006/relationships/image" Target="../media/image48.png"/><Relationship Id="rId6" Type="http://schemas.openxmlformats.org/officeDocument/2006/relationships/image" Target="../media/image3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0.png"/><Relationship Id="rId4" Type="http://schemas.openxmlformats.org/officeDocument/2006/relationships/image" Target="../media/image39.png"/><Relationship Id="rId5" Type="http://schemas.openxmlformats.org/officeDocument/2006/relationships/image" Target="../media/image48.png"/><Relationship Id="rId6"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8.png"/><Relationship Id="rId4" Type="http://schemas.openxmlformats.org/officeDocument/2006/relationships/image" Target="../media/image4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8.png"/><Relationship Id="rId4"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8.png"/><Relationship Id="rId4" Type="http://schemas.openxmlformats.org/officeDocument/2006/relationships/image" Target="../media/image43.png"/><Relationship Id="rId5" Type="http://schemas.openxmlformats.org/officeDocument/2006/relationships/image" Target="../media/image42.png"/><Relationship Id="rId6" Type="http://schemas.openxmlformats.org/officeDocument/2006/relationships/image" Target="../media/image4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1.png"/><Relationship Id="rId4" Type="http://schemas.openxmlformats.org/officeDocument/2006/relationships/image" Target="../media/image35.png"/><Relationship Id="rId5" Type="http://schemas.openxmlformats.org/officeDocument/2006/relationships/image" Target="../media/image40.png"/><Relationship Id="rId6" Type="http://schemas.openxmlformats.org/officeDocument/2006/relationships/image" Target="../media/image50.png"/><Relationship Id="rId7" Type="http://schemas.openxmlformats.org/officeDocument/2006/relationships/image" Target="../media/image44.png"/><Relationship Id="rId8" Type="http://schemas.openxmlformats.org/officeDocument/2006/relationships/image" Target="../media/image4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55.png"/><Relationship Id="rId5" Type="http://schemas.openxmlformats.org/officeDocument/2006/relationships/image" Target="../media/image40.png"/><Relationship Id="rId6" Type="http://schemas.openxmlformats.org/officeDocument/2006/relationships/image" Target="../media/image50.png"/><Relationship Id="rId7" Type="http://schemas.openxmlformats.org/officeDocument/2006/relationships/image" Target="../media/image44.png"/><Relationship Id="rId8" Type="http://schemas.openxmlformats.org/officeDocument/2006/relationships/image" Target="../media/image4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55.png"/><Relationship Id="rId4" Type="http://schemas.openxmlformats.org/officeDocument/2006/relationships/image" Target="../media/image49.png"/><Relationship Id="rId5" Type="http://schemas.openxmlformats.org/officeDocument/2006/relationships/image" Target="../media/image5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1.png"/><Relationship Id="rId4" Type="http://schemas.openxmlformats.org/officeDocument/2006/relationships/image" Target="../media/image35.png"/><Relationship Id="rId5" Type="http://schemas.openxmlformats.org/officeDocument/2006/relationships/image" Target="../media/image46.png"/><Relationship Id="rId6" Type="http://schemas.openxmlformats.org/officeDocument/2006/relationships/image" Target="../media/image53.png"/><Relationship Id="rId7" Type="http://schemas.openxmlformats.org/officeDocument/2006/relationships/image" Target="../media/image5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1.png"/><Relationship Id="rId4" Type="http://schemas.openxmlformats.org/officeDocument/2006/relationships/image" Target="../media/image35.png"/><Relationship Id="rId5" Type="http://schemas.openxmlformats.org/officeDocument/2006/relationships/image" Target="../media/image46.png"/><Relationship Id="rId6" Type="http://schemas.openxmlformats.org/officeDocument/2006/relationships/image" Target="../media/image53.png"/><Relationship Id="rId7" Type="http://schemas.openxmlformats.org/officeDocument/2006/relationships/image" Target="../media/image50.png"/><Relationship Id="rId8" Type="http://schemas.openxmlformats.org/officeDocument/2006/relationships/image" Target="../media/image5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58.png"/><Relationship Id="rId5" Type="http://schemas.openxmlformats.org/officeDocument/2006/relationships/image" Target="../media/image46.png"/><Relationship Id="rId6" Type="http://schemas.openxmlformats.org/officeDocument/2006/relationships/image" Target="../media/image53.png"/><Relationship Id="rId7" Type="http://schemas.openxmlformats.org/officeDocument/2006/relationships/image" Target="../media/image50.png"/><Relationship Id="rId8" Type="http://schemas.openxmlformats.org/officeDocument/2006/relationships/image" Target="../media/image5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1.png"/><Relationship Id="rId4" Type="http://schemas.openxmlformats.org/officeDocument/2006/relationships/image" Target="../media/image35.png"/><Relationship Id="rId10" Type="http://schemas.openxmlformats.org/officeDocument/2006/relationships/image" Target="../media/image57.png"/><Relationship Id="rId9" Type="http://schemas.openxmlformats.org/officeDocument/2006/relationships/image" Target="../media/image58.png"/><Relationship Id="rId5" Type="http://schemas.openxmlformats.org/officeDocument/2006/relationships/image" Target="../media/image46.png"/><Relationship Id="rId6" Type="http://schemas.openxmlformats.org/officeDocument/2006/relationships/image" Target="../media/image53.png"/><Relationship Id="rId7" Type="http://schemas.openxmlformats.org/officeDocument/2006/relationships/image" Target="../media/image50.png"/><Relationship Id="rId8"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Procesos Markovianos </a:t>
            </a:r>
            <a:endParaRPr/>
          </a:p>
          <a:p>
            <a:pPr indent="0" lvl="0" marL="0" rtl="0" algn="ctr">
              <a:spcBef>
                <a:spcPts val="0"/>
              </a:spcBef>
              <a:spcAft>
                <a:spcPts val="0"/>
              </a:spcAft>
              <a:buNone/>
            </a:pPr>
            <a:r>
              <a:rPr lang="en"/>
              <a:t>de Decisión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Clase 3</a:t>
            </a:r>
            <a:endParaRPr/>
          </a:p>
        </p:txBody>
      </p:sp>
      <p:sp>
        <p:nvSpPr>
          <p:cNvPr id="60" name="Google Shape;60;p14"/>
          <p:cNvSpPr txBox="1"/>
          <p:nvPr/>
        </p:nvSpPr>
        <p:spPr>
          <a:xfrm>
            <a:off x="93800" y="1000550"/>
            <a:ext cx="8738400" cy="3232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MDPs </a:t>
            </a:r>
            <a:r>
              <a:rPr lang="en" sz="1800">
                <a:solidFill>
                  <a:schemeClr val="dk1"/>
                </a:solidFill>
              </a:rPr>
              <a:t>con horizonte infinito</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Ecuación de Bellman</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Iteración de valor</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Iteración de políticas</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Función de utilidad</a:t>
            </a:r>
            <a:endParaRPr sz="1800">
              <a:solidFill>
                <a:schemeClr val="dk1"/>
              </a:solidFill>
            </a:endParaRPr>
          </a:p>
          <a:p>
            <a:pPr indent="0" lvl="0" marL="9144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Aplicaciones</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Política de pesca</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Optimización de portafolio con consumo</a:t>
            </a:r>
            <a:endParaRPr sz="1800">
              <a:solidFill>
                <a:schemeClr val="dk1"/>
              </a:solidFill>
            </a:endParaRPr>
          </a:p>
          <a:p>
            <a:pPr indent="0" lvl="0" marL="91440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Pesca de salmones</a:t>
            </a:r>
            <a:endParaRPr/>
          </a:p>
        </p:txBody>
      </p:sp>
      <p:sp>
        <p:nvSpPr>
          <p:cNvPr id="66" name="Google Shape;66;p15"/>
          <p:cNvSpPr txBox="1"/>
          <p:nvPr/>
        </p:nvSpPr>
        <p:spPr>
          <a:xfrm>
            <a:off x="125500" y="1000550"/>
            <a:ext cx="90945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Cada año, necesitamos decidir cuánto salmón pescar en una determinada área. Cada salmón genera una ganancia fija. Pero si pescamos demasiados salmones en un año, eso impactará en la cantidad de salmones disponibles en el año siguiente. Debemos decidir cuánto pescar a cada año para maximizar la ganancia.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Cómo modelamos ese problema?</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Pesca de salmones</a:t>
            </a:r>
            <a:endParaRPr/>
          </a:p>
        </p:txBody>
      </p:sp>
      <p:sp>
        <p:nvSpPr>
          <p:cNvPr id="72" name="Google Shape;72;p16"/>
          <p:cNvSpPr txBox="1"/>
          <p:nvPr/>
        </p:nvSpPr>
        <p:spPr>
          <a:xfrm>
            <a:off x="125500" y="1000550"/>
            <a:ext cx="90945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Cada año, necesitamos decidir cuánto salmón pescar en una determinada área. Cada salmón genera una ganancia fija. Pero si pescamos demasiados salmones en un año, eso impactará en la cantidad de salmones disponibles en el año siguiente. Debemos decidir cuánto pescar a cada año para maximizar la ganancia.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Cómo modelamos ese problema?</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Vamos a considerar una versión más simple para visualizar el proceso:</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 cada año, decidimos solo si pescar o no una cierta proporción de salmones</a:t>
            </a:r>
            <a:endParaRPr sz="1800">
              <a:solidFill>
                <a:schemeClr val="dk1"/>
              </a:solidFill>
            </a:endParaRPr>
          </a:p>
          <a:p>
            <a:pPr indent="0" lvl="0" marL="0" rtl="0" algn="l">
              <a:spcBef>
                <a:spcPts val="0"/>
              </a:spcBef>
              <a:spcAft>
                <a:spcPts val="0"/>
              </a:spcAft>
              <a:buNone/>
            </a:pPr>
            <a:r>
              <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Pesca de salmones</a:t>
            </a:r>
            <a:endParaRPr/>
          </a:p>
        </p:txBody>
      </p:sp>
      <p:sp>
        <p:nvSpPr>
          <p:cNvPr id="78" name="Google Shape;78;p17"/>
          <p:cNvSpPr txBox="1"/>
          <p:nvPr/>
        </p:nvSpPr>
        <p:spPr>
          <a:xfrm>
            <a:off x="125500" y="1000550"/>
            <a:ext cx="90945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Cada año, necesitamos decidir cuánto salmón pescar en una determinada área. Cada salmón genera una ganancia fija. Pero si pescamos demasiados salmones en un año, eso impactará en la cantidad de salmones disponibles en el año siguiente. Debemos decidir cuánto pescar a cada año para maximizar la ganancia.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Cómo modelamos ese problema?</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Vamos a considerar una versión más simple para visualizar el proceso:</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 cada año, decidimos solo si pescar o no una cierta proporción de salmones</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consideramos 4 estados para a población de salmones: vacío, bajo, mediano, alto.</a:t>
            </a:r>
            <a:endParaRPr sz="1800">
              <a:solidFill>
                <a:schemeClr val="dk1"/>
              </a:solidFill>
            </a:endParaRPr>
          </a:p>
          <a:p>
            <a:pPr indent="0" lvl="0" marL="0" rtl="0" algn="l">
              <a:spcBef>
                <a:spcPts val="0"/>
              </a:spcBef>
              <a:spcAft>
                <a:spcPts val="0"/>
              </a:spcAft>
              <a:buNone/>
            </a:pPr>
            <a:r>
              <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Pesca de salmones</a:t>
            </a:r>
            <a:endParaRPr/>
          </a:p>
        </p:txBody>
      </p:sp>
      <p:grpSp>
        <p:nvGrpSpPr>
          <p:cNvPr id="84" name="Google Shape;84;p18"/>
          <p:cNvGrpSpPr/>
          <p:nvPr/>
        </p:nvGrpSpPr>
        <p:grpSpPr>
          <a:xfrm>
            <a:off x="4952650" y="2045942"/>
            <a:ext cx="1230600" cy="1011047"/>
            <a:chOff x="5365870" y="2045950"/>
            <a:chExt cx="1230600" cy="759900"/>
          </a:xfrm>
        </p:grpSpPr>
        <p:sp>
          <p:nvSpPr>
            <p:cNvPr id="85" name="Google Shape;85;p18"/>
            <p:cNvSpPr/>
            <p:nvPr/>
          </p:nvSpPr>
          <p:spPr>
            <a:xfrm>
              <a:off x="5365870" y="2045950"/>
              <a:ext cx="1230600" cy="7599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8"/>
            <p:cNvSpPr txBox="1"/>
            <p:nvPr/>
          </p:nvSpPr>
          <p:spPr>
            <a:xfrm>
              <a:off x="5455575" y="2254253"/>
              <a:ext cx="1073100" cy="3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mediano</a:t>
              </a:r>
              <a:endParaRPr/>
            </a:p>
          </p:txBody>
        </p:sp>
      </p:grpSp>
      <p:cxnSp>
        <p:nvCxnSpPr>
          <p:cNvPr id="87" name="Google Shape;87;p18"/>
          <p:cNvCxnSpPr/>
          <p:nvPr/>
        </p:nvCxnSpPr>
        <p:spPr>
          <a:xfrm rot="10800000">
            <a:off x="2995959" y="2450985"/>
            <a:ext cx="0" cy="100500"/>
          </a:xfrm>
          <a:prstGeom prst="straightConnector1">
            <a:avLst/>
          </a:prstGeom>
          <a:noFill/>
          <a:ln cap="flat" cmpd="sng" w="9525">
            <a:solidFill>
              <a:srgbClr val="595959"/>
            </a:solidFill>
            <a:prstDash val="solid"/>
            <a:round/>
            <a:headEnd len="med" w="med" type="none"/>
            <a:tailEnd len="med" w="med" type="triangle"/>
          </a:ln>
        </p:spPr>
      </p:cxnSp>
      <p:sp>
        <p:nvSpPr>
          <p:cNvPr id="88" name="Google Shape;88;p18"/>
          <p:cNvSpPr txBox="1"/>
          <p:nvPr/>
        </p:nvSpPr>
        <p:spPr>
          <a:xfrm>
            <a:off x="530887" y="1994657"/>
            <a:ext cx="78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vacío</a:t>
            </a:r>
            <a:endParaRPr/>
          </a:p>
        </p:txBody>
      </p:sp>
      <p:grpSp>
        <p:nvGrpSpPr>
          <p:cNvPr id="89" name="Google Shape;89;p18"/>
          <p:cNvGrpSpPr/>
          <p:nvPr/>
        </p:nvGrpSpPr>
        <p:grpSpPr>
          <a:xfrm>
            <a:off x="7336200" y="2045942"/>
            <a:ext cx="1230600" cy="1011047"/>
            <a:chOff x="7564800" y="2045950"/>
            <a:chExt cx="1230600" cy="759900"/>
          </a:xfrm>
        </p:grpSpPr>
        <p:sp>
          <p:nvSpPr>
            <p:cNvPr id="90" name="Google Shape;90;p18"/>
            <p:cNvSpPr/>
            <p:nvPr/>
          </p:nvSpPr>
          <p:spPr>
            <a:xfrm>
              <a:off x="7564800" y="2045950"/>
              <a:ext cx="1230600" cy="7599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8"/>
            <p:cNvSpPr txBox="1"/>
            <p:nvPr/>
          </p:nvSpPr>
          <p:spPr>
            <a:xfrm>
              <a:off x="7901202" y="2245256"/>
              <a:ext cx="717300" cy="3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alt</a:t>
              </a:r>
              <a:r>
                <a:rPr lang="en" sz="1800">
                  <a:solidFill>
                    <a:srgbClr val="595959"/>
                  </a:solidFill>
                </a:rPr>
                <a:t>o</a:t>
              </a:r>
              <a:endParaRPr/>
            </a:p>
          </p:txBody>
        </p:sp>
      </p:grpSp>
      <p:grpSp>
        <p:nvGrpSpPr>
          <p:cNvPr id="92" name="Google Shape;92;p18"/>
          <p:cNvGrpSpPr/>
          <p:nvPr/>
        </p:nvGrpSpPr>
        <p:grpSpPr>
          <a:xfrm>
            <a:off x="2569100" y="2045866"/>
            <a:ext cx="1230600" cy="1011047"/>
            <a:chOff x="2609250" y="2045950"/>
            <a:chExt cx="1230600" cy="759900"/>
          </a:xfrm>
        </p:grpSpPr>
        <p:sp>
          <p:nvSpPr>
            <p:cNvPr id="93" name="Google Shape;93;p18"/>
            <p:cNvSpPr/>
            <p:nvPr/>
          </p:nvSpPr>
          <p:spPr>
            <a:xfrm>
              <a:off x="2609250" y="2045950"/>
              <a:ext cx="1230600" cy="7599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8"/>
            <p:cNvSpPr txBox="1"/>
            <p:nvPr/>
          </p:nvSpPr>
          <p:spPr>
            <a:xfrm>
              <a:off x="2913474" y="2254470"/>
              <a:ext cx="717300" cy="3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baj</a:t>
              </a:r>
              <a:r>
                <a:rPr lang="en" sz="1800">
                  <a:solidFill>
                    <a:srgbClr val="595959"/>
                  </a:solidFill>
                </a:rPr>
                <a:t>o</a:t>
              </a:r>
              <a:endParaRPr/>
            </a:p>
          </p:txBody>
        </p:sp>
      </p:grpSp>
      <p:grpSp>
        <p:nvGrpSpPr>
          <p:cNvPr id="95" name="Google Shape;95;p18"/>
          <p:cNvGrpSpPr/>
          <p:nvPr/>
        </p:nvGrpSpPr>
        <p:grpSpPr>
          <a:xfrm>
            <a:off x="185550" y="2045942"/>
            <a:ext cx="1230600" cy="1011047"/>
            <a:chOff x="414150" y="2045950"/>
            <a:chExt cx="1230600" cy="759900"/>
          </a:xfrm>
        </p:grpSpPr>
        <p:sp>
          <p:nvSpPr>
            <p:cNvPr id="96" name="Google Shape;96;p18"/>
            <p:cNvSpPr/>
            <p:nvPr/>
          </p:nvSpPr>
          <p:spPr>
            <a:xfrm>
              <a:off x="414150" y="2045950"/>
              <a:ext cx="1230600" cy="7599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8"/>
            <p:cNvSpPr txBox="1"/>
            <p:nvPr/>
          </p:nvSpPr>
          <p:spPr>
            <a:xfrm>
              <a:off x="670800" y="2252428"/>
              <a:ext cx="789600" cy="3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vací</a:t>
              </a:r>
              <a:r>
                <a:rPr lang="en" sz="1800">
                  <a:solidFill>
                    <a:srgbClr val="595959"/>
                  </a:solidFill>
                </a:rPr>
                <a:t>o</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grpSp>
        <p:nvGrpSpPr>
          <p:cNvPr id="102" name="Google Shape;102;p19"/>
          <p:cNvGrpSpPr/>
          <p:nvPr/>
        </p:nvGrpSpPr>
        <p:grpSpPr>
          <a:xfrm>
            <a:off x="1007125" y="2537957"/>
            <a:ext cx="1622100" cy="400200"/>
            <a:chOff x="6018775" y="2332475"/>
            <a:chExt cx="1622100" cy="400200"/>
          </a:xfrm>
        </p:grpSpPr>
        <p:sp>
          <p:nvSpPr>
            <p:cNvPr id="103" name="Google Shape;103;p19"/>
            <p:cNvSpPr/>
            <p:nvPr/>
          </p:nvSpPr>
          <p:spPr>
            <a:xfrm>
              <a:off x="6018775" y="2367143"/>
              <a:ext cx="1134900" cy="25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4" name="Google Shape;104;p19"/>
            <p:cNvCxnSpPr/>
            <p:nvPr/>
          </p:nvCxnSpPr>
          <p:spPr>
            <a:xfrm flipH="1" rot="10800000">
              <a:off x="6280675" y="2618900"/>
              <a:ext cx="1360200" cy="8700"/>
            </a:xfrm>
            <a:prstGeom prst="straightConnector1">
              <a:avLst/>
            </a:prstGeom>
            <a:noFill/>
            <a:ln cap="flat" cmpd="sng" w="9525">
              <a:solidFill>
                <a:srgbClr val="595959"/>
              </a:solidFill>
              <a:prstDash val="solid"/>
              <a:round/>
              <a:headEnd len="med" w="med" type="none"/>
              <a:tailEnd len="med" w="med" type="triangle"/>
            </a:ln>
          </p:spPr>
        </p:cxnSp>
        <p:sp>
          <p:nvSpPr>
            <p:cNvPr id="105" name="Google Shape;105;p19"/>
            <p:cNvSpPr txBox="1"/>
            <p:nvPr/>
          </p:nvSpPr>
          <p:spPr>
            <a:xfrm>
              <a:off x="6400000" y="2332475"/>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Repoblar</a:t>
              </a:r>
              <a:endParaRPr/>
            </a:p>
          </p:txBody>
        </p:sp>
      </p:grpSp>
      <p:grpSp>
        <p:nvGrpSpPr>
          <p:cNvPr id="106" name="Google Shape;106;p19"/>
          <p:cNvGrpSpPr/>
          <p:nvPr/>
        </p:nvGrpSpPr>
        <p:grpSpPr>
          <a:xfrm>
            <a:off x="7531350" y="2557831"/>
            <a:ext cx="1764964" cy="846393"/>
            <a:chOff x="5834787" y="3940014"/>
            <a:chExt cx="2168794" cy="846393"/>
          </a:xfrm>
        </p:grpSpPr>
        <p:grpSp>
          <p:nvGrpSpPr>
            <p:cNvPr id="107" name="Google Shape;107;p19"/>
            <p:cNvGrpSpPr/>
            <p:nvPr/>
          </p:nvGrpSpPr>
          <p:grpSpPr>
            <a:xfrm>
              <a:off x="5901398" y="3940107"/>
              <a:ext cx="800400" cy="846300"/>
              <a:chOff x="5856786" y="2367236"/>
              <a:chExt cx="800400" cy="846300"/>
            </a:xfrm>
          </p:grpSpPr>
          <p:sp>
            <p:nvSpPr>
              <p:cNvPr id="108" name="Google Shape;108;p19"/>
              <p:cNvSpPr/>
              <p:nvPr/>
            </p:nvSpPr>
            <p:spPr>
              <a:xfrm rot="10798711">
                <a:off x="5856786" y="2367386"/>
                <a:ext cx="8004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9" name="Google Shape;109;p19"/>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110" name="Google Shape;110;p19"/>
            <p:cNvSpPr/>
            <p:nvPr/>
          </p:nvSpPr>
          <p:spPr>
            <a:xfrm>
              <a:off x="5834787" y="3940014"/>
              <a:ext cx="1134900" cy="25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19"/>
            <p:cNvSpPr txBox="1"/>
            <p:nvPr/>
          </p:nvSpPr>
          <p:spPr>
            <a:xfrm>
              <a:off x="6607980" y="4286362"/>
              <a:ext cx="139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No pescar</a:t>
              </a:r>
              <a:endParaRPr/>
            </a:p>
          </p:txBody>
        </p:sp>
      </p:grpSp>
      <p:grpSp>
        <p:nvGrpSpPr>
          <p:cNvPr id="112" name="Google Shape;112;p19"/>
          <p:cNvGrpSpPr/>
          <p:nvPr/>
        </p:nvGrpSpPr>
        <p:grpSpPr>
          <a:xfrm rot="10800000">
            <a:off x="1310902" y="1620498"/>
            <a:ext cx="1901330" cy="1016368"/>
            <a:chOff x="6018794" y="2197091"/>
            <a:chExt cx="1901330" cy="1016368"/>
          </a:xfrm>
        </p:grpSpPr>
        <p:grpSp>
          <p:nvGrpSpPr>
            <p:cNvPr id="113" name="Google Shape;113;p19"/>
            <p:cNvGrpSpPr/>
            <p:nvPr/>
          </p:nvGrpSpPr>
          <p:grpSpPr>
            <a:xfrm>
              <a:off x="6085370" y="2367160"/>
              <a:ext cx="1064100" cy="846300"/>
              <a:chOff x="5856770" y="2367160"/>
              <a:chExt cx="1064100" cy="846300"/>
            </a:xfrm>
          </p:grpSpPr>
          <p:sp>
            <p:nvSpPr>
              <p:cNvPr id="114" name="Google Shape;114;p19"/>
              <p:cNvSpPr/>
              <p:nvPr/>
            </p:nvSpPr>
            <p:spPr>
              <a:xfrm rot="10799031">
                <a:off x="5856770" y="2367310"/>
                <a:ext cx="10641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5" name="Google Shape;115;p19"/>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116" name="Google Shape;116;p19"/>
            <p:cNvSpPr/>
            <p:nvPr/>
          </p:nvSpPr>
          <p:spPr>
            <a:xfrm>
              <a:off x="6018794" y="2197091"/>
              <a:ext cx="1134900" cy="423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7" name="Google Shape;117;p19"/>
            <p:cNvCxnSpPr/>
            <p:nvPr/>
          </p:nvCxnSpPr>
          <p:spPr>
            <a:xfrm>
              <a:off x="6543724" y="2631089"/>
              <a:ext cx="1376400" cy="5100"/>
            </a:xfrm>
            <a:prstGeom prst="straightConnector1">
              <a:avLst/>
            </a:prstGeom>
            <a:noFill/>
            <a:ln cap="flat" cmpd="sng" w="9525">
              <a:solidFill>
                <a:srgbClr val="595959"/>
              </a:solidFill>
              <a:prstDash val="solid"/>
              <a:round/>
              <a:headEnd len="med" w="med" type="none"/>
              <a:tailEnd len="med" w="med" type="triangle"/>
            </a:ln>
          </p:spPr>
        </p:cxnSp>
        <p:sp>
          <p:nvSpPr>
            <p:cNvPr id="118" name="Google Shape;118;p19"/>
            <p:cNvSpPr txBox="1"/>
            <p:nvPr/>
          </p:nvSpPr>
          <p:spPr>
            <a:xfrm flipH="1" rot="10800000">
              <a:off x="6086223" y="234145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Pescar</a:t>
              </a:r>
              <a:endParaRPr/>
            </a:p>
          </p:txBody>
        </p:sp>
      </p:grpSp>
      <p:grpSp>
        <p:nvGrpSpPr>
          <p:cNvPr id="119" name="Google Shape;119;p19"/>
          <p:cNvGrpSpPr/>
          <p:nvPr/>
        </p:nvGrpSpPr>
        <p:grpSpPr>
          <a:xfrm>
            <a:off x="3402900" y="2548854"/>
            <a:ext cx="1622100" cy="880985"/>
            <a:chOff x="6018775" y="2332475"/>
            <a:chExt cx="1622100" cy="880985"/>
          </a:xfrm>
        </p:grpSpPr>
        <p:grpSp>
          <p:nvGrpSpPr>
            <p:cNvPr id="120" name="Google Shape;120;p19"/>
            <p:cNvGrpSpPr/>
            <p:nvPr/>
          </p:nvGrpSpPr>
          <p:grpSpPr>
            <a:xfrm>
              <a:off x="6085370" y="2367160"/>
              <a:ext cx="1064100" cy="846300"/>
              <a:chOff x="5856770" y="2367160"/>
              <a:chExt cx="1064100" cy="846300"/>
            </a:xfrm>
          </p:grpSpPr>
          <p:sp>
            <p:nvSpPr>
              <p:cNvPr id="121" name="Google Shape;121;p19"/>
              <p:cNvSpPr/>
              <p:nvPr/>
            </p:nvSpPr>
            <p:spPr>
              <a:xfrm rot="10799031">
                <a:off x="5856770" y="2367310"/>
                <a:ext cx="10641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2" name="Google Shape;122;p19"/>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123" name="Google Shape;123;p19"/>
            <p:cNvSpPr/>
            <p:nvPr/>
          </p:nvSpPr>
          <p:spPr>
            <a:xfrm>
              <a:off x="6018775" y="2367143"/>
              <a:ext cx="1134900" cy="25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4" name="Google Shape;124;p19"/>
            <p:cNvCxnSpPr/>
            <p:nvPr/>
          </p:nvCxnSpPr>
          <p:spPr>
            <a:xfrm flipH="1" rot="10800000">
              <a:off x="6280675" y="2618900"/>
              <a:ext cx="1360200" cy="8700"/>
            </a:xfrm>
            <a:prstGeom prst="straightConnector1">
              <a:avLst/>
            </a:prstGeom>
            <a:noFill/>
            <a:ln cap="flat" cmpd="sng" w="9525">
              <a:solidFill>
                <a:srgbClr val="595959"/>
              </a:solidFill>
              <a:prstDash val="solid"/>
              <a:round/>
              <a:headEnd len="med" w="med" type="none"/>
              <a:tailEnd len="med" w="med" type="triangle"/>
            </a:ln>
          </p:spPr>
        </p:cxnSp>
        <p:sp>
          <p:nvSpPr>
            <p:cNvPr id="125" name="Google Shape;125;p19"/>
            <p:cNvSpPr txBox="1"/>
            <p:nvPr/>
          </p:nvSpPr>
          <p:spPr>
            <a:xfrm>
              <a:off x="6323800" y="2332475"/>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No pescar</a:t>
              </a:r>
              <a:endParaRPr/>
            </a:p>
          </p:txBody>
        </p:sp>
      </p:grpSp>
      <p:grpSp>
        <p:nvGrpSpPr>
          <p:cNvPr id="126" name="Google Shape;126;p19"/>
          <p:cNvGrpSpPr/>
          <p:nvPr/>
        </p:nvGrpSpPr>
        <p:grpSpPr>
          <a:xfrm rot="10800000">
            <a:off x="6089252" y="1630031"/>
            <a:ext cx="1901340" cy="1236371"/>
            <a:chOff x="6018785" y="1977089"/>
            <a:chExt cx="1901340" cy="1236371"/>
          </a:xfrm>
        </p:grpSpPr>
        <p:grpSp>
          <p:nvGrpSpPr>
            <p:cNvPr id="127" name="Google Shape;127;p19"/>
            <p:cNvGrpSpPr/>
            <p:nvPr/>
          </p:nvGrpSpPr>
          <p:grpSpPr>
            <a:xfrm>
              <a:off x="6085370" y="2367160"/>
              <a:ext cx="1064100" cy="846300"/>
              <a:chOff x="5856770" y="2367160"/>
              <a:chExt cx="1064100" cy="846300"/>
            </a:xfrm>
          </p:grpSpPr>
          <p:sp>
            <p:nvSpPr>
              <p:cNvPr id="128" name="Google Shape;128;p19"/>
              <p:cNvSpPr/>
              <p:nvPr/>
            </p:nvSpPr>
            <p:spPr>
              <a:xfrm rot="10799031">
                <a:off x="5856770" y="2367310"/>
                <a:ext cx="10641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9" name="Google Shape;129;p19"/>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130" name="Google Shape;130;p19"/>
            <p:cNvSpPr/>
            <p:nvPr/>
          </p:nvSpPr>
          <p:spPr>
            <a:xfrm>
              <a:off x="6018785" y="1977089"/>
              <a:ext cx="1134900" cy="64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31" name="Google Shape;131;p19"/>
            <p:cNvCxnSpPr/>
            <p:nvPr/>
          </p:nvCxnSpPr>
          <p:spPr>
            <a:xfrm>
              <a:off x="6543724" y="2631089"/>
              <a:ext cx="1376400" cy="5100"/>
            </a:xfrm>
            <a:prstGeom prst="straightConnector1">
              <a:avLst/>
            </a:prstGeom>
            <a:noFill/>
            <a:ln cap="flat" cmpd="sng" w="9525">
              <a:solidFill>
                <a:srgbClr val="595959"/>
              </a:solidFill>
              <a:prstDash val="solid"/>
              <a:round/>
              <a:headEnd len="med" w="med" type="none"/>
              <a:tailEnd len="med" w="med" type="triangle"/>
            </a:ln>
          </p:spPr>
        </p:cxnSp>
        <p:sp>
          <p:nvSpPr>
            <p:cNvPr id="132" name="Google Shape;132;p19"/>
            <p:cNvSpPr txBox="1"/>
            <p:nvPr/>
          </p:nvSpPr>
          <p:spPr>
            <a:xfrm flipH="1" rot="10800000">
              <a:off x="6086223" y="234145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Pescar</a:t>
              </a:r>
              <a:endParaRPr/>
            </a:p>
          </p:txBody>
        </p:sp>
      </p:grpSp>
      <p:grpSp>
        <p:nvGrpSpPr>
          <p:cNvPr id="133" name="Google Shape;133;p19"/>
          <p:cNvGrpSpPr/>
          <p:nvPr/>
        </p:nvGrpSpPr>
        <p:grpSpPr>
          <a:xfrm rot="10800000">
            <a:off x="3704845" y="1639858"/>
            <a:ext cx="1901330" cy="1016368"/>
            <a:chOff x="6018794" y="2197091"/>
            <a:chExt cx="1901330" cy="1016368"/>
          </a:xfrm>
        </p:grpSpPr>
        <p:grpSp>
          <p:nvGrpSpPr>
            <p:cNvPr id="134" name="Google Shape;134;p19"/>
            <p:cNvGrpSpPr/>
            <p:nvPr/>
          </p:nvGrpSpPr>
          <p:grpSpPr>
            <a:xfrm>
              <a:off x="6085370" y="2367160"/>
              <a:ext cx="1064100" cy="846300"/>
              <a:chOff x="5856770" y="2367160"/>
              <a:chExt cx="1064100" cy="846300"/>
            </a:xfrm>
          </p:grpSpPr>
          <p:sp>
            <p:nvSpPr>
              <p:cNvPr id="135" name="Google Shape;135;p19"/>
              <p:cNvSpPr/>
              <p:nvPr/>
            </p:nvSpPr>
            <p:spPr>
              <a:xfrm rot="10799031">
                <a:off x="5856770" y="2367310"/>
                <a:ext cx="10641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36" name="Google Shape;136;p19"/>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137" name="Google Shape;137;p19"/>
            <p:cNvSpPr/>
            <p:nvPr/>
          </p:nvSpPr>
          <p:spPr>
            <a:xfrm>
              <a:off x="6018794" y="2197091"/>
              <a:ext cx="1134900" cy="423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38" name="Google Shape;138;p19"/>
            <p:cNvCxnSpPr/>
            <p:nvPr/>
          </p:nvCxnSpPr>
          <p:spPr>
            <a:xfrm>
              <a:off x="6543724" y="2631089"/>
              <a:ext cx="1376400" cy="5100"/>
            </a:xfrm>
            <a:prstGeom prst="straightConnector1">
              <a:avLst/>
            </a:prstGeom>
            <a:noFill/>
            <a:ln cap="flat" cmpd="sng" w="9525">
              <a:solidFill>
                <a:srgbClr val="595959"/>
              </a:solidFill>
              <a:prstDash val="solid"/>
              <a:round/>
              <a:headEnd len="med" w="med" type="none"/>
              <a:tailEnd len="med" w="med" type="triangle"/>
            </a:ln>
          </p:spPr>
        </p:cxnSp>
        <p:sp>
          <p:nvSpPr>
            <p:cNvPr id="139" name="Google Shape;139;p19"/>
            <p:cNvSpPr txBox="1"/>
            <p:nvPr/>
          </p:nvSpPr>
          <p:spPr>
            <a:xfrm flipH="1" rot="10800000">
              <a:off x="6086223" y="234145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Pescar</a:t>
              </a:r>
              <a:endParaRPr/>
            </a:p>
          </p:txBody>
        </p:sp>
      </p:grpSp>
      <p:grpSp>
        <p:nvGrpSpPr>
          <p:cNvPr id="140" name="Google Shape;140;p19"/>
          <p:cNvGrpSpPr/>
          <p:nvPr/>
        </p:nvGrpSpPr>
        <p:grpSpPr>
          <a:xfrm>
            <a:off x="5812937" y="2550571"/>
            <a:ext cx="1622100" cy="880985"/>
            <a:chOff x="6018775" y="2332475"/>
            <a:chExt cx="1622100" cy="880985"/>
          </a:xfrm>
        </p:grpSpPr>
        <p:grpSp>
          <p:nvGrpSpPr>
            <p:cNvPr id="141" name="Google Shape;141;p19"/>
            <p:cNvGrpSpPr/>
            <p:nvPr/>
          </p:nvGrpSpPr>
          <p:grpSpPr>
            <a:xfrm>
              <a:off x="6085370" y="2367160"/>
              <a:ext cx="1064100" cy="846300"/>
              <a:chOff x="5856770" y="2367160"/>
              <a:chExt cx="1064100" cy="846300"/>
            </a:xfrm>
          </p:grpSpPr>
          <p:sp>
            <p:nvSpPr>
              <p:cNvPr id="142" name="Google Shape;142;p19"/>
              <p:cNvSpPr/>
              <p:nvPr/>
            </p:nvSpPr>
            <p:spPr>
              <a:xfrm rot="10799031">
                <a:off x="5856770" y="2367310"/>
                <a:ext cx="10641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43" name="Google Shape;143;p19"/>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144" name="Google Shape;144;p19"/>
            <p:cNvSpPr/>
            <p:nvPr/>
          </p:nvSpPr>
          <p:spPr>
            <a:xfrm>
              <a:off x="6018775" y="2367143"/>
              <a:ext cx="1134900" cy="25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45" name="Google Shape;145;p19"/>
            <p:cNvCxnSpPr/>
            <p:nvPr/>
          </p:nvCxnSpPr>
          <p:spPr>
            <a:xfrm flipH="1" rot="10800000">
              <a:off x="6280675" y="2618900"/>
              <a:ext cx="1360200" cy="8700"/>
            </a:xfrm>
            <a:prstGeom prst="straightConnector1">
              <a:avLst/>
            </a:prstGeom>
            <a:noFill/>
            <a:ln cap="flat" cmpd="sng" w="9525">
              <a:solidFill>
                <a:srgbClr val="595959"/>
              </a:solidFill>
              <a:prstDash val="solid"/>
              <a:round/>
              <a:headEnd len="med" w="med" type="none"/>
              <a:tailEnd len="med" w="med" type="triangle"/>
            </a:ln>
          </p:spPr>
        </p:cxnSp>
        <p:sp>
          <p:nvSpPr>
            <p:cNvPr id="146" name="Google Shape;146;p19"/>
            <p:cNvSpPr txBox="1"/>
            <p:nvPr/>
          </p:nvSpPr>
          <p:spPr>
            <a:xfrm>
              <a:off x="6323800" y="2332475"/>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No pescar</a:t>
              </a:r>
              <a:endParaRPr/>
            </a:p>
          </p:txBody>
        </p:sp>
      </p:grpSp>
      <p:sp>
        <p:nvSpPr>
          <p:cNvPr id="147" name="Google Shape;147;p19"/>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Pesca de salmones</a:t>
            </a:r>
            <a:endParaRPr/>
          </a:p>
        </p:txBody>
      </p:sp>
      <p:grpSp>
        <p:nvGrpSpPr>
          <p:cNvPr id="148" name="Google Shape;148;p19"/>
          <p:cNvGrpSpPr/>
          <p:nvPr/>
        </p:nvGrpSpPr>
        <p:grpSpPr>
          <a:xfrm>
            <a:off x="4952650" y="2045942"/>
            <a:ext cx="1230600" cy="1011047"/>
            <a:chOff x="5365870" y="2045950"/>
            <a:chExt cx="1230600" cy="759900"/>
          </a:xfrm>
        </p:grpSpPr>
        <p:sp>
          <p:nvSpPr>
            <p:cNvPr id="149" name="Google Shape;149;p19"/>
            <p:cNvSpPr/>
            <p:nvPr/>
          </p:nvSpPr>
          <p:spPr>
            <a:xfrm>
              <a:off x="5365870" y="2045950"/>
              <a:ext cx="1230600" cy="7599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19"/>
            <p:cNvSpPr txBox="1"/>
            <p:nvPr/>
          </p:nvSpPr>
          <p:spPr>
            <a:xfrm>
              <a:off x="5455575" y="2254253"/>
              <a:ext cx="1073100" cy="3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mediano</a:t>
              </a:r>
              <a:endParaRPr/>
            </a:p>
          </p:txBody>
        </p:sp>
      </p:grpSp>
      <p:cxnSp>
        <p:nvCxnSpPr>
          <p:cNvPr id="151" name="Google Shape;151;p19"/>
          <p:cNvCxnSpPr/>
          <p:nvPr/>
        </p:nvCxnSpPr>
        <p:spPr>
          <a:xfrm rot="10800000">
            <a:off x="2995959" y="2450985"/>
            <a:ext cx="0" cy="100500"/>
          </a:xfrm>
          <a:prstGeom prst="straightConnector1">
            <a:avLst/>
          </a:prstGeom>
          <a:noFill/>
          <a:ln cap="flat" cmpd="sng" w="9525">
            <a:solidFill>
              <a:srgbClr val="595959"/>
            </a:solidFill>
            <a:prstDash val="solid"/>
            <a:round/>
            <a:headEnd len="med" w="med" type="none"/>
            <a:tailEnd len="med" w="med" type="triangle"/>
          </a:ln>
        </p:spPr>
      </p:cxnSp>
      <p:sp>
        <p:nvSpPr>
          <p:cNvPr id="152" name="Google Shape;152;p19"/>
          <p:cNvSpPr txBox="1"/>
          <p:nvPr/>
        </p:nvSpPr>
        <p:spPr>
          <a:xfrm>
            <a:off x="530887" y="1994657"/>
            <a:ext cx="78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vacío</a:t>
            </a:r>
            <a:endParaRPr/>
          </a:p>
        </p:txBody>
      </p:sp>
      <p:grpSp>
        <p:nvGrpSpPr>
          <p:cNvPr id="153" name="Google Shape;153;p19"/>
          <p:cNvGrpSpPr/>
          <p:nvPr/>
        </p:nvGrpSpPr>
        <p:grpSpPr>
          <a:xfrm>
            <a:off x="7336200" y="2045942"/>
            <a:ext cx="1230600" cy="1011047"/>
            <a:chOff x="7564800" y="2045950"/>
            <a:chExt cx="1230600" cy="759900"/>
          </a:xfrm>
        </p:grpSpPr>
        <p:sp>
          <p:nvSpPr>
            <p:cNvPr id="154" name="Google Shape;154;p19"/>
            <p:cNvSpPr/>
            <p:nvPr/>
          </p:nvSpPr>
          <p:spPr>
            <a:xfrm>
              <a:off x="7564800" y="2045950"/>
              <a:ext cx="1230600" cy="7599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19"/>
            <p:cNvSpPr txBox="1"/>
            <p:nvPr/>
          </p:nvSpPr>
          <p:spPr>
            <a:xfrm>
              <a:off x="7901202" y="2245256"/>
              <a:ext cx="717300" cy="3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alto</a:t>
              </a:r>
              <a:endParaRPr/>
            </a:p>
          </p:txBody>
        </p:sp>
      </p:grpSp>
      <p:grpSp>
        <p:nvGrpSpPr>
          <p:cNvPr id="156" name="Google Shape;156;p19"/>
          <p:cNvGrpSpPr/>
          <p:nvPr/>
        </p:nvGrpSpPr>
        <p:grpSpPr>
          <a:xfrm>
            <a:off x="2569100" y="2045866"/>
            <a:ext cx="1230600" cy="1011047"/>
            <a:chOff x="2609250" y="2045950"/>
            <a:chExt cx="1230600" cy="759900"/>
          </a:xfrm>
        </p:grpSpPr>
        <p:sp>
          <p:nvSpPr>
            <p:cNvPr id="157" name="Google Shape;157;p19"/>
            <p:cNvSpPr/>
            <p:nvPr/>
          </p:nvSpPr>
          <p:spPr>
            <a:xfrm>
              <a:off x="2609250" y="2045950"/>
              <a:ext cx="1230600" cy="7599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19"/>
            <p:cNvSpPr txBox="1"/>
            <p:nvPr/>
          </p:nvSpPr>
          <p:spPr>
            <a:xfrm>
              <a:off x="2913474" y="2254470"/>
              <a:ext cx="717300" cy="3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bajo</a:t>
              </a:r>
              <a:endParaRPr/>
            </a:p>
          </p:txBody>
        </p:sp>
      </p:grpSp>
      <p:grpSp>
        <p:nvGrpSpPr>
          <p:cNvPr id="159" name="Google Shape;159;p19"/>
          <p:cNvGrpSpPr/>
          <p:nvPr/>
        </p:nvGrpSpPr>
        <p:grpSpPr>
          <a:xfrm>
            <a:off x="185550" y="2045942"/>
            <a:ext cx="1230600" cy="1011047"/>
            <a:chOff x="414150" y="2045950"/>
            <a:chExt cx="1230600" cy="759900"/>
          </a:xfrm>
        </p:grpSpPr>
        <p:sp>
          <p:nvSpPr>
            <p:cNvPr id="160" name="Google Shape;160;p19"/>
            <p:cNvSpPr/>
            <p:nvPr/>
          </p:nvSpPr>
          <p:spPr>
            <a:xfrm>
              <a:off x="414150" y="2045950"/>
              <a:ext cx="1230600" cy="7599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 name="Google Shape;161;p19"/>
            <p:cNvSpPr txBox="1"/>
            <p:nvPr/>
          </p:nvSpPr>
          <p:spPr>
            <a:xfrm>
              <a:off x="670800" y="2252428"/>
              <a:ext cx="789600" cy="3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vacío</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grpSp>
        <p:nvGrpSpPr>
          <p:cNvPr id="166" name="Google Shape;166;p20"/>
          <p:cNvGrpSpPr/>
          <p:nvPr/>
        </p:nvGrpSpPr>
        <p:grpSpPr>
          <a:xfrm>
            <a:off x="1007125" y="2537957"/>
            <a:ext cx="1622100" cy="400200"/>
            <a:chOff x="6018775" y="2332475"/>
            <a:chExt cx="1622100" cy="400200"/>
          </a:xfrm>
        </p:grpSpPr>
        <p:sp>
          <p:nvSpPr>
            <p:cNvPr id="167" name="Google Shape;167;p20"/>
            <p:cNvSpPr/>
            <p:nvPr/>
          </p:nvSpPr>
          <p:spPr>
            <a:xfrm>
              <a:off x="6018775" y="2367143"/>
              <a:ext cx="1134900" cy="25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68" name="Google Shape;168;p20"/>
            <p:cNvCxnSpPr/>
            <p:nvPr/>
          </p:nvCxnSpPr>
          <p:spPr>
            <a:xfrm flipH="1" rot="10800000">
              <a:off x="6280675" y="2618900"/>
              <a:ext cx="1360200" cy="8700"/>
            </a:xfrm>
            <a:prstGeom prst="straightConnector1">
              <a:avLst/>
            </a:prstGeom>
            <a:noFill/>
            <a:ln cap="flat" cmpd="sng" w="9525">
              <a:solidFill>
                <a:srgbClr val="595959"/>
              </a:solidFill>
              <a:prstDash val="solid"/>
              <a:round/>
              <a:headEnd len="med" w="med" type="none"/>
              <a:tailEnd len="med" w="med" type="triangle"/>
            </a:ln>
          </p:spPr>
        </p:cxnSp>
        <p:sp>
          <p:nvSpPr>
            <p:cNvPr id="169" name="Google Shape;169;p20"/>
            <p:cNvSpPr txBox="1"/>
            <p:nvPr/>
          </p:nvSpPr>
          <p:spPr>
            <a:xfrm>
              <a:off x="6400000" y="2332475"/>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Repoblar</a:t>
              </a:r>
              <a:endParaRPr/>
            </a:p>
          </p:txBody>
        </p:sp>
      </p:grpSp>
      <p:grpSp>
        <p:nvGrpSpPr>
          <p:cNvPr id="170" name="Google Shape;170;p20"/>
          <p:cNvGrpSpPr/>
          <p:nvPr/>
        </p:nvGrpSpPr>
        <p:grpSpPr>
          <a:xfrm>
            <a:off x="7531350" y="2557831"/>
            <a:ext cx="1764964" cy="846393"/>
            <a:chOff x="5834787" y="3940014"/>
            <a:chExt cx="2168794" cy="846393"/>
          </a:xfrm>
        </p:grpSpPr>
        <p:grpSp>
          <p:nvGrpSpPr>
            <p:cNvPr id="171" name="Google Shape;171;p20"/>
            <p:cNvGrpSpPr/>
            <p:nvPr/>
          </p:nvGrpSpPr>
          <p:grpSpPr>
            <a:xfrm>
              <a:off x="5901398" y="3940107"/>
              <a:ext cx="800400" cy="846300"/>
              <a:chOff x="5856786" y="2367236"/>
              <a:chExt cx="800400" cy="846300"/>
            </a:xfrm>
          </p:grpSpPr>
          <p:sp>
            <p:nvSpPr>
              <p:cNvPr id="172" name="Google Shape;172;p20"/>
              <p:cNvSpPr/>
              <p:nvPr/>
            </p:nvSpPr>
            <p:spPr>
              <a:xfrm rot="10798711">
                <a:off x="5856786" y="2367386"/>
                <a:ext cx="8004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3" name="Google Shape;173;p20"/>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174" name="Google Shape;174;p20"/>
            <p:cNvSpPr/>
            <p:nvPr/>
          </p:nvSpPr>
          <p:spPr>
            <a:xfrm>
              <a:off x="5834787" y="3940014"/>
              <a:ext cx="1134900" cy="25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20"/>
            <p:cNvSpPr txBox="1"/>
            <p:nvPr/>
          </p:nvSpPr>
          <p:spPr>
            <a:xfrm>
              <a:off x="6607980" y="4286362"/>
              <a:ext cx="139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No pescar</a:t>
              </a:r>
              <a:endParaRPr/>
            </a:p>
          </p:txBody>
        </p:sp>
      </p:grpSp>
      <p:grpSp>
        <p:nvGrpSpPr>
          <p:cNvPr id="176" name="Google Shape;176;p20"/>
          <p:cNvGrpSpPr/>
          <p:nvPr/>
        </p:nvGrpSpPr>
        <p:grpSpPr>
          <a:xfrm rot="10800000">
            <a:off x="1310902" y="1620498"/>
            <a:ext cx="1901330" cy="1016368"/>
            <a:chOff x="6018794" y="2197091"/>
            <a:chExt cx="1901330" cy="1016368"/>
          </a:xfrm>
        </p:grpSpPr>
        <p:grpSp>
          <p:nvGrpSpPr>
            <p:cNvPr id="177" name="Google Shape;177;p20"/>
            <p:cNvGrpSpPr/>
            <p:nvPr/>
          </p:nvGrpSpPr>
          <p:grpSpPr>
            <a:xfrm>
              <a:off x="6085370" y="2367160"/>
              <a:ext cx="1064100" cy="846300"/>
              <a:chOff x="5856770" y="2367160"/>
              <a:chExt cx="1064100" cy="846300"/>
            </a:xfrm>
          </p:grpSpPr>
          <p:sp>
            <p:nvSpPr>
              <p:cNvPr id="178" name="Google Shape;178;p20"/>
              <p:cNvSpPr/>
              <p:nvPr/>
            </p:nvSpPr>
            <p:spPr>
              <a:xfrm rot="10799031">
                <a:off x="5856770" y="2367310"/>
                <a:ext cx="10641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9" name="Google Shape;179;p20"/>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180" name="Google Shape;180;p20"/>
            <p:cNvSpPr/>
            <p:nvPr/>
          </p:nvSpPr>
          <p:spPr>
            <a:xfrm>
              <a:off x="6018794" y="2197091"/>
              <a:ext cx="1134900" cy="423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1" name="Google Shape;181;p20"/>
            <p:cNvCxnSpPr/>
            <p:nvPr/>
          </p:nvCxnSpPr>
          <p:spPr>
            <a:xfrm>
              <a:off x="6543724" y="2631089"/>
              <a:ext cx="1376400" cy="5100"/>
            </a:xfrm>
            <a:prstGeom prst="straightConnector1">
              <a:avLst/>
            </a:prstGeom>
            <a:noFill/>
            <a:ln cap="flat" cmpd="sng" w="9525">
              <a:solidFill>
                <a:srgbClr val="595959"/>
              </a:solidFill>
              <a:prstDash val="solid"/>
              <a:round/>
              <a:headEnd len="med" w="med" type="none"/>
              <a:tailEnd len="med" w="med" type="triangle"/>
            </a:ln>
          </p:spPr>
        </p:cxnSp>
        <p:sp>
          <p:nvSpPr>
            <p:cNvPr id="182" name="Google Shape;182;p20"/>
            <p:cNvSpPr txBox="1"/>
            <p:nvPr/>
          </p:nvSpPr>
          <p:spPr>
            <a:xfrm flipH="1" rot="10800000">
              <a:off x="6086223" y="234145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Pescar</a:t>
              </a:r>
              <a:endParaRPr/>
            </a:p>
          </p:txBody>
        </p:sp>
      </p:grpSp>
      <p:grpSp>
        <p:nvGrpSpPr>
          <p:cNvPr id="183" name="Google Shape;183;p20"/>
          <p:cNvGrpSpPr/>
          <p:nvPr/>
        </p:nvGrpSpPr>
        <p:grpSpPr>
          <a:xfrm>
            <a:off x="3402900" y="2548854"/>
            <a:ext cx="1622100" cy="880985"/>
            <a:chOff x="6018775" y="2332475"/>
            <a:chExt cx="1622100" cy="880985"/>
          </a:xfrm>
        </p:grpSpPr>
        <p:grpSp>
          <p:nvGrpSpPr>
            <p:cNvPr id="184" name="Google Shape;184;p20"/>
            <p:cNvGrpSpPr/>
            <p:nvPr/>
          </p:nvGrpSpPr>
          <p:grpSpPr>
            <a:xfrm>
              <a:off x="6085370" y="2367160"/>
              <a:ext cx="1064100" cy="846300"/>
              <a:chOff x="5856770" y="2367160"/>
              <a:chExt cx="1064100" cy="846300"/>
            </a:xfrm>
          </p:grpSpPr>
          <p:sp>
            <p:nvSpPr>
              <p:cNvPr id="185" name="Google Shape;185;p20"/>
              <p:cNvSpPr/>
              <p:nvPr/>
            </p:nvSpPr>
            <p:spPr>
              <a:xfrm rot="10799031">
                <a:off x="5856770" y="2367310"/>
                <a:ext cx="10641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6" name="Google Shape;186;p20"/>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187" name="Google Shape;187;p20"/>
            <p:cNvSpPr/>
            <p:nvPr/>
          </p:nvSpPr>
          <p:spPr>
            <a:xfrm>
              <a:off x="6018775" y="2367143"/>
              <a:ext cx="1134900" cy="25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8" name="Google Shape;188;p20"/>
            <p:cNvCxnSpPr/>
            <p:nvPr/>
          </p:nvCxnSpPr>
          <p:spPr>
            <a:xfrm flipH="1" rot="10800000">
              <a:off x="6280675" y="2618900"/>
              <a:ext cx="1360200" cy="8700"/>
            </a:xfrm>
            <a:prstGeom prst="straightConnector1">
              <a:avLst/>
            </a:prstGeom>
            <a:noFill/>
            <a:ln cap="flat" cmpd="sng" w="9525">
              <a:solidFill>
                <a:srgbClr val="595959"/>
              </a:solidFill>
              <a:prstDash val="solid"/>
              <a:round/>
              <a:headEnd len="med" w="med" type="none"/>
              <a:tailEnd len="med" w="med" type="triangle"/>
            </a:ln>
          </p:spPr>
        </p:cxnSp>
        <p:sp>
          <p:nvSpPr>
            <p:cNvPr id="189" name="Google Shape;189;p20"/>
            <p:cNvSpPr txBox="1"/>
            <p:nvPr/>
          </p:nvSpPr>
          <p:spPr>
            <a:xfrm>
              <a:off x="6323800" y="2332475"/>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No pescar</a:t>
              </a:r>
              <a:endParaRPr/>
            </a:p>
          </p:txBody>
        </p:sp>
      </p:grpSp>
      <p:grpSp>
        <p:nvGrpSpPr>
          <p:cNvPr id="190" name="Google Shape;190;p20"/>
          <p:cNvGrpSpPr/>
          <p:nvPr/>
        </p:nvGrpSpPr>
        <p:grpSpPr>
          <a:xfrm rot="10800000">
            <a:off x="6089252" y="1630031"/>
            <a:ext cx="1901340" cy="1236371"/>
            <a:chOff x="6018785" y="1977089"/>
            <a:chExt cx="1901340" cy="1236371"/>
          </a:xfrm>
        </p:grpSpPr>
        <p:grpSp>
          <p:nvGrpSpPr>
            <p:cNvPr id="191" name="Google Shape;191;p20"/>
            <p:cNvGrpSpPr/>
            <p:nvPr/>
          </p:nvGrpSpPr>
          <p:grpSpPr>
            <a:xfrm>
              <a:off x="6085370" y="2367160"/>
              <a:ext cx="1064100" cy="846300"/>
              <a:chOff x="5856770" y="2367160"/>
              <a:chExt cx="1064100" cy="846300"/>
            </a:xfrm>
          </p:grpSpPr>
          <p:sp>
            <p:nvSpPr>
              <p:cNvPr id="192" name="Google Shape;192;p20"/>
              <p:cNvSpPr/>
              <p:nvPr/>
            </p:nvSpPr>
            <p:spPr>
              <a:xfrm rot="10799031">
                <a:off x="5856770" y="2367310"/>
                <a:ext cx="10641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3" name="Google Shape;193;p20"/>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194" name="Google Shape;194;p20"/>
            <p:cNvSpPr/>
            <p:nvPr/>
          </p:nvSpPr>
          <p:spPr>
            <a:xfrm>
              <a:off x="6018785" y="1977089"/>
              <a:ext cx="1134900" cy="64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5" name="Google Shape;195;p20"/>
            <p:cNvCxnSpPr/>
            <p:nvPr/>
          </p:nvCxnSpPr>
          <p:spPr>
            <a:xfrm>
              <a:off x="6543724" y="2631089"/>
              <a:ext cx="1376400" cy="5100"/>
            </a:xfrm>
            <a:prstGeom prst="straightConnector1">
              <a:avLst/>
            </a:prstGeom>
            <a:noFill/>
            <a:ln cap="flat" cmpd="sng" w="9525">
              <a:solidFill>
                <a:srgbClr val="595959"/>
              </a:solidFill>
              <a:prstDash val="solid"/>
              <a:round/>
              <a:headEnd len="med" w="med" type="none"/>
              <a:tailEnd len="med" w="med" type="triangle"/>
            </a:ln>
          </p:spPr>
        </p:cxnSp>
        <p:sp>
          <p:nvSpPr>
            <p:cNvPr id="196" name="Google Shape;196;p20"/>
            <p:cNvSpPr txBox="1"/>
            <p:nvPr/>
          </p:nvSpPr>
          <p:spPr>
            <a:xfrm flipH="1" rot="10800000">
              <a:off x="6086223" y="234145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Pescar</a:t>
              </a:r>
              <a:endParaRPr/>
            </a:p>
          </p:txBody>
        </p:sp>
      </p:grpSp>
      <p:grpSp>
        <p:nvGrpSpPr>
          <p:cNvPr id="197" name="Google Shape;197;p20"/>
          <p:cNvGrpSpPr/>
          <p:nvPr/>
        </p:nvGrpSpPr>
        <p:grpSpPr>
          <a:xfrm rot="10800000">
            <a:off x="3704845" y="1639858"/>
            <a:ext cx="1901330" cy="1016368"/>
            <a:chOff x="6018794" y="2197091"/>
            <a:chExt cx="1901330" cy="1016368"/>
          </a:xfrm>
        </p:grpSpPr>
        <p:grpSp>
          <p:nvGrpSpPr>
            <p:cNvPr id="198" name="Google Shape;198;p20"/>
            <p:cNvGrpSpPr/>
            <p:nvPr/>
          </p:nvGrpSpPr>
          <p:grpSpPr>
            <a:xfrm>
              <a:off x="6085370" y="2367160"/>
              <a:ext cx="1064100" cy="846300"/>
              <a:chOff x="5856770" y="2367160"/>
              <a:chExt cx="1064100" cy="846300"/>
            </a:xfrm>
          </p:grpSpPr>
          <p:sp>
            <p:nvSpPr>
              <p:cNvPr id="199" name="Google Shape;199;p20"/>
              <p:cNvSpPr/>
              <p:nvPr/>
            </p:nvSpPr>
            <p:spPr>
              <a:xfrm rot="10799031">
                <a:off x="5856770" y="2367310"/>
                <a:ext cx="10641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0" name="Google Shape;200;p20"/>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201" name="Google Shape;201;p20"/>
            <p:cNvSpPr/>
            <p:nvPr/>
          </p:nvSpPr>
          <p:spPr>
            <a:xfrm>
              <a:off x="6018794" y="2197091"/>
              <a:ext cx="1134900" cy="423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2" name="Google Shape;202;p20"/>
            <p:cNvCxnSpPr/>
            <p:nvPr/>
          </p:nvCxnSpPr>
          <p:spPr>
            <a:xfrm>
              <a:off x="6543724" y="2631089"/>
              <a:ext cx="1376400" cy="5100"/>
            </a:xfrm>
            <a:prstGeom prst="straightConnector1">
              <a:avLst/>
            </a:prstGeom>
            <a:noFill/>
            <a:ln cap="flat" cmpd="sng" w="9525">
              <a:solidFill>
                <a:srgbClr val="595959"/>
              </a:solidFill>
              <a:prstDash val="solid"/>
              <a:round/>
              <a:headEnd len="med" w="med" type="none"/>
              <a:tailEnd len="med" w="med" type="triangle"/>
            </a:ln>
          </p:spPr>
        </p:cxnSp>
        <p:sp>
          <p:nvSpPr>
            <p:cNvPr id="203" name="Google Shape;203;p20"/>
            <p:cNvSpPr txBox="1"/>
            <p:nvPr/>
          </p:nvSpPr>
          <p:spPr>
            <a:xfrm flipH="1" rot="10800000">
              <a:off x="6086223" y="234145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Pescar</a:t>
              </a:r>
              <a:endParaRPr/>
            </a:p>
          </p:txBody>
        </p:sp>
      </p:grpSp>
      <p:grpSp>
        <p:nvGrpSpPr>
          <p:cNvPr id="204" name="Google Shape;204;p20"/>
          <p:cNvGrpSpPr/>
          <p:nvPr/>
        </p:nvGrpSpPr>
        <p:grpSpPr>
          <a:xfrm>
            <a:off x="5812937" y="2550571"/>
            <a:ext cx="1622100" cy="880985"/>
            <a:chOff x="6018775" y="2332475"/>
            <a:chExt cx="1622100" cy="880985"/>
          </a:xfrm>
        </p:grpSpPr>
        <p:grpSp>
          <p:nvGrpSpPr>
            <p:cNvPr id="205" name="Google Shape;205;p20"/>
            <p:cNvGrpSpPr/>
            <p:nvPr/>
          </p:nvGrpSpPr>
          <p:grpSpPr>
            <a:xfrm>
              <a:off x="6085370" y="2367160"/>
              <a:ext cx="1064100" cy="846300"/>
              <a:chOff x="5856770" y="2367160"/>
              <a:chExt cx="1064100" cy="846300"/>
            </a:xfrm>
          </p:grpSpPr>
          <p:sp>
            <p:nvSpPr>
              <p:cNvPr id="206" name="Google Shape;206;p20"/>
              <p:cNvSpPr/>
              <p:nvPr/>
            </p:nvSpPr>
            <p:spPr>
              <a:xfrm rot="10799031">
                <a:off x="5856770" y="2367310"/>
                <a:ext cx="10641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7" name="Google Shape;207;p20"/>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208" name="Google Shape;208;p20"/>
            <p:cNvSpPr/>
            <p:nvPr/>
          </p:nvSpPr>
          <p:spPr>
            <a:xfrm>
              <a:off x="6018775" y="2367143"/>
              <a:ext cx="1134900" cy="25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9" name="Google Shape;209;p20"/>
            <p:cNvCxnSpPr/>
            <p:nvPr/>
          </p:nvCxnSpPr>
          <p:spPr>
            <a:xfrm flipH="1" rot="10800000">
              <a:off x="6280675" y="2618900"/>
              <a:ext cx="1360200" cy="8700"/>
            </a:xfrm>
            <a:prstGeom prst="straightConnector1">
              <a:avLst/>
            </a:prstGeom>
            <a:noFill/>
            <a:ln cap="flat" cmpd="sng" w="9525">
              <a:solidFill>
                <a:srgbClr val="595959"/>
              </a:solidFill>
              <a:prstDash val="solid"/>
              <a:round/>
              <a:headEnd len="med" w="med" type="none"/>
              <a:tailEnd len="med" w="med" type="triangle"/>
            </a:ln>
          </p:spPr>
        </p:cxnSp>
        <p:sp>
          <p:nvSpPr>
            <p:cNvPr id="210" name="Google Shape;210;p20"/>
            <p:cNvSpPr txBox="1"/>
            <p:nvPr/>
          </p:nvSpPr>
          <p:spPr>
            <a:xfrm>
              <a:off x="6323800" y="2332475"/>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No pescar</a:t>
              </a:r>
              <a:endParaRPr/>
            </a:p>
          </p:txBody>
        </p:sp>
      </p:grpSp>
      <p:sp>
        <p:nvSpPr>
          <p:cNvPr id="211" name="Google Shape;211;p20"/>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Pesca de salmones</a:t>
            </a:r>
            <a:endParaRPr/>
          </a:p>
        </p:txBody>
      </p:sp>
      <p:grpSp>
        <p:nvGrpSpPr>
          <p:cNvPr id="212" name="Google Shape;212;p20"/>
          <p:cNvGrpSpPr/>
          <p:nvPr/>
        </p:nvGrpSpPr>
        <p:grpSpPr>
          <a:xfrm>
            <a:off x="4952650" y="2045942"/>
            <a:ext cx="1230600" cy="1011047"/>
            <a:chOff x="5365870" y="2045950"/>
            <a:chExt cx="1230600" cy="759900"/>
          </a:xfrm>
        </p:grpSpPr>
        <p:sp>
          <p:nvSpPr>
            <p:cNvPr id="213" name="Google Shape;213;p20"/>
            <p:cNvSpPr/>
            <p:nvPr/>
          </p:nvSpPr>
          <p:spPr>
            <a:xfrm>
              <a:off x="5365870" y="2045950"/>
              <a:ext cx="1230600" cy="7599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20"/>
            <p:cNvSpPr txBox="1"/>
            <p:nvPr/>
          </p:nvSpPr>
          <p:spPr>
            <a:xfrm>
              <a:off x="5455575" y="2254253"/>
              <a:ext cx="1073100" cy="3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mediano</a:t>
              </a:r>
              <a:endParaRPr/>
            </a:p>
          </p:txBody>
        </p:sp>
      </p:grpSp>
      <p:cxnSp>
        <p:nvCxnSpPr>
          <p:cNvPr id="215" name="Google Shape;215;p20"/>
          <p:cNvCxnSpPr/>
          <p:nvPr/>
        </p:nvCxnSpPr>
        <p:spPr>
          <a:xfrm rot="10800000">
            <a:off x="2995959" y="2450985"/>
            <a:ext cx="0" cy="100500"/>
          </a:xfrm>
          <a:prstGeom prst="straightConnector1">
            <a:avLst/>
          </a:prstGeom>
          <a:noFill/>
          <a:ln cap="flat" cmpd="sng" w="9525">
            <a:solidFill>
              <a:srgbClr val="595959"/>
            </a:solidFill>
            <a:prstDash val="solid"/>
            <a:round/>
            <a:headEnd len="med" w="med" type="none"/>
            <a:tailEnd len="med" w="med" type="triangle"/>
          </a:ln>
        </p:spPr>
      </p:cxnSp>
      <p:sp>
        <p:nvSpPr>
          <p:cNvPr id="216" name="Google Shape;216;p20"/>
          <p:cNvSpPr txBox="1"/>
          <p:nvPr/>
        </p:nvSpPr>
        <p:spPr>
          <a:xfrm>
            <a:off x="530887" y="1994657"/>
            <a:ext cx="78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vacío</a:t>
            </a:r>
            <a:endParaRPr/>
          </a:p>
        </p:txBody>
      </p:sp>
      <p:grpSp>
        <p:nvGrpSpPr>
          <p:cNvPr id="217" name="Google Shape;217;p20"/>
          <p:cNvGrpSpPr/>
          <p:nvPr/>
        </p:nvGrpSpPr>
        <p:grpSpPr>
          <a:xfrm>
            <a:off x="7336200" y="2045942"/>
            <a:ext cx="1230600" cy="1011047"/>
            <a:chOff x="7564800" y="2045950"/>
            <a:chExt cx="1230600" cy="759900"/>
          </a:xfrm>
        </p:grpSpPr>
        <p:sp>
          <p:nvSpPr>
            <p:cNvPr id="218" name="Google Shape;218;p20"/>
            <p:cNvSpPr/>
            <p:nvPr/>
          </p:nvSpPr>
          <p:spPr>
            <a:xfrm>
              <a:off x="7564800" y="2045950"/>
              <a:ext cx="1230600" cy="7599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 name="Google Shape;219;p20"/>
            <p:cNvSpPr txBox="1"/>
            <p:nvPr/>
          </p:nvSpPr>
          <p:spPr>
            <a:xfrm>
              <a:off x="7901202" y="2245256"/>
              <a:ext cx="717300" cy="3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alto</a:t>
              </a:r>
              <a:endParaRPr/>
            </a:p>
          </p:txBody>
        </p:sp>
      </p:grpSp>
      <p:grpSp>
        <p:nvGrpSpPr>
          <p:cNvPr id="220" name="Google Shape;220;p20"/>
          <p:cNvGrpSpPr/>
          <p:nvPr/>
        </p:nvGrpSpPr>
        <p:grpSpPr>
          <a:xfrm>
            <a:off x="2569100" y="2045866"/>
            <a:ext cx="1230600" cy="1011047"/>
            <a:chOff x="2609250" y="2045950"/>
            <a:chExt cx="1230600" cy="759900"/>
          </a:xfrm>
        </p:grpSpPr>
        <p:sp>
          <p:nvSpPr>
            <p:cNvPr id="221" name="Google Shape;221;p20"/>
            <p:cNvSpPr/>
            <p:nvPr/>
          </p:nvSpPr>
          <p:spPr>
            <a:xfrm>
              <a:off x="2609250" y="2045950"/>
              <a:ext cx="1230600" cy="7599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 name="Google Shape;222;p20"/>
            <p:cNvSpPr txBox="1"/>
            <p:nvPr/>
          </p:nvSpPr>
          <p:spPr>
            <a:xfrm>
              <a:off x="2913474" y="2254470"/>
              <a:ext cx="717300" cy="3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bajo</a:t>
              </a:r>
              <a:endParaRPr/>
            </a:p>
          </p:txBody>
        </p:sp>
      </p:grpSp>
      <p:grpSp>
        <p:nvGrpSpPr>
          <p:cNvPr id="223" name="Google Shape;223;p20"/>
          <p:cNvGrpSpPr/>
          <p:nvPr/>
        </p:nvGrpSpPr>
        <p:grpSpPr>
          <a:xfrm>
            <a:off x="185550" y="2045942"/>
            <a:ext cx="1230600" cy="1011047"/>
            <a:chOff x="414150" y="2045950"/>
            <a:chExt cx="1230600" cy="759900"/>
          </a:xfrm>
        </p:grpSpPr>
        <p:sp>
          <p:nvSpPr>
            <p:cNvPr id="224" name="Google Shape;224;p20"/>
            <p:cNvSpPr/>
            <p:nvPr/>
          </p:nvSpPr>
          <p:spPr>
            <a:xfrm>
              <a:off x="414150" y="2045950"/>
              <a:ext cx="1230600" cy="7599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5" name="Google Shape;225;p20"/>
            <p:cNvSpPr txBox="1"/>
            <p:nvPr/>
          </p:nvSpPr>
          <p:spPr>
            <a:xfrm>
              <a:off x="670800" y="2252428"/>
              <a:ext cx="789600" cy="3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vacío</a:t>
              </a:r>
              <a:endParaRPr/>
            </a:p>
          </p:txBody>
        </p:sp>
      </p:grpSp>
      <p:sp>
        <p:nvSpPr>
          <p:cNvPr id="226" name="Google Shape;226;p20"/>
          <p:cNvSpPr txBox="1"/>
          <p:nvPr/>
        </p:nvSpPr>
        <p:spPr>
          <a:xfrm>
            <a:off x="1340636" y="2766557"/>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-$200000</a:t>
            </a:r>
            <a:endParaRPr>
              <a:solidFill>
                <a:schemeClr val="accent1"/>
              </a:solidFill>
            </a:endParaRPr>
          </a:p>
        </p:txBody>
      </p:sp>
      <p:sp>
        <p:nvSpPr>
          <p:cNvPr id="227" name="Google Shape;227;p20"/>
          <p:cNvSpPr txBox="1"/>
          <p:nvPr/>
        </p:nvSpPr>
        <p:spPr>
          <a:xfrm>
            <a:off x="1946913" y="2256013"/>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$5000</a:t>
            </a:r>
            <a:endParaRPr>
              <a:solidFill>
                <a:schemeClr val="accent1"/>
              </a:solidFill>
            </a:endParaRPr>
          </a:p>
        </p:txBody>
      </p:sp>
      <p:sp>
        <p:nvSpPr>
          <p:cNvPr id="228" name="Google Shape;228;p20"/>
          <p:cNvSpPr txBox="1"/>
          <p:nvPr/>
        </p:nvSpPr>
        <p:spPr>
          <a:xfrm>
            <a:off x="4242314" y="2265556"/>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$10000</a:t>
            </a:r>
            <a:endParaRPr>
              <a:solidFill>
                <a:schemeClr val="accent1"/>
              </a:solidFill>
            </a:endParaRPr>
          </a:p>
        </p:txBody>
      </p:sp>
      <p:sp>
        <p:nvSpPr>
          <p:cNvPr id="229" name="Google Shape;229;p20"/>
          <p:cNvSpPr txBox="1"/>
          <p:nvPr/>
        </p:nvSpPr>
        <p:spPr>
          <a:xfrm>
            <a:off x="6610887" y="226542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$50000</a:t>
            </a:r>
            <a:endParaRPr>
              <a:solidFill>
                <a:schemeClr val="accent1"/>
              </a:solidFill>
            </a:endParaRPr>
          </a:p>
        </p:txBody>
      </p:sp>
      <p:sp>
        <p:nvSpPr>
          <p:cNvPr id="230" name="Google Shape;230;p20"/>
          <p:cNvSpPr txBox="1"/>
          <p:nvPr/>
        </p:nvSpPr>
        <p:spPr>
          <a:xfrm>
            <a:off x="3659209" y="2742635"/>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$0</a:t>
            </a:r>
            <a:endParaRPr>
              <a:solidFill>
                <a:schemeClr val="accent1"/>
              </a:solidFill>
            </a:endParaRPr>
          </a:p>
        </p:txBody>
      </p:sp>
      <p:sp>
        <p:nvSpPr>
          <p:cNvPr id="231" name="Google Shape;231;p20"/>
          <p:cNvSpPr txBox="1"/>
          <p:nvPr/>
        </p:nvSpPr>
        <p:spPr>
          <a:xfrm>
            <a:off x="6104110" y="2751090"/>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$0</a:t>
            </a:r>
            <a:endParaRPr>
              <a:solidFill>
                <a:schemeClr val="accent1"/>
              </a:solidFill>
            </a:endParaRPr>
          </a:p>
        </p:txBody>
      </p:sp>
      <p:sp>
        <p:nvSpPr>
          <p:cNvPr id="232" name="Google Shape;232;p20"/>
          <p:cNvSpPr txBox="1"/>
          <p:nvPr/>
        </p:nvSpPr>
        <p:spPr>
          <a:xfrm>
            <a:off x="8172344" y="3066494"/>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$0</a:t>
            </a:r>
            <a:endParaRPr>
              <a:solidFill>
                <a:schemeClr val="accen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grpSp>
        <p:nvGrpSpPr>
          <p:cNvPr id="237" name="Google Shape;237;p21"/>
          <p:cNvGrpSpPr/>
          <p:nvPr/>
        </p:nvGrpSpPr>
        <p:grpSpPr>
          <a:xfrm>
            <a:off x="1007125" y="2537957"/>
            <a:ext cx="1622100" cy="400200"/>
            <a:chOff x="6018775" y="2332475"/>
            <a:chExt cx="1622100" cy="400200"/>
          </a:xfrm>
        </p:grpSpPr>
        <p:sp>
          <p:nvSpPr>
            <p:cNvPr id="238" name="Google Shape;238;p21"/>
            <p:cNvSpPr/>
            <p:nvPr/>
          </p:nvSpPr>
          <p:spPr>
            <a:xfrm>
              <a:off x="6018775" y="2367143"/>
              <a:ext cx="1134900" cy="25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39" name="Google Shape;239;p21"/>
            <p:cNvCxnSpPr/>
            <p:nvPr/>
          </p:nvCxnSpPr>
          <p:spPr>
            <a:xfrm flipH="1" rot="10800000">
              <a:off x="6280675" y="2618900"/>
              <a:ext cx="1360200" cy="8700"/>
            </a:xfrm>
            <a:prstGeom prst="straightConnector1">
              <a:avLst/>
            </a:prstGeom>
            <a:noFill/>
            <a:ln cap="flat" cmpd="sng" w="9525">
              <a:solidFill>
                <a:srgbClr val="595959"/>
              </a:solidFill>
              <a:prstDash val="solid"/>
              <a:round/>
              <a:headEnd len="med" w="med" type="none"/>
              <a:tailEnd len="med" w="med" type="triangle"/>
            </a:ln>
          </p:spPr>
        </p:cxnSp>
        <p:sp>
          <p:nvSpPr>
            <p:cNvPr id="240" name="Google Shape;240;p21"/>
            <p:cNvSpPr txBox="1"/>
            <p:nvPr/>
          </p:nvSpPr>
          <p:spPr>
            <a:xfrm>
              <a:off x="6400000" y="2332475"/>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Repoblar</a:t>
              </a:r>
              <a:endParaRPr/>
            </a:p>
          </p:txBody>
        </p:sp>
      </p:grpSp>
      <p:grpSp>
        <p:nvGrpSpPr>
          <p:cNvPr id="241" name="Google Shape;241;p21"/>
          <p:cNvGrpSpPr/>
          <p:nvPr/>
        </p:nvGrpSpPr>
        <p:grpSpPr>
          <a:xfrm>
            <a:off x="7531350" y="2557831"/>
            <a:ext cx="1764964" cy="846393"/>
            <a:chOff x="5834787" y="3940014"/>
            <a:chExt cx="2168794" cy="846393"/>
          </a:xfrm>
        </p:grpSpPr>
        <p:grpSp>
          <p:nvGrpSpPr>
            <p:cNvPr id="242" name="Google Shape;242;p21"/>
            <p:cNvGrpSpPr/>
            <p:nvPr/>
          </p:nvGrpSpPr>
          <p:grpSpPr>
            <a:xfrm>
              <a:off x="5901398" y="3940107"/>
              <a:ext cx="800400" cy="846300"/>
              <a:chOff x="5856786" y="2367236"/>
              <a:chExt cx="800400" cy="846300"/>
            </a:xfrm>
          </p:grpSpPr>
          <p:sp>
            <p:nvSpPr>
              <p:cNvPr id="243" name="Google Shape;243;p21"/>
              <p:cNvSpPr/>
              <p:nvPr/>
            </p:nvSpPr>
            <p:spPr>
              <a:xfrm rot="10798711">
                <a:off x="5856786" y="2367386"/>
                <a:ext cx="8004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44" name="Google Shape;244;p21"/>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245" name="Google Shape;245;p21"/>
            <p:cNvSpPr/>
            <p:nvPr/>
          </p:nvSpPr>
          <p:spPr>
            <a:xfrm>
              <a:off x="5834787" y="3940014"/>
              <a:ext cx="1134900" cy="25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21"/>
            <p:cNvSpPr txBox="1"/>
            <p:nvPr/>
          </p:nvSpPr>
          <p:spPr>
            <a:xfrm>
              <a:off x="6607980" y="4286362"/>
              <a:ext cx="139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No pescar</a:t>
              </a:r>
              <a:endParaRPr/>
            </a:p>
          </p:txBody>
        </p:sp>
      </p:grpSp>
      <p:grpSp>
        <p:nvGrpSpPr>
          <p:cNvPr id="247" name="Google Shape;247;p21"/>
          <p:cNvGrpSpPr/>
          <p:nvPr/>
        </p:nvGrpSpPr>
        <p:grpSpPr>
          <a:xfrm rot="10800000">
            <a:off x="1310902" y="1620498"/>
            <a:ext cx="1901330" cy="1016368"/>
            <a:chOff x="6018794" y="2197091"/>
            <a:chExt cx="1901330" cy="1016368"/>
          </a:xfrm>
        </p:grpSpPr>
        <p:grpSp>
          <p:nvGrpSpPr>
            <p:cNvPr id="248" name="Google Shape;248;p21"/>
            <p:cNvGrpSpPr/>
            <p:nvPr/>
          </p:nvGrpSpPr>
          <p:grpSpPr>
            <a:xfrm>
              <a:off x="6085370" y="2367160"/>
              <a:ext cx="1064100" cy="846300"/>
              <a:chOff x="5856770" y="2367160"/>
              <a:chExt cx="1064100" cy="846300"/>
            </a:xfrm>
          </p:grpSpPr>
          <p:sp>
            <p:nvSpPr>
              <p:cNvPr id="249" name="Google Shape;249;p21"/>
              <p:cNvSpPr/>
              <p:nvPr/>
            </p:nvSpPr>
            <p:spPr>
              <a:xfrm rot="10799031">
                <a:off x="5856770" y="2367310"/>
                <a:ext cx="10641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50" name="Google Shape;250;p21"/>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251" name="Google Shape;251;p21"/>
            <p:cNvSpPr/>
            <p:nvPr/>
          </p:nvSpPr>
          <p:spPr>
            <a:xfrm>
              <a:off x="6018794" y="2197091"/>
              <a:ext cx="1134900" cy="423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52" name="Google Shape;252;p21"/>
            <p:cNvCxnSpPr/>
            <p:nvPr/>
          </p:nvCxnSpPr>
          <p:spPr>
            <a:xfrm>
              <a:off x="6543724" y="2631089"/>
              <a:ext cx="1376400" cy="5100"/>
            </a:xfrm>
            <a:prstGeom prst="straightConnector1">
              <a:avLst/>
            </a:prstGeom>
            <a:noFill/>
            <a:ln cap="flat" cmpd="sng" w="9525">
              <a:solidFill>
                <a:srgbClr val="595959"/>
              </a:solidFill>
              <a:prstDash val="solid"/>
              <a:round/>
              <a:headEnd len="med" w="med" type="none"/>
              <a:tailEnd len="med" w="med" type="triangle"/>
            </a:ln>
          </p:spPr>
        </p:cxnSp>
        <p:sp>
          <p:nvSpPr>
            <p:cNvPr id="253" name="Google Shape;253;p21"/>
            <p:cNvSpPr txBox="1"/>
            <p:nvPr/>
          </p:nvSpPr>
          <p:spPr>
            <a:xfrm flipH="1" rot="10800000">
              <a:off x="6086223" y="234145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Pescar</a:t>
              </a:r>
              <a:endParaRPr/>
            </a:p>
          </p:txBody>
        </p:sp>
      </p:grpSp>
      <p:grpSp>
        <p:nvGrpSpPr>
          <p:cNvPr id="254" name="Google Shape;254;p21"/>
          <p:cNvGrpSpPr/>
          <p:nvPr/>
        </p:nvGrpSpPr>
        <p:grpSpPr>
          <a:xfrm>
            <a:off x="3402900" y="2548854"/>
            <a:ext cx="1622100" cy="880985"/>
            <a:chOff x="6018775" y="2332475"/>
            <a:chExt cx="1622100" cy="880985"/>
          </a:xfrm>
        </p:grpSpPr>
        <p:grpSp>
          <p:nvGrpSpPr>
            <p:cNvPr id="255" name="Google Shape;255;p21"/>
            <p:cNvGrpSpPr/>
            <p:nvPr/>
          </p:nvGrpSpPr>
          <p:grpSpPr>
            <a:xfrm>
              <a:off x="6085370" y="2367160"/>
              <a:ext cx="1064100" cy="846300"/>
              <a:chOff x="5856770" y="2367160"/>
              <a:chExt cx="1064100" cy="846300"/>
            </a:xfrm>
          </p:grpSpPr>
          <p:sp>
            <p:nvSpPr>
              <p:cNvPr id="256" name="Google Shape;256;p21"/>
              <p:cNvSpPr/>
              <p:nvPr/>
            </p:nvSpPr>
            <p:spPr>
              <a:xfrm rot="10799031">
                <a:off x="5856770" y="2367310"/>
                <a:ext cx="10641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57" name="Google Shape;257;p21"/>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258" name="Google Shape;258;p21"/>
            <p:cNvSpPr/>
            <p:nvPr/>
          </p:nvSpPr>
          <p:spPr>
            <a:xfrm>
              <a:off x="6018775" y="2367143"/>
              <a:ext cx="1134900" cy="25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59" name="Google Shape;259;p21"/>
            <p:cNvCxnSpPr/>
            <p:nvPr/>
          </p:nvCxnSpPr>
          <p:spPr>
            <a:xfrm flipH="1" rot="10800000">
              <a:off x="6280675" y="2618900"/>
              <a:ext cx="1360200" cy="8700"/>
            </a:xfrm>
            <a:prstGeom prst="straightConnector1">
              <a:avLst/>
            </a:prstGeom>
            <a:noFill/>
            <a:ln cap="flat" cmpd="sng" w="9525">
              <a:solidFill>
                <a:srgbClr val="595959"/>
              </a:solidFill>
              <a:prstDash val="solid"/>
              <a:round/>
              <a:headEnd len="med" w="med" type="none"/>
              <a:tailEnd len="med" w="med" type="triangle"/>
            </a:ln>
          </p:spPr>
        </p:cxnSp>
        <p:sp>
          <p:nvSpPr>
            <p:cNvPr id="260" name="Google Shape;260;p21"/>
            <p:cNvSpPr txBox="1"/>
            <p:nvPr/>
          </p:nvSpPr>
          <p:spPr>
            <a:xfrm>
              <a:off x="6323800" y="2332475"/>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No pescar</a:t>
              </a:r>
              <a:endParaRPr/>
            </a:p>
          </p:txBody>
        </p:sp>
      </p:grpSp>
      <p:grpSp>
        <p:nvGrpSpPr>
          <p:cNvPr id="261" name="Google Shape;261;p21"/>
          <p:cNvGrpSpPr/>
          <p:nvPr/>
        </p:nvGrpSpPr>
        <p:grpSpPr>
          <a:xfrm rot="10800000">
            <a:off x="6089252" y="1630031"/>
            <a:ext cx="1901340" cy="1236371"/>
            <a:chOff x="6018785" y="1977089"/>
            <a:chExt cx="1901340" cy="1236371"/>
          </a:xfrm>
        </p:grpSpPr>
        <p:grpSp>
          <p:nvGrpSpPr>
            <p:cNvPr id="262" name="Google Shape;262;p21"/>
            <p:cNvGrpSpPr/>
            <p:nvPr/>
          </p:nvGrpSpPr>
          <p:grpSpPr>
            <a:xfrm>
              <a:off x="6085370" y="2367160"/>
              <a:ext cx="1064100" cy="846300"/>
              <a:chOff x="5856770" y="2367160"/>
              <a:chExt cx="1064100" cy="846300"/>
            </a:xfrm>
          </p:grpSpPr>
          <p:sp>
            <p:nvSpPr>
              <p:cNvPr id="263" name="Google Shape;263;p21"/>
              <p:cNvSpPr/>
              <p:nvPr/>
            </p:nvSpPr>
            <p:spPr>
              <a:xfrm rot="10799031">
                <a:off x="5856770" y="2367310"/>
                <a:ext cx="10641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64" name="Google Shape;264;p21"/>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265" name="Google Shape;265;p21"/>
            <p:cNvSpPr/>
            <p:nvPr/>
          </p:nvSpPr>
          <p:spPr>
            <a:xfrm>
              <a:off x="6018785" y="1977089"/>
              <a:ext cx="1134900" cy="64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66" name="Google Shape;266;p21"/>
            <p:cNvCxnSpPr/>
            <p:nvPr/>
          </p:nvCxnSpPr>
          <p:spPr>
            <a:xfrm>
              <a:off x="6543724" y="2631089"/>
              <a:ext cx="1376400" cy="5100"/>
            </a:xfrm>
            <a:prstGeom prst="straightConnector1">
              <a:avLst/>
            </a:prstGeom>
            <a:noFill/>
            <a:ln cap="flat" cmpd="sng" w="9525">
              <a:solidFill>
                <a:srgbClr val="595959"/>
              </a:solidFill>
              <a:prstDash val="solid"/>
              <a:round/>
              <a:headEnd len="med" w="med" type="none"/>
              <a:tailEnd len="med" w="med" type="triangle"/>
            </a:ln>
          </p:spPr>
        </p:cxnSp>
        <p:sp>
          <p:nvSpPr>
            <p:cNvPr id="267" name="Google Shape;267;p21"/>
            <p:cNvSpPr txBox="1"/>
            <p:nvPr/>
          </p:nvSpPr>
          <p:spPr>
            <a:xfrm flipH="1" rot="10800000">
              <a:off x="6086223" y="234145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Pescar</a:t>
              </a:r>
              <a:endParaRPr/>
            </a:p>
          </p:txBody>
        </p:sp>
      </p:grpSp>
      <p:grpSp>
        <p:nvGrpSpPr>
          <p:cNvPr id="268" name="Google Shape;268;p21"/>
          <p:cNvGrpSpPr/>
          <p:nvPr/>
        </p:nvGrpSpPr>
        <p:grpSpPr>
          <a:xfrm rot="10800000">
            <a:off x="3704845" y="1639858"/>
            <a:ext cx="1901330" cy="1016368"/>
            <a:chOff x="6018794" y="2197091"/>
            <a:chExt cx="1901330" cy="1016368"/>
          </a:xfrm>
        </p:grpSpPr>
        <p:grpSp>
          <p:nvGrpSpPr>
            <p:cNvPr id="269" name="Google Shape;269;p21"/>
            <p:cNvGrpSpPr/>
            <p:nvPr/>
          </p:nvGrpSpPr>
          <p:grpSpPr>
            <a:xfrm>
              <a:off x="6085370" y="2367160"/>
              <a:ext cx="1064100" cy="846300"/>
              <a:chOff x="5856770" y="2367160"/>
              <a:chExt cx="1064100" cy="846300"/>
            </a:xfrm>
          </p:grpSpPr>
          <p:sp>
            <p:nvSpPr>
              <p:cNvPr id="270" name="Google Shape;270;p21"/>
              <p:cNvSpPr/>
              <p:nvPr/>
            </p:nvSpPr>
            <p:spPr>
              <a:xfrm rot="10799031">
                <a:off x="5856770" y="2367310"/>
                <a:ext cx="10641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71" name="Google Shape;271;p21"/>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272" name="Google Shape;272;p21"/>
            <p:cNvSpPr/>
            <p:nvPr/>
          </p:nvSpPr>
          <p:spPr>
            <a:xfrm>
              <a:off x="6018794" y="2197091"/>
              <a:ext cx="1134900" cy="423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73" name="Google Shape;273;p21"/>
            <p:cNvCxnSpPr/>
            <p:nvPr/>
          </p:nvCxnSpPr>
          <p:spPr>
            <a:xfrm>
              <a:off x="6543724" y="2631089"/>
              <a:ext cx="1376400" cy="5100"/>
            </a:xfrm>
            <a:prstGeom prst="straightConnector1">
              <a:avLst/>
            </a:prstGeom>
            <a:noFill/>
            <a:ln cap="flat" cmpd="sng" w="9525">
              <a:solidFill>
                <a:srgbClr val="595959"/>
              </a:solidFill>
              <a:prstDash val="solid"/>
              <a:round/>
              <a:headEnd len="med" w="med" type="none"/>
              <a:tailEnd len="med" w="med" type="triangle"/>
            </a:ln>
          </p:spPr>
        </p:cxnSp>
        <p:sp>
          <p:nvSpPr>
            <p:cNvPr id="274" name="Google Shape;274;p21"/>
            <p:cNvSpPr txBox="1"/>
            <p:nvPr/>
          </p:nvSpPr>
          <p:spPr>
            <a:xfrm flipH="1" rot="10800000">
              <a:off x="6086223" y="234145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Pescar</a:t>
              </a:r>
              <a:endParaRPr/>
            </a:p>
          </p:txBody>
        </p:sp>
      </p:grpSp>
      <p:grpSp>
        <p:nvGrpSpPr>
          <p:cNvPr id="275" name="Google Shape;275;p21"/>
          <p:cNvGrpSpPr/>
          <p:nvPr/>
        </p:nvGrpSpPr>
        <p:grpSpPr>
          <a:xfrm>
            <a:off x="5812937" y="2550571"/>
            <a:ext cx="1622100" cy="880985"/>
            <a:chOff x="6018775" y="2332475"/>
            <a:chExt cx="1622100" cy="880985"/>
          </a:xfrm>
        </p:grpSpPr>
        <p:grpSp>
          <p:nvGrpSpPr>
            <p:cNvPr id="276" name="Google Shape;276;p21"/>
            <p:cNvGrpSpPr/>
            <p:nvPr/>
          </p:nvGrpSpPr>
          <p:grpSpPr>
            <a:xfrm>
              <a:off x="6085370" y="2367160"/>
              <a:ext cx="1064100" cy="846300"/>
              <a:chOff x="5856770" y="2367160"/>
              <a:chExt cx="1064100" cy="846300"/>
            </a:xfrm>
          </p:grpSpPr>
          <p:sp>
            <p:nvSpPr>
              <p:cNvPr id="277" name="Google Shape;277;p21"/>
              <p:cNvSpPr/>
              <p:nvPr/>
            </p:nvSpPr>
            <p:spPr>
              <a:xfrm rot="10799031">
                <a:off x="5856770" y="2367310"/>
                <a:ext cx="10641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78" name="Google Shape;278;p21"/>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279" name="Google Shape;279;p21"/>
            <p:cNvSpPr/>
            <p:nvPr/>
          </p:nvSpPr>
          <p:spPr>
            <a:xfrm>
              <a:off x="6018775" y="2367143"/>
              <a:ext cx="1134900" cy="25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80" name="Google Shape;280;p21"/>
            <p:cNvCxnSpPr/>
            <p:nvPr/>
          </p:nvCxnSpPr>
          <p:spPr>
            <a:xfrm flipH="1" rot="10800000">
              <a:off x="6280675" y="2618900"/>
              <a:ext cx="1360200" cy="8700"/>
            </a:xfrm>
            <a:prstGeom prst="straightConnector1">
              <a:avLst/>
            </a:prstGeom>
            <a:noFill/>
            <a:ln cap="flat" cmpd="sng" w="9525">
              <a:solidFill>
                <a:srgbClr val="595959"/>
              </a:solidFill>
              <a:prstDash val="solid"/>
              <a:round/>
              <a:headEnd len="med" w="med" type="none"/>
              <a:tailEnd len="med" w="med" type="triangle"/>
            </a:ln>
          </p:spPr>
        </p:cxnSp>
        <p:sp>
          <p:nvSpPr>
            <p:cNvPr id="281" name="Google Shape;281;p21"/>
            <p:cNvSpPr txBox="1"/>
            <p:nvPr/>
          </p:nvSpPr>
          <p:spPr>
            <a:xfrm>
              <a:off x="6323800" y="2332475"/>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No pescar</a:t>
              </a:r>
              <a:endParaRPr/>
            </a:p>
          </p:txBody>
        </p:sp>
      </p:grpSp>
      <p:sp>
        <p:nvSpPr>
          <p:cNvPr id="282" name="Google Shape;282;p21"/>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Pesca de salmones</a:t>
            </a:r>
            <a:endParaRPr/>
          </a:p>
        </p:txBody>
      </p:sp>
      <p:grpSp>
        <p:nvGrpSpPr>
          <p:cNvPr id="283" name="Google Shape;283;p21"/>
          <p:cNvGrpSpPr/>
          <p:nvPr/>
        </p:nvGrpSpPr>
        <p:grpSpPr>
          <a:xfrm>
            <a:off x="4952650" y="2045942"/>
            <a:ext cx="1230600" cy="1011047"/>
            <a:chOff x="5365870" y="2045950"/>
            <a:chExt cx="1230600" cy="759900"/>
          </a:xfrm>
        </p:grpSpPr>
        <p:sp>
          <p:nvSpPr>
            <p:cNvPr id="284" name="Google Shape;284;p21"/>
            <p:cNvSpPr/>
            <p:nvPr/>
          </p:nvSpPr>
          <p:spPr>
            <a:xfrm>
              <a:off x="5365870" y="2045950"/>
              <a:ext cx="1230600" cy="7599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5" name="Google Shape;285;p21"/>
            <p:cNvSpPr txBox="1"/>
            <p:nvPr/>
          </p:nvSpPr>
          <p:spPr>
            <a:xfrm>
              <a:off x="5455575" y="2254253"/>
              <a:ext cx="1073100" cy="3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mediano</a:t>
              </a:r>
              <a:endParaRPr/>
            </a:p>
          </p:txBody>
        </p:sp>
      </p:grpSp>
      <p:cxnSp>
        <p:nvCxnSpPr>
          <p:cNvPr id="286" name="Google Shape;286;p21"/>
          <p:cNvCxnSpPr/>
          <p:nvPr/>
        </p:nvCxnSpPr>
        <p:spPr>
          <a:xfrm rot="10800000">
            <a:off x="2995959" y="2450985"/>
            <a:ext cx="0" cy="100500"/>
          </a:xfrm>
          <a:prstGeom prst="straightConnector1">
            <a:avLst/>
          </a:prstGeom>
          <a:noFill/>
          <a:ln cap="flat" cmpd="sng" w="9525">
            <a:solidFill>
              <a:srgbClr val="595959"/>
            </a:solidFill>
            <a:prstDash val="solid"/>
            <a:round/>
            <a:headEnd len="med" w="med" type="none"/>
            <a:tailEnd len="med" w="med" type="triangle"/>
          </a:ln>
        </p:spPr>
      </p:cxnSp>
      <p:sp>
        <p:nvSpPr>
          <p:cNvPr id="287" name="Google Shape;287;p21"/>
          <p:cNvSpPr txBox="1"/>
          <p:nvPr/>
        </p:nvSpPr>
        <p:spPr>
          <a:xfrm>
            <a:off x="530887" y="1994657"/>
            <a:ext cx="78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vacío</a:t>
            </a:r>
            <a:endParaRPr/>
          </a:p>
        </p:txBody>
      </p:sp>
      <p:grpSp>
        <p:nvGrpSpPr>
          <p:cNvPr id="288" name="Google Shape;288;p21"/>
          <p:cNvGrpSpPr/>
          <p:nvPr/>
        </p:nvGrpSpPr>
        <p:grpSpPr>
          <a:xfrm>
            <a:off x="7336200" y="2045942"/>
            <a:ext cx="1230600" cy="1011047"/>
            <a:chOff x="7564800" y="2045950"/>
            <a:chExt cx="1230600" cy="759900"/>
          </a:xfrm>
        </p:grpSpPr>
        <p:sp>
          <p:nvSpPr>
            <p:cNvPr id="289" name="Google Shape;289;p21"/>
            <p:cNvSpPr/>
            <p:nvPr/>
          </p:nvSpPr>
          <p:spPr>
            <a:xfrm>
              <a:off x="7564800" y="2045950"/>
              <a:ext cx="1230600" cy="7599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0" name="Google Shape;290;p21"/>
            <p:cNvSpPr txBox="1"/>
            <p:nvPr/>
          </p:nvSpPr>
          <p:spPr>
            <a:xfrm>
              <a:off x="7901202" y="2245256"/>
              <a:ext cx="717300" cy="3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alto</a:t>
              </a:r>
              <a:endParaRPr/>
            </a:p>
          </p:txBody>
        </p:sp>
      </p:grpSp>
      <p:grpSp>
        <p:nvGrpSpPr>
          <p:cNvPr id="291" name="Google Shape;291;p21"/>
          <p:cNvGrpSpPr/>
          <p:nvPr/>
        </p:nvGrpSpPr>
        <p:grpSpPr>
          <a:xfrm>
            <a:off x="2569100" y="2045866"/>
            <a:ext cx="1230600" cy="1011047"/>
            <a:chOff x="2609250" y="2045950"/>
            <a:chExt cx="1230600" cy="759900"/>
          </a:xfrm>
        </p:grpSpPr>
        <p:sp>
          <p:nvSpPr>
            <p:cNvPr id="292" name="Google Shape;292;p21"/>
            <p:cNvSpPr/>
            <p:nvPr/>
          </p:nvSpPr>
          <p:spPr>
            <a:xfrm>
              <a:off x="2609250" y="2045950"/>
              <a:ext cx="1230600" cy="7599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3" name="Google Shape;293;p21"/>
            <p:cNvSpPr txBox="1"/>
            <p:nvPr/>
          </p:nvSpPr>
          <p:spPr>
            <a:xfrm>
              <a:off x="2913474" y="2254470"/>
              <a:ext cx="717300" cy="3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bajo</a:t>
              </a:r>
              <a:endParaRPr/>
            </a:p>
          </p:txBody>
        </p:sp>
      </p:grpSp>
      <p:grpSp>
        <p:nvGrpSpPr>
          <p:cNvPr id="294" name="Google Shape;294;p21"/>
          <p:cNvGrpSpPr/>
          <p:nvPr/>
        </p:nvGrpSpPr>
        <p:grpSpPr>
          <a:xfrm>
            <a:off x="185550" y="2045942"/>
            <a:ext cx="1230600" cy="1011047"/>
            <a:chOff x="414150" y="2045950"/>
            <a:chExt cx="1230600" cy="759900"/>
          </a:xfrm>
        </p:grpSpPr>
        <p:sp>
          <p:nvSpPr>
            <p:cNvPr id="295" name="Google Shape;295;p21"/>
            <p:cNvSpPr/>
            <p:nvPr/>
          </p:nvSpPr>
          <p:spPr>
            <a:xfrm>
              <a:off x="414150" y="2045950"/>
              <a:ext cx="1230600" cy="7599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21"/>
            <p:cNvSpPr txBox="1"/>
            <p:nvPr/>
          </p:nvSpPr>
          <p:spPr>
            <a:xfrm>
              <a:off x="670800" y="2252428"/>
              <a:ext cx="789600" cy="3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vacío</a:t>
              </a:r>
              <a:endParaRPr/>
            </a:p>
          </p:txBody>
        </p:sp>
      </p:grpSp>
      <p:sp>
        <p:nvSpPr>
          <p:cNvPr id="297" name="Google Shape;297;p21"/>
          <p:cNvSpPr txBox="1"/>
          <p:nvPr/>
        </p:nvSpPr>
        <p:spPr>
          <a:xfrm>
            <a:off x="1340636" y="2766557"/>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-$200000</a:t>
            </a:r>
            <a:endParaRPr>
              <a:solidFill>
                <a:schemeClr val="accent1"/>
              </a:solidFill>
            </a:endParaRPr>
          </a:p>
        </p:txBody>
      </p:sp>
      <p:sp>
        <p:nvSpPr>
          <p:cNvPr id="298" name="Google Shape;298;p21"/>
          <p:cNvSpPr txBox="1"/>
          <p:nvPr/>
        </p:nvSpPr>
        <p:spPr>
          <a:xfrm>
            <a:off x="1946913" y="2256013"/>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$5000</a:t>
            </a:r>
            <a:endParaRPr>
              <a:solidFill>
                <a:schemeClr val="accent1"/>
              </a:solidFill>
            </a:endParaRPr>
          </a:p>
        </p:txBody>
      </p:sp>
      <p:sp>
        <p:nvSpPr>
          <p:cNvPr id="299" name="Google Shape;299;p21"/>
          <p:cNvSpPr txBox="1"/>
          <p:nvPr/>
        </p:nvSpPr>
        <p:spPr>
          <a:xfrm>
            <a:off x="4242314" y="2265556"/>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$10000</a:t>
            </a:r>
            <a:endParaRPr>
              <a:solidFill>
                <a:schemeClr val="accent1"/>
              </a:solidFill>
            </a:endParaRPr>
          </a:p>
        </p:txBody>
      </p:sp>
      <p:sp>
        <p:nvSpPr>
          <p:cNvPr id="300" name="Google Shape;300;p21"/>
          <p:cNvSpPr txBox="1"/>
          <p:nvPr/>
        </p:nvSpPr>
        <p:spPr>
          <a:xfrm>
            <a:off x="6610887" y="226542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$50000</a:t>
            </a:r>
            <a:endParaRPr>
              <a:solidFill>
                <a:schemeClr val="accent1"/>
              </a:solidFill>
            </a:endParaRPr>
          </a:p>
        </p:txBody>
      </p:sp>
      <p:sp>
        <p:nvSpPr>
          <p:cNvPr id="301" name="Google Shape;301;p21"/>
          <p:cNvSpPr txBox="1"/>
          <p:nvPr/>
        </p:nvSpPr>
        <p:spPr>
          <a:xfrm>
            <a:off x="2284786" y="2752941"/>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1</a:t>
            </a:r>
            <a:endParaRPr>
              <a:solidFill>
                <a:srgbClr val="FF0000"/>
              </a:solidFill>
            </a:endParaRPr>
          </a:p>
        </p:txBody>
      </p:sp>
      <p:sp>
        <p:nvSpPr>
          <p:cNvPr id="302" name="Google Shape;302;p21"/>
          <p:cNvSpPr txBox="1"/>
          <p:nvPr/>
        </p:nvSpPr>
        <p:spPr>
          <a:xfrm>
            <a:off x="1503140" y="1889534"/>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0.75</a:t>
            </a:r>
            <a:endParaRPr>
              <a:solidFill>
                <a:srgbClr val="FF0000"/>
              </a:solidFill>
            </a:endParaRPr>
          </a:p>
        </p:txBody>
      </p:sp>
      <p:sp>
        <p:nvSpPr>
          <p:cNvPr id="303" name="Google Shape;303;p21"/>
          <p:cNvSpPr txBox="1"/>
          <p:nvPr/>
        </p:nvSpPr>
        <p:spPr>
          <a:xfrm>
            <a:off x="2172290" y="132623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0.25</a:t>
            </a:r>
            <a:endParaRPr>
              <a:solidFill>
                <a:srgbClr val="FF0000"/>
              </a:solidFill>
            </a:endParaRPr>
          </a:p>
        </p:txBody>
      </p:sp>
      <p:sp>
        <p:nvSpPr>
          <p:cNvPr id="304" name="Google Shape;304;p21"/>
          <p:cNvSpPr txBox="1"/>
          <p:nvPr/>
        </p:nvSpPr>
        <p:spPr>
          <a:xfrm>
            <a:off x="3786066" y="1922497"/>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0.75</a:t>
            </a:r>
            <a:endParaRPr>
              <a:solidFill>
                <a:srgbClr val="FF0000"/>
              </a:solidFill>
            </a:endParaRPr>
          </a:p>
        </p:txBody>
      </p:sp>
      <p:sp>
        <p:nvSpPr>
          <p:cNvPr id="305" name="Google Shape;305;p21"/>
          <p:cNvSpPr txBox="1"/>
          <p:nvPr/>
        </p:nvSpPr>
        <p:spPr>
          <a:xfrm>
            <a:off x="4455216" y="1359195"/>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0.25</a:t>
            </a:r>
            <a:endParaRPr>
              <a:solidFill>
                <a:srgbClr val="FF0000"/>
              </a:solidFill>
            </a:endParaRPr>
          </a:p>
        </p:txBody>
      </p:sp>
      <p:sp>
        <p:nvSpPr>
          <p:cNvPr id="306" name="Google Shape;306;p21"/>
          <p:cNvSpPr txBox="1"/>
          <p:nvPr/>
        </p:nvSpPr>
        <p:spPr>
          <a:xfrm>
            <a:off x="6231075" y="1921794"/>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0.6</a:t>
            </a:r>
            <a:endParaRPr>
              <a:solidFill>
                <a:srgbClr val="FF0000"/>
              </a:solidFill>
            </a:endParaRPr>
          </a:p>
        </p:txBody>
      </p:sp>
      <p:sp>
        <p:nvSpPr>
          <p:cNvPr id="307" name="Google Shape;307;p21"/>
          <p:cNvSpPr txBox="1"/>
          <p:nvPr/>
        </p:nvSpPr>
        <p:spPr>
          <a:xfrm>
            <a:off x="6900225" y="135849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0.4</a:t>
            </a:r>
            <a:endParaRPr>
              <a:solidFill>
                <a:srgbClr val="FF0000"/>
              </a:solidFill>
            </a:endParaRPr>
          </a:p>
        </p:txBody>
      </p:sp>
      <p:sp>
        <p:nvSpPr>
          <p:cNvPr id="308" name="Google Shape;308;p21"/>
          <p:cNvSpPr txBox="1"/>
          <p:nvPr/>
        </p:nvSpPr>
        <p:spPr>
          <a:xfrm>
            <a:off x="3814111" y="3324835"/>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0.3</a:t>
            </a:r>
            <a:endParaRPr>
              <a:solidFill>
                <a:srgbClr val="FF0000"/>
              </a:solidFill>
            </a:endParaRPr>
          </a:p>
        </p:txBody>
      </p:sp>
      <p:sp>
        <p:nvSpPr>
          <p:cNvPr id="309" name="Google Shape;309;p21"/>
          <p:cNvSpPr txBox="1"/>
          <p:nvPr/>
        </p:nvSpPr>
        <p:spPr>
          <a:xfrm>
            <a:off x="4483261" y="2761534"/>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0.7</a:t>
            </a:r>
            <a:endParaRPr>
              <a:solidFill>
                <a:srgbClr val="FF0000"/>
              </a:solidFill>
            </a:endParaRPr>
          </a:p>
        </p:txBody>
      </p:sp>
      <p:sp>
        <p:nvSpPr>
          <p:cNvPr id="310" name="Google Shape;310;p21"/>
          <p:cNvSpPr txBox="1"/>
          <p:nvPr/>
        </p:nvSpPr>
        <p:spPr>
          <a:xfrm>
            <a:off x="6209232" y="3325024"/>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0.25</a:t>
            </a:r>
            <a:endParaRPr>
              <a:solidFill>
                <a:srgbClr val="FF0000"/>
              </a:solidFill>
            </a:endParaRPr>
          </a:p>
        </p:txBody>
      </p:sp>
      <p:sp>
        <p:nvSpPr>
          <p:cNvPr id="311" name="Google Shape;311;p21"/>
          <p:cNvSpPr txBox="1"/>
          <p:nvPr/>
        </p:nvSpPr>
        <p:spPr>
          <a:xfrm>
            <a:off x="6878382" y="276172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0.75</a:t>
            </a:r>
            <a:endParaRPr>
              <a:solidFill>
                <a:srgbClr val="FF0000"/>
              </a:solidFill>
            </a:endParaRPr>
          </a:p>
        </p:txBody>
      </p:sp>
      <p:sp>
        <p:nvSpPr>
          <p:cNvPr id="312" name="Google Shape;312;p21"/>
          <p:cNvSpPr txBox="1"/>
          <p:nvPr/>
        </p:nvSpPr>
        <p:spPr>
          <a:xfrm>
            <a:off x="3659209" y="2742635"/>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$0</a:t>
            </a:r>
            <a:endParaRPr>
              <a:solidFill>
                <a:schemeClr val="accent1"/>
              </a:solidFill>
            </a:endParaRPr>
          </a:p>
        </p:txBody>
      </p:sp>
      <p:sp>
        <p:nvSpPr>
          <p:cNvPr id="313" name="Google Shape;313;p21"/>
          <p:cNvSpPr txBox="1"/>
          <p:nvPr/>
        </p:nvSpPr>
        <p:spPr>
          <a:xfrm>
            <a:off x="6104110" y="2751090"/>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$0</a:t>
            </a:r>
            <a:endParaRPr>
              <a:solidFill>
                <a:schemeClr val="accent1"/>
              </a:solidFill>
            </a:endParaRPr>
          </a:p>
        </p:txBody>
      </p:sp>
      <p:sp>
        <p:nvSpPr>
          <p:cNvPr id="314" name="Google Shape;314;p21"/>
          <p:cNvSpPr txBox="1"/>
          <p:nvPr/>
        </p:nvSpPr>
        <p:spPr>
          <a:xfrm>
            <a:off x="8172344" y="3066494"/>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$0</a:t>
            </a:r>
            <a:endParaRPr>
              <a:solidFill>
                <a:schemeClr val="accent1"/>
              </a:solidFill>
            </a:endParaRPr>
          </a:p>
        </p:txBody>
      </p:sp>
      <p:sp>
        <p:nvSpPr>
          <p:cNvPr id="315" name="Google Shape;315;p21"/>
          <p:cNvSpPr txBox="1"/>
          <p:nvPr/>
        </p:nvSpPr>
        <p:spPr>
          <a:xfrm>
            <a:off x="7803316" y="3315613"/>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1</a:t>
            </a:r>
            <a:endParaRPr>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grpSp>
        <p:nvGrpSpPr>
          <p:cNvPr id="320" name="Google Shape;320;p22"/>
          <p:cNvGrpSpPr/>
          <p:nvPr/>
        </p:nvGrpSpPr>
        <p:grpSpPr>
          <a:xfrm>
            <a:off x="1007125" y="2537957"/>
            <a:ext cx="1622100" cy="400200"/>
            <a:chOff x="6018775" y="2332475"/>
            <a:chExt cx="1622100" cy="400200"/>
          </a:xfrm>
        </p:grpSpPr>
        <p:sp>
          <p:nvSpPr>
            <p:cNvPr id="321" name="Google Shape;321;p22"/>
            <p:cNvSpPr/>
            <p:nvPr/>
          </p:nvSpPr>
          <p:spPr>
            <a:xfrm>
              <a:off x="6018775" y="2367143"/>
              <a:ext cx="1134900" cy="25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22" name="Google Shape;322;p22"/>
            <p:cNvCxnSpPr/>
            <p:nvPr/>
          </p:nvCxnSpPr>
          <p:spPr>
            <a:xfrm flipH="1" rot="10800000">
              <a:off x="6280675" y="2618900"/>
              <a:ext cx="1360200" cy="8700"/>
            </a:xfrm>
            <a:prstGeom prst="straightConnector1">
              <a:avLst/>
            </a:prstGeom>
            <a:noFill/>
            <a:ln cap="flat" cmpd="sng" w="9525">
              <a:solidFill>
                <a:srgbClr val="595959"/>
              </a:solidFill>
              <a:prstDash val="solid"/>
              <a:round/>
              <a:headEnd len="med" w="med" type="none"/>
              <a:tailEnd len="med" w="med" type="triangle"/>
            </a:ln>
          </p:spPr>
        </p:cxnSp>
        <p:sp>
          <p:nvSpPr>
            <p:cNvPr id="323" name="Google Shape;323;p22"/>
            <p:cNvSpPr txBox="1"/>
            <p:nvPr/>
          </p:nvSpPr>
          <p:spPr>
            <a:xfrm>
              <a:off x="6400000" y="2332475"/>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Repoblar</a:t>
              </a:r>
              <a:endParaRPr/>
            </a:p>
          </p:txBody>
        </p:sp>
      </p:grpSp>
      <p:grpSp>
        <p:nvGrpSpPr>
          <p:cNvPr id="324" name="Google Shape;324;p22"/>
          <p:cNvGrpSpPr/>
          <p:nvPr/>
        </p:nvGrpSpPr>
        <p:grpSpPr>
          <a:xfrm>
            <a:off x="7531350" y="2557831"/>
            <a:ext cx="1764964" cy="846393"/>
            <a:chOff x="5834787" y="3940014"/>
            <a:chExt cx="2168794" cy="846393"/>
          </a:xfrm>
        </p:grpSpPr>
        <p:grpSp>
          <p:nvGrpSpPr>
            <p:cNvPr id="325" name="Google Shape;325;p22"/>
            <p:cNvGrpSpPr/>
            <p:nvPr/>
          </p:nvGrpSpPr>
          <p:grpSpPr>
            <a:xfrm>
              <a:off x="5901398" y="3940107"/>
              <a:ext cx="800400" cy="846300"/>
              <a:chOff x="5856786" y="2367236"/>
              <a:chExt cx="800400" cy="846300"/>
            </a:xfrm>
          </p:grpSpPr>
          <p:sp>
            <p:nvSpPr>
              <p:cNvPr id="326" name="Google Shape;326;p22"/>
              <p:cNvSpPr/>
              <p:nvPr/>
            </p:nvSpPr>
            <p:spPr>
              <a:xfrm rot="10798711">
                <a:off x="5856786" y="2367386"/>
                <a:ext cx="8004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27" name="Google Shape;327;p22"/>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328" name="Google Shape;328;p22"/>
            <p:cNvSpPr/>
            <p:nvPr/>
          </p:nvSpPr>
          <p:spPr>
            <a:xfrm>
              <a:off x="5834787" y="3940014"/>
              <a:ext cx="1134900" cy="25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9" name="Google Shape;329;p22"/>
            <p:cNvSpPr txBox="1"/>
            <p:nvPr/>
          </p:nvSpPr>
          <p:spPr>
            <a:xfrm>
              <a:off x="6607980" y="4286362"/>
              <a:ext cx="139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No pescar</a:t>
              </a:r>
              <a:endParaRPr/>
            </a:p>
          </p:txBody>
        </p:sp>
      </p:grpSp>
      <p:grpSp>
        <p:nvGrpSpPr>
          <p:cNvPr id="330" name="Google Shape;330;p22"/>
          <p:cNvGrpSpPr/>
          <p:nvPr/>
        </p:nvGrpSpPr>
        <p:grpSpPr>
          <a:xfrm rot="10800000">
            <a:off x="1310902" y="1620498"/>
            <a:ext cx="1901330" cy="1016368"/>
            <a:chOff x="6018794" y="2197091"/>
            <a:chExt cx="1901330" cy="1016368"/>
          </a:xfrm>
        </p:grpSpPr>
        <p:grpSp>
          <p:nvGrpSpPr>
            <p:cNvPr id="331" name="Google Shape;331;p22"/>
            <p:cNvGrpSpPr/>
            <p:nvPr/>
          </p:nvGrpSpPr>
          <p:grpSpPr>
            <a:xfrm>
              <a:off x="6085370" y="2367160"/>
              <a:ext cx="1064100" cy="846300"/>
              <a:chOff x="5856770" y="2367160"/>
              <a:chExt cx="1064100" cy="846300"/>
            </a:xfrm>
          </p:grpSpPr>
          <p:sp>
            <p:nvSpPr>
              <p:cNvPr id="332" name="Google Shape;332;p22"/>
              <p:cNvSpPr/>
              <p:nvPr/>
            </p:nvSpPr>
            <p:spPr>
              <a:xfrm rot="10799031">
                <a:off x="5856770" y="2367310"/>
                <a:ext cx="10641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33" name="Google Shape;333;p22"/>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334" name="Google Shape;334;p22"/>
            <p:cNvSpPr/>
            <p:nvPr/>
          </p:nvSpPr>
          <p:spPr>
            <a:xfrm>
              <a:off x="6018794" y="2197091"/>
              <a:ext cx="1134900" cy="423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35" name="Google Shape;335;p22"/>
            <p:cNvCxnSpPr/>
            <p:nvPr/>
          </p:nvCxnSpPr>
          <p:spPr>
            <a:xfrm>
              <a:off x="6543724" y="2631089"/>
              <a:ext cx="1376400" cy="5100"/>
            </a:xfrm>
            <a:prstGeom prst="straightConnector1">
              <a:avLst/>
            </a:prstGeom>
            <a:noFill/>
            <a:ln cap="flat" cmpd="sng" w="9525">
              <a:solidFill>
                <a:srgbClr val="595959"/>
              </a:solidFill>
              <a:prstDash val="solid"/>
              <a:round/>
              <a:headEnd len="med" w="med" type="none"/>
              <a:tailEnd len="med" w="med" type="triangle"/>
            </a:ln>
          </p:spPr>
        </p:cxnSp>
        <p:sp>
          <p:nvSpPr>
            <p:cNvPr id="336" name="Google Shape;336;p22"/>
            <p:cNvSpPr txBox="1"/>
            <p:nvPr/>
          </p:nvSpPr>
          <p:spPr>
            <a:xfrm flipH="1" rot="10800000">
              <a:off x="6086223" y="234145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Pescar</a:t>
              </a:r>
              <a:endParaRPr/>
            </a:p>
          </p:txBody>
        </p:sp>
      </p:grpSp>
      <p:grpSp>
        <p:nvGrpSpPr>
          <p:cNvPr id="337" name="Google Shape;337;p22"/>
          <p:cNvGrpSpPr/>
          <p:nvPr/>
        </p:nvGrpSpPr>
        <p:grpSpPr>
          <a:xfrm>
            <a:off x="3402900" y="2548854"/>
            <a:ext cx="1622100" cy="880985"/>
            <a:chOff x="6018775" y="2332475"/>
            <a:chExt cx="1622100" cy="880985"/>
          </a:xfrm>
        </p:grpSpPr>
        <p:grpSp>
          <p:nvGrpSpPr>
            <p:cNvPr id="338" name="Google Shape;338;p22"/>
            <p:cNvGrpSpPr/>
            <p:nvPr/>
          </p:nvGrpSpPr>
          <p:grpSpPr>
            <a:xfrm>
              <a:off x="6085370" y="2367160"/>
              <a:ext cx="1064100" cy="846300"/>
              <a:chOff x="5856770" y="2367160"/>
              <a:chExt cx="1064100" cy="846300"/>
            </a:xfrm>
          </p:grpSpPr>
          <p:sp>
            <p:nvSpPr>
              <p:cNvPr id="339" name="Google Shape;339;p22"/>
              <p:cNvSpPr/>
              <p:nvPr/>
            </p:nvSpPr>
            <p:spPr>
              <a:xfrm rot="10799031">
                <a:off x="5856770" y="2367310"/>
                <a:ext cx="10641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40" name="Google Shape;340;p22"/>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341" name="Google Shape;341;p22"/>
            <p:cNvSpPr/>
            <p:nvPr/>
          </p:nvSpPr>
          <p:spPr>
            <a:xfrm>
              <a:off x="6018775" y="2367143"/>
              <a:ext cx="1134900" cy="25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42" name="Google Shape;342;p22"/>
            <p:cNvCxnSpPr/>
            <p:nvPr/>
          </p:nvCxnSpPr>
          <p:spPr>
            <a:xfrm flipH="1" rot="10800000">
              <a:off x="6280675" y="2618900"/>
              <a:ext cx="1360200" cy="8700"/>
            </a:xfrm>
            <a:prstGeom prst="straightConnector1">
              <a:avLst/>
            </a:prstGeom>
            <a:noFill/>
            <a:ln cap="flat" cmpd="sng" w="9525">
              <a:solidFill>
                <a:srgbClr val="595959"/>
              </a:solidFill>
              <a:prstDash val="solid"/>
              <a:round/>
              <a:headEnd len="med" w="med" type="none"/>
              <a:tailEnd len="med" w="med" type="triangle"/>
            </a:ln>
          </p:spPr>
        </p:cxnSp>
        <p:sp>
          <p:nvSpPr>
            <p:cNvPr id="343" name="Google Shape;343;p22"/>
            <p:cNvSpPr txBox="1"/>
            <p:nvPr/>
          </p:nvSpPr>
          <p:spPr>
            <a:xfrm>
              <a:off x="6323800" y="2332475"/>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No pescar</a:t>
              </a:r>
              <a:endParaRPr/>
            </a:p>
          </p:txBody>
        </p:sp>
      </p:grpSp>
      <p:grpSp>
        <p:nvGrpSpPr>
          <p:cNvPr id="344" name="Google Shape;344;p22"/>
          <p:cNvGrpSpPr/>
          <p:nvPr/>
        </p:nvGrpSpPr>
        <p:grpSpPr>
          <a:xfrm rot="10800000">
            <a:off x="6089252" y="1630031"/>
            <a:ext cx="1901340" cy="1236371"/>
            <a:chOff x="6018785" y="1977089"/>
            <a:chExt cx="1901340" cy="1236371"/>
          </a:xfrm>
        </p:grpSpPr>
        <p:grpSp>
          <p:nvGrpSpPr>
            <p:cNvPr id="345" name="Google Shape;345;p22"/>
            <p:cNvGrpSpPr/>
            <p:nvPr/>
          </p:nvGrpSpPr>
          <p:grpSpPr>
            <a:xfrm>
              <a:off x="6085370" y="2367160"/>
              <a:ext cx="1064100" cy="846300"/>
              <a:chOff x="5856770" y="2367160"/>
              <a:chExt cx="1064100" cy="846300"/>
            </a:xfrm>
          </p:grpSpPr>
          <p:sp>
            <p:nvSpPr>
              <p:cNvPr id="346" name="Google Shape;346;p22"/>
              <p:cNvSpPr/>
              <p:nvPr/>
            </p:nvSpPr>
            <p:spPr>
              <a:xfrm rot="10799031">
                <a:off x="5856770" y="2367310"/>
                <a:ext cx="10641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47" name="Google Shape;347;p22"/>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348" name="Google Shape;348;p22"/>
            <p:cNvSpPr/>
            <p:nvPr/>
          </p:nvSpPr>
          <p:spPr>
            <a:xfrm>
              <a:off x="6018785" y="1977089"/>
              <a:ext cx="1134900" cy="64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49" name="Google Shape;349;p22"/>
            <p:cNvCxnSpPr/>
            <p:nvPr/>
          </p:nvCxnSpPr>
          <p:spPr>
            <a:xfrm>
              <a:off x="6543724" y="2631089"/>
              <a:ext cx="1376400" cy="5100"/>
            </a:xfrm>
            <a:prstGeom prst="straightConnector1">
              <a:avLst/>
            </a:prstGeom>
            <a:noFill/>
            <a:ln cap="flat" cmpd="sng" w="9525">
              <a:solidFill>
                <a:srgbClr val="595959"/>
              </a:solidFill>
              <a:prstDash val="solid"/>
              <a:round/>
              <a:headEnd len="med" w="med" type="none"/>
              <a:tailEnd len="med" w="med" type="triangle"/>
            </a:ln>
          </p:spPr>
        </p:cxnSp>
        <p:sp>
          <p:nvSpPr>
            <p:cNvPr id="350" name="Google Shape;350;p22"/>
            <p:cNvSpPr txBox="1"/>
            <p:nvPr/>
          </p:nvSpPr>
          <p:spPr>
            <a:xfrm flipH="1" rot="10800000">
              <a:off x="6086223" y="234145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Pescar</a:t>
              </a:r>
              <a:endParaRPr/>
            </a:p>
          </p:txBody>
        </p:sp>
      </p:grpSp>
      <p:grpSp>
        <p:nvGrpSpPr>
          <p:cNvPr id="351" name="Google Shape;351;p22"/>
          <p:cNvGrpSpPr/>
          <p:nvPr/>
        </p:nvGrpSpPr>
        <p:grpSpPr>
          <a:xfrm rot="10800000">
            <a:off x="3704845" y="1639858"/>
            <a:ext cx="1901330" cy="1016368"/>
            <a:chOff x="6018794" y="2197091"/>
            <a:chExt cx="1901330" cy="1016368"/>
          </a:xfrm>
        </p:grpSpPr>
        <p:grpSp>
          <p:nvGrpSpPr>
            <p:cNvPr id="352" name="Google Shape;352;p22"/>
            <p:cNvGrpSpPr/>
            <p:nvPr/>
          </p:nvGrpSpPr>
          <p:grpSpPr>
            <a:xfrm>
              <a:off x="6085370" y="2367160"/>
              <a:ext cx="1064100" cy="846300"/>
              <a:chOff x="5856770" y="2367160"/>
              <a:chExt cx="1064100" cy="846300"/>
            </a:xfrm>
          </p:grpSpPr>
          <p:sp>
            <p:nvSpPr>
              <p:cNvPr id="353" name="Google Shape;353;p22"/>
              <p:cNvSpPr/>
              <p:nvPr/>
            </p:nvSpPr>
            <p:spPr>
              <a:xfrm rot="10799031">
                <a:off x="5856770" y="2367310"/>
                <a:ext cx="10641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54" name="Google Shape;354;p22"/>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355" name="Google Shape;355;p22"/>
            <p:cNvSpPr/>
            <p:nvPr/>
          </p:nvSpPr>
          <p:spPr>
            <a:xfrm>
              <a:off x="6018794" y="2197091"/>
              <a:ext cx="1134900" cy="423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56" name="Google Shape;356;p22"/>
            <p:cNvCxnSpPr/>
            <p:nvPr/>
          </p:nvCxnSpPr>
          <p:spPr>
            <a:xfrm>
              <a:off x="6543724" y="2631089"/>
              <a:ext cx="1376400" cy="5100"/>
            </a:xfrm>
            <a:prstGeom prst="straightConnector1">
              <a:avLst/>
            </a:prstGeom>
            <a:noFill/>
            <a:ln cap="flat" cmpd="sng" w="9525">
              <a:solidFill>
                <a:srgbClr val="595959"/>
              </a:solidFill>
              <a:prstDash val="solid"/>
              <a:round/>
              <a:headEnd len="med" w="med" type="none"/>
              <a:tailEnd len="med" w="med" type="triangle"/>
            </a:ln>
          </p:spPr>
        </p:cxnSp>
        <p:sp>
          <p:nvSpPr>
            <p:cNvPr id="357" name="Google Shape;357;p22"/>
            <p:cNvSpPr txBox="1"/>
            <p:nvPr/>
          </p:nvSpPr>
          <p:spPr>
            <a:xfrm flipH="1" rot="10800000">
              <a:off x="6086223" y="234145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Pescar</a:t>
              </a:r>
              <a:endParaRPr/>
            </a:p>
          </p:txBody>
        </p:sp>
      </p:grpSp>
      <p:grpSp>
        <p:nvGrpSpPr>
          <p:cNvPr id="358" name="Google Shape;358;p22"/>
          <p:cNvGrpSpPr/>
          <p:nvPr/>
        </p:nvGrpSpPr>
        <p:grpSpPr>
          <a:xfrm>
            <a:off x="5812937" y="2550571"/>
            <a:ext cx="1622100" cy="880985"/>
            <a:chOff x="6018775" y="2332475"/>
            <a:chExt cx="1622100" cy="880985"/>
          </a:xfrm>
        </p:grpSpPr>
        <p:grpSp>
          <p:nvGrpSpPr>
            <p:cNvPr id="359" name="Google Shape;359;p22"/>
            <p:cNvGrpSpPr/>
            <p:nvPr/>
          </p:nvGrpSpPr>
          <p:grpSpPr>
            <a:xfrm>
              <a:off x="6085370" y="2367160"/>
              <a:ext cx="1064100" cy="846300"/>
              <a:chOff x="5856770" y="2367160"/>
              <a:chExt cx="1064100" cy="846300"/>
            </a:xfrm>
          </p:grpSpPr>
          <p:sp>
            <p:nvSpPr>
              <p:cNvPr id="360" name="Google Shape;360;p22"/>
              <p:cNvSpPr/>
              <p:nvPr/>
            </p:nvSpPr>
            <p:spPr>
              <a:xfrm rot="10799031">
                <a:off x="5856770" y="2367310"/>
                <a:ext cx="1064100" cy="8460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61" name="Google Shape;361;p22"/>
              <p:cNvCxnSpPr/>
              <p:nvPr/>
            </p:nvCxnSpPr>
            <p:spPr>
              <a:xfrm rot="10800000">
                <a:off x="5877136" y="2794803"/>
                <a:ext cx="0" cy="100500"/>
              </a:xfrm>
              <a:prstGeom prst="straightConnector1">
                <a:avLst/>
              </a:prstGeom>
              <a:noFill/>
              <a:ln cap="flat" cmpd="sng" w="9525">
                <a:solidFill>
                  <a:srgbClr val="595959"/>
                </a:solidFill>
                <a:prstDash val="solid"/>
                <a:round/>
                <a:headEnd len="med" w="med" type="none"/>
                <a:tailEnd len="med" w="med" type="triangle"/>
              </a:ln>
            </p:spPr>
          </p:cxnSp>
        </p:grpSp>
        <p:sp>
          <p:nvSpPr>
            <p:cNvPr id="362" name="Google Shape;362;p22"/>
            <p:cNvSpPr/>
            <p:nvPr/>
          </p:nvSpPr>
          <p:spPr>
            <a:xfrm>
              <a:off x="6018775" y="2367143"/>
              <a:ext cx="1134900" cy="25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63" name="Google Shape;363;p22"/>
            <p:cNvCxnSpPr/>
            <p:nvPr/>
          </p:nvCxnSpPr>
          <p:spPr>
            <a:xfrm flipH="1" rot="10800000">
              <a:off x="6280675" y="2618900"/>
              <a:ext cx="1360200" cy="8700"/>
            </a:xfrm>
            <a:prstGeom prst="straightConnector1">
              <a:avLst/>
            </a:prstGeom>
            <a:noFill/>
            <a:ln cap="flat" cmpd="sng" w="9525">
              <a:solidFill>
                <a:srgbClr val="595959"/>
              </a:solidFill>
              <a:prstDash val="solid"/>
              <a:round/>
              <a:headEnd len="med" w="med" type="none"/>
              <a:tailEnd len="med" w="med" type="triangle"/>
            </a:ln>
          </p:spPr>
        </p:cxnSp>
        <p:sp>
          <p:nvSpPr>
            <p:cNvPr id="364" name="Google Shape;364;p22"/>
            <p:cNvSpPr txBox="1"/>
            <p:nvPr/>
          </p:nvSpPr>
          <p:spPr>
            <a:xfrm>
              <a:off x="6323800" y="2332475"/>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95959"/>
                  </a:solidFill>
                </a:rPr>
                <a:t>No pescar</a:t>
              </a:r>
              <a:endParaRPr/>
            </a:p>
          </p:txBody>
        </p:sp>
      </p:grpSp>
      <p:sp>
        <p:nvSpPr>
          <p:cNvPr id="365" name="Google Shape;365;p22"/>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Pesca de salmones</a:t>
            </a:r>
            <a:endParaRPr/>
          </a:p>
        </p:txBody>
      </p:sp>
      <p:grpSp>
        <p:nvGrpSpPr>
          <p:cNvPr id="366" name="Google Shape;366;p22"/>
          <p:cNvGrpSpPr/>
          <p:nvPr/>
        </p:nvGrpSpPr>
        <p:grpSpPr>
          <a:xfrm>
            <a:off x="4952650" y="2045942"/>
            <a:ext cx="1230600" cy="1011047"/>
            <a:chOff x="5365870" y="2045950"/>
            <a:chExt cx="1230600" cy="759900"/>
          </a:xfrm>
        </p:grpSpPr>
        <p:sp>
          <p:nvSpPr>
            <p:cNvPr id="367" name="Google Shape;367;p22"/>
            <p:cNvSpPr/>
            <p:nvPr/>
          </p:nvSpPr>
          <p:spPr>
            <a:xfrm>
              <a:off x="5365870" y="2045950"/>
              <a:ext cx="1230600" cy="7599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8" name="Google Shape;368;p22"/>
            <p:cNvSpPr txBox="1"/>
            <p:nvPr/>
          </p:nvSpPr>
          <p:spPr>
            <a:xfrm>
              <a:off x="5455575" y="2254253"/>
              <a:ext cx="1073100" cy="3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mediano</a:t>
              </a:r>
              <a:endParaRPr/>
            </a:p>
          </p:txBody>
        </p:sp>
      </p:grpSp>
      <p:cxnSp>
        <p:nvCxnSpPr>
          <p:cNvPr id="369" name="Google Shape;369;p22"/>
          <p:cNvCxnSpPr/>
          <p:nvPr/>
        </p:nvCxnSpPr>
        <p:spPr>
          <a:xfrm rot="10800000">
            <a:off x="2995959" y="2450985"/>
            <a:ext cx="0" cy="100500"/>
          </a:xfrm>
          <a:prstGeom prst="straightConnector1">
            <a:avLst/>
          </a:prstGeom>
          <a:noFill/>
          <a:ln cap="flat" cmpd="sng" w="9525">
            <a:solidFill>
              <a:srgbClr val="595959"/>
            </a:solidFill>
            <a:prstDash val="solid"/>
            <a:round/>
            <a:headEnd len="med" w="med" type="none"/>
            <a:tailEnd len="med" w="med" type="triangle"/>
          </a:ln>
        </p:spPr>
      </p:cxnSp>
      <p:sp>
        <p:nvSpPr>
          <p:cNvPr id="370" name="Google Shape;370;p22"/>
          <p:cNvSpPr txBox="1"/>
          <p:nvPr/>
        </p:nvSpPr>
        <p:spPr>
          <a:xfrm>
            <a:off x="530887" y="1994657"/>
            <a:ext cx="78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vacío</a:t>
            </a:r>
            <a:endParaRPr/>
          </a:p>
        </p:txBody>
      </p:sp>
      <p:grpSp>
        <p:nvGrpSpPr>
          <p:cNvPr id="371" name="Google Shape;371;p22"/>
          <p:cNvGrpSpPr/>
          <p:nvPr/>
        </p:nvGrpSpPr>
        <p:grpSpPr>
          <a:xfrm>
            <a:off x="7336200" y="2045942"/>
            <a:ext cx="1230600" cy="1011047"/>
            <a:chOff x="7564800" y="2045950"/>
            <a:chExt cx="1230600" cy="759900"/>
          </a:xfrm>
        </p:grpSpPr>
        <p:sp>
          <p:nvSpPr>
            <p:cNvPr id="372" name="Google Shape;372;p22"/>
            <p:cNvSpPr/>
            <p:nvPr/>
          </p:nvSpPr>
          <p:spPr>
            <a:xfrm>
              <a:off x="7564800" y="2045950"/>
              <a:ext cx="1230600" cy="7599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3" name="Google Shape;373;p22"/>
            <p:cNvSpPr txBox="1"/>
            <p:nvPr/>
          </p:nvSpPr>
          <p:spPr>
            <a:xfrm>
              <a:off x="7901202" y="2245256"/>
              <a:ext cx="717300" cy="3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alto</a:t>
              </a:r>
              <a:endParaRPr/>
            </a:p>
          </p:txBody>
        </p:sp>
      </p:grpSp>
      <p:grpSp>
        <p:nvGrpSpPr>
          <p:cNvPr id="374" name="Google Shape;374;p22"/>
          <p:cNvGrpSpPr/>
          <p:nvPr/>
        </p:nvGrpSpPr>
        <p:grpSpPr>
          <a:xfrm>
            <a:off x="2569100" y="2045866"/>
            <a:ext cx="1230600" cy="1011047"/>
            <a:chOff x="2609250" y="2045950"/>
            <a:chExt cx="1230600" cy="759900"/>
          </a:xfrm>
        </p:grpSpPr>
        <p:sp>
          <p:nvSpPr>
            <p:cNvPr id="375" name="Google Shape;375;p22"/>
            <p:cNvSpPr/>
            <p:nvPr/>
          </p:nvSpPr>
          <p:spPr>
            <a:xfrm>
              <a:off x="2609250" y="2045950"/>
              <a:ext cx="1230600" cy="7599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6" name="Google Shape;376;p22"/>
            <p:cNvSpPr txBox="1"/>
            <p:nvPr/>
          </p:nvSpPr>
          <p:spPr>
            <a:xfrm>
              <a:off x="2913474" y="2254470"/>
              <a:ext cx="717300" cy="3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bajo</a:t>
              </a:r>
              <a:endParaRPr/>
            </a:p>
          </p:txBody>
        </p:sp>
      </p:grpSp>
      <p:grpSp>
        <p:nvGrpSpPr>
          <p:cNvPr id="377" name="Google Shape;377;p22"/>
          <p:cNvGrpSpPr/>
          <p:nvPr/>
        </p:nvGrpSpPr>
        <p:grpSpPr>
          <a:xfrm>
            <a:off x="185550" y="2045942"/>
            <a:ext cx="1230600" cy="1011047"/>
            <a:chOff x="414150" y="2045950"/>
            <a:chExt cx="1230600" cy="759900"/>
          </a:xfrm>
        </p:grpSpPr>
        <p:sp>
          <p:nvSpPr>
            <p:cNvPr id="378" name="Google Shape;378;p22"/>
            <p:cNvSpPr/>
            <p:nvPr/>
          </p:nvSpPr>
          <p:spPr>
            <a:xfrm>
              <a:off x="414150" y="2045950"/>
              <a:ext cx="1230600" cy="7599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9" name="Google Shape;379;p22"/>
            <p:cNvSpPr txBox="1"/>
            <p:nvPr/>
          </p:nvSpPr>
          <p:spPr>
            <a:xfrm>
              <a:off x="670800" y="2252428"/>
              <a:ext cx="789600" cy="3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95959"/>
                  </a:solidFill>
                </a:rPr>
                <a:t>vacío</a:t>
              </a:r>
              <a:endParaRPr/>
            </a:p>
          </p:txBody>
        </p:sp>
      </p:grpSp>
      <p:sp>
        <p:nvSpPr>
          <p:cNvPr id="380" name="Google Shape;380;p22"/>
          <p:cNvSpPr txBox="1"/>
          <p:nvPr/>
        </p:nvSpPr>
        <p:spPr>
          <a:xfrm>
            <a:off x="1340636" y="2766557"/>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-$200000</a:t>
            </a:r>
            <a:endParaRPr>
              <a:solidFill>
                <a:schemeClr val="accent1"/>
              </a:solidFill>
            </a:endParaRPr>
          </a:p>
        </p:txBody>
      </p:sp>
      <p:sp>
        <p:nvSpPr>
          <p:cNvPr id="381" name="Google Shape;381;p22"/>
          <p:cNvSpPr txBox="1"/>
          <p:nvPr/>
        </p:nvSpPr>
        <p:spPr>
          <a:xfrm>
            <a:off x="1946913" y="2256013"/>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$5000</a:t>
            </a:r>
            <a:endParaRPr>
              <a:solidFill>
                <a:schemeClr val="accent1"/>
              </a:solidFill>
            </a:endParaRPr>
          </a:p>
        </p:txBody>
      </p:sp>
      <p:sp>
        <p:nvSpPr>
          <p:cNvPr id="382" name="Google Shape;382;p22"/>
          <p:cNvSpPr txBox="1"/>
          <p:nvPr/>
        </p:nvSpPr>
        <p:spPr>
          <a:xfrm>
            <a:off x="4242314" y="2265556"/>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$10000</a:t>
            </a:r>
            <a:endParaRPr>
              <a:solidFill>
                <a:schemeClr val="accent1"/>
              </a:solidFill>
            </a:endParaRPr>
          </a:p>
        </p:txBody>
      </p:sp>
      <p:sp>
        <p:nvSpPr>
          <p:cNvPr id="383" name="Google Shape;383;p22"/>
          <p:cNvSpPr txBox="1"/>
          <p:nvPr/>
        </p:nvSpPr>
        <p:spPr>
          <a:xfrm>
            <a:off x="6610887" y="226542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$50000</a:t>
            </a:r>
            <a:endParaRPr>
              <a:solidFill>
                <a:schemeClr val="accent1"/>
              </a:solidFill>
            </a:endParaRPr>
          </a:p>
        </p:txBody>
      </p:sp>
      <p:sp>
        <p:nvSpPr>
          <p:cNvPr id="384" name="Google Shape;384;p22"/>
          <p:cNvSpPr txBox="1"/>
          <p:nvPr/>
        </p:nvSpPr>
        <p:spPr>
          <a:xfrm>
            <a:off x="2284786" y="2752941"/>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1</a:t>
            </a:r>
            <a:endParaRPr>
              <a:solidFill>
                <a:srgbClr val="FF0000"/>
              </a:solidFill>
            </a:endParaRPr>
          </a:p>
        </p:txBody>
      </p:sp>
      <p:sp>
        <p:nvSpPr>
          <p:cNvPr id="385" name="Google Shape;385;p22"/>
          <p:cNvSpPr txBox="1"/>
          <p:nvPr/>
        </p:nvSpPr>
        <p:spPr>
          <a:xfrm>
            <a:off x="1503140" y="1889534"/>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0.75</a:t>
            </a:r>
            <a:endParaRPr>
              <a:solidFill>
                <a:srgbClr val="FF0000"/>
              </a:solidFill>
            </a:endParaRPr>
          </a:p>
        </p:txBody>
      </p:sp>
      <p:sp>
        <p:nvSpPr>
          <p:cNvPr id="386" name="Google Shape;386;p22"/>
          <p:cNvSpPr txBox="1"/>
          <p:nvPr/>
        </p:nvSpPr>
        <p:spPr>
          <a:xfrm>
            <a:off x="2172290" y="132623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0.25</a:t>
            </a:r>
            <a:endParaRPr>
              <a:solidFill>
                <a:srgbClr val="FF0000"/>
              </a:solidFill>
            </a:endParaRPr>
          </a:p>
        </p:txBody>
      </p:sp>
      <p:sp>
        <p:nvSpPr>
          <p:cNvPr id="387" name="Google Shape;387;p22"/>
          <p:cNvSpPr txBox="1"/>
          <p:nvPr/>
        </p:nvSpPr>
        <p:spPr>
          <a:xfrm>
            <a:off x="3786066" y="1922497"/>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0.75</a:t>
            </a:r>
            <a:endParaRPr>
              <a:solidFill>
                <a:srgbClr val="FF0000"/>
              </a:solidFill>
            </a:endParaRPr>
          </a:p>
        </p:txBody>
      </p:sp>
      <p:sp>
        <p:nvSpPr>
          <p:cNvPr id="388" name="Google Shape;388;p22"/>
          <p:cNvSpPr txBox="1"/>
          <p:nvPr/>
        </p:nvSpPr>
        <p:spPr>
          <a:xfrm>
            <a:off x="4455216" y="1359195"/>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0.25</a:t>
            </a:r>
            <a:endParaRPr>
              <a:solidFill>
                <a:srgbClr val="FF0000"/>
              </a:solidFill>
            </a:endParaRPr>
          </a:p>
        </p:txBody>
      </p:sp>
      <p:sp>
        <p:nvSpPr>
          <p:cNvPr id="389" name="Google Shape;389;p22"/>
          <p:cNvSpPr txBox="1"/>
          <p:nvPr/>
        </p:nvSpPr>
        <p:spPr>
          <a:xfrm>
            <a:off x="6231075" y="1921794"/>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0.6</a:t>
            </a:r>
            <a:endParaRPr>
              <a:solidFill>
                <a:srgbClr val="FF0000"/>
              </a:solidFill>
            </a:endParaRPr>
          </a:p>
        </p:txBody>
      </p:sp>
      <p:sp>
        <p:nvSpPr>
          <p:cNvPr id="390" name="Google Shape;390;p22"/>
          <p:cNvSpPr txBox="1"/>
          <p:nvPr/>
        </p:nvSpPr>
        <p:spPr>
          <a:xfrm>
            <a:off x="6900225" y="135849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0.4</a:t>
            </a:r>
            <a:endParaRPr>
              <a:solidFill>
                <a:srgbClr val="FF0000"/>
              </a:solidFill>
            </a:endParaRPr>
          </a:p>
        </p:txBody>
      </p:sp>
      <p:sp>
        <p:nvSpPr>
          <p:cNvPr id="391" name="Google Shape;391;p22"/>
          <p:cNvSpPr txBox="1"/>
          <p:nvPr/>
        </p:nvSpPr>
        <p:spPr>
          <a:xfrm>
            <a:off x="3814111" y="3324835"/>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0.3</a:t>
            </a:r>
            <a:endParaRPr>
              <a:solidFill>
                <a:srgbClr val="FF0000"/>
              </a:solidFill>
            </a:endParaRPr>
          </a:p>
        </p:txBody>
      </p:sp>
      <p:sp>
        <p:nvSpPr>
          <p:cNvPr id="392" name="Google Shape;392;p22"/>
          <p:cNvSpPr txBox="1"/>
          <p:nvPr/>
        </p:nvSpPr>
        <p:spPr>
          <a:xfrm>
            <a:off x="4483261" y="2761534"/>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0.7</a:t>
            </a:r>
            <a:endParaRPr>
              <a:solidFill>
                <a:srgbClr val="FF0000"/>
              </a:solidFill>
            </a:endParaRPr>
          </a:p>
        </p:txBody>
      </p:sp>
      <p:sp>
        <p:nvSpPr>
          <p:cNvPr id="393" name="Google Shape;393;p22"/>
          <p:cNvSpPr txBox="1"/>
          <p:nvPr/>
        </p:nvSpPr>
        <p:spPr>
          <a:xfrm>
            <a:off x="6209232" y="3325024"/>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0.25</a:t>
            </a:r>
            <a:endParaRPr>
              <a:solidFill>
                <a:srgbClr val="FF0000"/>
              </a:solidFill>
            </a:endParaRPr>
          </a:p>
        </p:txBody>
      </p:sp>
      <p:sp>
        <p:nvSpPr>
          <p:cNvPr id="394" name="Google Shape;394;p22"/>
          <p:cNvSpPr txBox="1"/>
          <p:nvPr/>
        </p:nvSpPr>
        <p:spPr>
          <a:xfrm>
            <a:off x="6878382" y="2761722"/>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0.75</a:t>
            </a:r>
            <a:endParaRPr>
              <a:solidFill>
                <a:srgbClr val="FF0000"/>
              </a:solidFill>
            </a:endParaRPr>
          </a:p>
        </p:txBody>
      </p:sp>
      <p:sp>
        <p:nvSpPr>
          <p:cNvPr id="395" name="Google Shape;395;p22"/>
          <p:cNvSpPr txBox="1"/>
          <p:nvPr/>
        </p:nvSpPr>
        <p:spPr>
          <a:xfrm>
            <a:off x="3659209" y="2742635"/>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$0</a:t>
            </a:r>
            <a:endParaRPr>
              <a:solidFill>
                <a:schemeClr val="accent1"/>
              </a:solidFill>
            </a:endParaRPr>
          </a:p>
        </p:txBody>
      </p:sp>
      <p:sp>
        <p:nvSpPr>
          <p:cNvPr id="396" name="Google Shape;396;p22"/>
          <p:cNvSpPr txBox="1"/>
          <p:nvPr/>
        </p:nvSpPr>
        <p:spPr>
          <a:xfrm>
            <a:off x="6104110" y="2751090"/>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$0</a:t>
            </a:r>
            <a:endParaRPr>
              <a:solidFill>
                <a:schemeClr val="accent1"/>
              </a:solidFill>
            </a:endParaRPr>
          </a:p>
        </p:txBody>
      </p:sp>
      <p:sp>
        <p:nvSpPr>
          <p:cNvPr id="397" name="Google Shape;397;p22"/>
          <p:cNvSpPr txBox="1"/>
          <p:nvPr/>
        </p:nvSpPr>
        <p:spPr>
          <a:xfrm>
            <a:off x="8172344" y="3066494"/>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$0</a:t>
            </a:r>
            <a:endParaRPr>
              <a:solidFill>
                <a:schemeClr val="accent1"/>
              </a:solidFill>
            </a:endParaRPr>
          </a:p>
        </p:txBody>
      </p:sp>
      <p:sp>
        <p:nvSpPr>
          <p:cNvPr id="398" name="Google Shape;398;p22"/>
          <p:cNvSpPr txBox="1"/>
          <p:nvPr/>
        </p:nvSpPr>
        <p:spPr>
          <a:xfrm>
            <a:off x="7803316" y="3315613"/>
            <a:ext cx="12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1</a:t>
            </a:r>
            <a:endParaRPr>
              <a:solidFill>
                <a:srgbClr val="FF0000"/>
              </a:solidFill>
            </a:endParaRPr>
          </a:p>
        </p:txBody>
      </p:sp>
      <p:sp>
        <p:nvSpPr>
          <p:cNvPr id="399" name="Google Shape;399;p22"/>
          <p:cNvSpPr txBox="1"/>
          <p:nvPr/>
        </p:nvSpPr>
        <p:spPr>
          <a:xfrm>
            <a:off x="299786" y="4143700"/>
            <a:ext cx="85206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Qué decisiones tomar? Vamos a resolver el problema con Python. Consideramos una versión más refinada del problema, con tres niveles de pesca (no pescar, pesca moderada, pesca agresiva).</a:t>
            </a:r>
            <a:endParaRPr sz="1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23"/>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Pesca de salmones</a:t>
            </a:r>
            <a:endParaRPr/>
          </a:p>
        </p:txBody>
      </p:sp>
      <p:sp>
        <p:nvSpPr>
          <p:cNvPr id="405" name="Google Shape;405;p23"/>
          <p:cNvSpPr txBox="1"/>
          <p:nvPr/>
        </p:nvSpPr>
        <p:spPr>
          <a:xfrm>
            <a:off x="49300" y="1000550"/>
            <a:ext cx="90945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Cómo la elección del horizonte T impacta nuestras decisiones?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24"/>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Pesca de salmones</a:t>
            </a:r>
            <a:endParaRPr/>
          </a:p>
        </p:txBody>
      </p:sp>
      <p:sp>
        <p:nvSpPr>
          <p:cNvPr id="411" name="Google Shape;411;p24"/>
          <p:cNvSpPr txBox="1"/>
          <p:nvPr/>
        </p:nvSpPr>
        <p:spPr>
          <a:xfrm>
            <a:off x="49300" y="1000550"/>
            <a:ext cx="90945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Cómo la elección del horizonte T impacta nuestras decisiones?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p>
        </p:txBody>
      </p:sp>
      <p:pic>
        <p:nvPicPr>
          <p:cNvPr id="412" name="Google Shape;412;p24"/>
          <p:cNvPicPr preferRelativeResize="0"/>
          <p:nvPr/>
        </p:nvPicPr>
        <p:blipFill>
          <a:blip r:embed="rId3">
            <a:alphaModFix/>
          </a:blip>
          <a:stretch>
            <a:fillRect/>
          </a:stretch>
        </p:blipFill>
        <p:spPr>
          <a:xfrm>
            <a:off x="530352" y="1783080"/>
            <a:ext cx="7827265" cy="3236976"/>
          </a:xfrm>
          <a:prstGeom prst="rect">
            <a:avLst/>
          </a:prstGeom>
          <a:noFill/>
          <a:ln>
            <a:noFill/>
          </a:ln>
        </p:spPr>
      </p:pic>
      <p:sp>
        <p:nvSpPr>
          <p:cNvPr id="413" name="Google Shape;413;p24"/>
          <p:cNvSpPr txBox="1"/>
          <p:nvPr/>
        </p:nvSpPr>
        <p:spPr>
          <a:xfrm>
            <a:off x="4392287" y="2151638"/>
            <a:ext cx="1028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rPr>
              <a:t>Repoblar</a:t>
            </a:r>
            <a:endParaRPr sz="1200"/>
          </a:p>
        </p:txBody>
      </p:sp>
      <p:sp>
        <p:nvSpPr>
          <p:cNvPr id="414" name="Google Shape;414;p24"/>
          <p:cNvSpPr txBox="1"/>
          <p:nvPr/>
        </p:nvSpPr>
        <p:spPr>
          <a:xfrm>
            <a:off x="3208340" y="3194781"/>
            <a:ext cx="1278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rPr>
              <a:t>Conservativa</a:t>
            </a:r>
            <a:endParaRPr sz="1200"/>
          </a:p>
        </p:txBody>
      </p:sp>
      <p:sp>
        <p:nvSpPr>
          <p:cNvPr id="415" name="Google Shape;415;p24"/>
          <p:cNvSpPr txBox="1"/>
          <p:nvPr/>
        </p:nvSpPr>
        <p:spPr>
          <a:xfrm>
            <a:off x="7212938" y="3919755"/>
            <a:ext cx="1278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Agresiva</a:t>
            </a:r>
            <a:endParaRPr sz="1200">
              <a:solidFill>
                <a:schemeClr val="dk1"/>
              </a:solidFill>
            </a:endParaRPr>
          </a:p>
        </p:txBody>
      </p:sp>
      <p:sp>
        <p:nvSpPr>
          <p:cNvPr id="416" name="Google Shape;416;p24"/>
          <p:cNvSpPr txBox="1"/>
          <p:nvPr/>
        </p:nvSpPr>
        <p:spPr>
          <a:xfrm>
            <a:off x="6099465" y="3547550"/>
            <a:ext cx="1278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rPr>
              <a:t>Moderada</a:t>
            </a:r>
            <a:endParaRPr sz="1200"/>
          </a:p>
        </p:txBody>
      </p:sp>
      <p:sp>
        <p:nvSpPr>
          <p:cNvPr id="417" name="Google Shape;417;p24"/>
          <p:cNvSpPr/>
          <p:nvPr/>
        </p:nvSpPr>
        <p:spPr>
          <a:xfrm>
            <a:off x="1275532" y="2656225"/>
            <a:ext cx="7032900" cy="47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25"/>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Pesca de salmones</a:t>
            </a:r>
            <a:endParaRPr/>
          </a:p>
        </p:txBody>
      </p:sp>
      <p:sp>
        <p:nvSpPr>
          <p:cNvPr id="423" name="Google Shape;423;p25"/>
          <p:cNvSpPr txBox="1"/>
          <p:nvPr/>
        </p:nvSpPr>
        <p:spPr>
          <a:xfrm>
            <a:off x="49300" y="1000550"/>
            <a:ext cx="90945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Si en el estado vacío tenemos la opción de no repoblar, cómo eso cambia el análisis? Cuáles son las condiciones para repoblar o no?</a:t>
            </a:r>
            <a:endParaRPr sz="1800">
              <a:solidFill>
                <a:schemeClr val="dk1"/>
              </a:solidFill>
            </a:endParaRPr>
          </a:p>
          <a:p>
            <a:pPr indent="0" lvl="0" marL="0" rtl="0" algn="l">
              <a:spcBef>
                <a:spcPts val="0"/>
              </a:spcBef>
              <a:spcAft>
                <a:spcPts val="0"/>
              </a:spcAft>
              <a:buNone/>
            </a:pPr>
            <a:r>
              <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26"/>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Pesca de salmones</a:t>
            </a:r>
            <a:endParaRPr/>
          </a:p>
        </p:txBody>
      </p:sp>
      <p:sp>
        <p:nvSpPr>
          <p:cNvPr id="429" name="Google Shape;429;p26"/>
          <p:cNvSpPr txBox="1"/>
          <p:nvPr/>
        </p:nvSpPr>
        <p:spPr>
          <a:xfrm>
            <a:off x="49300" y="1000550"/>
            <a:ext cx="90945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Si en el estado vacío tenemos la opción de no repoblar, cómo eso cambia el análisis? Cuáles son las condiciones para repoblar o no?</a:t>
            </a:r>
            <a:endParaRPr sz="1800">
              <a:solidFill>
                <a:schemeClr val="dk1"/>
              </a:solidFill>
            </a:endParaRPr>
          </a:p>
          <a:p>
            <a:pPr indent="0" lvl="0" marL="0" rtl="0" algn="l">
              <a:spcBef>
                <a:spcPts val="0"/>
              </a:spcBef>
              <a:spcAft>
                <a:spcPts val="0"/>
              </a:spcAft>
              <a:buNone/>
            </a:pPr>
            <a:r>
              <a:t/>
            </a:r>
            <a:endParaRPr sz="1800"/>
          </a:p>
        </p:txBody>
      </p:sp>
      <p:pic>
        <p:nvPicPr>
          <p:cNvPr id="430" name="Google Shape;430;p26"/>
          <p:cNvPicPr preferRelativeResize="0"/>
          <p:nvPr/>
        </p:nvPicPr>
        <p:blipFill>
          <a:blip r:embed="rId3">
            <a:alphaModFix/>
          </a:blip>
          <a:stretch>
            <a:fillRect/>
          </a:stretch>
        </p:blipFill>
        <p:spPr>
          <a:xfrm>
            <a:off x="530352" y="1783080"/>
            <a:ext cx="7827265" cy="3236976"/>
          </a:xfrm>
          <a:prstGeom prst="rect">
            <a:avLst/>
          </a:prstGeom>
          <a:noFill/>
          <a:ln>
            <a:noFill/>
          </a:ln>
        </p:spPr>
      </p:pic>
      <p:sp>
        <p:nvSpPr>
          <p:cNvPr id="431" name="Google Shape;431;p26"/>
          <p:cNvSpPr txBox="1"/>
          <p:nvPr/>
        </p:nvSpPr>
        <p:spPr>
          <a:xfrm>
            <a:off x="4392287" y="2151638"/>
            <a:ext cx="1028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rPr>
              <a:t>Repoblar</a:t>
            </a:r>
            <a:endParaRPr sz="1200"/>
          </a:p>
        </p:txBody>
      </p:sp>
      <p:sp>
        <p:nvSpPr>
          <p:cNvPr id="432" name="Google Shape;432;p26"/>
          <p:cNvSpPr txBox="1"/>
          <p:nvPr/>
        </p:nvSpPr>
        <p:spPr>
          <a:xfrm>
            <a:off x="3208340" y="3194781"/>
            <a:ext cx="1278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rPr>
              <a:t>Conservativa</a:t>
            </a:r>
            <a:endParaRPr sz="1200"/>
          </a:p>
        </p:txBody>
      </p:sp>
      <p:sp>
        <p:nvSpPr>
          <p:cNvPr id="433" name="Google Shape;433;p26"/>
          <p:cNvSpPr txBox="1"/>
          <p:nvPr/>
        </p:nvSpPr>
        <p:spPr>
          <a:xfrm>
            <a:off x="7212938" y="3919755"/>
            <a:ext cx="1278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Agresiva</a:t>
            </a:r>
            <a:endParaRPr sz="1200">
              <a:solidFill>
                <a:schemeClr val="dk1"/>
              </a:solidFill>
            </a:endParaRPr>
          </a:p>
        </p:txBody>
      </p:sp>
      <p:sp>
        <p:nvSpPr>
          <p:cNvPr id="434" name="Google Shape;434;p26"/>
          <p:cNvSpPr txBox="1"/>
          <p:nvPr/>
        </p:nvSpPr>
        <p:spPr>
          <a:xfrm>
            <a:off x="6099465" y="3547550"/>
            <a:ext cx="1278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rPr>
              <a:t>Moderada</a:t>
            </a:r>
            <a:endParaRPr sz="1200"/>
          </a:p>
        </p:txBody>
      </p:sp>
      <p:sp>
        <p:nvSpPr>
          <p:cNvPr id="435" name="Google Shape;435;p26"/>
          <p:cNvSpPr/>
          <p:nvPr/>
        </p:nvSpPr>
        <p:spPr>
          <a:xfrm>
            <a:off x="1275532" y="2656225"/>
            <a:ext cx="7032900" cy="47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27"/>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Pesca de salmones</a:t>
            </a:r>
            <a:endParaRPr/>
          </a:p>
        </p:txBody>
      </p:sp>
      <p:sp>
        <p:nvSpPr>
          <p:cNvPr id="441" name="Google Shape;441;p27"/>
          <p:cNvSpPr txBox="1"/>
          <p:nvPr/>
        </p:nvSpPr>
        <p:spPr>
          <a:xfrm>
            <a:off x="49300" y="1000550"/>
            <a:ext cx="90945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Si en el estado vacío tenemos la opción de no repoblar, cómo eso cambia el análisis? Cuáles son las condiciones para repoblar o no?</a:t>
            </a:r>
            <a:endParaRPr sz="1800">
              <a:solidFill>
                <a:schemeClr val="dk1"/>
              </a:solidFill>
            </a:endParaRPr>
          </a:p>
          <a:p>
            <a:pPr indent="0" lvl="0" marL="0" rtl="0" algn="l">
              <a:spcBef>
                <a:spcPts val="0"/>
              </a:spcBef>
              <a:spcAft>
                <a:spcPts val="0"/>
              </a:spcAft>
              <a:buNone/>
            </a:pPr>
            <a:r>
              <a:t/>
            </a:r>
            <a:endParaRPr sz="1800"/>
          </a:p>
        </p:txBody>
      </p:sp>
      <p:pic>
        <p:nvPicPr>
          <p:cNvPr id="442" name="Google Shape;442;p27"/>
          <p:cNvPicPr preferRelativeResize="0"/>
          <p:nvPr/>
        </p:nvPicPr>
        <p:blipFill>
          <a:blip r:embed="rId3">
            <a:alphaModFix/>
          </a:blip>
          <a:stretch>
            <a:fillRect/>
          </a:stretch>
        </p:blipFill>
        <p:spPr>
          <a:xfrm>
            <a:off x="530352" y="1783080"/>
            <a:ext cx="7827265" cy="3236976"/>
          </a:xfrm>
          <a:prstGeom prst="rect">
            <a:avLst/>
          </a:prstGeom>
          <a:noFill/>
          <a:ln>
            <a:noFill/>
          </a:ln>
        </p:spPr>
      </p:pic>
      <p:sp>
        <p:nvSpPr>
          <p:cNvPr id="443" name="Google Shape;443;p27"/>
          <p:cNvSpPr txBox="1"/>
          <p:nvPr/>
        </p:nvSpPr>
        <p:spPr>
          <a:xfrm>
            <a:off x="5251127" y="2151625"/>
            <a:ext cx="1028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rPr>
              <a:t>No r</a:t>
            </a:r>
            <a:r>
              <a:rPr lang="en" sz="1200">
                <a:solidFill>
                  <a:schemeClr val="lt1"/>
                </a:solidFill>
              </a:rPr>
              <a:t>epoblar</a:t>
            </a:r>
            <a:endParaRPr sz="1200"/>
          </a:p>
        </p:txBody>
      </p:sp>
      <p:sp>
        <p:nvSpPr>
          <p:cNvPr id="444" name="Google Shape;444;p27"/>
          <p:cNvSpPr txBox="1"/>
          <p:nvPr/>
        </p:nvSpPr>
        <p:spPr>
          <a:xfrm>
            <a:off x="3208340" y="3194781"/>
            <a:ext cx="1278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rPr>
              <a:t>Conservativa</a:t>
            </a:r>
            <a:endParaRPr sz="1200"/>
          </a:p>
        </p:txBody>
      </p:sp>
      <p:sp>
        <p:nvSpPr>
          <p:cNvPr id="445" name="Google Shape;445;p27"/>
          <p:cNvSpPr txBox="1"/>
          <p:nvPr/>
        </p:nvSpPr>
        <p:spPr>
          <a:xfrm>
            <a:off x="7212938" y="3919755"/>
            <a:ext cx="1278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Agresiva</a:t>
            </a:r>
            <a:endParaRPr sz="1200">
              <a:solidFill>
                <a:schemeClr val="dk1"/>
              </a:solidFill>
            </a:endParaRPr>
          </a:p>
        </p:txBody>
      </p:sp>
      <p:sp>
        <p:nvSpPr>
          <p:cNvPr id="446" name="Google Shape;446;p27"/>
          <p:cNvSpPr txBox="1"/>
          <p:nvPr/>
        </p:nvSpPr>
        <p:spPr>
          <a:xfrm>
            <a:off x="5728007" y="3547550"/>
            <a:ext cx="1278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rPr>
              <a:t>Moderada</a:t>
            </a:r>
            <a:endParaRPr sz="1200"/>
          </a:p>
        </p:txBody>
      </p:sp>
      <p:sp>
        <p:nvSpPr>
          <p:cNvPr id="447" name="Google Shape;447;p27"/>
          <p:cNvSpPr/>
          <p:nvPr/>
        </p:nvSpPr>
        <p:spPr>
          <a:xfrm>
            <a:off x="1275532" y="2656225"/>
            <a:ext cx="7032900" cy="47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8" name="Google Shape;448;p27"/>
          <p:cNvSpPr txBox="1"/>
          <p:nvPr/>
        </p:nvSpPr>
        <p:spPr>
          <a:xfrm>
            <a:off x="6806031" y="2863646"/>
            <a:ext cx="1278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rPr>
              <a:t>Moderada</a:t>
            </a:r>
            <a:endParaRPr sz="1200"/>
          </a:p>
        </p:txBody>
      </p:sp>
      <p:sp>
        <p:nvSpPr>
          <p:cNvPr id="449" name="Google Shape;449;p27"/>
          <p:cNvSpPr txBox="1"/>
          <p:nvPr/>
        </p:nvSpPr>
        <p:spPr>
          <a:xfrm>
            <a:off x="1958349" y="2183506"/>
            <a:ext cx="1028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rPr>
              <a:t>R</a:t>
            </a:r>
            <a:r>
              <a:rPr lang="en" sz="1200">
                <a:solidFill>
                  <a:schemeClr val="lt1"/>
                </a:solidFill>
              </a:rPr>
              <a:t>epoblar</a:t>
            </a:r>
            <a:endParaRPr sz="1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28"/>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Pesca de salmones</a:t>
            </a:r>
            <a:endParaRPr/>
          </a:p>
        </p:txBody>
      </p:sp>
      <p:sp>
        <p:nvSpPr>
          <p:cNvPr id="455" name="Google Shape;455;p28"/>
          <p:cNvSpPr txBox="1"/>
          <p:nvPr/>
        </p:nvSpPr>
        <p:spPr>
          <a:xfrm>
            <a:off x="49300" y="1000550"/>
            <a:ext cx="90945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sz="1800">
                <a:solidFill>
                  <a:schemeClr val="dk1"/>
                </a:solidFill>
              </a:rPr>
              <a:t>Qué horizonte deberíamos considerar? </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29"/>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Pesca de salmones</a:t>
            </a:r>
            <a:endParaRPr/>
          </a:p>
        </p:txBody>
      </p:sp>
      <p:sp>
        <p:nvSpPr>
          <p:cNvPr id="461" name="Google Shape;461;p29"/>
          <p:cNvSpPr txBox="1"/>
          <p:nvPr/>
        </p:nvSpPr>
        <p:spPr>
          <a:xfrm>
            <a:off x="49300" y="1000550"/>
            <a:ext cx="90945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sz="1800">
                <a:solidFill>
                  <a:schemeClr val="dk1"/>
                </a:solidFill>
              </a:rPr>
              <a:t>Qué horizonte deberíamos considerar?</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SzPts val="1800"/>
              <a:buChar char="-"/>
            </a:pPr>
            <a:r>
              <a:rPr lang="en" sz="1800">
                <a:solidFill>
                  <a:schemeClr val="dk1"/>
                </a:solidFill>
              </a:rPr>
              <a:t>Si utilizamos horizontes más largos, cómo comparar ganancias en el futuro próximo con ganancias en el futuro distante?</a:t>
            </a: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30"/>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Pesca de salmones</a:t>
            </a:r>
            <a:endParaRPr/>
          </a:p>
        </p:txBody>
      </p:sp>
      <p:sp>
        <p:nvSpPr>
          <p:cNvPr id="467" name="Google Shape;467;p30"/>
          <p:cNvSpPr txBox="1"/>
          <p:nvPr/>
        </p:nvSpPr>
        <p:spPr>
          <a:xfrm>
            <a:off x="49300" y="1000550"/>
            <a:ext cx="9094500" cy="37866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sz="1800">
                <a:solidFill>
                  <a:schemeClr val="dk1"/>
                </a:solidFill>
              </a:rPr>
              <a:t>Qué horizonte deberíamos considerar?</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SzPts val="1800"/>
              <a:buChar char="-"/>
            </a:pPr>
            <a:r>
              <a:rPr lang="en" sz="1800">
                <a:solidFill>
                  <a:schemeClr val="dk1"/>
                </a:solidFill>
              </a:rPr>
              <a:t>Si utilizamos horizontes más largos, cómo comparar ganancias en el futuro próximo con ganancias en el futuro distante?</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Vamos a considerar la ganancia esperada con un factor de descuento:</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Cómo encontrar la política óptima?</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pic>
        <p:nvPicPr>
          <p:cNvPr descr="\max_u {\rm E}\left[\sum_t \alpha^tr_u(x_t) \right]&#10;%db215372-2bbc-4495-80f4-d91d591acc57" id="468" name="Google Shape;468;p30"/>
          <p:cNvPicPr preferRelativeResize="0"/>
          <p:nvPr/>
        </p:nvPicPr>
        <p:blipFill>
          <a:blip r:embed="rId3">
            <a:alphaModFix/>
          </a:blip>
          <a:stretch>
            <a:fillRect/>
          </a:stretch>
        </p:blipFill>
        <p:spPr>
          <a:xfrm>
            <a:off x="3225425" y="2882175"/>
            <a:ext cx="2095500" cy="2762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1"/>
          <p:cNvSpPr txBox="1"/>
          <p:nvPr/>
        </p:nvSpPr>
        <p:spPr>
          <a:xfrm>
            <a:off x="0" y="838200"/>
            <a:ext cx="8342400" cy="76653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Consideremos nuevamente la recursión utilizada con horizonte finito, con descuento.</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pic>
        <p:nvPicPr>
          <p:cNvPr descr="&#10;%b2ec40be-a735-4635-8f85-29b8913da8e5" id="474" name="Google Shape;474;p31"/>
          <p:cNvPicPr preferRelativeResize="0"/>
          <p:nvPr/>
        </p:nvPicPr>
        <p:blipFill>
          <a:blip r:embed="rId3">
            <a:alphaModFix/>
          </a:blip>
          <a:stretch>
            <a:fillRect/>
          </a:stretch>
        </p:blipFill>
        <p:spPr>
          <a:xfrm>
            <a:off x="0" y="0"/>
            <a:ext cx="9525" cy="9525"/>
          </a:xfrm>
          <a:prstGeom prst="rect">
            <a:avLst/>
          </a:prstGeom>
          <a:noFill/>
          <a:ln>
            <a:noFill/>
          </a:ln>
        </p:spPr>
      </p:pic>
      <p:sp>
        <p:nvSpPr>
          <p:cNvPr id="475" name="Google Shape;475;p31"/>
          <p:cNvSpPr txBox="1"/>
          <p:nvPr>
            <p:ph type="title"/>
          </p:nvPr>
        </p:nvSpPr>
        <p:spPr>
          <a:xfrm>
            <a:off x="311700" y="3043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MDP con Horizonte Infinito</a:t>
            </a:r>
            <a:endParaRPr sz="2500"/>
          </a:p>
        </p:txBody>
      </p:sp>
      <p:grpSp>
        <p:nvGrpSpPr>
          <p:cNvPr id="476" name="Google Shape;476;p31"/>
          <p:cNvGrpSpPr/>
          <p:nvPr/>
        </p:nvGrpSpPr>
        <p:grpSpPr>
          <a:xfrm>
            <a:off x="430500" y="2784583"/>
            <a:ext cx="9045000" cy="1279827"/>
            <a:chOff x="582900" y="2784583"/>
            <a:chExt cx="9045000" cy="1279827"/>
          </a:xfrm>
        </p:grpSpPr>
        <p:sp>
          <p:nvSpPr>
            <p:cNvPr id="477" name="Google Shape;477;p31"/>
            <p:cNvSpPr txBox="1"/>
            <p:nvPr/>
          </p:nvSpPr>
          <p:spPr>
            <a:xfrm>
              <a:off x="582900" y="2784583"/>
              <a:ext cx="9045000" cy="9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Hacemos t = 0. Calculamos</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Hacemos t = t+1. Calculamos</a:t>
              </a:r>
              <a:endParaRPr sz="1800">
                <a:solidFill>
                  <a:schemeClr val="dk2"/>
                </a:solidFill>
              </a:endParaRPr>
            </a:p>
            <a:p>
              <a:pPr indent="0" lvl="0" marL="9144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Si t = T, fin. Si no, volvemos al paso 2.</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descr="V_0^*(x) = \max_{a \in A}r_a(x)&#10;%e6ecc4c3-e7e3-4bb0-8500-75a86c39ba43" id="478" name="Google Shape;478;p31"/>
            <p:cNvPicPr preferRelativeResize="0"/>
            <p:nvPr/>
          </p:nvPicPr>
          <p:blipFill>
            <a:blip r:embed="rId4">
              <a:alphaModFix/>
            </a:blip>
            <a:stretch>
              <a:fillRect/>
            </a:stretch>
          </p:blipFill>
          <p:spPr>
            <a:xfrm>
              <a:off x="3986973" y="3177715"/>
              <a:ext cx="2171700" cy="238125"/>
            </a:xfrm>
            <a:prstGeom prst="rect">
              <a:avLst/>
            </a:prstGeom>
            <a:noFill/>
            <a:ln>
              <a:noFill/>
            </a:ln>
          </p:spPr>
        </p:pic>
        <p:pic>
          <p:nvPicPr>
            <p:cNvPr descr="V_{t}^*(x) = \max_{a \in A}\left\{r_a(x)+\alpha \sum_y P_a(x,y)V_{t-1}^*(y)\right\}&#10;%ccc12696-6306-47f2-8629-ff2a0dfc9039" id="479" name="Google Shape;479;p31"/>
            <p:cNvPicPr preferRelativeResize="0"/>
            <p:nvPr/>
          </p:nvPicPr>
          <p:blipFill>
            <a:blip r:embed="rId5">
              <a:alphaModFix/>
            </a:blip>
            <a:stretch>
              <a:fillRect/>
            </a:stretch>
          </p:blipFill>
          <p:spPr>
            <a:xfrm>
              <a:off x="4222024" y="3654835"/>
              <a:ext cx="4743450" cy="409575"/>
            </a:xfrm>
            <a:prstGeom prst="rect">
              <a:avLst/>
            </a:prstGeom>
            <a:noFill/>
            <a:ln>
              <a:noFill/>
            </a:ln>
          </p:spPr>
        </p:pic>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2"/>
          <p:cNvSpPr txBox="1"/>
          <p:nvPr/>
        </p:nvSpPr>
        <p:spPr>
          <a:xfrm>
            <a:off x="0" y="838200"/>
            <a:ext cx="8342400" cy="76653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Consideremos nuevamente la recursión utilizada con horizonte finito, con descuento.</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Qué sucede cuando             ?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pic>
        <p:nvPicPr>
          <p:cNvPr descr="&#10;%b2ec40be-a735-4635-8f85-29b8913da8e5" id="485" name="Google Shape;485;p32"/>
          <p:cNvPicPr preferRelativeResize="0"/>
          <p:nvPr/>
        </p:nvPicPr>
        <p:blipFill>
          <a:blip r:embed="rId3">
            <a:alphaModFix/>
          </a:blip>
          <a:stretch>
            <a:fillRect/>
          </a:stretch>
        </p:blipFill>
        <p:spPr>
          <a:xfrm>
            <a:off x="0" y="0"/>
            <a:ext cx="9525" cy="9525"/>
          </a:xfrm>
          <a:prstGeom prst="rect">
            <a:avLst/>
          </a:prstGeom>
          <a:noFill/>
          <a:ln>
            <a:noFill/>
          </a:ln>
        </p:spPr>
      </p:pic>
      <p:sp>
        <p:nvSpPr>
          <p:cNvPr id="486" name="Google Shape;486;p32"/>
          <p:cNvSpPr txBox="1"/>
          <p:nvPr>
            <p:ph type="title"/>
          </p:nvPr>
        </p:nvSpPr>
        <p:spPr>
          <a:xfrm>
            <a:off x="311700" y="3043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MDP con Horizonte Infinito</a:t>
            </a:r>
            <a:endParaRPr sz="2500"/>
          </a:p>
        </p:txBody>
      </p:sp>
      <p:grpSp>
        <p:nvGrpSpPr>
          <p:cNvPr id="487" name="Google Shape;487;p32"/>
          <p:cNvGrpSpPr/>
          <p:nvPr/>
        </p:nvGrpSpPr>
        <p:grpSpPr>
          <a:xfrm>
            <a:off x="430500" y="2784583"/>
            <a:ext cx="9045000" cy="1279827"/>
            <a:chOff x="582900" y="2784583"/>
            <a:chExt cx="9045000" cy="1279827"/>
          </a:xfrm>
        </p:grpSpPr>
        <p:sp>
          <p:nvSpPr>
            <p:cNvPr id="488" name="Google Shape;488;p32"/>
            <p:cNvSpPr txBox="1"/>
            <p:nvPr/>
          </p:nvSpPr>
          <p:spPr>
            <a:xfrm>
              <a:off x="582900" y="2784583"/>
              <a:ext cx="9045000" cy="9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Hacemos t = 0. Calculamos</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Hacemos t = t+1. Calculamos</a:t>
              </a:r>
              <a:endParaRPr sz="1800">
                <a:solidFill>
                  <a:schemeClr val="dk2"/>
                </a:solidFill>
              </a:endParaRPr>
            </a:p>
            <a:p>
              <a:pPr indent="0" lvl="0" marL="9144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Si t = T, fin. Si no, volvemos al paso 2.</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descr="V_0^*(x) = \max_{a \in A}r_a(x)&#10;%e6ecc4c3-e7e3-4bb0-8500-75a86c39ba43" id="489" name="Google Shape;489;p32"/>
            <p:cNvPicPr preferRelativeResize="0"/>
            <p:nvPr/>
          </p:nvPicPr>
          <p:blipFill>
            <a:blip r:embed="rId4">
              <a:alphaModFix/>
            </a:blip>
            <a:stretch>
              <a:fillRect/>
            </a:stretch>
          </p:blipFill>
          <p:spPr>
            <a:xfrm>
              <a:off x="3986973" y="3177715"/>
              <a:ext cx="2171700" cy="238125"/>
            </a:xfrm>
            <a:prstGeom prst="rect">
              <a:avLst/>
            </a:prstGeom>
            <a:noFill/>
            <a:ln>
              <a:noFill/>
            </a:ln>
          </p:spPr>
        </p:pic>
        <p:pic>
          <p:nvPicPr>
            <p:cNvPr descr="V_{t}^*(x) = \max_{a \in A}\left\{r_a(x)+\alpha \sum_y P_a(x,y)V_{t-1}^*(y)\right\}&#10;%ccc12696-6306-47f2-8629-ff2a0dfc9039" id="490" name="Google Shape;490;p32"/>
            <p:cNvPicPr preferRelativeResize="0"/>
            <p:nvPr/>
          </p:nvPicPr>
          <p:blipFill>
            <a:blip r:embed="rId5">
              <a:alphaModFix/>
            </a:blip>
            <a:stretch>
              <a:fillRect/>
            </a:stretch>
          </p:blipFill>
          <p:spPr>
            <a:xfrm>
              <a:off x="4222024" y="3654835"/>
              <a:ext cx="4743450" cy="409575"/>
            </a:xfrm>
            <a:prstGeom prst="rect">
              <a:avLst/>
            </a:prstGeom>
            <a:noFill/>
            <a:ln>
              <a:noFill/>
            </a:ln>
          </p:spPr>
        </p:pic>
      </p:grpSp>
      <p:pic>
        <p:nvPicPr>
          <p:cNvPr descr="T\rightarrow\infty&#10;%63d7a3a4-a757-4d69-94b1-82d1f119684c" id="491" name="Google Shape;491;p32"/>
          <p:cNvPicPr preferRelativeResize="0"/>
          <p:nvPr/>
        </p:nvPicPr>
        <p:blipFill>
          <a:blip r:embed="rId6">
            <a:alphaModFix/>
          </a:blip>
          <a:stretch>
            <a:fillRect/>
          </a:stretch>
        </p:blipFill>
        <p:spPr>
          <a:xfrm>
            <a:off x="2676525" y="1810637"/>
            <a:ext cx="733425" cy="1619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33"/>
          <p:cNvSpPr/>
          <p:nvPr/>
        </p:nvSpPr>
        <p:spPr>
          <a:xfrm>
            <a:off x="3952325" y="3524600"/>
            <a:ext cx="5086200" cy="687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7" name="Google Shape;497;p33"/>
          <p:cNvSpPr txBox="1"/>
          <p:nvPr/>
        </p:nvSpPr>
        <p:spPr>
          <a:xfrm>
            <a:off x="0" y="838200"/>
            <a:ext cx="8342400" cy="76653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Consideremos nuevamente la recursión utilizada con horizonte finito, con descuento.</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Qué sucede cuando             ?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pic>
        <p:nvPicPr>
          <p:cNvPr descr="&#10;%b2ec40be-a735-4635-8f85-29b8913da8e5" id="498" name="Google Shape;498;p33"/>
          <p:cNvPicPr preferRelativeResize="0"/>
          <p:nvPr/>
        </p:nvPicPr>
        <p:blipFill>
          <a:blip r:embed="rId3">
            <a:alphaModFix/>
          </a:blip>
          <a:stretch>
            <a:fillRect/>
          </a:stretch>
        </p:blipFill>
        <p:spPr>
          <a:xfrm>
            <a:off x="0" y="0"/>
            <a:ext cx="9525" cy="9525"/>
          </a:xfrm>
          <a:prstGeom prst="rect">
            <a:avLst/>
          </a:prstGeom>
          <a:noFill/>
          <a:ln>
            <a:noFill/>
          </a:ln>
        </p:spPr>
      </p:pic>
      <p:sp>
        <p:nvSpPr>
          <p:cNvPr id="499" name="Google Shape;499;p33"/>
          <p:cNvSpPr txBox="1"/>
          <p:nvPr>
            <p:ph type="title"/>
          </p:nvPr>
        </p:nvSpPr>
        <p:spPr>
          <a:xfrm>
            <a:off x="311700" y="3043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MDP con Horizonte Infinito</a:t>
            </a:r>
            <a:endParaRPr sz="2500"/>
          </a:p>
        </p:txBody>
      </p:sp>
      <p:grpSp>
        <p:nvGrpSpPr>
          <p:cNvPr id="500" name="Google Shape;500;p33"/>
          <p:cNvGrpSpPr/>
          <p:nvPr/>
        </p:nvGrpSpPr>
        <p:grpSpPr>
          <a:xfrm>
            <a:off x="430500" y="2784583"/>
            <a:ext cx="9045000" cy="1279827"/>
            <a:chOff x="582900" y="2784583"/>
            <a:chExt cx="9045000" cy="1279827"/>
          </a:xfrm>
        </p:grpSpPr>
        <p:sp>
          <p:nvSpPr>
            <p:cNvPr id="501" name="Google Shape;501;p33"/>
            <p:cNvSpPr txBox="1"/>
            <p:nvPr/>
          </p:nvSpPr>
          <p:spPr>
            <a:xfrm>
              <a:off x="582900" y="2784583"/>
              <a:ext cx="9045000" cy="9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Hacemos t = 0. Calculamos</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Hacemos t = t+1. Calculamos</a:t>
              </a:r>
              <a:endParaRPr sz="1800">
                <a:solidFill>
                  <a:schemeClr val="dk2"/>
                </a:solidFill>
              </a:endParaRPr>
            </a:p>
            <a:p>
              <a:pPr indent="0" lvl="0" marL="9144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Si t = T, fin. Si no, volvemos al paso 2.</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descr="V_0^*(x) = \max_{a \in A}r_a(x)&#10;%e6ecc4c3-e7e3-4bb0-8500-75a86c39ba43" id="502" name="Google Shape;502;p33"/>
            <p:cNvPicPr preferRelativeResize="0"/>
            <p:nvPr/>
          </p:nvPicPr>
          <p:blipFill>
            <a:blip r:embed="rId4">
              <a:alphaModFix/>
            </a:blip>
            <a:stretch>
              <a:fillRect/>
            </a:stretch>
          </p:blipFill>
          <p:spPr>
            <a:xfrm>
              <a:off x="3986973" y="3177715"/>
              <a:ext cx="2171700" cy="238125"/>
            </a:xfrm>
            <a:prstGeom prst="rect">
              <a:avLst/>
            </a:prstGeom>
            <a:noFill/>
            <a:ln>
              <a:noFill/>
            </a:ln>
          </p:spPr>
        </p:pic>
        <p:pic>
          <p:nvPicPr>
            <p:cNvPr descr="V_{t}^*(x) = \max_{a \in A}\left\{r_a(x)+\alpha \sum_y P_a(x,y)V_{t-1}^*(y)\right\}&#10;%ccc12696-6306-47f2-8629-ff2a0dfc9039" id="503" name="Google Shape;503;p33"/>
            <p:cNvPicPr preferRelativeResize="0"/>
            <p:nvPr/>
          </p:nvPicPr>
          <p:blipFill>
            <a:blip r:embed="rId5">
              <a:alphaModFix/>
            </a:blip>
            <a:stretch>
              <a:fillRect/>
            </a:stretch>
          </p:blipFill>
          <p:spPr>
            <a:xfrm>
              <a:off x="4222024" y="3654835"/>
              <a:ext cx="4743450" cy="409575"/>
            </a:xfrm>
            <a:prstGeom prst="rect">
              <a:avLst/>
            </a:prstGeom>
            <a:noFill/>
            <a:ln>
              <a:noFill/>
            </a:ln>
          </p:spPr>
        </p:pic>
      </p:grpSp>
      <p:pic>
        <p:nvPicPr>
          <p:cNvPr descr="T\rightarrow\infty&#10;%63d7a3a4-a757-4d69-94b1-82d1f119684c" id="504" name="Google Shape;504;p33"/>
          <p:cNvPicPr preferRelativeResize="0"/>
          <p:nvPr/>
        </p:nvPicPr>
        <p:blipFill>
          <a:blip r:embed="rId6">
            <a:alphaModFix/>
          </a:blip>
          <a:stretch>
            <a:fillRect/>
          </a:stretch>
        </p:blipFill>
        <p:spPr>
          <a:xfrm>
            <a:off x="2676525" y="1810637"/>
            <a:ext cx="733425" cy="161925"/>
          </a:xfrm>
          <a:prstGeom prst="rect">
            <a:avLst/>
          </a:prstGeom>
          <a:noFill/>
          <a:ln>
            <a:noFill/>
          </a:ln>
        </p:spPr>
      </p:pic>
      <p:pic>
        <p:nvPicPr>
          <p:cNvPr descr="\lim_{T\rightarrow} V_T^*(x) = V^*(x)&#10;%4696fc4c-84b6-4eab-8a5c-b977efa30a16" id="505" name="Google Shape;505;p33"/>
          <p:cNvPicPr preferRelativeResize="0"/>
          <p:nvPr/>
        </p:nvPicPr>
        <p:blipFill>
          <a:blip r:embed="rId7">
            <a:alphaModFix/>
          </a:blip>
          <a:stretch>
            <a:fillRect/>
          </a:stretch>
        </p:blipFill>
        <p:spPr>
          <a:xfrm>
            <a:off x="3409950" y="2257263"/>
            <a:ext cx="2105025" cy="2286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34"/>
          <p:cNvSpPr txBox="1"/>
          <p:nvPr/>
        </p:nvSpPr>
        <p:spPr>
          <a:xfrm>
            <a:off x="0" y="838200"/>
            <a:ext cx="8342400" cy="76653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Consideremos nuevamente la recursión utilizada con horizonte finito, con descuento.</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Qué sucede cuando             ?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pic>
        <p:nvPicPr>
          <p:cNvPr descr="&#10;%b2ec40be-a735-4635-8f85-29b8913da8e5" id="511" name="Google Shape;511;p34"/>
          <p:cNvPicPr preferRelativeResize="0"/>
          <p:nvPr/>
        </p:nvPicPr>
        <p:blipFill>
          <a:blip r:embed="rId3">
            <a:alphaModFix/>
          </a:blip>
          <a:stretch>
            <a:fillRect/>
          </a:stretch>
        </p:blipFill>
        <p:spPr>
          <a:xfrm>
            <a:off x="0" y="0"/>
            <a:ext cx="9525" cy="9525"/>
          </a:xfrm>
          <a:prstGeom prst="rect">
            <a:avLst/>
          </a:prstGeom>
          <a:noFill/>
          <a:ln>
            <a:noFill/>
          </a:ln>
        </p:spPr>
      </p:pic>
      <p:sp>
        <p:nvSpPr>
          <p:cNvPr id="512" name="Google Shape;512;p34"/>
          <p:cNvSpPr txBox="1"/>
          <p:nvPr>
            <p:ph type="title"/>
          </p:nvPr>
        </p:nvSpPr>
        <p:spPr>
          <a:xfrm>
            <a:off x="311700" y="3043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MDP con Horizonte Infinito</a:t>
            </a:r>
            <a:endParaRPr sz="2500"/>
          </a:p>
        </p:txBody>
      </p:sp>
      <p:pic>
        <p:nvPicPr>
          <p:cNvPr descr="V_{t}^*(x) = \max_{a \in A}\left\{r_a(x)+\alpha \sum_y P_a(x,y)V_{t-1}^*(y)\right\}&#10;%ccc12696-6306-47f2-8629-ff2a0dfc9039" id="513" name="Google Shape;513;p34"/>
          <p:cNvPicPr preferRelativeResize="0"/>
          <p:nvPr/>
        </p:nvPicPr>
        <p:blipFill>
          <a:blip r:embed="rId4">
            <a:alphaModFix/>
          </a:blip>
          <a:stretch>
            <a:fillRect/>
          </a:stretch>
        </p:blipFill>
        <p:spPr>
          <a:xfrm>
            <a:off x="1799474" y="2977310"/>
            <a:ext cx="4743450" cy="409575"/>
          </a:xfrm>
          <a:prstGeom prst="rect">
            <a:avLst/>
          </a:prstGeom>
          <a:noFill/>
          <a:ln>
            <a:noFill/>
          </a:ln>
        </p:spPr>
      </p:pic>
      <p:pic>
        <p:nvPicPr>
          <p:cNvPr descr="T\rightarrow\infty&#10;%63d7a3a4-a757-4d69-94b1-82d1f119684c" id="514" name="Google Shape;514;p34"/>
          <p:cNvPicPr preferRelativeResize="0"/>
          <p:nvPr/>
        </p:nvPicPr>
        <p:blipFill>
          <a:blip r:embed="rId5">
            <a:alphaModFix/>
          </a:blip>
          <a:stretch>
            <a:fillRect/>
          </a:stretch>
        </p:blipFill>
        <p:spPr>
          <a:xfrm>
            <a:off x="2676525" y="1810637"/>
            <a:ext cx="733425" cy="161925"/>
          </a:xfrm>
          <a:prstGeom prst="rect">
            <a:avLst/>
          </a:prstGeom>
          <a:noFill/>
          <a:ln>
            <a:noFill/>
          </a:ln>
        </p:spPr>
      </p:pic>
      <p:pic>
        <p:nvPicPr>
          <p:cNvPr descr="\lim_{T\rightarrow} V_T^*(x) = V^*(x)&#10;%4696fc4c-84b6-4eab-8a5c-b977efa30a16" id="515" name="Google Shape;515;p34"/>
          <p:cNvPicPr preferRelativeResize="0"/>
          <p:nvPr/>
        </p:nvPicPr>
        <p:blipFill>
          <a:blip r:embed="rId6">
            <a:alphaModFix/>
          </a:blip>
          <a:stretch>
            <a:fillRect/>
          </a:stretch>
        </p:blipFill>
        <p:spPr>
          <a:xfrm>
            <a:off x="3409950" y="2257263"/>
            <a:ext cx="2105025" cy="228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35"/>
          <p:cNvSpPr txBox="1"/>
          <p:nvPr/>
        </p:nvSpPr>
        <p:spPr>
          <a:xfrm>
            <a:off x="0" y="838200"/>
            <a:ext cx="8342400" cy="82194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Consideremos nuevamente la recursión utilizada con horizonte finito, con descuento.</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Qué sucede cuando             ?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Ecuación de Bellman:</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pic>
        <p:nvPicPr>
          <p:cNvPr descr="&#10;%b2ec40be-a735-4635-8f85-29b8913da8e5" id="521" name="Google Shape;521;p35"/>
          <p:cNvPicPr preferRelativeResize="0"/>
          <p:nvPr/>
        </p:nvPicPr>
        <p:blipFill>
          <a:blip r:embed="rId3">
            <a:alphaModFix/>
          </a:blip>
          <a:stretch>
            <a:fillRect/>
          </a:stretch>
        </p:blipFill>
        <p:spPr>
          <a:xfrm>
            <a:off x="0" y="0"/>
            <a:ext cx="9525" cy="9525"/>
          </a:xfrm>
          <a:prstGeom prst="rect">
            <a:avLst/>
          </a:prstGeom>
          <a:noFill/>
          <a:ln>
            <a:noFill/>
          </a:ln>
        </p:spPr>
      </p:pic>
      <p:sp>
        <p:nvSpPr>
          <p:cNvPr id="522" name="Google Shape;522;p35"/>
          <p:cNvSpPr txBox="1"/>
          <p:nvPr>
            <p:ph type="title"/>
          </p:nvPr>
        </p:nvSpPr>
        <p:spPr>
          <a:xfrm>
            <a:off x="311700" y="3043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MDP con Horizonte Infinito - Ecuación de Bellman</a:t>
            </a:r>
            <a:endParaRPr sz="2500"/>
          </a:p>
        </p:txBody>
      </p:sp>
      <p:pic>
        <p:nvPicPr>
          <p:cNvPr descr="T\rightarrow\infty&#10;%63d7a3a4-a757-4d69-94b1-82d1f119684c" id="523" name="Google Shape;523;p35"/>
          <p:cNvPicPr preferRelativeResize="0"/>
          <p:nvPr/>
        </p:nvPicPr>
        <p:blipFill>
          <a:blip r:embed="rId4">
            <a:alphaModFix/>
          </a:blip>
          <a:stretch>
            <a:fillRect/>
          </a:stretch>
        </p:blipFill>
        <p:spPr>
          <a:xfrm>
            <a:off x="2676525" y="1810637"/>
            <a:ext cx="733425" cy="161925"/>
          </a:xfrm>
          <a:prstGeom prst="rect">
            <a:avLst/>
          </a:prstGeom>
          <a:noFill/>
          <a:ln>
            <a:noFill/>
          </a:ln>
        </p:spPr>
      </p:pic>
      <p:pic>
        <p:nvPicPr>
          <p:cNvPr descr="\lim_{T\rightarrow} V_T^*(x) = V^*(x)&#10;%4696fc4c-84b6-4eab-8a5c-b977efa30a16" id="524" name="Google Shape;524;p35"/>
          <p:cNvPicPr preferRelativeResize="0"/>
          <p:nvPr/>
        </p:nvPicPr>
        <p:blipFill>
          <a:blip r:embed="rId5">
            <a:alphaModFix/>
          </a:blip>
          <a:stretch>
            <a:fillRect/>
          </a:stretch>
        </p:blipFill>
        <p:spPr>
          <a:xfrm>
            <a:off x="3409950" y="2257263"/>
            <a:ext cx="2105025" cy="228600"/>
          </a:xfrm>
          <a:prstGeom prst="rect">
            <a:avLst/>
          </a:prstGeom>
          <a:noFill/>
          <a:ln>
            <a:noFill/>
          </a:ln>
        </p:spPr>
      </p:pic>
      <p:pic>
        <p:nvPicPr>
          <p:cNvPr descr="V^*(x) = \max_{a \in A}\left\{r_a(x)+\alpha \sum_y P_a(x,y)V^*(y)\right\}&#10;%17241b34-0dc8-48cb-99ad-2bf4b3b2eb17" id="525" name="Google Shape;525;p35"/>
          <p:cNvPicPr preferRelativeResize="0"/>
          <p:nvPr/>
        </p:nvPicPr>
        <p:blipFill>
          <a:blip r:embed="rId6">
            <a:alphaModFix/>
          </a:blip>
          <a:stretch>
            <a:fillRect/>
          </a:stretch>
        </p:blipFill>
        <p:spPr>
          <a:xfrm>
            <a:off x="1951875" y="2977300"/>
            <a:ext cx="4610100" cy="4095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36"/>
          <p:cNvSpPr txBox="1"/>
          <p:nvPr/>
        </p:nvSpPr>
        <p:spPr>
          <a:xfrm>
            <a:off x="0" y="838200"/>
            <a:ext cx="8342400" cy="1015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Consideremos nuevamente la recursión utilizada con horizonte finito, con descuento.</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Qué sucede cuando             ?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Ecuación de Bellman:</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Después de resolver la ecuación de Bellman, podemos derivar nuevamente la política óptima a partir de la función valor:</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pic>
        <p:nvPicPr>
          <p:cNvPr descr="&#10;%b2ec40be-a735-4635-8f85-29b8913da8e5" id="531" name="Google Shape;531;p36"/>
          <p:cNvPicPr preferRelativeResize="0"/>
          <p:nvPr/>
        </p:nvPicPr>
        <p:blipFill>
          <a:blip r:embed="rId3">
            <a:alphaModFix/>
          </a:blip>
          <a:stretch>
            <a:fillRect/>
          </a:stretch>
        </p:blipFill>
        <p:spPr>
          <a:xfrm>
            <a:off x="0" y="0"/>
            <a:ext cx="9525" cy="9525"/>
          </a:xfrm>
          <a:prstGeom prst="rect">
            <a:avLst/>
          </a:prstGeom>
          <a:noFill/>
          <a:ln>
            <a:noFill/>
          </a:ln>
        </p:spPr>
      </p:pic>
      <p:sp>
        <p:nvSpPr>
          <p:cNvPr id="532" name="Google Shape;532;p36"/>
          <p:cNvSpPr txBox="1"/>
          <p:nvPr>
            <p:ph type="title"/>
          </p:nvPr>
        </p:nvSpPr>
        <p:spPr>
          <a:xfrm>
            <a:off x="311700" y="3043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MDP con Horizonte Infinito - Ecuación de Bellman</a:t>
            </a:r>
            <a:endParaRPr sz="2500"/>
          </a:p>
        </p:txBody>
      </p:sp>
      <p:pic>
        <p:nvPicPr>
          <p:cNvPr descr="T\rightarrow\infty&#10;%63d7a3a4-a757-4d69-94b1-82d1f119684c" id="533" name="Google Shape;533;p36"/>
          <p:cNvPicPr preferRelativeResize="0"/>
          <p:nvPr/>
        </p:nvPicPr>
        <p:blipFill>
          <a:blip r:embed="rId4">
            <a:alphaModFix/>
          </a:blip>
          <a:stretch>
            <a:fillRect/>
          </a:stretch>
        </p:blipFill>
        <p:spPr>
          <a:xfrm>
            <a:off x="2676525" y="1810637"/>
            <a:ext cx="733425" cy="161925"/>
          </a:xfrm>
          <a:prstGeom prst="rect">
            <a:avLst/>
          </a:prstGeom>
          <a:noFill/>
          <a:ln>
            <a:noFill/>
          </a:ln>
        </p:spPr>
      </p:pic>
      <p:pic>
        <p:nvPicPr>
          <p:cNvPr descr="\lim_{T\rightarrow} V_T^*(x) = V^*(x)&#10;%4696fc4c-84b6-4eab-8a5c-b977efa30a16" id="534" name="Google Shape;534;p36"/>
          <p:cNvPicPr preferRelativeResize="0"/>
          <p:nvPr/>
        </p:nvPicPr>
        <p:blipFill>
          <a:blip r:embed="rId5">
            <a:alphaModFix/>
          </a:blip>
          <a:stretch>
            <a:fillRect/>
          </a:stretch>
        </p:blipFill>
        <p:spPr>
          <a:xfrm>
            <a:off x="3409950" y="2257263"/>
            <a:ext cx="2105025" cy="228600"/>
          </a:xfrm>
          <a:prstGeom prst="rect">
            <a:avLst/>
          </a:prstGeom>
          <a:noFill/>
          <a:ln>
            <a:noFill/>
          </a:ln>
        </p:spPr>
      </p:pic>
      <p:pic>
        <p:nvPicPr>
          <p:cNvPr descr="V^*(x) = \max_{a \in A}\left\{r_a(x)+\alpha \sum_y P_a(x,y)V^*(y)\right\}&#10;%17241b34-0dc8-48cb-99ad-2bf4b3b2eb17" id="535" name="Google Shape;535;p36"/>
          <p:cNvPicPr preferRelativeResize="0"/>
          <p:nvPr/>
        </p:nvPicPr>
        <p:blipFill>
          <a:blip r:embed="rId6">
            <a:alphaModFix/>
          </a:blip>
          <a:stretch>
            <a:fillRect/>
          </a:stretch>
        </p:blipFill>
        <p:spPr>
          <a:xfrm>
            <a:off x="1951875" y="2977300"/>
            <a:ext cx="4610100" cy="409575"/>
          </a:xfrm>
          <a:prstGeom prst="rect">
            <a:avLst/>
          </a:prstGeom>
          <a:noFill/>
          <a:ln>
            <a:noFill/>
          </a:ln>
        </p:spPr>
      </p:pic>
      <p:pic>
        <p:nvPicPr>
          <p:cNvPr descr="u^*(x) = \arg\max_{a \in A}\left\{r_a(x)+\alpha \sum_y P_a(x,y)V^*(y)\right\}&#10;%5fee8836-8cba-4b52-94dd-b1821c84f5b2" id="536" name="Google Shape;536;p36"/>
          <p:cNvPicPr preferRelativeResize="0"/>
          <p:nvPr/>
        </p:nvPicPr>
        <p:blipFill>
          <a:blip r:embed="rId7">
            <a:alphaModFix/>
          </a:blip>
          <a:stretch>
            <a:fillRect/>
          </a:stretch>
        </p:blipFill>
        <p:spPr>
          <a:xfrm>
            <a:off x="2009775" y="4429800"/>
            <a:ext cx="4905375" cy="4095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37"/>
          <p:cNvSpPr txBox="1"/>
          <p:nvPr/>
        </p:nvSpPr>
        <p:spPr>
          <a:xfrm>
            <a:off x="130550" y="877033"/>
            <a:ext cx="9045000" cy="909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Hay varios algoritmos para resolver la ecuación de Bellman, nos enfocaremos en dos métodos que forman la base para los algoritmos de aprendizaje por refuerzo.</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descr="&#10;%b2ec40be-a735-4635-8f85-29b8913da8e5" id="542" name="Google Shape;542;p37"/>
          <p:cNvPicPr preferRelativeResize="0"/>
          <p:nvPr/>
        </p:nvPicPr>
        <p:blipFill>
          <a:blip r:embed="rId3">
            <a:alphaModFix/>
          </a:blip>
          <a:stretch>
            <a:fillRect/>
          </a:stretch>
        </p:blipFill>
        <p:spPr>
          <a:xfrm>
            <a:off x="0" y="0"/>
            <a:ext cx="9525" cy="9525"/>
          </a:xfrm>
          <a:prstGeom prst="rect">
            <a:avLst/>
          </a:prstGeom>
          <a:noFill/>
          <a:ln>
            <a:noFill/>
          </a:ln>
        </p:spPr>
      </p:pic>
      <p:sp>
        <p:nvSpPr>
          <p:cNvPr id="543" name="Google Shape;543;p37"/>
          <p:cNvSpPr txBox="1"/>
          <p:nvPr>
            <p:ph type="title"/>
          </p:nvPr>
        </p:nvSpPr>
        <p:spPr>
          <a:xfrm>
            <a:off x="311700" y="3043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Ecuación de Bellman - Algoritmos de Resolución</a:t>
            </a:r>
            <a:endParaRPr sz="25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38"/>
          <p:cNvSpPr txBox="1"/>
          <p:nvPr/>
        </p:nvSpPr>
        <p:spPr>
          <a:xfrm>
            <a:off x="130550" y="877033"/>
            <a:ext cx="9045000" cy="909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Hay varios algoritmos para resolver la ecuación de Bellman, nos enfocaremos en dos métodos que forman la base para los algoritmos de aprendizaje por refuerzo.</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Iteración de valor:</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549" name="Google Shape;549;p38"/>
          <p:cNvSpPr txBox="1"/>
          <p:nvPr/>
        </p:nvSpPr>
        <p:spPr>
          <a:xfrm>
            <a:off x="311700" y="2010926"/>
            <a:ext cx="9045000" cy="9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Hacemos t = 0. Inicializamos          con un valor arbitrario, por ejemplo 0.</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Hacemos t = t+1. Calculamos                                                                          .</a:t>
            </a:r>
            <a:endParaRPr sz="1800">
              <a:solidFill>
                <a:schemeClr val="dk2"/>
              </a:solidFill>
            </a:endParaRPr>
          </a:p>
          <a:p>
            <a:pPr indent="0" lvl="0" marL="914400" rtl="0" algn="l">
              <a:spcBef>
                <a:spcPts val="0"/>
              </a:spcBef>
              <a:spcAft>
                <a:spcPts val="0"/>
              </a:spcAft>
              <a:buNone/>
            </a:pPr>
            <a:r>
              <a:rPr lang="en" sz="1800">
                <a:solidFill>
                  <a:schemeClr val="dk2"/>
                </a:solidFill>
              </a:rPr>
              <a:t>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Utilizando un criterio de convergencia para         , decidimos si parar o continuar.</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descr="&#10;%b2ec40be-a735-4635-8f85-29b8913da8e5" id="550" name="Google Shape;550;p38"/>
          <p:cNvPicPr preferRelativeResize="0"/>
          <p:nvPr/>
        </p:nvPicPr>
        <p:blipFill>
          <a:blip r:embed="rId3">
            <a:alphaModFix/>
          </a:blip>
          <a:stretch>
            <a:fillRect/>
          </a:stretch>
        </p:blipFill>
        <p:spPr>
          <a:xfrm>
            <a:off x="0" y="0"/>
            <a:ext cx="9525" cy="9525"/>
          </a:xfrm>
          <a:prstGeom prst="rect">
            <a:avLst/>
          </a:prstGeom>
          <a:noFill/>
          <a:ln>
            <a:noFill/>
          </a:ln>
        </p:spPr>
      </p:pic>
      <p:sp>
        <p:nvSpPr>
          <p:cNvPr id="551" name="Google Shape;551;p38"/>
          <p:cNvSpPr txBox="1"/>
          <p:nvPr>
            <p:ph type="title"/>
          </p:nvPr>
        </p:nvSpPr>
        <p:spPr>
          <a:xfrm>
            <a:off x="311700" y="3043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Ecuación de Bellman - Iteración de Valor</a:t>
            </a:r>
            <a:endParaRPr sz="2500"/>
          </a:p>
        </p:txBody>
      </p:sp>
      <p:pic>
        <p:nvPicPr>
          <p:cNvPr descr="V_0(x)&#10;%8af08606-249f-450b-9232-c051dbc095b9" id="552" name="Google Shape;552;p38"/>
          <p:cNvPicPr preferRelativeResize="0"/>
          <p:nvPr/>
        </p:nvPicPr>
        <p:blipFill>
          <a:blip r:embed="rId4">
            <a:alphaModFix/>
          </a:blip>
          <a:stretch>
            <a:fillRect/>
          </a:stretch>
        </p:blipFill>
        <p:spPr>
          <a:xfrm>
            <a:off x="3826625" y="2409878"/>
            <a:ext cx="533400" cy="228600"/>
          </a:xfrm>
          <a:prstGeom prst="rect">
            <a:avLst/>
          </a:prstGeom>
          <a:noFill/>
          <a:ln>
            <a:noFill/>
          </a:ln>
        </p:spPr>
      </p:pic>
      <p:pic>
        <p:nvPicPr>
          <p:cNvPr descr="V_{t+1}(x) = \max_{a \in A} \left\{r_a(x)+\alpha \sum_y P_a(x,y)V_t(y)\right\}&#10;%b5b1b01d-497c-4725-9347-cf85f54e2dc1" id="553" name="Google Shape;553;p38"/>
          <p:cNvPicPr preferRelativeResize="0"/>
          <p:nvPr/>
        </p:nvPicPr>
        <p:blipFill>
          <a:blip r:embed="rId5">
            <a:alphaModFix/>
          </a:blip>
          <a:stretch>
            <a:fillRect/>
          </a:stretch>
        </p:blipFill>
        <p:spPr>
          <a:xfrm>
            <a:off x="3893400" y="2872338"/>
            <a:ext cx="4667250" cy="409575"/>
          </a:xfrm>
          <a:prstGeom prst="rect">
            <a:avLst/>
          </a:prstGeom>
          <a:noFill/>
          <a:ln>
            <a:noFill/>
          </a:ln>
        </p:spPr>
      </p:pic>
      <p:pic>
        <p:nvPicPr>
          <p:cNvPr descr="V_{t}(x)&#10;%73842af2-c466-41fc-a5a1-b4eb2385eb3f" id="554" name="Google Shape;554;p38"/>
          <p:cNvPicPr preferRelativeResize="0"/>
          <p:nvPr/>
        </p:nvPicPr>
        <p:blipFill>
          <a:blip r:embed="rId6">
            <a:alphaModFix/>
          </a:blip>
          <a:stretch>
            <a:fillRect/>
          </a:stretch>
        </p:blipFill>
        <p:spPr>
          <a:xfrm>
            <a:off x="5248494" y="3520700"/>
            <a:ext cx="514350" cy="2286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39"/>
          <p:cNvSpPr txBox="1"/>
          <p:nvPr/>
        </p:nvSpPr>
        <p:spPr>
          <a:xfrm>
            <a:off x="130550" y="877033"/>
            <a:ext cx="9045000" cy="909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Hay varios algoritmos para resolver la ecuación de Bellman, nos enfocaremos en dos métodos que forman la base para los algoritmos de aprendizaje por refuerzo.</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Iteración de valor:</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560" name="Google Shape;560;p39"/>
          <p:cNvSpPr txBox="1"/>
          <p:nvPr/>
        </p:nvSpPr>
        <p:spPr>
          <a:xfrm>
            <a:off x="311700" y="2010926"/>
            <a:ext cx="9045000" cy="9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Hacemos t = 0. Inicializamos          con un valor arbitrario, por ejemplo 0.</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Hacemos t = t+1. Calculamos                                                                          .</a:t>
            </a:r>
            <a:endParaRPr sz="1800">
              <a:solidFill>
                <a:schemeClr val="dk2"/>
              </a:solidFill>
            </a:endParaRPr>
          </a:p>
          <a:p>
            <a:pPr indent="0" lvl="0" marL="914400" rtl="0" algn="l">
              <a:spcBef>
                <a:spcPts val="0"/>
              </a:spcBef>
              <a:spcAft>
                <a:spcPts val="0"/>
              </a:spcAft>
              <a:buNone/>
            </a:pPr>
            <a:r>
              <a:rPr lang="en" sz="1800">
                <a:solidFill>
                  <a:schemeClr val="dk2"/>
                </a:solidFill>
              </a:rPr>
              <a:t>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Utilizando un criterio de convergencia para         , decidimos si parar o continuar.</a:t>
            </a:r>
            <a:endParaRPr sz="1800">
              <a:solidFill>
                <a:schemeClr val="dk2"/>
              </a:solidFill>
            </a:endParaRPr>
          </a:p>
          <a:p>
            <a:pPr indent="0" lvl="0" marL="0" rtl="0" algn="l">
              <a:spcBef>
                <a:spcPts val="0"/>
              </a:spcBef>
              <a:spcAft>
                <a:spcPts val="0"/>
              </a:spcAft>
              <a:buNone/>
            </a:pPr>
            <a:r>
              <a:rPr lang="en" sz="1800">
                <a:solidFill>
                  <a:schemeClr val="dk2"/>
                </a:solidFill>
              </a:rPr>
              <a:t>	Por ejemplo,                                            para algún   .</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descr="&#10;%b2ec40be-a735-4635-8f85-29b8913da8e5" id="561" name="Google Shape;561;p39"/>
          <p:cNvPicPr preferRelativeResize="0"/>
          <p:nvPr/>
        </p:nvPicPr>
        <p:blipFill>
          <a:blip r:embed="rId3">
            <a:alphaModFix/>
          </a:blip>
          <a:stretch>
            <a:fillRect/>
          </a:stretch>
        </p:blipFill>
        <p:spPr>
          <a:xfrm>
            <a:off x="0" y="0"/>
            <a:ext cx="9525" cy="9525"/>
          </a:xfrm>
          <a:prstGeom prst="rect">
            <a:avLst/>
          </a:prstGeom>
          <a:noFill/>
          <a:ln>
            <a:noFill/>
          </a:ln>
        </p:spPr>
      </p:pic>
      <p:sp>
        <p:nvSpPr>
          <p:cNvPr id="562" name="Google Shape;562;p39"/>
          <p:cNvSpPr txBox="1"/>
          <p:nvPr>
            <p:ph type="title"/>
          </p:nvPr>
        </p:nvSpPr>
        <p:spPr>
          <a:xfrm>
            <a:off x="311700" y="3043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Ecuación de Bellman - Iteración de Valor</a:t>
            </a:r>
            <a:endParaRPr sz="2500"/>
          </a:p>
        </p:txBody>
      </p:sp>
      <p:pic>
        <p:nvPicPr>
          <p:cNvPr descr="V_0(x)&#10;%8af08606-249f-450b-9232-c051dbc095b9" id="563" name="Google Shape;563;p39"/>
          <p:cNvPicPr preferRelativeResize="0"/>
          <p:nvPr/>
        </p:nvPicPr>
        <p:blipFill>
          <a:blip r:embed="rId4">
            <a:alphaModFix/>
          </a:blip>
          <a:stretch>
            <a:fillRect/>
          </a:stretch>
        </p:blipFill>
        <p:spPr>
          <a:xfrm>
            <a:off x="3826625" y="2409878"/>
            <a:ext cx="533400" cy="228600"/>
          </a:xfrm>
          <a:prstGeom prst="rect">
            <a:avLst/>
          </a:prstGeom>
          <a:noFill/>
          <a:ln>
            <a:noFill/>
          </a:ln>
        </p:spPr>
      </p:pic>
      <p:pic>
        <p:nvPicPr>
          <p:cNvPr descr="V_{t+1}(x) = \max_{a \in A} \left\{r_a(x)+\alpha \sum_y P_a(x,y)V_t(y)\right\}&#10;%b5b1b01d-497c-4725-9347-cf85f54e2dc1" id="564" name="Google Shape;564;p39"/>
          <p:cNvPicPr preferRelativeResize="0"/>
          <p:nvPr/>
        </p:nvPicPr>
        <p:blipFill>
          <a:blip r:embed="rId5">
            <a:alphaModFix/>
          </a:blip>
          <a:stretch>
            <a:fillRect/>
          </a:stretch>
        </p:blipFill>
        <p:spPr>
          <a:xfrm>
            <a:off x="3893400" y="2872338"/>
            <a:ext cx="4667250" cy="409575"/>
          </a:xfrm>
          <a:prstGeom prst="rect">
            <a:avLst/>
          </a:prstGeom>
          <a:noFill/>
          <a:ln>
            <a:noFill/>
          </a:ln>
        </p:spPr>
      </p:pic>
      <p:pic>
        <p:nvPicPr>
          <p:cNvPr descr="V_{t}(x)&#10;%73842af2-c466-41fc-a5a1-b4eb2385eb3f" id="565" name="Google Shape;565;p39"/>
          <p:cNvPicPr preferRelativeResize="0"/>
          <p:nvPr/>
        </p:nvPicPr>
        <p:blipFill>
          <a:blip r:embed="rId6">
            <a:alphaModFix/>
          </a:blip>
          <a:stretch>
            <a:fillRect/>
          </a:stretch>
        </p:blipFill>
        <p:spPr>
          <a:xfrm>
            <a:off x="5248494" y="3520700"/>
            <a:ext cx="514350" cy="228600"/>
          </a:xfrm>
          <a:prstGeom prst="rect">
            <a:avLst/>
          </a:prstGeom>
          <a:noFill/>
          <a:ln>
            <a:noFill/>
          </a:ln>
        </p:spPr>
      </p:pic>
      <p:pic>
        <p:nvPicPr>
          <p:cNvPr descr="\max_x (V_{t+1}(x)-V_t(x))^2 \leq \epsilon&#10;%930a34d0-6844-46c9-bc23-693f010393a9" id="566" name="Google Shape;566;p39"/>
          <p:cNvPicPr preferRelativeResize="0"/>
          <p:nvPr/>
        </p:nvPicPr>
        <p:blipFill>
          <a:blip r:embed="rId7">
            <a:alphaModFix/>
          </a:blip>
          <a:stretch>
            <a:fillRect/>
          </a:stretch>
        </p:blipFill>
        <p:spPr>
          <a:xfrm>
            <a:off x="2194825" y="3769488"/>
            <a:ext cx="2676525" cy="247650"/>
          </a:xfrm>
          <a:prstGeom prst="rect">
            <a:avLst/>
          </a:prstGeom>
          <a:noFill/>
          <a:ln>
            <a:noFill/>
          </a:ln>
        </p:spPr>
      </p:pic>
      <p:pic>
        <p:nvPicPr>
          <p:cNvPr descr="\epsilon&#10;%cbec6a7c-014d-47ff-a0f8-6d743a675ba4" id="567" name="Google Shape;567;p39"/>
          <p:cNvPicPr preferRelativeResize="0"/>
          <p:nvPr/>
        </p:nvPicPr>
        <p:blipFill>
          <a:blip r:embed="rId8">
            <a:alphaModFix/>
          </a:blip>
          <a:stretch>
            <a:fillRect/>
          </a:stretch>
        </p:blipFill>
        <p:spPr>
          <a:xfrm>
            <a:off x="6096000" y="3857713"/>
            <a:ext cx="95250" cy="1047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40"/>
          <p:cNvSpPr txBox="1"/>
          <p:nvPr/>
        </p:nvSpPr>
        <p:spPr>
          <a:xfrm>
            <a:off x="311700" y="639326"/>
            <a:ext cx="9045000" cy="9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Hacemos t = 0. Empezamos con una política arbitraria    .</a:t>
            </a:r>
            <a:endParaRPr sz="1800">
              <a:solidFill>
                <a:schemeClr val="dk2"/>
              </a:solidFill>
            </a:endParaRPr>
          </a:p>
          <a:p>
            <a:pPr indent="0" lvl="0" marL="9144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Evaluamos la función valor     . Para eso, debemos resolver:</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descr="&#10;%b2ec40be-a735-4635-8f85-29b8913da8e5" id="573" name="Google Shape;573;p40"/>
          <p:cNvPicPr preferRelativeResize="0"/>
          <p:nvPr/>
        </p:nvPicPr>
        <p:blipFill>
          <a:blip r:embed="rId3">
            <a:alphaModFix/>
          </a:blip>
          <a:stretch>
            <a:fillRect/>
          </a:stretch>
        </p:blipFill>
        <p:spPr>
          <a:xfrm>
            <a:off x="0" y="0"/>
            <a:ext cx="9525" cy="9525"/>
          </a:xfrm>
          <a:prstGeom prst="rect">
            <a:avLst/>
          </a:prstGeom>
          <a:noFill/>
          <a:ln>
            <a:noFill/>
          </a:ln>
        </p:spPr>
      </p:pic>
      <p:sp>
        <p:nvSpPr>
          <p:cNvPr id="574" name="Google Shape;574;p40"/>
          <p:cNvSpPr txBox="1"/>
          <p:nvPr>
            <p:ph type="title"/>
          </p:nvPr>
        </p:nvSpPr>
        <p:spPr>
          <a:xfrm>
            <a:off x="311700" y="3043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Ecuación de Bellman - Iteración de Política</a:t>
            </a:r>
            <a:endParaRPr sz="2500"/>
          </a:p>
        </p:txBody>
      </p:sp>
      <p:pic>
        <p:nvPicPr>
          <p:cNvPr descr="u_0&#10;%87ef37c6-4df7-4653-8496-d7541bfd57c5" id="575" name="Google Shape;575;p40"/>
          <p:cNvPicPr preferRelativeResize="0"/>
          <p:nvPr/>
        </p:nvPicPr>
        <p:blipFill>
          <a:blip r:embed="rId4">
            <a:alphaModFix/>
          </a:blip>
          <a:stretch>
            <a:fillRect/>
          </a:stretch>
        </p:blipFill>
        <p:spPr>
          <a:xfrm>
            <a:off x="6418334" y="1105139"/>
            <a:ext cx="228600" cy="142875"/>
          </a:xfrm>
          <a:prstGeom prst="rect">
            <a:avLst/>
          </a:prstGeom>
          <a:noFill/>
          <a:ln>
            <a:noFill/>
          </a:ln>
        </p:spPr>
      </p:pic>
      <p:pic>
        <p:nvPicPr>
          <p:cNvPr descr="V_{u_t}&#10;%c7cc1239-1bba-4fb6-9cd6-41c10835433f" id="576" name="Google Shape;576;p40"/>
          <p:cNvPicPr preferRelativeResize="0"/>
          <p:nvPr/>
        </p:nvPicPr>
        <p:blipFill>
          <a:blip r:embed="rId5">
            <a:alphaModFix/>
          </a:blip>
          <a:stretch>
            <a:fillRect/>
          </a:stretch>
        </p:blipFill>
        <p:spPr>
          <a:xfrm>
            <a:off x="3645285" y="1577853"/>
            <a:ext cx="295275" cy="219075"/>
          </a:xfrm>
          <a:prstGeom prst="rect">
            <a:avLst/>
          </a:prstGeom>
          <a:noFill/>
          <a:ln>
            <a:noFill/>
          </a:ln>
        </p:spPr>
      </p:pic>
      <p:pic>
        <p:nvPicPr>
          <p:cNvPr descr="V_{u_t} = r_{u_t} + \alpha P_{u_t} v_{u_t}&#10;%fc19d12c-6baf-460f-b2c4-c7eb9d5e6699" id="577" name="Google Shape;577;p40"/>
          <p:cNvPicPr preferRelativeResize="0"/>
          <p:nvPr/>
        </p:nvPicPr>
        <p:blipFill>
          <a:blip r:embed="rId6">
            <a:alphaModFix/>
          </a:blip>
          <a:stretch>
            <a:fillRect/>
          </a:stretch>
        </p:blipFill>
        <p:spPr>
          <a:xfrm>
            <a:off x="3483075" y="1987437"/>
            <a:ext cx="1847850" cy="2190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41"/>
          <p:cNvSpPr txBox="1"/>
          <p:nvPr/>
        </p:nvSpPr>
        <p:spPr>
          <a:xfrm>
            <a:off x="311700" y="639326"/>
            <a:ext cx="9045000" cy="9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Hacemos t = 0. Empezamos con una política arbitraria    .</a:t>
            </a:r>
            <a:endParaRPr sz="1800">
              <a:solidFill>
                <a:schemeClr val="dk2"/>
              </a:solidFill>
            </a:endParaRPr>
          </a:p>
          <a:p>
            <a:pPr indent="0" lvl="0" marL="9144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Evaluamos la función valor     . Para eso, debemos resolver:</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Calculamos una nueva política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Si               , paramos. Si no, hacemos t = t+1 y volvemos al paso 2.</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descr="u_{t+1}(x) = \arg\max_{a \in A}\left\{r_a(x)+\alpha \sum_y P_a(x,y)V_{u_t}(y)\right\}&#10;%9c28d3cf-b731-4ec9-803f-d6f6f17e3689" id="583" name="Google Shape;583;p41"/>
          <p:cNvPicPr preferRelativeResize="0"/>
          <p:nvPr/>
        </p:nvPicPr>
        <p:blipFill>
          <a:blip r:embed="rId3">
            <a:alphaModFix/>
          </a:blip>
          <a:stretch>
            <a:fillRect/>
          </a:stretch>
        </p:blipFill>
        <p:spPr>
          <a:xfrm>
            <a:off x="2252071" y="2739816"/>
            <a:ext cx="5095875" cy="409575"/>
          </a:xfrm>
          <a:prstGeom prst="rect">
            <a:avLst/>
          </a:prstGeom>
          <a:noFill/>
          <a:ln>
            <a:noFill/>
          </a:ln>
        </p:spPr>
      </p:pic>
      <p:pic>
        <p:nvPicPr>
          <p:cNvPr descr="&#10;%b2ec40be-a735-4635-8f85-29b8913da8e5" id="584" name="Google Shape;584;p41"/>
          <p:cNvPicPr preferRelativeResize="0"/>
          <p:nvPr/>
        </p:nvPicPr>
        <p:blipFill>
          <a:blip r:embed="rId4">
            <a:alphaModFix/>
          </a:blip>
          <a:stretch>
            <a:fillRect/>
          </a:stretch>
        </p:blipFill>
        <p:spPr>
          <a:xfrm>
            <a:off x="0" y="0"/>
            <a:ext cx="9525" cy="9525"/>
          </a:xfrm>
          <a:prstGeom prst="rect">
            <a:avLst/>
          </a:prstGeom>
          <a:noFill/>
          <a:ln>
            <a:noFill/>
          </a:ln>
        </p:spPr>
      </p:pic>
      <p:sp>
        <p:nvSpPr>
          <p:cNvPr id="585" name="Google Shape;585;p41"/>
          <p:cNvSpPr txBox="1"/>
          <p:nvPr>
            <p:ph type="title"/>
          </p:nvPr>
        </p:nvSpPr>
        <p:spPr>
          <a:xfrm>
            <a:off x="311700" y="3043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Ecuación de Bellman - Iteración de Política</a:t>
            </a:r>
            <a:endParaRPr sz="2500"/>
          </a:p>
        </p:txBody>
      </p:sp>
      <p:pic>
        <p:nvPicPr>
          <p:cNvPr descr="u_0&#10;%87ef37c6-4df7-4653-8496-d7541bfd57c5" id="586" name="Google Shape;586;p41"/>
          <p:cNvPicPr preferRelativeResize="0"/>
          <p:nvPr/>
        </p:nvPicPr>
        <p:blipFill>
          <a:blip r:embed="rId5">
            <a:alphaModFix/>
          </a:blip>
          <a:stretch>
            <a:fillRect/>
          </a:stretch>
        </p:blipFill>
        <p:spPr>
          <a:xfrm>
            <a:off x="6418334" y="1105139"/>
            <a:ext cx="228600" cy="142875"/>
          </a:xfrm>
          <a:prstGeom prst="rect">
            <a:avLst/>
          </a:prstGeom>
          <a:noFill/>
          <a:ln>
            <a:noFill/>
          </a:ln>
        </p:spPr>
      </p:pic>
      <p:pic>
        <p:nvPicPr>
          <p:cNvPr descr="V_{u_t}&#10;%c7cc1239-1bba-4fb6-9cd6-41c10835433f" id="587" name="Google Shape;587;p41"/>
          <p:cNvPicPr preferRelativeResize="0"/>
          <p:nvPr/>
        </p:nvPicPr>
        <p:blipFill>
          <a:blip r:embed="rId6">
            <a:alphaModFix/>
          </a:blip>
          <a:stretch>
            <a:fillRect/>
          </a:stretch>
        </p:blipFill>
        <p:spPr>
          <a:xfrm>
            <a:off x="3645285" y="1577853"/>
            <a:ext cx="295275" cy="219075"/>
          </a:xfrm>
          <a:prstGeom prst="rect">
            <a:avLst/>
          </a:prstGeom>
          <a:noFill/>
          <a:ln>
            <a:noFill/>
          </a:ln>
        </p:spPr>
      </p:pic>
      <p:pic>
        <p:nvPicPr>
          <p:cNvPr descr="V_{u_t} = r_{u_t} + \alpha P_{u_t} v_{u_t}&#10;%fc19d12c-6baf-460f-b2c4-c7eb9d5e6699" id="588" name="Google Shape;588;p41"/>
          <p:cNvPicPr preferRelativeResize="0"/>
          <p:nvPr/>
        </p:nvPicPr>
        <p:blipFill>
          <a:blip r:embed="rId7">
            <a:alphaModFix/>
          </a:blip>
          <a:stretch>
            <a:fillRect/>
          </a:stretch>
        </p:blipFill>
        <p:spPr>
          <a:xfrm>
            <a:off x="3483075" y="1987437"/>
            <a:ext cx="1847850" cy="219075"/>
          </a:xfrm>
          <a:prstGeom prst="rect">
            <a:avLst/>
          </a:prstGeom>
          <a:noFill/>
          <a:ln>
            <a:noFill/>
          </a:ln>
        </p:spPr>
      </p:pic>
      <p:pic>
        <p:nvPicPr>
          <p:cNvPr descr="u_{t+1} = u_t&#10;%e69d54ec-e8fb-45a7-b9fb-9fe1929f4fab" id="589" name="Google Shape;589;p41"/>
          <p:cNvPicPr preferRelativeResize="0"/>
          <p:nvPr/>
        </p:nvPicPr>
        <p:blipFill>
          <a:blip r:embed="rId8">
            <a:alphaModFix/>
          </a:blip>
          <a:stretch>
            <a:fillRect/>
          </a:stretch>
        </p:blipFill>
        <p:spPr>
          <a:xfrm>
            <a:off x="1116487" y="3294195"/>
            <a:ext cx="914400" cy="1809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42"/>
          <p:cNvSpPr txBox="1"/>
          <p:nvPr/>
        </p:nvSpPr>
        <p:spPr>
          <a:xfrm>
            <a:off x="130550" y="914921"/>
            <a:ext cx="9045000" cy="909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Intuición:</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914400" rtl="0" algn="l">
              <a:spcBef>
                <a:spcPts val="0"/>
              </a:spcBef>
              <a:spcAft>
                <a:spcPts val="0"/>
              </a:spcAft>
              <a:buNone/>
            </a:pPr>
            <a:r>
              <a:t/>
            </a:r>
            <a:endParaRPr sz="1800">
              <a:solidFill>
                <a:schemeClr val="dk2"/>
              </a:solidFill>
            </a:endParaRPr>
          </a:p>
          <a:p>
            <a:pPr indent="0" lvl="0" marL="91440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descr="&#10;%b2ec40be-a735-4635-8f85-29b8913da8e5" id="595" name="Google Shape;595;p42"/>
          <p:cNvPicPr preferRelativeResize="0"/>
          <p:nvPr/>
        </p:nvPicPr>
        <p:blipFill>
          <a:blip r:embed="rId3">
            <a:alphaModFix/>
          </a:blip>
          <a:stretch>
            <a:fillRect/>
          </a:stretch>
        </p:blipFill>
        <p:spPr>
          <a:xfrm>
            <a:off x="0" y="0"/>
            <a:ext cx="9525" cy="9525"/>
          </a:xfrm>
          <a:prstGeom prst="rect">
            <a:avLst/>
          </a:prstGeom>
          <a:noFill/>
          <a:ln>
            <a:noFill/>
          </a:ln>
        </p:spPr>
      </p:pic>
      <p:sp>
        <p:nvSpPr>
          <p:cNvPr id="596" name="Google Shape;596;p42"/>
          <p:cNvSpPr txBox="1"/>
          <p:nvPr>
            <p:ph type="title"/>
          </p:nvPr>
        </p:nvSpPr>
        <p:spPr>
          <a:xfrm>
            <a:off x="311700" y="3043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Ecuación de Bellman - Iteración de Política</a:t>
            </a:r>
            <a:endParaRPr sz="2500"/>
          </a:p>
        </p:txBody>
      </p:sp>
      <p:pic>
        <p:nvPicPr>
          <p:cNvPr descr="u_{t+1}(x) = \arg\max_{a \in A}\left\{r_a(x)+\alpha \sum_y P_a(x,y)V_{u_t}(y)\right\}&#10;%9c28d3cf-b731-4ec9-803f-d6f6f17e3689" id="597" name="Google Shape;597;p42"/>
          <p:cNvPicPr preferRelativeResize="0"/>
          <p:nvPr/>
        </p:nvPicPr>
        <p:blipFill>
          <a:blip r:embed="rId4">
            <a:alphaModFix/>
          </a:blip>
          <a:stretch>
            <a:fillRect/>
          </a:stretch>
        </p:blipFill>
        <p:spPr>
          <a:xfrm>
            <a:off x="2061216" y="1200557"/>
            <a:ext cx="5095875" cy="409575"/>
          </a:xfrm>
          <a:prstGeom prst="rect">
            <a:avLst/>
          </a:prstGeom>
          <a:noFill/>
          <a:ln>
            <a:noFill/>
          </a:ln>
        </p:spPr>
      </p:pic>
      <p:pic>
        <p:nvPicPr>
          <p:cNvPr descr="\implies r_{u_{t+1}}+\alpha P_{u_{t+1}}V_{u_t} \geq r_{u_t} + \alpha P_{u_t}V_{u_t}&#10;%b5b84ddb-d2ee-41c9-85d6-e4ccdec22880" id="598" name="Google Shape;598;p42"/>
          <p:cNvPicPr preferRelativeResize="0"/>
          <p:nvPr/>
        </p:nvPicPr>
        <p:blipFill>
          <a:blip r:embed="rId5">
            <a:alphaModFix/>
          </a:blip>
          <a:stretch>
            <a:fillRect/>
          </a:stretch>
        </p:blipFill>
        <p:spPr>
          <a:xfrm>
            <a:off x="2861073" y="1693385"/>
            <a:ext cx="3695700" cy="2190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43"/>
          <p:cNvSpPr txBox="1"/>
          <p:nvPr/>
        </p:nvSpPr>
        <p:spPr>
          <a:xfrm>
            <a:off x="130550" y="914921"/>
            <a:ext cx="9045000" cy="909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Intuición:</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La secuencia de políticas                               es mejor que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914400" rtl="0" algn="l">
              <a:spcBef>
                <a:spcPts val="0"/>
              </a:spcBef>
              <a:spcAft>
                <a:spcPts val="0"/>
              </a:spcAft>
              <a:buNone/>
            </a:pPr>
            <a:r>
              <a:t/>
            </a:r>
            <a:endParaRPr sz="1800">
              <a:solidFill>
                <a:schemeClr val="dk2"/>
              </a:solidFill>
            </a:endParaRPr>
          </a:p>
          <a:p>
            <a:pPr indent="0" lvl="0" marL="91440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604" name="Google Shape;604;p43"/>
          <p:cNvSpPr txBox="1"/>
          <p:nvPr/>
        </p:nvSpPr>
        <p:spPr>
          <a:xfrm>
            <a:off x="311700" y="2010926"/>
            <a:ext cx="9045000" cy="9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descr="&#10;%b2ec40be-a735-4635-8f85-29b8913da8e5" id="605" name="Google Shape;605;p43"/>
          <p:cNvPicPr preferRelativeResize="0"/>
          <p:nvPr/>
        </p:nvPicPr>
        <p:blipFill>
          <a:blip r:embed="rId3">
            <a:alphaModFix/>
          </a:blip>
          <a:stretch>
            <a:fillRect/>
          </a:stretch>
        </p:blipFill>
        <p:spPr>
          <a:xfrm>
            <a:off x="0" y="0"/>
            <a:ext cx="9525" cy="9525"/>
          </a:xfrm>
          <a:prstGeom prst="rect">
            <a:avLst/>
          </a:prstGeom>
          <a:noFill/>
          <a:ln>
            <a:noFill/>
          </a:ln>
        </p:spPr>
      </p:pic>
      <p:sp>
        <p:nvSpPr>
          <p:cNvPr id="606" name="Google Shape;606;p43"/>
          <p:cNvSpPr txBox="1"/>
          <p:nvPr>
            <p:ph type="title"/>
          </p:nvPr>
        </p:nvSpPr>
        <p:spPr>
          <a:xfrm>
            <a:off x="311700" y="3043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Ecuación de Bellman - Iteración de Política</a:t>
            </a:r>
            <a:endParaRPr sz="2500"/>
          </a:p>
        </p:txBody>
      </p:sp>
      <p:pic>
        <p:nvPicPr>
          <p:cNvPr descr="(u_{t+1}, u_t, u_t, u_t, ...)&#10;%184765d8-2a10-4a4f-a62d-93fd3e251150" id="607" name="Google Shape;607;p43"/>
          <p:cNvPicPr preferRelativeResize="0"/>
          <p:nvPr/>
        </p:nvPicPr>
        <p:blipFill>
          <a:blip r:embed="rId4">
            <a:alphaModFix/>
          </a:blip>
          <a:stretch>
            <a:fillRect/>
          </a:stretch>
        </p:blipFill>
        <p:spPr>
          <a:xfrm>
            <a:off x="3759807" y="2137265"/>
            <a:ext cx="1885950" cy="228600"/>
          </a:xfrm>
          <a:prstGeom prst="rect">
            <a:avLst/>
          </a:prstGeom>
          <a:noFill/>
          <a:ln>
            <a:noFill/>
          </a:ln>
        </p:spPr>
      </p:pic>
      <p:pic>
        <p:nvPicPr>
          <p:cNvPr descr=" (u_t, u_t, u_t, u_t, ...)&#10;%6e162631-ca67-4924-a8ef-5758c8688d43" id="608" name="Google Shape;608;p43"/>
          <p:cNvPicPr preferRelativeResize="0"/>
          <p:nvPr/>
        </p:nvPicPr>
        <p:blipFill>
          <a:blip r:embed="rId5">
            <a:alphaModFix/>
          </a:blip>
          <a:stretch>
            <a:fillRect/>
          </a:stretch>
        </p:blipFill>
        <p:spPr>
          <a:xfrm>
            <a:off x="7050950" y="2127733"/>
            <a:ext cx="1685925" cy="228600"/>
          </a:xfrm>
          <a:prstGeom prst="rect">
            <a:avLst/>
          </a:prstGeom>
          <a:noFill/>
          <a:ln>
            <a:noFill/>
          </a:ln>
        </p:spPr>
      </p:pic>
      <p:pic>
        <p:nvPicPr>
          <p:cNvPr descr="u_{t+1}(x) = \arg\max_{a \in A}\left\{r_a(x)+\alpha \sum_y P_a(x,y)V_{u_t}(y)\right\}&#10;%9c28d3cf-b731-4ec9-803f-d6f6f17e3689" id="609" name="Google Shape;609;p43"/>
          <p:cNvPicPr preferRelativeResize="0"/>
          <p:nvPr/>
        </p:nvPicPr>
        <p:blipFill>
          <a:blip r:embed="rId6">
            <a:alphaModFix/>
          </a:blip>
          <a:stretch>
            <a:fillRect/>
          </a:stretch>
        </p:blipFill>
        <p:spPr>
          <a:xfrm>
            <a:off x="2061216" y="1200557"/>
            <a:ext cx="5095875" cy="409575"/>
          </a:xfrm>
          <a:prstGeom prst="rect">
            <a:avLst/>
          </a:prstGeom>
          <a:noFill/>
          <a:ln>
            <a:noFill/>
          </a:ln>
        </p:spPr>
      </p:pic>
      <p:pic>
        <p:nvPicPr>
          <p:cNvPr descr="\implies r_{u_{t+1}}+\alpha P_{u_{t+1}}V_{u_t} \geq r_{u_t} + \alpha P_{u_t}V_{u_t}&#10;%b5b84ddb-d2ee-41c9-85d6-e4ccdec22880" id="610" name="Google Shape;610;p43"/>
          <p:cNvPicPr preferRelativeResize="0"/>
          <p:nvPr/>
        </p:nvPicPr>
        <p:blipFill>
          <a:blip r:embed="rId7">
            <a:alphaModFix/>
          </a:blip>
          <a:stretch>
            <a:fillRect/>
          </a:stretch>
        </p:blipFill>
        <p:spPr>
          <a:xfrm>
            <a:off x="2861073" y="1693385"/>
            <a:ext cx="3695700" cy="2190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44"/>
          <p:cNvSpPr txBox="1"/>
          <p:nvPr/>
        </p:nvSpPr>
        <p:spPr>
          <a:xfrm>
            <a:off x="130550" y="914921"/>
            <a:ext cx="9045000" cy="909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Intuición:</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La secuencia de políticas                               es mejor que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Pero entonces                                   es mejor que   </a:t>
            </a:r>
            <a:endParaRPr sz="1800">
              <a:solidFill>
                <a:schemeClr val="dk2"/>
              </a:solidFill>
            </a:endParaRPr>
          </a:p>
          <a:p>
            <a:pPr indent="0" lvl="0" marL="914400" rtl="0" algn="l">
              <a:spcBef>
                <a:spcPts val="0"/>
              </a:spcBef>
              <a:spcAft>
                <a:spcPts val="0"/>
              </a:spcAft>
              <a:buNone/>
            </a:pPr>
            <a:r>
              <a:rPr lang="en" sz="1800">
                <a:solidFill>
                  <a:schemeClr val="dk2"/>
                </a:solidFill>
              </a:rPr>
              <a:t>                            .</a:t>
            </a:r>
            <a:endParaRPr sz="1800">
              <a:solidFill>
                <a:schemeClr val="dk2"/>
              </a:solidFill>
            </a:endParaRPr>
          </a:p>
          <a:p>
            <a:pPr indent="0" lvl="0" marL="914400" rtl="0" algn="l">
              <a:spcBef>
                <a:spcPts val="0"/>
              </a:spcBef>
              <a:spcAft>
                <a:spcPts val="0"/>
              </a:spcAft>
              <a:buNone/>
            </a:pPr>
            <a:r>
              <a:t/>
            </a:r>
            <a:endParaRPr sz="1800">
              <a:solidFill>
                <a:schemeClr val="dk2"/>
              </a:solidFill>
            </a:endParaRPr>
          </a:p>
          <a:p>
            <a:pPr indent="0" lvl="0" marL="91440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616" name="Google Shape;616;p44"/>
          <p:cNvSpPr txBox="1"/>
          <p:nvPr/>
        </p:nvSpPr>
        <p:spPr>
          <a:xfrm>
            <a:off x="311700" y="2010926"/>
            <a:ext cx="9045000" cy="9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descr="&#10;%b2ec40be-a735-4635-8f85-29b8913da8e5" id="617" name="Google Shape;617;p44"/>
          <p:cNvPicPr preferRelativeResize="0"/>
          <p:nvPr/>
        </p:nvPicPr>
        <p:blipFill>
          <a:blip r:embed="rId3">
            <a:alphaModFix/>
          </a:blip>
          <a:stretch>
            <a:fillRect/>
          </a:stretch>
        </p:blipFill>
        <p:spPr>
          <a:xfrm>
            <a:off x="0" y="0"/>
            <a:ext cx="9525" cy="9525"/>
          </a:xfrm>
          <a:prstGeom prst="rect">
            <a:avLst/>
          </a:prstGeom>
          <a:noFill/>
          <a:ln>
            <a:noFill/>
          </a:ln>
        </p:spPr>
      </p:pic>
      <p:sp>
        <p:nvSpPr>
          <p:cNvPr id="618" name="Google Shape;618;p44"/>
          <p:cNvSpPr txBox="1"/>
          <p:nvPr>
            <p:ph type="title"/>
          </p:nvPr>
        </p:nvSpPr>
        <p:spPr>
          <a:xfrm>
            <a:off x="311700" y="3043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Ecuación de Bellman - Iteración de Política</a:t>
            </a:r>
            <a:endParaRPr sz="2500"/>
          </a:p>
        </p:txBody>
      </p:sp>
      <p:pic>
        <p:nvPicPr>
          <p:cNvPr descr="(u_{t+1}, u_t, u_t, u_t, ...)&#10;%184765d8-2a10-4a4f-a62d-93fd3e251150" id="619" name="Google Shape;619;p44"/>
          <p:cNvPicPr preferRelativeResize="0"/>
          <p:nvPr/>
        </p:nvPicPr>
        <p:blipFill>
          <a:blip r:embed="rId4">
            <a:alphaModFix/>
          </a:blip>
          <a:stretch>
            <a:fillRect/>
          </a:stretch>
        </p:blipFill>
        <p:spPr>
          <a:xfrm>
            <a:off x="3759807" y="2137265"/>
            <a:ext cx="1885950" cy="228600"/>
          </a:xfrm>
          <a:prstGeom prst="rect">
            <a:avLst/>
          </a:prstGeom>
          <a:noFill/>
          <a:ln>
            <a:noFill/>
          </a:ln>
        </p:spPr>
      </p:pic>
      <p:pic>
        <p:nvPicPr>
          <p:cNvPr descr=" (u_t, u_t, u_t, u_t, ...)&#10;%6e162631-ca67-4924-a8ef-5758c8688d43" id="620" name="Google Shape;620;p44"/>
          <p:cNvPicPr preferRelativeResize="0"/>
          <p:nvPr/>
        </p:nvPicPr>
        <p:blipFill>
          <a:blip r:embed="rId5">
            <a:alphaModFix/>
          </a:blip>
          <a:stretch>
            <a:fillRect/>
          </a:stretch>
        </p:blipFill>
        <p:spPr>
          <a:xfrm>
            <a:off x="7050950" y="2127733"/>
            <a:ext cx="1685925" cy="228600"/>
          </a:xfrm>
          <a:prstGeom prst="rect">
            <a:avLst/>
          </a:prstGeom>
          <a:noFill/>
          <a:ln>
            <a:noFill/>
          </a:ln>
        </p:spPr>
      </p:pic>
      <p:pic>
        <p:nvPicPr>
          <p:cNvPr descr=" (u_{t+1}, u_{t+1}, u_t, u_t, ...)&#10;%88924a96-0a5b-4ab0-b9b7-a764e7bb4107" id="621" name="Google Shape;621;p44"/>
          <p:cNvPicPr preferRelativeResize="0"/>
          <p:nvPr/>
        </p:nvPicPr>
        <p:blipFill>
          <a:blip r:embed="rId6">
            <a:alphaModFix/>
          </a:blip>
          <a:stretch>
            <a:fillRect/>
          </a:stretch>
        </p:blipFill>
        <p:spPr>
          <a:xfrm>
            <a:off x="2681475" y="2692065"/>
            <a:ext cx="2095500" cy="228600"/>
          </a:xfrm>
          <a:prstGeom prst="rect">
            <a:avLst/>
          </a:prstGeom>
          <a:noFill/>
          <a:ln>
            <a:noFill/>
          </a:ln>
        </p:spPr>
      </p:pic>
      <p:pic>
        <p:nvPicPr>
          <p:cNvPr descr="(u_{t+1}, u_t, u_t, u_t, ...)&#10;%184765d8-2a10-4a4f-a62d-93fd3e251150" id="622" name="Google Shape;622;p44"/>
          <p:cNvPicPr preferRelativeResize="0"/>
          <p:nvPr/>
        </p:nvPicPr>
        <p:blipFill>
          <a:blip r:embed="rId4">
            <a:alphaModFix/>
          </a:blip>
          <a:stretch>
            <a:fillRect/>
          </a:stretch>
        </p:blipFill>
        <p:spPr>
          <a:xfrm>
            <a:off x="6221532" y="2692047"/>
            <a:ext cx="1885950" cy="228600"/>
          </a:xfrm>
          <a:prstGeom prst="rect">
            <a:avLst/>
          </a:prstGeom>
          <a:noFill/>
          <a:ln>
            <a:noFill/>
          </a:ln>
        </p:spPr>
      </p:pic>
      <p:pic>
        <p:nvPicPr>
          <p:cNvPr descr="u_{t+1}(x) = \arg\max_{a \in A}\left\{r_a(x)+\alpha \sum_y P_a(x,y)V_{u_t}(y)\right\}&#10;%9c28d3cf-b731-4ec9-803f-d6f6f17e3689" id="623" name="Google Shape;623;p44"/>
          <p:cNvPicPr preferRelativeResize="0"/>
          <p:nvPr/>
        </p:nvPicPr>
        <p:blipFill>
          <a:blip r:embed="rId7">
            <a:alphaModFix/>
          </a:blip>
          <a:stretch>
            <a:fillRect/>
          </a:stretch>
        </p:blipFill>
        <p:spPr>
          <a:xfrm>
            <a:off x="2061216" y="1200557"/>
            <a:ext cx="5095875" cy="409575"/>
          </a:xfrm>
          <a:prstGeom prst="rect">
            <a:avLst/>
          </a:prstGeom>
          <a:noFill/>
          <a:ln>
            <a:noFill/>
          </a:ln>
        </p:spPr>
      </p:pic>
      <p:pic>
        <p:nvPicPr>
          <p:cNvPr descr="\implies r_{u_{t+1}}+\alpha P_{u_{t+1}}V_{u_t} \geq r_{u_t} + \alpha P_{u_t}V_{u_t}&#10;%b5b84ddb-d2ee-41c9-85d6-e4ccdec22880" id="624" name="Google Shape;624;p44"/>
          <p:cNvPicPr preferRelativeResize="0"/>
          <p:nvPr/>
        </p:nvPicPr>
        <p:blipFill>
          <a:blip r:embed="rId8">
            <a:alphaModFix/>
          </a:blip>
          <a:stretch>
            <a:fillRect/>
          </a:stretch>
        </p:blipFill>
        <p:spPr>
          <a:xfrm>
            <a:off x="2861073" y="1693385"/>
            <a:ext cx="3695700" cy="2190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45"/>
          <p:cNvSpPr txBox="1"/>
          <p:nvPr/>
        </p:nvSpPr>
        <p:spPr>
          <a:xfrm>
            <a:off x="130550" y="914921"/>
            <a:ext cx="9045000" cy="909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Intuición:</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La secuencia de políticas                               es mejor que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Pero entonces                                   es mejor que   </a:t>
            </a:r>
            <a:endParaRPr sz="1800">
              <a:solidFill>
                <a:schemeClr val="dk2"/>
              </a:solidFill>
            </a:endParaRPr>
          </a:p>
          <a:p>
            <a:pPr indent="0" lvl="0" marL="914400" rtl="0" algn="l">
              <a:spcBef>
                <a:spcPts val="0"/>
              </a:spcBef>
              <a:spcAft>
                <a:spcPts val="0"/>
              </a:spcAft>
              <a:buNone/>
            </a:pPr>
            <a:r>
              <a:rPr lang="en" sz="1800">
                <a:solidFill>
                  <a:schemeClr val="dk2"/>
                </a:solidFill>
              </a:rPr>
              <a:t>                            .</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Podemos seguir reemplazando     con        sucesivamente, obteniendo una secuencia de políticas que van mejorando.</a:t>
            </a:r>
            <a:endParaRPr sz="1800">
              <a:solidFill>
                <a:schemeClr val="dk2"/>
              </a:solidFill>
            </a:endParaRPr>
          </a:p>
          <a:p>
            <a:pPr indent="0" lvl="0" marL="914400" rtl="0" algn="l">
              <a:spcBef>
                <a:spcPts val="0"/>
              </a:spcBef>
              <a:spcAft>
                <a:spcPts val="0"/>
              </a:spcAft>
              <a:buNone/>
            </a:pPr>
            <a:r>
              <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Concluimos que        es mejor que    .</a:t>
            </a:r>
            <a:endParaRPr sz="1800">
              <a:solidFill>
                <a:schemeClr val="dk2"/>
              </a:solidFill>
            </a:endParaRPr>
          </a:p>
          <a:p>
            <a:pPr indent="0" lvl="0" marL="91440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630" name="Google Shape;630;p45"/>
          <p:cNvSpPr txBox="1"/>
          <p:nvPr/>
        </p:nvSpPr>
        <p:spPr>
          <a:xfrm>
            <a:off x="311700" y="2010926"/>
            <a:ext cx="9045000" cy="9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descr="&#10;%b2ec40be-a735-4635-8f85-29b8913da8e5" id="631" name="Google Shape;631;p45"/>
          <p:cNvPicPr preferRelativeResize="0"/>
          <p:nvPr/>
        </p:nvPicPr>
        <p:blipFill>
          <a:blip r:embed="rId3">
            <a:alphaModFix/>
          </a:blip>
          <a:stretch>
            <a:fillRect/>
          </a:stretch>
        </p:blipFill>
        <p:spPr>
          <a:xfrm>
            <a:off x="0" y="0"/>
            <a:ext cx="9525" cy="9525"/>
          </a:xfrm>
          <a:prstGeom prst="rect">
            <a:avLst/>
          </a:prstGeom>
          <a:noFill/>
          <a:ln>
            <a:noFill/>
          </a:ln>
        </p:spPr>
      </p:pic>
      <p:sp>
        <p:nvSpPr>
          <p:cNvPr id="632" name="Google Shape;632;p45"/>
          <p:cNvSpPr txBox="1"/>
          <p:nvPr>
            <p:ph type="title"/>
          </p:nvPr>
        </p:nvSpPr>
        <p:spPr>
          <a:xfrm>
            <a:off x="311700" y="3043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Ecuación de Bellman - Iteración de Política</a:t>
            </a:r>
            <a:endParaRPr sz="2500"/>
          </a:p>
        </p:txBody>
      </p:sp>
      <p:pic>
        <p:nvPicPr>
          <p:cNvPr descr="(u_{t+1}, u_t, u_t, u_t, ...)&#10;%184765d8-2a10-4a4f-a62d-93fd3e251150" id="633" name="Google Shape;633;p45"/>
          <p:cNvPicPr preferRelativeResize="0"/>
          <p:nvPr/>
        </p:nvPicPr>
        <p:blipFill>
          <a:blip r:embed="rId4">
            <a:alphaModFix/>
          </a:blip>
          <a:stretch>
            <a:fillRect/>
          </a:stretch>
        </p:blipFill>
        <p:spPr>
          <a:xfrm>
            <a:off x="3759807" y="2137265"/>
            <a:ext cx="1885950" cy="228600"/>
          </a:xfrm>
          <a:prstGeom prst="rect">
            <a:avLst/>
          </a:prstGeom>
          <a:noFill/>
          <a:ln>
            <a:noFill/>
          </a:ln>
        </p:spPr>
      </p:pic>
      <p:pic>
        <p:nvPicPr>
          <p:cNvPr descr=" (u_t, u_t, u_t, u_t, ...)&#10;%6e162631-ca67-4924-a8ef-5758c8688d43" id="634" name="Google Shape;634;p45"/>
          <p:cNvPicPr preferRelativeResize="0"/>
          <p:nvPr/>
        </p:nvPicPr>
        <p:blipFill>
          <a:blip r:embed="rId5">
            <a:alphaModFix/>
          </a:blip>
          <a:stretch>
            <a:fillRect/>
          </a:stretch>
        </p:blipFill>
        <p:spPr>
          <a:xfrm>
            <a:off x="7050950" y="2127733"/>
            <a:ext cx="1685925" cy="228600"/>
          </a:xfrm>
          <a:prstGeom prst="rect">
            <a:avLst/>
          </a:prstGeom>
          <a:noFill/>
          <a:ln>
            <a:noFill/>
          </a:ln>
        </p:spPr>
      </p:pic>
      <p:pic>
        <p:nvPicPr>
          <p:cNvPr descr=" (u_{t+1}, u_{t+1}, u_t, u_t, ...)&#10;%88924a96-0a5b-4ab0-b9b7-a764e7bb4107" id="635" name="Google Shape;635;p45"/>
          <p:cNvPicPr preferRelativeResize="0"/>
          <p:nvPr/>
        </p:nvPicPr>
        <p:blipFill>
          <a:blip r:embed="rId6">
            <a:alphaModFix/>
          </a:blip>
          <a:stretch>
            <a:fillRect/>
          </a:stretch>
        </p:blipFill>
        <p:spPr>
          <a:xfrm>
            <a:off x="2681475" y="2692065"/>
            <a:ext cx="2095500" cy="228600"/>
          </a:xfrm>
          <a:prstGeom prst="rect">
            <a:avLst/>
          </a:prstGeom>
          <a:noFill/>
          <a:ln>
            <a:noFill/>
          </a:ln>
        </p:spPr>
      </p:pic>
      <p:pic>
        <p:nvPicPr>
          <p:cNvPr descr="(u_{t+1}, u_t, u_t, u_t, ...)&#10;%184765d8-2a10-4a4f-a62d-93fd3e251150" id="636" name="Google Shape;636;p45"/>
          <p:cNvPicPr preferRelativeResize="0"/>
          <p:nvPr/>
        </p:nvPicPr>
        <p:blipFill>
          <a:blip r:embed="rId4">
            <a:alphaModFix/>
          </a:blip>
          <a:stretch>
            <a:fillRect/>
          </a:stretch>
        </p:blipFill>
        <p:spPr>
          <a:xfrm>
            <a:off x="6221532" y="2692047"/>
            <a:ext cx="1885950" cy="228600"/>
          </a:xfrm>
          <a:prstGeom prst="rect">
            <a:avLst/>
          </a:prstGeom>
          <a:noFill/>
          <a:ln>
            <a:noFill/>
          </a:ln>
        </p:spPr>
      </p:pic>
      <p:pic>
        <p:nvPicPr>
          <p:cNvPr descr="u_t&#10;%4f9a53f0-02d2-4f5a-b523-e9318e49f623" id="637" name="Google Shape;637;p45"/>
          <p:cNvPicPr preferRelativeResize="0"/>
          <p:nvPr/>
        </p:nvPicPr>
        <p:blipFill>
          <a:blip r:embed="rId7">
            <a:alphaModFix/>
          </a:blip>
          <a:stretch>
            <a:fillRect/>
          </a:stretch>
        </p:blipFill>
        <p:spPr>
          <a:xfrm>
            <a:off x="4362450" y="3318509"/>
            <a:ext cx="209550" cy="142875"/>
          </a:xfrm>
          <a:prstGeom prst="rect">
            <a:avLst/>
          </a:prstGeom>
          <a:noFill/>
          <a:ln>
            <a:noFill/>
          </a:ln>
        </p:spPr>
      </p:pic>
      <p:pic>
        <p:nvPicPr>
          <p:cNvPr descr="u_{t+1}&#10;%f4370b04-b857-45f8-9f0a-2b6a56becb8e" id="638" name="Google Shape;638;p45"/>
          <p:cNvPicPr preferRelativeResize="0"/>
          <p:nvPr/>
        </p:nvPicPr>
        <p:blipFill>
          <a:blip r:embed="rId8">
            <a:alphaModFix/>
          </a:blip>
          <a:stretch>
            <a:fillRect/>
          </a:stretch>
        </p:blipFill>
        <p:spPr>
          <a:xfrm>
            <a:off x="5038522" y="3328064"/>
            <a:ext cx="409575" cy="152400"/>
          </a:xfrm>
          <a:prstGeom prst="rect">
            <a:avLst/>
          </a:prstGeom>
          <a:noFill/>
          <a:ln>
            <a:noFill/>
          </a:ln>
        </p:spPr>
      </p:pic>
      <p:pic>
        <p:nvPicPr>
          <p:cNvPr descr="u_{t+1}&#10;%f4370b04-b857-45f8-9f0a-2b6a56becb8e" id="639" name="Google Shape;639;p45"/>
          <p:cNvPicPr preferRelativeResize="0"/>
          <p:nvPr/>
        </p:nvPicPr>
        <p:blipFill>
          <a:blip r:embed="rId8">
            <a:alphaModFix/>
          </a:blip>
          <a:stretch>
            <a:fillRect/>
          </a:stretch>
        </p:blipFill>
        <p:spPr>
          <a:xfrm>
            <a:off x="2852972" y="4154293"/>
            <a:ext cx="409575" cy="152400"/>
          </a:xfrm>
          <a:prstGeom prst="rect">
            <a:avLst/>
          </a:prstGeom>
          <a:noFill/>
          <a:ln>
            <a:noFill/>
          </a:ln>
        </p:spPr>
      </p:pic>
      <p:pic>
        <p:nvPicPr>
          <p:cNvPr descr="u_t&#10;%4f9a53f0-02d2-4f5a-b523-e9318e49f623" id="640" name="Google Shape;640;p45"/>
          <p:cNvPicPr preferRelativeResize="0"/>
          <p:nvPr/>
        </p:nvPicPr>
        <p:blipFill>
          <a:blip r:embed="rId7">
            <a:alphaModFix/>
          </a:blip>
          <a:stretch>
            <a:fillRect/>
          </a:stretch>
        </p:blipFill>
        <p:spPr>
          <a:xfrm>
            <a:off x="4677075" y="4144887"/>
            <a:ext cx="209550" cy="142875"/>
          </a:xfrm>
          <a:prstGeom prst="rect">
            <a:avLst/>
          </a:prstGeom>
          <a:noFill/>
          <a:ln>
            <a:noFill/>
          </a:ln>
        </p:spPr>
      </p:pic>
      <p:pic>
        <p:nvPicPr>
          <p:cNvPr descr="u_{t+1}(x) = \arg\max_{a \in A}\left\{r_a(x)+\alpha \sum_y P_a(x,y)V_{u_t}(y)\right\}&#10;%9c28d3cf-b731-4ec9-803f-d6f6f17e3689" id="641" name="Google Shape;641;p45"/>
          <p:cNvPicPr preferRelativeResize="0"/>
          <p:nvPr/>
        </p:nvPicPr>
        <p:blipFill>
          <a:blip r:embed="rId9">
            <a:alphaModFix/>
          </a:blip>
          <a:stretch>
            <a:fillRect/>
          </a:stretch>
        </p:blipFill>
        <p:spPr>
          <a:xfrm>
            <a:off x="2061216" y="1200557"/>
            <a:ext cx="5095875" cy="409575"/>
          </a:xfrm>
          <a:prstGeom prst="rect">
            <a:avLst/>
          </a:prstGeom>
          <a:noFill/>
          <a:ln>
            <a:noFill/>
          </a:ln>
        </p:spPr>
      </p:pic>
      <p:pic>
        <p:nvPicPr>
          <p:cNvPr descr="\implies r_{u_{t+1}}+\alpha P_{u_{t+1}}V_{u_t} \geq r_{u_t} + \alpha P_{u_t}V_{u_t}&#10;%b5b84ddb-d2ee-41c9-85d6-e4ccdec22880" id="642" name="Google Shape;642;p45"/>
          <p:cNvPicPr preferRelativeResize="0"/>
          <p:nvPr/>
        </p:nvPicPr>
        <p:blipFill>
          <a:blip r:embed="rId10">
            <a:alphaModFix/>
          </a:blip>
          <a:stretch>
            <a:fillRect/>
          </a:stretch>
        </p:blipFill>
        <p:spPr>
          <a:xfrm>
            <a:off x="2861073" y="1693385"/>
            <a:ext cx="3695700" cy="2190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46"/>
          <p:cNvSpPr txBox="1"/>
          <p:nvPr/>
        </p:nvSpPr>
        <p:spPr>
          <a:xfrm>
            <a:off x="130550" y="914921"/>
            <a:ext cx="9045000" cy="909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Como hay un número finito de políticas, iteración de política siempre termina.</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91440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descr="&#10;%b2ec40be-a735-4635-8f85-29b8913da8e5" id="648" name="Google Shape;648;p46"/>
          <p:cNvPicPr preferRelativeResize="0"/>
          <p:nvPr/>
        </p:nvPicPr>
        <p:blipFill>
          <a:blip r:embed="rId3">
            <a:alphaModFix/>
          </a:blip>
          <a:stretch>
            <a:fillRect/>
          </a:stretch>
        </p:blipFill>
        <p:spPr>
          <a:xfrm>
            <a:off x="0" y="0"/>
            <a:ext cx="9525" cy="9525"/>
          </a:xfrm>
          <a:prstGeom prst="rect">
            <a:avLst/>
          </a:prstGeom>
          <a:noFill/>
          <a:ln>
            <a:noFill/>
          </a:ln>
        </p:spPr>
      </p:pic>
      <p:sp>
        <p:nvSpPr>
          <p:cNvPr id="649" name="Google Shape;649;p46"/>
          <p:cNvSpPr txBox="1"/>
          <p:nvPr>
            <p:ph type="title"/>
          </p:nvPr>
        </p:nvSpPr>
        <p:spPr>
          <a:xfrm>
            <a:off x="311700" y="3043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Iteración de Valor vs. Iteración de Política</a:t>
            </a:r>
            <a:endParaRPr sz="25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47"/>
          <p:cNvSpPr txBox="1"/>
          <p:nvPr/>
        </p:nvSpPr>
        <p:spPr>
          <a:xfrm>
            <a:off x="130550" y="914921"/>
            <a:ext cx="9045000" cy="909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Como hay un número finito de políticas, iteración de política siempre termina.</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Un paso de iteración de política es más costoso que un paso de iteración de valor, porque debemos evaluar la política y seleccionar la nueva acción. Sin embargo, iteración de política suele terminar en menos pasos, e iteración de valor puede ser lenta, especialmente cuando el factor de descuento    es alto.</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91440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descr="&#10;%b2ec40be-a735-4635-8f85-29b8913da8e5" id="655" name="Google Shape;655;p47"/>
          <p:cNvPicPr preferRelativeResize="0"/>
          <p:nvPr/>
        </p:nvPicPr>
        <p:blipFill>
          <a:blip r:embed="rId3">
            <a:alphaModFix/>
          </a:blip>
          <a:stretch>
            <a:fillRect/>
          </a:stretch>
        </p:blipFill>
        <p:spPr>
          <a:xfrm>
            <a:off x="0" y="0"/>
            <a:ext cx="9525" cy="9525"/>
          </a:xfrm>
          <a:prstGeom prst="rect">
            <a:avLst/>
          </a:prstGeom>
          <a:noFill/>
          <a:ln>
            <a:noFill/>
          </a:ln>
        </p:spPr>
      </p:pic>
      <p:sp>
        <p:nvSpPr>
          <p:cNvPr id="656" name="Google Shape;656;p47"/>
          <p:cNvSpPr txBox="1"/>
          <p:nvPr>
            <p:ph type="title"/>
          </p:nvPr>
        </p:nvSpPr>
        <p:spPr>
          <a:xfrm>
            <a:off x="311700" y="3043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Iteración de Valor vs. Iteración de Política</a:t>
            </a:r>
            <a:endParaRPr sz="2500"/>
          </a:p>
        </p:txBody>
      </p:sp>
      <p:pic>
        <p:nvPicPr>
          <p:cNvPr descr="\alpha&#10;%faee9bdb-1db9-471a-8f36-35160b28c7be" id="657" name="Google Shape;657;p47"/>
          <p:cNvPicPr preferRelativeResize="0"/>
          <p:nvPr/>
        </p:nvPicPr>
        <p:blipFill>
          <a:blip r:embed="rId4">
            <a:alphaModFix/>
          </a:blip>
          <a:stretch>
            <a:fillRect/>
          </a:stretch>
        </p:blipFill>
        <p:spPr>
          <a:xfrm>
            <a:off x="5945075" y="2490734"/>
            <a:ext cx="152400" cy="1047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48"/>
          <p:cNvSpPr txBox="1"/>
          <p:nvPr/>
        </p:nvSpPr>
        <p:spPr>
          <a:xfrm>
            <a:off x="130550" y="914921"/>
            <a:ext cx="9045000" cy="909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Como hay un número finito de políticas, iteración de política siempre termina.</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Un paso de iteración de política es más costoso que un paso de iteración de valor, porque debemos evaluar la política y seleccionar la nueva acción. Sin embargo, iteración de política suele terminar en menos pasos, e iteración de valor puede ser lenta, especialmente cuando el factor de descuento    es alto.</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Iteración de valor e iteración de política forman la base para algoritmos de aprendizaje por refuerzo.</a:t>
            </a:r>
            <a:endParaRPr sz="1800">
              <a:solidFill>
                <a:schemeClr val="dk2"/>
              </a:solidFill>
            </a:endParaRPr>
          </a:p>
          <a:p>
            <a:pPr indent="0" lvl="0" marL="45720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91440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descr="&#10;%b2ec40be-a735-4635-8f85-29b8913da8e5" id="663" name="Google Shape;663;p48"/>
          <p:cNvPicPr preferRelativeResize="0"/>
          <p:nvPr/>
        </p:nvPicPr>
        <p:blipFill>
          <a:blip r:embed="rId3">
            <a:alphaModFix/>
          </a:blip>
          <a:stretch>
            <a:fillRect/>
          </a:stretch>
        </p:blipFill>
        <p:spPr>
          <a:xfrm>
            <a:off x="0" y="0"/>
            <a:ext cx="9525" cy="9525"/>
          </a:xfrm>
          <a:prstGeom prst="rect">
            <a:avLst/>
          </a:prstGeom>
          <a:noFill/>
          <a:ln>
            <a:noFill/>
          </a:ln>
        </p:spPr>
      </p:pic>
      <p:sp>
        <p:nvSpPr>
          <p:cNvPr id="664" name="Google Shape;664;p48"/>
          <p:cNvSpPr txBox="1"/>
          <p:nvPr>
            <p:ph type="title"/>
          </p:nvPr>
        </p:nvSpPr>
        <p:spPr>
          <a:xfrm>
            <a:off x="311700" y="3043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Iteración de Valor vs. Iteración de Política</a:t>
            </a:r>
            <a:endParaRPr sz="2500"/>
          </a:p>
        </p:txBody>
      </p:sp>
      <p:pic>
        <p:nvPicPr>
          <p:cNvPr descr="\alpha&#10;%faee9bdb-1db9-471a-8f36-35160b28c7be" id="665" name="Google Shape;665;p48"/>
          <p:cNvPicPr preferRelativeResize="0"/>
          <p:nvPr/>
        </p:nvPicPr>
        <p:blipFill>
          <a:blip r:embed="rId4">
            <a:alphaModFix/>
          </a:blip>
          <a:stretch>
            <a:fillRect/>
          </a:stretch>
        </p:blipFill>
        <p:spPr>
          <a:xfrm>
            <a:off x="5945075" y="2490734"/>
            <a:ext cx="152400" cy="1047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49"/>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Pesca de salmones</a:t>
            </a:r>
            <a:endParaRPr/>
          </a:p>
        </p:txBody>
      </p:sp>
      <p:sp>
        <p:nvSpPr>
          <p:cNvPr id="671" name="Google Shape;671;p49"/>
          <p:cNvSpPr txBox="1"/>
          <p:nvPr/>
        </p:nvSpPr>
        <p:spPr>
          <a:xfrm>
            <a:off x="49300" y="1000550"/>
            <a:ext cx="90945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Resolución con horizonte infinito, distintos factores de descuento</a:t>
            </a:r>
            <a:endParaRPr sz="1800">
              <a:solidFill>
                <a:schemeClr val="dk1"/>
              </a:solidFill>
            </a:endParaRPr>
          </a:p>
          <a:p>
            <a:pPr indent="0" lvl="0" marL="0" rtl="0" algn="l">
              <a:spcBef>
                <a:spcPts val="0"/>
              </a:spcBef>
              <a:spcAft>
                <a:spcPts val="0"/>
              </a:spcAft>
              <a:buNone/>
            </a:pPr>
            <a:r>
              <a:t/>
            </a:r>
            <a:endParaRPr sz="1800"/>
          </a:p>
        </p:txBody>
      </p:sp>
      <p:pic>
        <p:nvPicPr>
          <p:cNvPr id="672" name="Google Shape;672;p49"/>
          <p:cNvPicPr preferRelativeResize="0"/>
          <p:nvPr/>
        </p:nvPicPr>
        <p:blipFill>
          <a:blip r:embed="rId3">
            <a:alphaModFix/>
          </a:blip>
          <a:stretch>
            <a:fillRect/>
          </a:stretch>
        </p:blipFill>
        <p:spPr>
          <a:xfrm>
            <a:off x="530352" y="1783080"/>
            <a:ext cx="7827265" cy="3236976"/>
          </a:xfrm>
          <a:prstGeom prst="rect">
            <a:avLst/>
          </a:prstGeom>
          <a:noFill/>
          <a:ln>
            <a:noFill/>
          </a:ln>
        </p:spPr>
      </p:pic>
      <p:sp>
        <p:nvSpPr>
          <p:cNvPr id="673" name="Google Shape;673;p49"/>
          <p:cNvSpPr txBox="1"/>
          <p:nvPr/>
        </p:nvSpPr>
        <p:spPr>
          <a:xfrm>
            <a:off x="5251127" y="2151625"/>
            <a:ext cx="1028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rPr>
              <a:t>No repoblar</a:t>
            </a:r>
            <a:endParaRPr sz="1200"/>
          </a:p>
        </p:txBody>
      </p:sp>
      <p:sp>
        <p:nvSpPr>
          <p:cNvPr id="674" name="Google Shape;674;p49"/>
          <p:cNvSpPr txBox="1"/>
          <p:nvPr/>
        </p:nvSpPr>
        <p:spPr>
          <a:xfrm>
            <a:off x="3208340" y="3194781"/>
            <a:ext cx="1278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rPr>
              <a:t>Conservativa</a:t>
            </a:r>
            <a:endParaRPr sz="1200"/>
          </a:p>
        </p:txBody>
      </p:sp>
      <p:sp>
        <p:nvSpPr>
          <p:cNvPr id="675" name="Google Shape;675;p49"/>
          <p:cNvSpPr txBox="1"/>
          <p:nvPr/>
        </p:nvSpPr>
        <p:spPr>
          <a:xfrm>
            <a:off x="7212938" y="3919755"/>
            <a:ext cx="1278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Agresiva</a:t>
            </a:r>
            <a:endParaRPr sz="1200">
              <a:solidFill>
                <a:schemeClr val="dk1"/>
              </a:solidFill>
            </a:endParaRPr>
          </a:p>
        </p:txBody>
      </p:sp>
      <p:sp>
        <p:nvSpPr>
          <p:cNvPr id="676" name="Google Shape;676;p49"/>
          <p:cNvSpPr txBox="1"/>
          <p:nvPr/>
        </p:nvSpPr>
        <p:spPr>
          <a:xfrm>
            <a:off x="5728007" y="3547550"/>
            <a:ext cx="1278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rPr>
              <a:t>Moderada</a:t>
            </a:r>
            <a:endParaRPr sz="1200"/>
          </a:p>
        </p:txBody>
      </p:sp>
      <p:sp>
        <p:nvSpPr>
          <p:cNvPr id="677" name="Google Shape;677;p49"/>
          <p:cNvSpPr/>
          <p:nvPr/>
        </p:nvSpPr>
        <p:spPr>
          <a:xfrm>
            <a:off x="1275532" y="2656225"/>
            <a:ext cx="7032900" cy="47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8" name="Google Shape;678;p49"/>
          <p:cNvSpPr txBox="1"/>
          <p:nvPr/>
        </p:nvSpPr>
        <p:spPr>
          <a:xfrm>
            <a:off x="6806031" y="2863646"/>
            <a:ext cx="1278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rPr>
              <a:t>Moderada</a:t>
            </a:r>
            <a:endParaRPr sz="1200"/>
          </a:p>
        </p:txBody>
      </p:sp>
      <p:sp>
        <p:nvSpPr>
          <p:cNvPr id="679" name="Google Shape;679;p49"/>
          <p:cNvSpPr txBox="1"/>
          <p:nvPr/>
        </p:nvSpPr>
        <p:spPr>
          <a:xfrm>
            <a:off x="1958349" y="2183506"/>
            <a:ext cx="1028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rPr>
              <a:t>Repoblar</a:t>
            </a:r>
            <a:endParaRPr sz="1200"/>
          </a:p>
        </p:txBody>
      </p:sp>
      <p:cxnSp>
        <p:nvCxnSpPr>
          <p:cNvPr id="680" name="Google Shape;680;p49"/>
          <p:cNvCxnSpPr/>
          <p:nvPr/>
        </p:nvCxnSpPr>
        <p:spPr>
          <a:xfrm rot="10800000">
            <a:off x="1852950" y="1740250"/>
            <a:ext cx="0" cy="3024900"/>
          </a:xfrm>
          <a:prstGeom prst="straightConnector1">
            <a:avLst/>
          </a:prstGeom>
          <a:noFill/>
          <a:ln cap="flat" cmpd="sng" w="38100">
            <a:solidFill>
              <a:srgbClr val="FF0000"/>
            </a:solidFill>
            <a:prstDash val="solid"/>
            <a:round/>
            <a:headEnd len="med" w="med" type="none"/>
            <a:tailEnd len="med" w="med" type="triangle"/>
          </a:ln>
        </p:spPr>
      </p:cxnSp>
      <p:cxnSp>
        <p:nvCxnSpPr>
          <p:cNvPr id="681" name="Google Shape;681;p49"/>
          <p:cNvCxnSpPr/>
          <p:nvPr/>
        </p:nvCxnSpPr>
        <p:spPr>
          <a:xfrm rot="10800000">
            <a:off x="6272550" y="1740250"/>
            <a:ext cx="0" cy="3024900"/>
          </a:xfrm>
          <a:prstGeom prst="straightConnector1">
            <a:avLst/>
          </a:prstGeom>
          <a:noFill/>
          <a:ln cap="flat" cmpd="sng" w="38100">
            <a:solidFill>
              <a:srgbClr val="FF0000"/>
            </a:solidFill>
            <a:prstDash val="solid"/>
            <a:round/>
            <a:headEnd len="med" w="med" type="none"/>
            <a:tailEnd len="med" w="med" type="triangle"/>
          </a:ln>
        </p:spPr>
      </p:cxnSp>
      <p:cxnSp>
        <p:nvCxnSpPr>
          <p:cNvPr id="682" name="Google Shape;682;p49"/>
          <p:cNvCxnSpPr/>
          <p:nvPr/>
        </p:nvCxnSpPr>
        <p:spPr>
          <a:xfrm rot="10800000">
            <a:off x="8025150" y="1740250"/>
            <a:ext cx="0" cy="3024900"/>
          </a:xfrm>
          <a:prstGeom prst="straightConnector1">
            <a:avLst/>
          </a:prstGeom>
          <a:noFill/>
          <a:ln cap="flat" cmpd="sng" w="38100">
            <a:solidFill>
              <a:srgbClr val="FF0000"/>
            </a:solidFill>
            <a:prstDash val="solid"/>
            <a:round/>
            <a:headEnd len="med" w="med" type="none"/>
            <a:tailEnd len="med" w="med" type="triangle"/>
          </a:ln>
        </p:spPr>
      </p:cxnSp>
      <p:pic>
        <p:nvPicPr>
          <p:cNvPr descr="\alpha = 0.9&#10;%0a076c8f-35b5-4df2-bdba-fa09235785ee" id="683" name="Google Shape;683;p49"/>
          <p:cNvPicPr preferRelativeResize="0"/>
          <p:nvPr/>
        </p:nvPicPr>
        <p:blipFill>
          <a:blip r:embed="rId4">
            <a:alphaModFix/>
          </a:blip>
          <a:stretch>
            <a:fillRect/>
          </a:stretch>
        </p:blipFill>
        <p:spPr>
          <a:xfrm>
            <a:off x="1486238" y="1526825"/>
            <a:ext cx="733425" cy="171450"/>
          </a:xfrm>
          <a:prstGeom prst="rect">
            <a:avLst/>
          </a:prstGeom>
          <a:noFill/>
          <a:ln>
            <a:noFill/>
          </a:ln>
        </p:spPr>
      </p:pic>
      <p:pic>
        <p:nvPicPr>
          <p:cNvPr descr="\alpha = 0.8&#10;%30aab8e1-6bed-46de-85fe-f3b800900801" id="684" name="Google Shape;684;p49"/>
          <p:cNvPicPr preferRelativeResize="0"/>
          <p:nvPr/>
        </p:nvPicPr>
        <p:blipFill>
          <a:blip r:embed="rId5">
            <a:alphaModFix/>
          </a:blip>
          <a:stretch>
            <a:fillRect/>
          </a:stretch>
        </p:blipFill>
        <p:spPr>
          <a:xfrm>
            <a:off x="5905838" y="1526825"/>
            <a:ext cx="733425" cy="171450"/>
          </a:xfrm>
          <a:prstGeom prst="rect">
            <a:avLst/>
          </a:prstGeom>
          <a:noFill/>
          <a:ln>
            <a:noFill/>
          </a:ln>
        </p:spPr>
      </p:pic>
      <p:pic>
        <p:nvPicPr>
          <p:cNvPr descr="\alpha = 0.5&#10;%db26a98b-1a4e-42bd-81bc-2e5efdb2671a" id="685" name="Google Shape;685;p49"/>
          <p:cNvPicPr preferRelativeResize="0"/>
          <p:nvPr/>
        </p:nvPicPr>
        <p:blipFill>
          <a:blip r:embed="rId6">
            <a:alphaModFix/>
          </a:blip>
          <a:stretch>
            <a:fillRect/>
          </a:stretch>
        </p:blipFill>
        <p:spPr>
          <a:xfrm>
            <a:off x="7624200" y="1545934"/>
            <a:ext cx="733425" cy="1714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50"/>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Optimización de Portafolio</a:t>
            </a:r>
            <a:endParaRPr/>
          </a:p>
        </p:txBody>
      </p:sp>
      <p:sp>
        <p:nvSpPr>
          <p:cNvPr id="691" name="Google Shape;691;p50"/>
          <p:cNvSpPr txBox="1"/>
          <p:nvPr/>
        </p:nvSpPr>
        <p:spPr>
          <a:xfrm>
            <a:off x="49300" y="1000550"/>
            <a:ext cx="9094500" cy="35094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Consideramos una situación donde hay dos posibilidades de inversión:</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un instrumento con precio      que evoluciona en el tiempo según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		donde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una caja de ahorros con tasa de interés  </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Cómo debemos invertir para maximizar el valor del portafolio después de T periodos?</a:t>
            </a:r>
            <a:endParaRPr sz="1800">
              <a:solidFill>
                <a:schemeClr val="dk1"/>
              </a:solidFill>
            </a:endParaRPr>
          </a:p>
          <a:p>
            <a:pPr indent="0" lvl="0" marL="0" rtl="0" algn="l">
              <a:spcBef>
                <a:spcPts val="0"/>
              </a:spcBef>
              <a:spcAft>
                <a:spcPts val="0"/>
              </a:spcAft>
              <a:buNone/>
            </a:pPr>
            <a:r>
              <a:t/>
            </a:r>
            <a:endParaRPr sz="1800"/>
          </a:p>
        </p:txBody>
      </p:sp>
      <p:pic>
        <p:nvPicPr>
          <p:cNvPr descr="S_t&#10;%f0711a21-8e67-4eed-a781-754edd138d3b" id="692" name="Google Shape;692;p50"/>
          <p:cNvPicPr preferRelativeResize="0"/>
          <p:nvPr/>
        </p:nvPicPr>
        <p:blipFill>
          <a:blip r:embed="rId3">
            <a:alphaModFix/>
          </a:blip>
          <a:stretch>
            <a:fillRect/>
          </a:stretch>
        </p:blipFill>
        <p:spPr>
          <a:xfrm>
            <a:off x="3806672" y="1408438"/>
            <a:ext cx="219075" cy="200025"/>
          </a:xfrm>
          <a:prstGeom prst="rect">
            <a:avLst/>
          </a:prstGeom>
          <a:noFill/>
          <a:ln>
            <a:noFill/>
          </a:ln>
        </p:spPr>
      </p:pic>
      <p:pic>
        <p:nvPicPr>
          <p:cNvPr descr="S_{t+1} = S_t e^{r+\sigma\epsilon_t}&#10;%dec40051-b497-4600-8b97-d22e0f47d5bd" id="693" name="Google Shape;693;p50"/>
          <p:cNvPicPr preferRelativeResize="0"/>
          <p:nvPr/>
        </p:nvPicPr>
        <p:blipFill>
          <a:blip r:embed="rId4">
            <a:alphaModFix/>
          </a:blip>
          <a:stretch>
            <a:fillRect/>
          </a:stretch>
        </p:blipFill>
        <p:spPr>
          <a:xfrm>
            <a:off x="3731200" y="1755859"/>
            <a:ext cx="1457325" cy="228600"/>
          </a:xfrm>
          <a:prstGeom prst="rect">
            <a:avLst/>
          </a:prstGeom>
          <a:noFill/>
          <a:ln>
            <a:noFill/>
          </a:ln>
        </p:spPr>
      </p:pic>
      <p:pic>
        <p:nvPicPr>
          <p:cNvPr descr="\epsilon_t \sim N(0,1)&#10;%3b02e753-f32c-4923-b9ad-6d1b6d696711" id="694" name="Google Shape;694;p50"/>
          <p:cNvPicPr preferRelativeResize="0"/>
          <p:nvPr/>
        </p:nvPicPr>
        <p:blipFill>
          <a:blip r:embed="rId5">
            <a:alphaModFix/>
          </a:blip>
          <a:stretch>
            <a:fillRect/>
          </a:stretch>
        </p:blipFill>
        <p:spPr>
          <a:xfrm>
            <a:off x="1794150" y="2223425"/>
            <a:ext cx="1162050" cy="228600"/>
          </a:xfrm>
          <a:prstGeom prst="rect">
            <a:avLst/>
          </a:prstGeom>
          <a:noFill/>
          <a:ln>
            <a:noFill/>
          </a:ln>
        </p:spPr>
      </p:pic>
      <p:pic>
        <p:nvPicPr>
          <p:cNvPr descr="r_f&#10;%6baeaff6-9b9e-4bf9-bfe9-75767defe170" id="695" name="Google Shape;695;p50"/>
          <p:cNvPicPr preferRelativeResize="0"/>
          <p:nvPr/>
        </p:nvPicPr>
        <p:blipFill>
          <a:blip r:embed="rId6">
            <a:alphaModFix/>
          </a:blip>
          <a:stretch>
            <a:fillRect/>
          </a:stretch>
        </p:blipFill>
        <p:spPr>
          <a:xfrm>
            <a:off x="5143510" y="2834166"/>
            <a:ext cx="209550" cy="1714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51"/>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Optimización de Portafolio</a:t>
            </a:r>
            <a:endParaRPr/>
          </a:p>
        </p:txBody>
      </p:sp>
      <p:sp>
        <p:nvSpPr>
          <p:cNvPr id="701" name="Google Shape;701;p51"/>
          <p:cNvSpPr txBox="1"/>
          <p:nvPr/>
        </p:nvSpPr>
        <p:spPr>
          <a:xfrm>
            <a:off x="49300" y="1000550"/>
            <a:ext cx="90945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Estado = valor       del portfolio</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Asumimos que no hay costos asociados a la compra y venta de la acción </a:t>
            </a:r>
            <a:r>
              <a:rPr lang="en" sz="1800">
                <a:solidFill>
                  <a:schemeClr val="dk1"/>
                </a:solidFill>
              </a:rPr>
              <a:t>		</a:t>
            </a:r>
            <a:endParaRPr sz="1800"/>
          </a:p>
        </p:txBody>
      </p:sp>
      <p:pic>
        <p:nvPicPr>
          <p:cNvPr descr="W_t&#10;%4edd8961-353e-4a54-9a11-9da36ef57647" id="702" name="Google Shape;702;p51"/>
          <p:cNvPicPr preferRelativeResize="0"/>
          <p:nvPr/>
        </p:nvPicPr>
        <p:blipFill>
          <a:blip r:embed="rId3">
            <a:alphaModFix/>
          </a:blip>
          <a:stretch>
            <a:fillRect/>
          </a:stretch>
        </p:blipFill>
        <p:spPr>
          <a:xfrm>
            <a:off x="2141653" y="1154657"/>
            <a:ext cx="295275" cy="1905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52"/>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Optimización de Portafolio</a:t>
            </a:r>
            <a:endParaRPr/>
          </a:p>
        </p:txBody>
      </p:sp>
      <p:sp>
        <p:nvSpPr>
          <p:cNvPr id="708" name="Google Shape;708;p52"/>
          <p:cNvSpPr txBox="1"/>
          <p:nvPr/>
        </p:nvSpPr>
        <p:spPr>
          <a:xfrm>
            <a:off x="49300" y="1000550"/>
            <a:ext cx="90945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Estado = valor       del portfolio</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Asumimos que no hay costos asociados a la compra y venta de la acción</a:t>
            </a:r>
            <a:endParaRPr sz="1800">
              <a:solidFill>
                <a:schemeClr val="dk1"/>
              </a:solidFill>
            </a:endParaRPr>
          </a:p>
          <a:p>
            <a:pPr indent="0" lvl="0" marL="914400" rtl="0" algn="l">
              <a:spcBef>
                <a:spcPts val="0"/>
              </a:spcBef>
              <a:spcAft>
                <a:spcPts val="0"/>
              </a:spcAft>
              <a:buNone/>
            </a:pPr>
            <a:r>
              <a:rPr lang="en" sz="1800">
                <a:solidFill>
                  <a:schemeClr val="dk1"/>
                </a:solidFill>
              </a:rPr>
              <a:t>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Acción             	  - fracción del </a:t>
            </a:r>
            <a:r>
              <a:rPr lang="en" sz="1800">
                <a:solidFill>
                  <a:schemeClr val="dk1"/>
                </a:solidFill>
              </a:rPr>
              <a:t>portafolio</a:t>
            </a:r>
            <a:r>
              <a:rPr lang="en" sz="1800">
                <a:solidFill>
                  <a:schemeClr val="dk1"/>
                </a:solidFill>
              </a:rPr>
              <a:t> invertida en la acción </a:t>
            </a:r>
            <a:endParaRPr sz="1800"/>
          </a:p>
        </p:txBody>
      </p:sp>
      <p:pic>
        <p:nvPicPr>
          <p:cNvPr descr="W_t&#10;%4edd8961-353e-4a54-9a11-9da36ef57647" id="709" name="Google Shape;709;p52"/>
          <p:cNvPicPr preferRelativeResize="0"/>
          <p:nvPr/>
        </p:nvPicPr>
        <p:blipFill>
          <a:blip r:embed="rId3">
            <a:alphaModFix/>
          </a:blip>
          <a:stretch>
            <a:fillRect/>
          </a:stretch>
        </p:blipFill>
        <p:spPr>
          <a:xfrm>
            <a:off x="2141653" y="1154657"/>
            <a:ext cx="295275" cy="190500"/>
          </a:xfrm>
          <a:prstGeom prst="rect">
            <a:avLst/>
          </a:prstGeom>
          <a:noFill/>
          <a:ln>
            <a:noFill/>
          </a:ln>
        </p:spPr>
      </p:pic>
      <p:pic>
        <p:nvPicPr>
          <p:cNvPr descr="0 \leq \beta_t \leq 1 &#10;%d4b23bd2-630b-4c05-90c0-f1e2cfdc74bd" id="710" name="Google Shape;710;p52"/>
          <p:cNvPicPr preferRelativeResize="0"/>
          <p:nvPr/>
        </p:nvPicPr>
        <p:blipFill>
          <a:blip r:embed="rId4">
            <a:alphaModFix/>
          </a:blip>
          <a:stretch>
            <a:fillRect/>
          </a:stretch>
        </p:blipFill>
        <p:spPr>
          <a:xfrm>
            <a:off x="1355050" y="1956250"/>
            <a:ext cx="1028700" cy="2095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53"/>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Optimización de Portafolio</a:t>
            </a:r>
            <a:endParaRPr/>
          </a:p>
        </p:txBody>
      </p:sp>
      <p:sp>
        <p:nvSpPr>
          <p:cNvPr id="716" name="Google Shape;716;p53"/>
          <p:cNvSpPr txBox="1"/>
          <p:nvPr/>
        </p:nvSpPr>
        <p:spPr>
          <a:xfrm>
            <a:off x="49300" y="1000550"/>
            <a:ext cx="9094500" cy="1847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Estado = valor       del portfolio</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Asumimos que no hay costos asociados a la compra y venta de la acción</a:t>
            </a:r>
            <a:endParaRPr sz="1800">
              <a:solidFill>
                <a:schemeClr val="dk1"/>
              </a:solidFill>
            </a:endParaRPr>
          </a:p>
          <a:p>
            <a:pPr indent="0" lvl="0" marL="914400" rtl="0" algn="l">
              <a:spcBef>
                <a:spcPts val="0"/>
              </a:spcBef>
              <a:spcAft>
                <a:spcPts val="0"/>
              </a:spcAft>
              <a:buNone/>
            </a:pPr>
            <a:r>
              <a:rPr lang="en" sz="1800">
                <a:solidFill>
                  <a:schemeClr val="dk1"/>
                </a:solidFill>
              </a:rPr>
              <a:t>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Acción             	  - fracción del portafolio invertida en la acción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Transición:                                                    </a:t>
            </a:r>
            <a:endParaRPr sz="1800">
              <a:solidFill>
                <a:schemeClr val="dk1"/>
              </a:solidFill>
            </a:endParaRPr>
          </a:p>
        </p:txBody>
      </p:sp>
      <p:pic>
        <p:nvPicPr>
          <p:cNvPr descr="W_t&#10;%4edd8961-353e-4a54-9a11-9da36ef57647" id="717" name="Google Shape;717;p53"/>
          <p:cNvPicPr preferRelativeResize="0"/>
          <p:nvPr/>
        </p:nvPicPr>
        <p:blipFill>
          <a:blip r:embed="rId3">
            <a:alphaModFix/>
          </a:blip>
          <a:stretch>
            <a:fillRect/>
          </a:stretch>
        </p:blipFill>
        <p:spPr>
          <a:xfrm>
            <a:off x="2141653" y="1154657"/>
            <a:ext cx="295275" cy="190500"/>
          </a:xfrm>
          <a:prstGeom prst="rect">
            <a:avLst/>
          </a:prstGeom>
          <a:noFill/>
          <a:ln>
            <a:noFill/>
          </a:ln>
        </p:spPr>
      </p:pic>
      <p:pic>
        <p:nvPicPr>
          <p:cNvPr descr="0 \leq \beta_t \leq 1 &#10;%d4b23bd2-630b-4c05-90c0-f1e2cfdc74bd" id="718" name="Google Shape;718;p53"/>
          <p:cNvPicPr preferRelativeResize="0"/>
          <p:nvPr/>
        </p:nvPicPr>
        <p:blipFill>
          <a:blip r:embed="rId4">
            <a:alphaModFix/>
          </a:blip>
          <a:stretch>
            <a:fillRect/>
          </a:stretch>
        </p:blipFill>
        <p:spPr>
          <a:xfrm>
            <a:off x="1355050" y="1956250"/>
            <a:ext cx="1028700" cy="209550"/>
          </a:xfrm>
          <a:prstGeom prst="rect">
            <a:avLst/>
          </a:prstGeom>
          <a:noFill/>
          <a:ln>
            <a:noFill/>
          </a:ln>
        </p:spPr>
      </p:pic>
      <p:pic>
        <p:nvPicPr>
          <p:cNvPr descr="W_{t+1} = W_t\left[\beta_te^{r+\sigma\epsilon_t}+(1-\beta_t)r_f\right]&#10;%b6b009a1-e817-41af-a5bd-5ea5ba4add22" id="719" name="Google Shape;719;p53"/>
          <p:cNvPicPr preferRelativeResize="0"/>
          <p:nvPr/>
        </p:nvPicPr>
        <p:blipFill>
          <a:blip r:embed="rId5">
            <a:alphaModFix/>
          </a:blip>
          <a:stretch>
            <a:fillRect/>
          </a:stretch>
        </p:blipFill>
        <p:spPr>
          <a:xfrm>
            <a:off x="1803550" y="2505181"/>
            <a:ext cx="3209925" cy="2476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54"/>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Optimización de Portafolio</a:t>
            </a:r>
            <a:endParaRPr/>
          </a:p>
        </p:txBody>
      </p:sp>
      <p:sp>
        <p:nvSpPr>
          <p:cNvPr id="725" name="Google Shape;725;p54"/>
          <p:cNvSpPr txBox="1"/>
          <p:nvPr/>
        </p:nvSpPr>
        <p:spPr>
          <a:xfrm>
            <a:off x="49300" y="1000550"/>
            <a:ext cx="9094500" cy="2678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Estado = valor       del portfolio</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Asumimos que no hay costos asociados a la compra y venta de la acción</a:t>
            </a:r>
            <a:endParaRPr sz="1800">
              <a:solidFill>
                <a:schemeClr val="dk1"/>
              </a:solidFill>
            </a:endParaRPr>
          </a:p>
          <a:p>
            <a:pPr indent="0" lvl="0" marL="914400" rtl="0" algn="l">
              <a:spcBef>
                <a:spcPts val="0"/>
              </a:spcBef>
              <a:spcAft>
                <a:spcPts val="0"/>
              </a:spcAft>
              <a:buNone/>
            </a:pPr>
            <a:r>
              <a:rPr lang="en" sz="1800">
                <a:solidFill>
                  <a:schemeClr val="dk1"/>
                </a:solidFill>
              </a:rPr>
              <a:t>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Acción             	  - fracción del portafolio invertida en la acción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Transición: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Cuál es la solución si estamos interesados en maximizar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pic>
        <p:nvPicPr>
          <p:cNvPr descr="W_t&#10;%4edd8961-353e-4a54-9a11-9da36ef57647" id="726" name="Google Shape;726;p54"/>
          <p:cNvPicPr preferRelativeResize="0"/>
          <p:nvPr/>
        </p:nvPicPr>
        <p:blipFill>
          <a:blip r:embed="rId3">
            <a:alphaModFix/>
          </a:blip>
          <a:stretch>
            <a:fillRect/>
          </a:stretch>
        </p:blipFill>
        <p:spPr>
          <a:xfrm>
            <a:off x="2141653" y="1154657"/>
            <a:ext cx="295275" cy="190500"/>
          </a:xfrm>
          <a:prstGeom prst="rect">
            <a:avLst/>
          </a:prstGeom>
          <a:noFill/>
          <a:ln>
            <a:noFill/>
          </a:ln>
        </p:spPr>
      </p:pic>
      <p:pic>
        <p:nvPicPr>
          <p:cNvPr descr="0 \leq \beta_t \leq 1 &#10;%d4b23bd2-630b-4c05-90c0-f1e2cfdc74bd" id="727" name="Google Shape;727;p54"/>
          <p:cNvPicPr preferRelativeResize="0"/>
          <p:nvPr/>
        </p:nvPicPr>
        <p:blipFill>
          <a:blip r:embed="rId4">
            <a:alphaModFix/>
          </a:blip>
          <a:stretch>
            <a:fillRect/>
          </a:stretch>
        </p:blipFill>
        <p:spPr>
          <a:xfrm>
            <a:off x="1355050" y="1956250"/>
            <a:ext cx="1028700" cy="209550"/>
          </a:xfrm>
          <a:prstGeom prst="rect">
            <a:avLst/>
          </a:prstGeom>
          <a:noFill/>
          <a:ln>
            <a:noFill/>
          </a:ln>
        </p:spPr>
      </p:pic>
      <p:pic>
        <p:nvPicPr>
          <p:cNvPr descr="W_{t+1} = W_t\left[\beta_te^{r+\sigma\epsilon_t}+(1-\beta_t)r_f\right]&#10;%b6b009a1-e817-41af-a5bd-5ea5ba4add22" id="728" name="Google Shape;728;p54"/>
          <p:cNvPicPr preferRelativeResize="0"/>
          <p:nvPr/>
        </p:nvPicPr>
        <p:blipFill>
          <a:blip r:embed="rId5">
            <a:alphaModFix/>
          </a:blip>
          <a:stretch>
            <a:fillRect/>
          </a:stretch>
        </p:blipFill>
        <p:spPr>
          <a:xfrm>
            <a:off x="1803550" y="2505181"/>
            <a:ext cx="3209925" cy="247650"/>
          </a:xfrm>
          <a:prstGeom prst="rect">
            <a:avLst/>
          </a:prstGeom>
          <a:noFill/>
          <a:ln>
            <a:noFill/>
          </a:ln>
        </p:spPr>
      </p:pic>
      <p:pic>
        <p:nvPicPr>
          <p:cNvPr descr="{\rm E}\left[W_T\right]&#10;%30079eed-df08-4eb4-9da8-7441ee5e47b3" id="729" name="Google Shape;729;p54"/>
          <p:cNvPicPr preferRelativeResize="0"/>
          <p:nvPr/>
        </p:nvPicPr>
        <p:blipFill>
          <a:blip r:embed="rId6">
            <a:alphaModFix/>
          </a:blip>
          <a:stretch>
            <a:fillRect/>
          </a:stretch>
        </p:blipFill>
        <p:spPr>
          <a:xfrm>
            <a:off x="6403134" y="3048648"/>
            <a:ext cx="657225" cy="228600"/>
          </a:xfrm>
          <a:prstGeom prst="rect">
            <a:avLst/>
          </a:prstGeom>
          <a:noFill/>
          <a:ln>
            <a:noFill/>
          </a:ln>
        </p:spPr>
      </p:pic>
      <p:pic>
        <p:nvPicPr>
          <p:cNvPr descr="{\rm E}\left[W_T\right] = {\rm E}\left\{\prod\limits_{t = 1}^{T-1} \left[\beta_te^{r+\sigma\epsilon_t}+(1-\beta_t)r_f\right]\right\}&#10;%4ca2a47d-236e-4776-8fb5-c0c917c69b83" id="730" name="Google Shape;730;p54"/>
          <p:cNvPicPr preferRelativeResize="0"/>
          <p:nvPr/>
        </p:nvPicPr>
        <p:blipFill>
          <a:blip r:embed="rId7">
            <a:alphaModFix/>
          </a:blip>
          <a:stretch>
            <a:fillRect/>
          </a:stretch>
        </p:blipFill>
        <p:spPr>
          <a:xfrm>
            <a:off x="2609850" y="3483075"/>
            <a:ext cx="3924300" cy="5810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55"/>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Optimización de Portafolio</a:t>
            </a:r>
            <a:endParaRPr/>
          </a:p>
        </p:txBody>
      </p:sp>
      <p:sp>
        <p:nvSpPr>
          <p:cNvPr id="736" name="Google Shape;736;p55"/>
          <p:cNvSpPr txBox="1"/>
          <p:nvPr/>
        </p:nvSpPr>
        <p:spPr>
          <a:xfrm>
            <a:off x="49300" y="1000550"/>
            <a:ext cx="9094500" cy="3232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Cuál es la solución si estamos interesados en maximizar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La solución está basada en dos observaciones:</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     es independiente de lo que pasó antes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con ese criterio de optimalidad, somos indiferentes al riesgo. Eso quiere decir que, si el instrumento y la caja de ahorros tienen la misma ganancia en valor esperado, podemos elegir tanto uno como el otro, y el criterio se convierte en:</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pic>
        <p:nvPicPr>
          <p:cNvPr descr="{\rm E}\left[W_T\right]&#10;%30079eed-df08-4eb4-9da8-7441ee5e47b3" id="737" name="Google Shape;737;p55"/>
          <p:cNvPicPr preferRelativeResize="0"/>
          <p:nvPr/>
        </p:nvPicPr>
        <p:blipFill>
          <a:blip r:embed="rId3">
            <a:alphaModFix/>
          </a:blip>
          <a:stretch>
            <a:fillRect/>
          </a:stretch>
        </p:blipFill>
        <p:spPr>
          <a:xfrm>
            <a:off x="6403134" y="1134105"/>
            <a:ext cx="657225" cy="228600"/>
          </a:xfrm>
          <a:prstGeom prst="rect">
            <a:avLst/>
          </a:prstGeom>
          <a:noFill/>
          <a:ln>
            <a:noFill/>
          </a:ln>
        </p:spPr>
      </p:pic>
      <p:pic>
        <p:nvPicPr>
          <p:cNvPr descr="{\rm E}\left[W_T\right] = {\rm E}\left\{\prod\limits_{t = 1}^{T-1} \left[\beta_te^{r+\sigma\epsilon_t}+(1-\beta_t)r_f\right]\right\}&#10;%4ca2a47d-236e-4776-8fb5-c0c917c69b83" id="738" name="Google Shape;738;p55"/>
          <p:cNvPicPr preferRelativeResize="0"/>
          <p:nvPr/>
        </p:nvPicPr>
        <p:blipFill>
          <a:blip r:embed="rId4">
            <a:alphaModFix/>
          </a:blip>
          <a:stretch>
            <a:fillRect/>
          </a:stretch>
        </p:blipFill>
        <p:spPr>
          <a:xfrm>
            <a:off x="2609850" y="1501875"/>
            <a:ext cx="3924300" cy="581025"/>
          </a:xfrm>
          <a:prstGeom prst="rect">
            <a:avLst/>
          </a:prstGeom>
          <a:noFill/>
          <a:ln>
            <a:noFill/>
          </a:ln>
        </p:spPr>
      </p:pic>
      <p:pic>
        <p:nvPicPr>
          <p:cNvPr descr="\beta_t = \begin{cases}&#10;1 &amp; {\rm if}~e^{r+\sigma^2/2}&gt;r_f\\&#10;0 &amp; {\rm otherwise}&#10;\end{cases}&#10;%f535153f-b9dd-449b-8e94-4b2de66013a5" id="739" name="Google Shape;739;p55"/>
          <p:cNvPicPr preferRelativeResize="0"/>
          <p:nvPr/>
        </p:nvPicPr>
        <p:blipFill>
          <a:blip r:embed="rId5">
            <a:alphaModFix/>
          </a:blip>
          <a:stretch>
            <a:fillRect/>
          </a:stretch>
        </p:blipFill>
        <p:spPr>
          <a:xfrm>
            <a:off x="3988850" y="4013272"/>
            <a:ext cx="2343150" cy="552450"/>
          </a:xfrm>
          <a:prstGeom prst="rect">
            <a:avLst/>
          </a:prstGeom>
          <a:noFill/>
          <a:ln>
            <a:noFill/>
          </a:ln>
        </p:spPr>
      </p:pic>
      <p:pic>
        <p:nvPicPr>
          <p:cNvPr descr="\epsilon_t&#10;%652b2d73-5c7a-4aa4-80a7-b33b05ea1a13" id="740" name="Google Shape;740;p55"/>
          <p:cNvPicPr preferRelativeResize="0"/>
          <p:nvPr/>
        </p:nvPicPr>
        <p:blipFill>
          <a:blip r:embed="rId6">
            <a:alphaModFix/>
          </a:blip>
          <a:stretch>
            <a:fillRect/>
          </a:stretch>
        </p:blipFill>
        <p:spPr>
          <a:xfrm>
            <a:off x="1068500" y="2550125"/>
            <a:ext cx="171450" cy="1333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56"/>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Optimización de Portafolio</a:t>
            </a:r>
            <a:endParaRPr/>
          </a:p>
        </p:txBody>
      </p:sp>
      <p:sp>
        <p:nvSpPr>
          <p:cNvPr id="746" name="Google Shape;746;p56"/>
          <p:cNvSpPr txBox="1"/>
          <p:nvPr/>
        </p:nvSpPr>
        <p:spPr>
          <a:xfrm>
            <a:off x="49300" y="1000550"/>
            <a:ext cx="9094500" cy="3232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Cuál es la solución si estamos interesados en maximizar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La solución está basada en dos observaciones:</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     es independiente de lo que pasó antes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con ese criterio de optimalidad, somos indiferentes al riesgo. Eso quiere decir que, si el instrumento y la caja de ahorros tienen la misma ganancia en valor esperado, podemos elegir tanto uno como el otro, y el criterio se convierte en:</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pic>
        <p:nvPicPr>
          <p:cNvPr descr="{\rm E}\left[W_T\right]&#10;%30079eed-df08-4eb4-9da8-7441ee5e47b3" id="747" name="Google Shape;747;p56"/>
          <p:cNvPicPr preferRelativeResize="0"/>
          <p:nvPr/>
        </p:nvPicPr>
        <p:blipFill>
          <a:blip r:embed="rId3">
            <a:alphaModFix/>
          </a:blip>
          <a:stretch>
            <a:fillRect/>
          </a:stretch>
        </p:blipFill>
        <p:spPr>
          <a:xfrm>
            <a:off x="6403134" y="1134105"/>
            <a:ext cx="657225" cy="228600"/>
          </a:xfrm>
          <a:prstGeom prst="rect">
            <a:avLst/>
          </a:prstGeom>
          <a:noFill/>
          <a:ln>
            <a:noFill/>
          </a:ln>
        </p:spPr>
      </p:pic>
      <p:pic>
        <p:nvPicPr>
          <p:cNvPr descr="{\rm E}\left[W_T\right] = {\rm E}\left\{\prod\limits_{t = 1}^{T-1} \left[\beta_te^{r+\sigma\epsilon_t}+(1-\beta_t)r_f\right]\right\}&#10;%4ca2a47d-236e-4776-8fb5-c0c917c69b83" id="748" name="Google Shape;748;p56"/>
          <p:cNvPicPr preferRelativeResize="0"/>
          <p:nvPr/>
        </p:nvPicPr>
        <p:blipFill>
          <a:blip r:embed="rId4">
            <a:alphaModFix/>
          </a:blip>
          <a:stretch>
            <a:fillRect/>
          </a:stretch>
        </p:blipFill>
        <p:spPr>
          <a:xfrm>
            <a:off x="2609850" y="1501875"/>
            <a:ext cx="3924300" cy="581025"/>
          </a:xfrm>
          <a:prstGeom prst="rect">
            <a:avLst/>
          </a:prstGeom>
          <a:noFill/>
          <a:ln>
            <a:noFill/>
          </a:ln>
        </p:spPr>
      </p:pic>
      <p:pic>
        <p:nvPicPr>
          <p:cNvPr descr="\beta_t = \begin{cases}&#10;1 &amp; {\rm if}~e^{r+\sigma^2/2}&gt;r_f\\&#10;0 &amp; {\rm otherwise}&#10;\end{cases}&#10;%f535153f-b9dd-449b-8e94-4b2de66013a5" id="749" name="Google Shape;749;p56"/>
          <p:cNvPicPr preferRelativeResize="0"/>
          <p:nvPr/>
        </p:nvPicPr>
        <p:blipFill>
          <a:blip r:embed="rId5">
            <a:alphaModFix/>
          </a:blip>
          <a:stretch>
            <a:fillRect/>
          </a:stretch>
        </p:blipFill>
        <p:spPr>
          <a:xfrm>
            <a:off x="3988850" y="4013272"/>
            <a:ext cx="2343150" cy="552450"/>
          </a:xfrm>
          <a:prstGeom prst="rect">
            <a:avLst/>
          </a:prstGeom>
          <a:noFill/>
          <a:ln>
            <a:noFill/>
          </a:ln>
        </p:spPr>
      </p:pic>
      <p:pic>
        <p:nvPicPr>
          <p:cNvPr descr="\epsilon_t&#10;%652b2d73-5c7a-4aa4-80a7-b33b05ea1a13" id="750" name="Google Shape;750;p56"/>
          <p:cNvPicPr preferRelativeResize="0"/>
          <p:nvPr/>
        </p:nvPicPr>
        <p:blipFill>
          <a:blip r:embed="rId6">
            <a:alphaModFix/>
          </a:blip>
          <a:stretch>
            <a:fillRect/>
          </a:stretch>
        </p:blipFill>
        <p:spPr>
          <a:xfrm>
            <a:off x="1068500" y="2550125"/>
            <a:ext cx="171450" cy="1333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57"/>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Aversión al Riesgo</a:t>
            </a:r>
            <a:endParaRPr/>
          </a:p>
        </p:txBody>
      </p:sp>
      <p:sp>
        <p:nvSpPr>
          <p:cNvPr id="756" name="Google Shape;756;p57"/>
          <p:cNvSpPr txBox="1"/>
          <p:nvPr/>
        </p:nvSpPr>
        <p:spPr>
          <a:xfrm>
            <a:off x="49300" y="1000550"/>
            <a:ext cx="9094500" cy="2678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Consideremos una situación donde podés elegir recibir un monto fijo o un monto establecido por el resultado de tirar una moneda. </a:t>
            </a:r>
            <a:endParaRPr sz="1800">
              <a:solidFill>
                <a:schemeClr val="dk1"/>
              </a:solidFill>
            </a:endParaRPr>
          </a:p>
          <a:p>
            <a:pPr indent="0" lvl="0" marL="914400" rtl="0" algn="l">
              <a:spcBef>
                <a:spcPts val="0"/>
              </a:spcBef>
              <a:spcAft>
                <a:spcPts val="0"/>
              </a:spcAft>
              <a:buNone/>
            </a:pPr>
            <a:r>
              <a:t/>
            </a:r>
            <a:endParaRPr sz="1800">
              <a:solidFill>
                <a:schemeClr val="dk1"/>
              </a:solidFill>
            </a:endParaRPr>
          </a:p>
          <a:p>
            <a:pPr indent="-342900" lvl="0" marL="914400" rtl="0" algn="l">
              <a:spcBef>
                <a:spcPts val="0"/>
              </a:spcBef>
              <a:spcAft>
                <a:spcPts val="0"/>
              </a:spcAft>
              <a:buClr>
                <a:schemeClr val="dk1"/>
              </a:buClr>
              <a:buSzPts val="1800"/>
              <a:buChar char="-"/>
            </a:pPr>
            <a:r>
              <a:rPr lang="en" sz="1800">
                <a:solidFill>
                  <a:schemeClr val="dk1"/>
                </a:solidFill>
              </a:rPr>
              <a:t>Si el monto fijo es $500 y el monto dado por la moneda es $0 o $1000, qué elegís?</a:t>
            </a:r>
            <a:endParaRPr sz="1800">
              <a:solidFill>
                <a:schemeClr val="dk1"/>
              </a:solidFill>
            </a:endParaRPr>
          </a:p>
          <a:p>
            <a:pPr indent="0" lvl="0" marL="914400" rtl="0" algn="l">
              <a:spcBef>
                <a:spcPts val="0"/>
              </a:spcBef>
              <a:spcAft>
                <a:spcPts val="0"/>
              </a:spcAft>
              <a:buNone/>
            </a:pPr>
            <a:r>
              <a:t/>
            </a:r>
            <a:endParaRPr sz="1800">
              <a:solidFill>
                <a:schemeClr val="dk1"/>
              </a:solidFill>
            </a:endParaRPr>
          </a:p>
          <a:p>
            <a:pPr indent="-342900" lvl="0" marL="914400" rtl="0" algn="l">
              <a:spcBef>
                <a:spcPts val="0"/>
              </a:spcBef>
              <a:spcAft>
                <a:spcPts val="0"/>
              </a:spcAft>
              <a:buClr>
                <a:schemeClr val="dk1"/>
              </a:buClr>
              <a:buSzPts val="1800"/>
              <a:buChar char="-"/>
            </a:pPr>
            <a:r>
              <a:rPr lang="en" sz="1800">
                <a:solidFill>
                  <a:schemeClr val="dk1"/>
                </a:solidFill>
              </a:rPr>
              <a:t>Si el monto fijo es US$500,000 y el monto dado por la moneda es US$0 o US$1,000,000, qué elegís?</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58"/>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Función de Utilidad</a:t>
            </a:r>
            <a:endParaRPr/>
          </a:p>
        </p:txBody>
      </p:sp>
      <p:sp>
        <p:nvSpPr>
          <p:cNvPr id="762" name="Google Shape;762;p58"/>
          <p:cNvSpPr txBox="1"/>
          <p:nvPr/>
        </p:nvSpPr>
        <p:spPr>
          <a:xfrm>
            <a:off x="49300" y="1000550"/>
            <a:ext cx="9094500" cy="24012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Podemos capturar nuestras preferencias respecto al riesgo eligiendo la función recompensas con el concepto de función de utilidad.</a:t>
            </a:r>
            <a:r>
              <a:rPr lang="en" sz="1800">
                <a:solidFill>
                  <a:schemeClr val="dk1"/>
                </a:solidFill>
              </a:rPr>
              <a:t> </a:t>
            </a:r>
            <a:endParaRPr sz="1800">
              <a:solidFill>
                <a:schemeClr val="dk1"/>
              </a:solidFill>
            </a:endParaRPr>
          </a:p>
          <a:p>
            <a:pPr indent="0" lvl="0" marL="91440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9144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pic>
        <p:nvPicPr>
          <p:cNvPr id="763" name="Google Shape;763;p58"/>
          <p:cNvPicPr preferRelativeResize="0"/>
          <p:nvPr/>
        </p:nvPicPr>
        <p:blipFill>
          <a:blip r:embed="rId3">
            <a:alphaModFix/>
          </a:blip>
          <a:stretch>
            <a:fillRect/>
          </a:stretch>
        </p:blipFill>
        <p:spPr>
          <a:xfrm>
            <a:off x="4409925" y="1683450"/>
            <a:ext cx="4613724" cy="3043525"/>
          </a:xfrm>
          <a:prstGeom prst="rect">
            <a:avLst/>
          </a:prstGeom>
          <a:noFill/>
          <a:ln>
            <a:noFill/>
          </a:ln>
        </p:spPr>
      </p:pic>
      <p:sp>
        <p:nvSpPr>
          <p:cNvPr id="764" name="Google Shape;764;p58"/>
          <p:cNvSpPr txBox="1"/>
          <p:nvPr/>
        </p:nvSpPr>
        <p:spPr>
          <a:xfrm>
            <a:off x="66300" y="1755875"/>
            <a:ext cx="44295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La función de utilidad captura el valor de distintas opciones. En el caso del juego con la moneda, por ejemplo, podemos tener </a:t>
            </a:r>
            <a:endParaRPr/>
          </a:p>
        </p:txBody>
      </p:sp>
      <p:pic>
        <p:nvPicPr>
          <p:cNvPr descr="u(w) = \log(0.001w+1)&#10;%43f67213-df77-4de8-98ce-4e2d93aad308" id="765" name="Google Shape;765;p58"/>
          <p:cNvPicPr preferRelativeResize="0"/>
          <p:nvPr/>
        </p:nvPicPr>
        <p:blipFill>
          <a:blip r:embed="rId4">
            <a:alphaModFix/>
          </a:blip>
          <a:stretch>
            <a:fillRect/>
          </a:stretch>
        </p:blipFill>
        <p:spPr>
          <a:xfrm>
            <a:off x="1331850" y="3048875"/>
            <a:ext cx="2276475" cy="2286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59"/>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Función de Utilidad</a:t>
            </a:r>
            <a:endParaRPr/>
          </a:p>
        </p:txBody>
      </p:sp>
      <p:sp>
        <p:nvSpPr>
          <p:cNvPr id="771" name="Google Shape;771;p59"/>
          <p:cNvSpPr txBox="1"/>
          <p:nvPr/>
        </p:nvSpPr>
        <p:spPr>
          <a:xfrm>
            <a:off x="49300" y="1000550"/>
            <a:ext cx="9094500" cy="24012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Podemos capturar nuestras preferencias respecto al riesgo eligiendo la función recompensas con el concepto de función de utilidad. </a:t>
            </a:r>
            <a:endParaRPr sz="1800">
              <a:solidFill>
                <a:schemeClr val="dk1"/>
              </a:solidFill>
            </a:endParaRPr>
          </a:p>
          <a:p>
            <a:pPr indent="0" lvl="0" marL="91440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9144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pic>
        <p:nvPicPr>
          <p:cNvPr id="772" name="Google Shape;772;p59"/>
          <p:cNvPicPr preferRelativeResize="0"/>
          <p:nvPr/>
        </p:nvPicPr>
        <p:blipFill>
          <a:blip r:embed="rId3">
            <a:alphaModFix/>
          </a:blip>
          <a:stretch>
            <a:fillRect/>
          </a:stretch>
        </p:blipFill>
        <p:spPr>
          <a:xfrm>
            <a:off x="4409925" y="1682875"/>
            <a:ext cx="4613724" cy="2911350"/>
          </a:xfrm>
          <a:prstGeom prst="rect">
            <a:avLst/>
          </a:prstGeom>
          <a:noFill/>
          <a:ln>
            <a:noFill/>
          </a:ln>
        </p:spPr>
      </p:pic>
      <p:sp>
        <p:nvSpPr>
          <p:cNvPr id="773" name="Google Shape;773;p59"/>
          <p:cNvSpPr txBox="1"/>
          <p:nvPr/>
        </p:nvSpPr>
        <p:spPr>
          <a:xfrm>
            <a:off x="66300" y="1755875"/>
            <a:ext cx="4429500" cy="2678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La función de utilidad captura el valor de distintas opciones. En el caso del juego con la moneda, por ejemplo, podemos tener</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Por qué cóncava?</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914400" rtl="0" algn="l">
              <a:spcBef>
                <a:spcPts val="0"/>
              </a:spcBef>
              <a:spcAft>
                <a:spcPts val="0"/>
              </a:spcAft>
              <a:buNone/>
            </a:pPr>
            <a:r>
              <a:t/>
            </a:r>
            <a:endParaRPr sz="1800">
              <a:solidFill>
                <a:schemeClr val="dk1"/>
              </a:solidFill>
            </a:endParaRPr>
          </a:p>
        </p:txBody>
      </p:sp>
      <p:pic>
        <p:nvPicPr>
          <p:cNvPr descr="u(w) = \log(0.001w+1)&#10;%43f67213-df77-4de8-98ce-4e2d93aad308" id="774" name="Google Shape;774;p59"/>
          <p:cNvPicPr preferRelativeResize="0"/>
          <p:nvPr/>
        </p:nvPicPr>
        <p:blipFill>
          <a:blip r:embed="rId4">
            <a:alphaModFix/>
          </a:blip>
          <a:stretch>
            <a:fillRect/>
          </a:stretch>
        </p:blipFill>
        <p:spPr>
          <a:xfrm>
            <a:off x="1331850" y="3048875"/>
            <a:ext cx="2276475" cy="2286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60"/>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Función de Utilidad</a:t>
            </a:r>
            <a:endParaRPr/>
          </a:p>
        </p:txBody>
      </p:sp>
      <p:sp>
        <p:nvSpPr>
          <p:cNvPr id="780" name="Google Shape;780;p60"/>
          <p:cNvSpPr txBox="1"/>
          <p:nvPr/>
        </p:nvSpPr>
        <p:spPr>
          <a:xfrm>
            <a:off x="49300" y="1000550"/>
            <a:ext cx="9094500" cy="24012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Podemos capturar nuestras preferencias respecto al riesgo eligiendo la función recompensas con el concepto de función de utilidad. </a:t>
            </a:r>
            <a:endParaRPr sz="1800">
              <a:solidFill>
                <a:schemeClr val="dk1"/>
              </a:solidFill>
            </a:endParaRPr>
          </a:p>
          <a:p>
            <a:pPr indent="0" lvl="0" marL="91440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9144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pic>
        <p:nvPicPr>
          <p:cNvPr id="781" name="Google Shape;781;p60"/>
          <p:cNvPicPr preferRelativeResize="0"/>
          <p:nvPr/>
        </p:nvPicPr>
        <p:blipFill>
          <a:blip r:embed="rId3">
            <a:alphaModFix/>
          </a:blip>
          <a:stretch>
            <a:fillRect/>
          </a:stretch>
        </p:blipFill>
        <p:spPr>
          <a:xfrm>
            <a:off x="4409925" y="1682875"/>
            <a:ext cx="4613724" cy="2911350"/>
          </a:xfrm>
          <a:prstGeom prst="rect">
            <a:avLst/>
          </a:prstGeom>
          <a:noFill/>
          <a:ln>
            <a:noFill/>
          </a:ln>
        </p:spPr>
      </p:pic>
      <p:sp>
        <p:nvSpPr>
          <p:cNvPr id="782" name="Google Shape;782;p60"/>
          <p:cNvSpPr txBox="1"/>
          <p:nvPr/>
        </p:nvSpPr>
        <p:spPr>
          <a:xfrm>
            <a:off x="66300" y="1755875"/>
            <a:ext cx="4429500" cy="2678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La función de utilidad captura el valor de distintas opciones. En el caso del juego con la moneda, por ejemplo, podemos tener</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Por qué cóncava?</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Entonces </a:t>
            </a:r>
            <a:endParaRPr sz="1800">
              <a:solidFill>
                <a:schemeClr val="dk1"/>
              </a:solidFill>
            </a:endParaRPr>
          </a:p>
        </p:txBody>
      </p:sp>
      <p:pic>
        <p:nvPicPr>
          <p:cNvPr descr="u(w) = \log(0.001w+1)&#10;%43f67213-df77-4de8-98ce-4e2d93aad308" id="783" name="Google Shape;783;p60"/>
          <p:cNvPicPr preferRelativeResize="0"/>
          <p:nvPr/>
        </p:nvPicPr>
        <p:blipFill>
          <a:blip r:embed="rId4">
            <a:alphaModFix/>
          </a:blip>
          <a:stretch>
            <a:fillRect/>
          </a:stretch>
        </p:blipFill>
        <p:spPr>
          <a:xfrm>
            <a:off x="1331850" y="3048875"/>
            <a:ext cx="2276475" cy="228600"/>
          </a:xfrm>
          <a:prstGeom prst="rect">
            <a:avLst/>
          </a:prstGeom>
          <a:noFill/>
          <a:ln>
            <a:noFill/>
          </a:ln>
        </p:spPr>
      </p:pic>
      <p:pic>
        <p:nvPicPr>
          <p:cNvPr descr="u(0.5)\approx 0.5(u(0)+u(1))\approx 0.0005&#10;%c7961584-6c6e-4a78-ab91-5d5054550ba8" id="784" name="Google Shape;784;p60"/>
          <p:cNvPicPr preferRelativeResize="0"/>
          <p:nvPr/>
        </p:nvPicPr>
        <p:blipFill>
          <a:blip r:embed="rId5">
            <a:alphaModFix/>
          </a:blip>
          <a:stretch>
            <a:fillRect/>
          </a:stretch>
        </p:blipFill>
        <p:spPr>
          <a:xfrm>
            <a:off x="668000" y="4436200"/>
            <a:ext cx="3371850" cy="228600"/>
          </a:xfrm>
          <a:prstGeom prst="rect">
            <a:avLst/>
          </a:prstGeom>
          <a:noFill/>
          <a:ln>
            <a:noFill/>
          </a:ln>
        </p:spPr>
      </p:pic>
      <p:pic>
        <p:nvPicPr>
          <p:cNvPr descr="u(500000)=6.2166&gt; 0.5(u(0)+u(1000000))=3.4544&#10;%6472f2c0-42d7-4ba5-a59a-144b08c75ec7" id="785" name="Google Shape;785;p60"/>
          <p:cNvPicPr preferRelativeResize="0"/>
          <p:nvPr/>
        </p:nvPicPr>
        <p:blipFill>
          <a:blip r:embed="rId6">
            <a:alphaModFix/>
          </a:blip>
          <a:stretch>
            <a:fillRect/>
          </a:stretch>
        </p:blipFill>
        <p:spPr>
          <a:xfrm>
            <a:off x="668000" y="4770200"/>
            <a:ext cx="5343525" cy="2286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61"/>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Optimización de Portafolio</a:t>
            </a:r>
            <a:endParaRPr/>
          </a:p>
        </p:txBody>
      </p:sp>
      <p:sp>
        <p:nvSpPr>
          <p:cNvPr id="791" name="Google Shape;791;p61"/>
          <p:cNvSpPr txBox="1"/>
          <p:nvPr/>
        </p:nvSpPr>
        <p:spPr>
          <a:xfrm>
            <a:off x="49300" y="1000550"/>
            <a:ext cx="9094500" cy="2678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Estado = valor       del portfolio</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Asumimos que no hay costos asociados a la compra y venta de la acción</a:t>
            </a:r>
            <a:endParaRPr sz="1800">
              <a:solidFill>
                <a:schemeClr val="dk1"/>
              </a:solidFill>
            </a:endParaRPr>
          </a:p>
          <a:p>
            <a:pPr indent="0" lvl="0" marL="914400" rtl="0" algn="l">
              <a:spcBef>
                <a:spcPts val="0"/>
              </a:spcBef>
              <a:spcAft>
                <a:spcPts val="0"/>
              </a:spcAft>
              <a:buNone/>
            </a:pPr>
            <a:r>
              <a:rPr lang="en" sz="1800">
                <a:solidFill>
                  <a:schemeClr val="dk1"/>
                </a:solidFill>
              </a:rPr>
              <a:t>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Acción             	  - fracción del portafolio invertida en la acción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Transición: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Elegimos     , t = 0,1,...,T para maximizar                , where                                       .</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pic>
        <p:nvPicPr>
          <p:cNvPr descr="W_t&#10;%4edd8961-353e-4a54-9a11-9da36ef57647" id="792" name="Google Shape;792;p61"/>
          <p:cNvPicPr preferRelativeResize="0"/>
          <p:nvPr/>
        </p:nvPicPr>
        <p:blipFill>
          <a:blip r:embed="rId3">
            <a:alphaModFix/>
          </a:blip>
          <a:stretch>
            <a:fillRect/>
          </a:stretch>
        </p:blipFill>
        <p:spPr>
          <a:xfrm>
            <a:off x="2141653" y="1154657"/>
            <a:ext cx="295275" cy="190500"/>
          </a:xfrm>
          <a:prstGeom prst="rect">
            <a:avLst/>
          </a:prstGeom>
          <a:noFill/>
          <a:ln>
            <a:noFill/>
          </a:ln>
        </p:spPr>
      </p:pic>
      <p:pic>
        <p:nvPicPr>
          <p:cNvPr descr="0 \leq \beta_t \leq 1 &#10;%d4b23bd2-630b-4c05-90c0-f1e2cfdc74bd" id="793" name="Google Shape;793;p61"/>
          <p:cNvPicPr preferRelativeResize="0"/>
          <p:nvPr/>
        </p:nvPicPr>
        <p:blipFill>
          <a:blip r:embed="rId4">
            <a:alphaModFix/>
          </a:blip>
          <a:stretch>
            <a:fillRect/>
          </a:stretch>
        </p:blipFill>
        <p:spPr>
          <a:xfrm>
            <a:off x="1355050" y="1956250"/>
            <a:ext cx="1028700" cy="209550"/>
          </a:xfrm>
          <a:prstGeom prst="rect">
            <a:avLst/>
          </a:prstGeom>
          <a:noFill/>
          <a:ln>
            <a:noFill/>
          </a:ln>
        </p:spPr>
      </p:pic>
      <p:pic>
        <p:nvPicPr>
          <p:cNvPr descr="W_{t+1} = W_t\left[\beta_te^{r+\sigma\epsilon_t}+(1-\beta_t)r_f\right]&#10;%b6b009a1-e817-41af-a5bd-5ea5ba4add22" id="794" name="Google Shape;794;p61"/>
          <p:cNvPicPr preferRelativeResize="0"/>
          <p:nvPr/>
        </p:nvPicPr>
        <p:blipFill>
          <a:blip r:embed="rId5">
            <a:alphaModFix/>
          </a:blip>
          <a:stretch>
            <a:fillRect/>
          </a:stretch>
        </p:blipFill>
        <p:spPr>
          <a:xfrm>
            <a:off x="1803550" y="2505181"/>
            <a:ext cx="3209925" cy="247650"/>
          </a:xfrm>
          <a:prstGeom prst="rect">
            <a:avLst/>
          </a:prstGeom>
          <a:noFill/>
          <a:ln>
            <a:noFill/>
          </a:ln>
        </p:spPr>
      </p:pic>
      <p:pic>
        <p:nvPicPr>
          <p:cNvPr descr="\beta_t&#10;%d5c5a6d4-fd95-4e32-bf0b-e196098a573b" id="795" name="Google Shape;795;p61"/>
          <p:cNvPicPr preferRelativeResize="0"/>
          <p:nvPr/>
        </p:nvPicPr>
        <p:blipFill>
          <a:blip r:embed="rId6">
            <a:alphaModFix/>
          </a:blip>
          <a:stretch>
            <a:fillRect/>
          </a:stretch>
        </p:blipFill>
        <p:spPr>
          <a:xfrm>
            <a:off x="1631650" y="3053475"/>
            <a:ext cx="209550" cy="209550"/>
          </a:xfrm>
          <a:prstGeom prst="rect">
            <a:avLst/>
          </a:prstGeom>
          <a:noFill/>
          <a:ln>
            <a:noFill/>
          </a:ln>
        </p:spPr>
      </p:pic>
      <p:pic>
        <p:nvPicPr>
          <p:cNvPr descr="{\rm E}[\nu(W_T)]&#10;%5c22401d-4d9e-4a98-a548-d8806573b174" id="796" name="Google Shape;796;p61"/>
          <p:cNvPicPr preferRelativeResize="0"/>
          <p:nvPr/>
        </p:nvPicPr>
        <p:blipFill>
          <a:blip r:embed="rId7">
            <a:alphaModFix/>
          </a:blip>
          <a:stretch>
            <a:fillRect/>
          </a:stretch>
        </p:blipFill>
        <p:spPr>
          <a:xfrm>
            <a:off x="4799975" y="3053493"/>
            <a:ext cx="914400" cy="228600"/>
          </a:xfrm>
          <a:prstGeom prst="rect">
            <a:avLst/>
          </a:prstGeom>
          <a:noFill/>
          <a:ln>
            <a:noFill/>
          </a:ln>
        </p:spPr>
      </p:pic>
      <p:pic>
        <p:nvPicPr>
          <p:cNvPr descr="\nu(w) = w^\gamma{\rm ~for~0&lt;\gamma&lt;1}&#10;%f93347f6-4ea7-42e0-b7fd-de5bd3dff252" id="797" name="Google Shape;797;p61"/>
          <p:cNvPicPr preferRelativeResize="0"/>
          <p:nvPr/>
        </p:nvPicPr>
        <p:blipFill>
          <a:blip r:embed="rId8">
            <a:alphaModFix/>
          </a:blip>
          <a:stretch>
            <a:fillRect/>
          </a:stretch>
        </p:blipFill>
        <p:spPr>
          <a:xfrm>
            <a:off x="6574900" y="3043950"/>
            <a:ext cx="2352675" cy="2286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62"/>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Optimización de Portafolio</a:t>
            </a:r>
            <a:endParaRPr/>
          </a:p>
        </p:txBody>
      </p:sp>
      <p:sp>
        <p:nvSpPr>
          <p:cNvPr id="803" name="Google Shape;803;p62"/>
          <p:cNvSpPr txBox="1"/>
          <p:nvPr/>
        </p:nvSpPr>
        <p:spPr>
          <a:xfrm>
            <a:off x="49300" y="1000550"/>
            <a:ext cx="9094500" cy="3232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Estado = valor       del portfolio</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Asumimos que no hay costos asociados a la compra y venta de la acción</a:t>
            </a:r>
            <a:endParaRPr sz="1800">
              <a:solidFill>
                <a:schemeClr val="dk1"/>
              </a:solidFill>
            </a:endParaRPr>
          </a:p>
          <a:p>
            <a:pPr indent="0" lvl="0" marL="914400" rtl="0" algn="l">
              <a:spcBef>
                <a:spcPts val="0"/>
              </a:spcBef>
              <a:spcAft>
                <a:spcPts val="0"/>
              </a:spcAft>
              <a:buNone/>
            </a:pPr>
            <a:r>
              <a:rPr lang="en" sz="1800">
                <a:solidFill>
                  <a:schemeClr val="dk1"/>
                </a:solidFill>
              </a:rPr>
              <a:t>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Acción             	  - fracción del portafolio invertida en la acción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Transición: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Elegimos     , t = 0,1,...,T para maximizar                , where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La solución es constante en el tiempo:</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pic>
        <p:nvPicPr>
          <p:cNvPr descr="W_t&#10;%4edd8961-353e-4a54-9a11-9da36ef57647" id="804" name="Google Shape;804;p62"/>
          <p:cNvPicPr preferRelativeResize="0"/>
          <p:nvPr/>
        </p:nvPicPr>
        <p:blipFill>
          <a:blip r:embed="rId3">
            <a:alphaModFix/>
          </a:blip>
          <a:stretch>
            <a:fillRect/>
          </a:stretch>
        </p:blipFill>
        <p:spPr>
          <a:xfrm>
            <a:off x="2141653" y="1154657"/>
            <a:ext cx="295275" cy="190500"/>
          </a:xfrm>
          <a:prstGeom prst="rect">
            <a:avLst/>
          </a:prstGeom>
          <a:noFill/>
          <a:ln>
            <a:noFill/>
          </a:ln>
        </p:spPr>
      </p:pic>
      <p:pic>
        <p:nvPicPr>
          <p:cNvPr descr="0 \leq \beta_t \leq 1 &#10;%d4b23bd2-630b-4c05-90c0-f1e2cfdc74bd" id="805" name="Google Shape;805;p62"/>
          <p:cNvPicPr preferRelativeResize="0"/>
          <p:nvPr/>
        </p:nvPicPr>
        <p:blipFill>
          <a:blip r:embed="rId4">
            <a:alphaModFix/>
          </a:blip>
          <a:stretch>
            <a:fillRect/>
          </a:stretch>
        </p:blipFill>
        <p:spPr>
          <a:xfrm>
            <a:off x="1355050" y="1956250"/>
            <a:ext cx="1028700" cy="209550"/>
          </a:xfrm>
          <a:prstGeom prst="rect">
            <a:avLst/>
          </a:prstGeom>
          <a:noFill/>
          <a:ln>
            <a:noFill/>
          </a:ln>
        </p:spPr>
      </p:pic>
      <p:pic>
        <p:nvPicPr>
          <p:cNvPr descr="W_{t+1} = W_t\left[\beta_te^{r+\sigma\epsilon_t}+(1-\beta_t)r_f\right]&#10;%b6b009a1-e817-41af-a5bd-5ea5ba4add22" id="806" name="Google Shape;806;p62"/>
          <p:cNvPicPr preferRelativeResize="0"/>
          <p:nvPr/>
        </p:nvPicPr>
        <p:blipFill>
          <a:blip r:embed="rId5">
            <a:alphaModFix/>
          </a:blip>
          <a:stretch>
            <a:fillRect/>
          </a:stretch>
        </p:blipFill>
        <p:spPr>
          <a:xfrm>
            <a:off x="1803550" y="2505181"/>
            <a:ext cx="3209925" cy="247650"/>
          </a:xfrm>
          <a:prstGeom prst="rect">
            <a:avLst/>
          </a:prstGeom>
          <a:noFill/>
          <a:ln>
            <a:noFill/>
          </a:ln>
        </p:spPr>
      </p:pic>
      <p:pic>
        <p:nvPicPr>
          <p:cNvPr descr="\beta_t&#10;%d5c5a6d4-fd95-4e32-bf0b-e196098a573b" id="807" name="Google Shape;807;p62"/>
          <p:cNvPicPr preferRelativeResize="0"/>
          <p:nvPr/>
        </p:nvPicPr>
        <p:blipFill>
          <a:blip r:embed="rId6">
            <a:alphaModFix/>
          </a:blip>
          <a:stretch>
            <a:fillRect/>
          </a:stretch>
        </p:blipFill>
        <p:spPr>
          <a:xfrm>
            <a:off x="1631650" y="3053475"/>
            <a:ext cx="209550" cy="209550"/>
          </a:xfrm>
          <a:prstGeom prst="rect">
            <a:avLst/>
          </a:prstGeom>
          <a:noFill/>
          <a:ln>
            <a:noFill/>
          </a:ln>
        </p:spPr>
      </p:pic>
      <p:pic>
        <p:nvPicPr>
          <p:cNvPr descr="{\rm E}[\nu(W_T)]&#10;%5c22401d-4d9e-4a98-a548-d8806573b174" id="808" name="Google Shape;808;p62"/>
          <p:cNvPicPr preferRelativeResize="0"/>
          <p:nvPr/>
        </p:nvPicPr>
        <p:blipFill>
          <a:blip r:embed="rId7">
            <a:alphaModFix/>
          </a:blip>
          <a:stretch>
            <a:fillRect/>
          </a:stretch>
        </p:blipFill>
        <p:spPr>
          <a:xfrm>
            <a:off x="4799975" y="3053493"/>
            <a:ext cx="914400" cy="228600"/>
          </a:xfrm>
          <a:prstGeom prst="rect">
            <a:avLst/>
          </a:prstGeom>
          <a:noFill/>
          <a:ln>
            <a:noFill/>
          </a:ln>
        </p:spPr>
      </p:pic>
      <p:pic>
        <p:nvPicPr>
          <p:cNvPr descr="\nu(w) = w^\gamma{\rm ~for~0&lt;\gamma&lt;1}&#10;%f93347f6-4ea7-42e0-b7fd-de5bd3dff252" id="809" name="Google Shape;809;p62"/>
          <p:cNvPicPr preferRelativeResize="0"/>
          <p:nvPr/>
        </p:nvPicPr>
        <p:blipFill>
          <a:blip r:embed="rId8">
            <a:alphaModFix/>
          </a:blip>
          <a:stretch>
            <a:fillRect/>
          </a:stretch>
        </p:blipFill>
        <p:spPr>
          <a:xfrm>
            <a:off x="6574900" y="3043950"/>
            <a:ext cx="2352675" cy="228600"/>
          </a:xfrm>
          <a:prstGeom prst="rect">
            <a:avLst/>
          </a:prstGeom>
          <a:noFill/>
          <a:ln>
            <a:noFill/>
          </a:ln>
        </p:spPr>
      </p:pic>
      <p:pic>
        <p:nvPicPr>
          <p:cNvPr descr="\beta_t^* = \beta^*(\gamma)&#10;%2db15d31-5d49-4ae6-adff-bd33fc28c1d7" id="810" name="Google Shape;810;p62"/>
          <p:cNvPicPr preferRelativeResize="0"/>
          <p:nvPr/>
        </p:nvPicPr>
        <p:blipFill>
          <a:blip r:embed="rId9">
            <a:alphaModFix/>
          </a:blip>
          <a:stretch>
            <a:fillRect/>
          </a:stretch>
        </p:blipFill>
        <p:spPr>
          <a:xfrm>
            <a:off x="4637850" y="3607125"/>
            <a:ext cx="1047750" cy="2286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63"/>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Optimización de Portafolio</a:t>
            </a:r>
            <a:endParaRPr/>
          </a:p>
        </p:txBody>
      </p:sp>
      <p:sp>
        <p:nvSpPr>
          <p:cNvPr id="816" name="Google Shape;816;p63"/>
          <p:cNvSpPr txBox="1"/>
          <p:nvPr/>
        </p:nvSpPr>
        <p:spPr>
          <a:xfrm>
            <a:off x="49300" y="1000550"/>
            <a:ext cx="90945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La solución es constante en el tiempo:</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pic>
        <p:nvPicPr>
          <p:cNvPr descr="\beta_t^* = \beta^*(\gamma)&#10;%2db15d31-5d49-4ae6-adff-bd33fc28c1d7" id="817" name="Google Shape;817;p63"/>
          <p:cNvPicPr preferRelativeResize="0"/>
          <p:nvPr/>
        </p:nvPicPr>
        <p:blipFill>
          <a:blip r:embed="rId3">
            <a:alphaModFix/>
          </a:blip>
          <a:stretch>
            <a:fillRect/>
          </a:stretch>
        </p:blipFill>
        <p:spPr>
          <a:xfrm>
            <a:off x="4572000" y="1126025"/>
            <a:ext cx="1047750" cy="228600"/>
          </a:xfrm>
          <a:prstGeom prst="rect">
            <a:avLst/>
          </a:prstGeom>
          <a:noFill/>
          <a:ln>
            <a:noFill/>
          </a:ln>
        </p:spPr>
      </p:pic>
      <p:pic>
        <p:nvPicPr>
          <p:cNvPr descr="\beta_t^* = \beta^*(\gamma)&#10;%2db15d31-5d49-4ae6-adff-bd33fc28c1d7" id="818" name="Google Shape;818;p63"/>
          <p:cNvPicPr preferRelativeResize="0"/>
          <p:nvPr/>
        </p:nvPicPr>
        <p:blipFill>
          <a:blip r:embed="rId3">
            <a:alphaModFix/>
          </a:blip>
          <a:stretch>
            <a:fillRect/>
          </a:stretch>
        </p:blipFill>
        <p:spPr>
          <a:xfrm>
            <a:off x="708200" y="3091400"/>
            <a:ext cx="1047750" cy="228600"/>
          </a:xfrm>
          <a:prstGeom prst="rect">
            <a:avLst/>
          </a:prstGeom>
          <a:noFill/>
          <a:ln>
            <a:noFill/>
          </a:ln>
        </p:spPr>
      </p:pic>
      <p:grpSp>
        <p:nvGrpSpPr>
          <p:cNvPr id="819" name="Google Shape;819;p63"/>
          <p:cNvGrpSpPr/>
          <p:nvPr/>
        </p:nvGrpSpPr>
        <p:grpSpPr>
          <a:xfrm>
            <a:off x="1841200" y="1413692"/>
            <a:ext cx="5210175" cy="3634830"/>
            <a:chOff x="1841188" y="1413650"/>
            <a:chExt cx="5210175" cy="4333885"/>
          </a:xfrm>
        </p:grpSpPr>
        <p:pic>
          <p:nvPicPr>
            <p:cNvPr id="820" name="Google Shape;820;p63"/>
            <p:cNvPicPr preferRelativeResize="0"/>
            <p:nvPr/>
          </p:nvPicPr>
          <p:blipFill>
            <a:blip r:embed="rId4">
              <a:alphaModFix/>
            </a:blip>
            <a:stretch>
              <a:fillRect/>
            </a:stretch>
          </p:blipFill>
          <p:spPr>
            <a:xfrm>
              <a:off x="1841188" y="1413650"/>
              <a:ext cx="5210175" cy="4333875"/>
            </a:xfrm>
            <a:prstGeom prst="rect">
              <a:avLst/>
            </a:prstGeom>
            <a:noFill/>
            <a:ln>
              <a:noFill/>
            </a:ln>
          </p:spPr>
        </p:pic>
        <p:sp>
          <p:nvSpPr>
            <p:cNvPr id="821" name="Google Shape;821;p63"/>
            <p:cNvSpPr/>
            <p:nvPr/>
          </p:nvSpPr>
          <p:spPr>
            <a:xfrm>
              <a:off x="4009575" y="1458610"/>
              <a:ext cx="1202400" cy="228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2" name="Google Shape;822;p63"/>
            <p:cNvSpPr/>
            <p:nvPr/>
          </p:nvSpPr>
          <p:spPr>
            <a:xfrm>
              <a:off x="3845088" y="5518935"/>
              <a:ext cx="1202400" cy="228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23" name="Google Shape;823;p63"/>
          <p:cNvSpPr/>
          <p:nvPr/>
        </p:nvSpPr>
        <p:spPr>
          <a:xfrm>
            <a:off x="459725" y="3091400"/>
            <a:ext cx="742800" cy="228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gamma&#10;%1b29cbc4-6fdf-4720-ae4d-427869f822a4" id="824" name="Google Shape;824;p63"/>
          <p:cNvPicPr preferRelativeResize="0"/>
          <p:nvPr/>
        </p:nvPicPr>
        <p:blipFill>
          <a:blip r:embed="rId5">
            <a:alphaModFix/>
          </a:blip>
          <a:stretch>
            <a:fillRect/>
          </a:stretch>
        </p:blipFill>
        <p:spPr>
          <a:xfrm>
            <a:off x="0" y="0"/>
            <a:ext cx="123825" cy="152400"/>
          </a:xfrm>
          <a:prstGeom prst="rect">
            <a:avLst/>
          </a:prstGeom>
          <a:noFill/>
          <a:ln>
            <a:noFill/>
          </a:ln>
        </p:spPr>
      </p:pic>
      <p:pic>
        <p:nvPicPr>
          <p:cNvPr descr="\gamma&#10;%1b29cbc4-6fdf-4720-ae4d-427869f822a4" id="825" name="Google Shape;825;p63"/>
          <p:cNvPicPr preferRelativeResize="0"/>
          <p:nvPr/>
        </p:nvPicPr>
        <p:blipFill>
          <a:blip r:embed="rId5">
            <a:alphaModFix/>
          </a:blip>
          <a:stretch>
            <a:fillRect/>
          </a:stretch>
        </p:blipFill>
        <p:spPr>
          <a:xfrm>
            <a:off x="4500675" y="4884993"/>
            <a:ext cx="123825" cy="1524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64"/>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Optimización de Portafolio con Consumo</a:t>
            </a:r>
            <a:endParaRPr/>
          </a:p>
        </p:txBody>
      </p:sp>
      <p:sp>
        <p:nvSpPr>
          <p:cNvPr id="831" name="Google Shape;831;p64"/>
          <p:cNvSpPr txBox="1"/>
          <p:nvPr/>
        </p:nvSpPr>
        <p:spPr>
          <a:xfrm>
            <a:off x="49300" y="1000550"/>
            <a:ext cx="9094500" cy="4063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Estado = valor       del portfolio</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Asumimos que no hay costos asociados a la compra y venta de la acción</a:t>
            </a:r>
            <a:endParaRPr sz="1800">
              <a:solidFill>
                <a:schemeClr val="dk1"/>
              </a:solidFill>
            </a:endParaRPr>
          </a:p>
          <a:p>
            <a:pPr indent="0" lvl="0" marL="914400" rtl="0" algn="l">
              <a:spcBef>
                <a:spcPts val="0"/>
              </a:spcBef>
              <a:spcAft>
                <a:spcPts val="0"/>
              </a:spcAft>
              <a:buNone/>
            </a:pPr>
            <a:r>
              <a:rPr lang="en" sz="1800">
                <a:solidFill>
                  <a:schemeClr val="dk1"/>
                </a:solidFill>
              </a:rPr>
              <a:t>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Acción             	  y                 </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en cada periodo t, consumimos              </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invertimos una fracción     del restante en el activo y el resto en la caja de ahorros. </a:t>
            </a:r>
            <a:endParaRPr sz="1800">
              <a:solidFill>
                <a:schemeClr val="dk1"/>
              </a:solidFill>
            </a:endParaRPr>
          </a:p>
          <a:p>
            <a:pPr indent="0" lvl="0" marL="9144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pic>
        <p:nvPicPr>
          <p:cNvPr descr="W_t&#10;%4edd8961-353e-4a54-9a11-9da36ef57647" id="832" name="Google Shape;832;p64"/>
          <p:cNvPicPr preferRelativeResize="0"/>
          <p:nvPr/>
        </p:nvPicPr>
        <p:blipFill>
          <a:blip r:embed="rId3">
            <a:alphaModFix/>
          </a:blip>
          <a:stretch>
            <a:fillRect/>
          </a:stretch>
        </p:blipFill>
        <p:spPr>
          <a:xfrm>
            <a:off x="2141653" y="1154657"/>
            <a:ext cx="295275" cy="190500"/>
          </a:xfrm>
          <a:prstGeom prst="rect">
            <a:avLst/>
          </a:prstGeom>
          <a:noFill/>
          <a:ln>
            <a:noFill/>
          </a:ln>
        </p:spPr>
      </p:pic>
      <p:pic>
        <p:nvPicPr>
          <p:cNvPr descr="0 \leq \beta_t \leq 1 &#10;%d4b23bd2-630b-4c05-90c0-f1e2cfdc74bd" id="833" name="Google Shape;833;p64"/>
          <p:cNvPicPr preferRelativeResize="0"/>
          <p:nvPr/>
        </p:nvPicPr>
        <p:blipFill>
          <a:blip r:embed="rId4">
            <a:alphaModFix/>
          </a:blip>
          <a:stretch>
            <a:fillRect/>
          </a:stretch>
        </p:blipFill>
        <p:spPr>
          <a:xfrm>
            <a:off x="1355050" y="1956250"/>
            <a:ext cx="1028700" cy="209550"/>
          </a:xfrm>
          <a:prstGeom prst="rect">
            <a:avLst/>
          </a:prstGeom>
          <a:noFill/>
          <a:ln>
            <a:noFill/>
          </a:ln>
        </p:spPr>
      </p:pic>
      <p:pic>
        <p:nvPicPr>
          <p:cNvPr descr="0 \leq \delta_t \leq 1&#10;%16a34a42-145a-4585-b894-c8492ccc4b7a" id="834" name="Google Shape;834;p64"/>
          <p:cNvPicPr preferRelativeResize="0"/>
          <p:nvPr/>
        </p:nvPicPr>
        <p:blipFill>
          <a:blip r:embed="rId5">
            <a:alphaModFix/>
          </a:blip>
          <a:stretch>
            <a:fillRect/>
          </a:stretch>
        </p:blipFill>
        <p:spPr>
          <a:xfrm>
            <a:off x="2762250" y="1961013"/>
            <a:ext cx="1000125" cy="200025"/>
          </a:xfrm>
          <a:prstGeom prst="rect">
            <a:avLst/>
          </a:prstGeom>
          <a:noFill/>
          <a:ln>
            <a:noFill/>
          </a:ln>
        </p:spPr>
      </p:pic>
      <p:pic>
        <p:nvPicPr>
          <p:cNvPr descr="W_t \delta_t&#10;%87d29c9c-b704-4220-9417-e402d51225f6" id="835" name="Google Shape;835;p64"/>
          <p:cNvPicPr preferRelativeResize="0"/>
          <p:nvPr/>
        </p:nvPicPr>
        <p:blipFill>
          <a:blip r:embed="rId6">
            <a:alphaModFix/>
          </a:blip>
          <a:stretch>
            <a:fillRect/>
          </a:stretch>
        </p:blipFill>
        <p:spPr>
          <a:xfrm>
            <a:off x="4300467" y="2228596"/>
            <a:ext cx="466725" cy="200025"/>
          </a:xfrm>
          <a:prstGeom prst="rect">
            <a:avLst/>
          </a:prstGeom>
          <a:noFill/>
          <a:ln>
            <a:noFill/>
          </a:ln>
        </p:spPr>
      </p:pic>
      <p:pic>
        <p:nvPicPr>
          <p:cNvPr descr="\beta_t&#10;%10b586f5-2c29-4c41-ad08-f6e7906b9176" id="836" name="Google Shape;836;p64"/>
          <p:cNvPicPr preferRelativeResize="0"/>
          <p:nvPr/>
        </p:nvPicPr>
        <p:blipFill>
          <a:blip r:embed="rId7">
            <a:alphaModFix/>
          </a:blip>
          <a:stretch>
            <a:fillRect/>
          </a:stretch>
        </p:blipFill>
        <p:spPr>
          <a:xfrm>
            <a:off x="3464000" y="2502792"/>
            <a:ext cx="209550" cy="2095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65"/>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Optimización de Portafolio con Consumo</a:t>
            </a:r>
            <a:endParaRPr/>
          </a:p>
        </p:txBody>
      </p:sp>
      <p:sp>
        <p:nvSpPr>
          <p:cNvPr id="842" name="Google Shape;842;p65"/>
          <p:cNvSpPr txBox="1"/>
          <p:nvPr/>
        </p:nvSpPr>
        <p:spPr>
          <a:xfrm>
            <a:off x="49300" y="1000550"/>
            <a:ext cx="9094500" cy="46176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Estado = valor       del portfolio</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Asumimos que no hay costos asociados a la compra y venta de la acción</a:t>
            </a:r>
            <a:endParaRPr sz="1800">
              <a:solidFill>
                <a:schemeClr val="dk1"/>
              </a:solidFill>
            </a:endParaRPr>
          </a:p>
          <a:p>
            <a:pPr indent="0" lvl="0" marL="914400" rtl="0" algn="l">
              <a:spcBef>
                <a:spcPts val="0"/>
              </a:spcBef>
              <a:spcAft>
                <a:spcPts val="0"/>
              </a:spcAft>
              <a:buNone/>
            </a:pPr>
            <a:r>
              <a:rPr lang="en" sz="1800">
                <a:solidFill>
                  <a:schemeClr val="dk1"/>
                </a:solidFill>
              </a:rPr>
              <a:t>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Acción             	  y                 </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en cada periodo t, consumimos              </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invertimos una fracción     del restante en el activo y el resto en la caja de ahorros. </a:t>
            </a:r>
            <a:endParaRPr sz="1800">
              <a:solidFill>
                <a:schemeClr val="dk1"/>
              </a:solidFill>
            </a:endParaRPr>
          </a:p>
          <a:p>
            <a:pPr indent="0" lvl="0" marL="9144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Transición: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pic>
        <p:nvPicPr>
          <p:cNvPr descr="W_t&#10;%4edd8961-353e-4a54-9a11-9da36ef57647" id="843" name="Google Shape;843;p65"/>
          <p:cNvPicPr preferRelativeResize="0"/>
          <p:nvPr/>
        </p:nvPicPr>
        <p:blipFill>
          <a:blip r:embed="rId3">
            <a:alphaModFix/>
          </a:blip>
          <a:stretch>
            <a:fillRect/>
          </a:stretch>
        </p:blipFill>
        <p:spPr>
          <a:xfrm>
            <a:off x="2141653" y="1154657"/>
            <a:ext cx="295275" cy="190500"/>
          </a:xfrm>
          <a:prstGeom prst="rect">
            <a:avLst/>
          </a:prstGeom>
          <a:noFill/>
          <a:ln>
            <a:noFill/>
          </a:ln>
        </p:spPr>
      </p:pic>
      <p:pic>
        <p:nvPicPr>
          <p:cNvPr descr="0 \leq \beta_t \leq 1 &#10;%d4b23bd2-630b-4c05-90c0-f1e2cfdc74bd" id="844" name="Google Shape;844;p65"/>
          <p:cNvPicPr preferRelativeResize="0"/>
          <p:nvPr/>
        </p:nvPicPr>
        <p:blipFill>
          <a:blip r:embed="rId4">
            <a:alphaModFix/>
          </a:blip>
          <a:stretch>
            <a:fillRect/>
          </a:stretch>
        </p:blipFill>
        <p:spPr>
          <a:xfrm>
            <a:off x="1355050" y="1956250"/>
            <a:ext cx="1028700" cy="209550"/>
          </a:xfrm>
          <a:prstGeom prst="rect">
            <a:avLst/>
          </a:prstGeom>
          <a:noFill/>
          <a:ln>
            <a:noFill/>
          </a:ln>
        </p:spPr>
      </p:pic>
      <p:pic>
        <p:nvPicPr>
          <p:cNvPr descr="0 \leq \delta_t \leq 1&#10;%16a34a42-145a-4585-b894-c8492ccc4b7a" id="845" name="Google Shape;845;p65"/>
          <p:cNvPicPr preferRelativeResize="0"/>
          <p:nvPr/>
        </p:nvPicPr>
        <p:blipFill>
          <a:blip r:embed="rId5">
            <a:alphaModFix/>
          </a:blip>
          <a:stretch>
            <a:fillRect/>
          </a:stretch>
        </p:blipFill>
        <p:spPr>
          <a:xfrm>
            <a:off x="2762250" y="1961013"/>
            <a:ext cx="1000125" cy="200025"/>
          </a:xfrm>
          <a:prstGeom prst="rect">
            <a:avLst/>
          </a:prstGeom>
          <a:noFill/>
          <a:ln>
            <a:noFill/>
          </a:ln>
        </p:spPr>
      </p:pic>
      <p:pic>
        <p:nvPicPr>
          <p:cNvPr descr="W_t \delta_t&#10;%87d29c9c-b704-4220-9417-e402d51225f6" id="846" name="Google Shape;846;p65"/>
          <p:cNvPicPr preferRelativeResize="0"/>
          <p:nvPr/>
        </p:nvPicPr>
        <p:blipFill>
          <a:blip r:embed="rId6">
            <a:alphaModFix/>
          </a:blip>
          <a:stretch>
            <a:fillRect/>
          </a:stretch>
        </p:blipFill>
        <p:spPr>
          <a:xfrm>
            <a:off x="4300467" y="2228596"/>
            <a:ext cx="466725" cy="200025"/>
          </a:xfrm>
          <a:prstGeom prst="rect">
            <a:avLst/>
          </a:prstGeom>
          <a:noFill/>
          <a:ln>
            <a:noFill/>
          </a:ln>
        </p:spPr>
      </p:pic>
      <p:pic>
        <p:nvPicPr>
          <p:cNvPr descr="\beta_t&#10;%10b586f5-2c29-4c41-ad08-f6e7906b9176" id="847" name="Google Shape;847;p65"/>
          <p:cNvPicPr preferRelativeResize="0"/>
          <p:nvPr/>
        </p:nvPicPr>
        <p:blipFill>
          <a:blip r:embed="rId7">
            <a:alphaModFix/>
          </a:blip>
          <a:stretch>
            <a:fillRect/>
          </a:stretch>
        </p:blipFill>
        <p:spPr>
          <a:xfrm>
            <a:off x="3464000" y="2502792"/>
            <a:ext cx="209550" cy="209550"/>
          </a:xfrm>
          <a:prstGeom prst="rect">
            <a:avLst/>
          </a:prstGeom>
          <a:noFill/>
          <a:ln>
            <a:noFill/>
          </a:ln>
        </p:spPr>
      </p:pic>
      <p:pic>
        <p:nvPicPr>
          <p:cNvPr descr="W_{t+1} = W_t\delta_t\left[\beta_te^{r+\sigma\epsilon_t}+(1-\beta_t)r_f\right]&#10;%9ac191fc-2633-41b1-ae5d-c847141e8674" id="848" name="Google Shape;848;p65"/>
          <p:cNvPicPr preferRelativeResize="0"/>
          <p:nvPr/>
        </p:nvPicPr>
        <p:blipFill>
          <a:blip r:embed="rId8">
            <a:alphaModFix/>
          </a:blip>
          <a:stretch>
            <a:fillRect/>
          </a:stretch>
        </p:blipFill>
        <p:spPr>
          <a:xfrm>
            <a:off x="1755850" y="3320850"/>
            <a:ext cx="3381375" cy="2476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66"/>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Optimización de Portafolio con Consumo</a:t>
            </a:r>
            <a:endParaRPr/>
          </a:p>
        </p:txBody>
      </p:sp>
      <p:sp>
        <p:nvSpPr>
          <p:cNvPr id="854" name="Google Shape;854;p66"/>
          <p:cNvSpPr txBox="1"/>
          <p:nvPr/>
        </p:nvSpPr>
        <p:spPr>
          <a:xfrm>
            <a:off x="49300" y="1000550"/>
            <a:ext cx="9094500" cy="46176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Estado = valor       del portfolio</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Asumimos que no hay costos asociados a la compra y venta de la acción</a:t>
            </a:r>
            <a:endParaRPr sz="1800">
              <a:solidFill>
                <a:schemeClr val="dk1"/>
              </a:solidFill>
            </a:endParaRPr>
          </a:p>
          <a:p>
            <a:pPr indent="0" lvl="0" marL="914400" rtl="0" algn="l">
              <a:spcBef>
                <a:spcPts val="0"/>
              </a:spcBef>
              <a:spcAft>
                <a:spcPts val="0"/>
              </a:spcAft>
              <a:buNone/>
            </a:pPr>
            <a:r>
              <a:rPr lang="en" sz="1800">
                <a:solidFill>
                  <a:schemeClr val="dk1"/>
                </a:solidFill>
              </a:rPr>
              <a:t>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Acción             	  y                 </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en cada periodo t, consumimos              </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invertimos una fracción     del restante en el activo y el resto en la caja de ahorros. </a:t>
            </a:r>
            <a:endParaRPr sz="1800">
              <a:solidFill>
                <a:schemeClr val="dk1"/>
              </a:solidFill>
            </a:endParaRPr>
          </a:p>
          <a:p>
            <a:pPr indent="0" lvl="0" marL="9144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Transición: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Recompensa: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pic>
        <p:nvPicPr>
          <p:cNvPr descr="W_t&#10;%4edd8961-353e-4a54-9a11-9da36ef57647" id="855" name="Google Shape;855;p66"/>
          <p:cNvPicPr preferRelativeResize="0"/>
          <p:nvPr/>
        </p:nvPicPr>
        <p:blipFill>
          <a:blip r:embed="rId3">
            <a:alphaModFix/>
          </a:blip>
          <a:stretch>
            <a:fillRect/>
          </a:stretch>
        </p:blipFill>
        <p:spPr>
          <a:xfrm>
            <a:off x="2141653" y="1154657"/>
            <a:ext cx="295275" cy="190500"/>
          </a:xfrm>
          <a:prstGeom prst="rect">
            <a:avLst/>
          </a:prstGeom>
          <a:noFill/>
          <a:ln>
            <a:noFill/>
          </a:ln>
        </p:spPr>
      </p:pic>
      <p:pic>
        <p:nvPicPr>
          <p:cNvPr descr="0 \leq \beta_t \leq 1 &#10;%d4b23bd2-630b-4c05-90c0-f1e2cfdc74bd" id="856" name="Google Shape;856;p66"/>
          <p:cNvPicPr preferRelativeResize="0"/>
          <p:nvPr/>
        </p:nvPicPr>
        <p:blipFill>
          <a:blip r:embed="rId4">
            <a:alphaModFix/>
          </a:blip>
          <a:stretch>
            <a:fillRect/>
          </a:stretch>
        </p:blipFill>
        <p:spPr>
          <a:xfrm>
            <a:off x="1355050" y="1956250"/>
            <a:ext cx="1028700" cy="209550"/>
          </a:xfrm>
          <a:prstGeom prst="rect">
            <a:avLst/>
          </a:prstGeom>
          <a:noFill/>
          <a:ln>
            <a:noFill/>
          </a:ln>
        </p:spPr>
      </p:pic>
      <p:pic>
        <p:nvPicPr>
          <p:cNvPr descr="0 \leq \delta_t \leq 1&#10;%16a34a42-145a-4585-b894-c8492ccc4b7a" id="857" name="Google Shape;857;p66"/>
          <p:cNvPicPr preferRelativeResize="0"/>
          <p:nvPr/>
        </p:nvPicPr>
        <p:blipFill>
          <a:blip r:embed="rId5">
            <a:alphaModFix/>
          </a:blip>
          <a:stretch>
            <a:fillRect/>
          </a:stretch>
        </p:blipFill>
        <p:spPr>
          <a:xfrm>
            <a:off x="2762250" y="1961013"/>
            <a:ext cx="1000125" cy="200025"/>
          </a:xfrm>
          <a:prstGeom prst="rect">
            <a:avLst/>
          </a:prstGeom>
          <a:noFill/>
          <a:ln>
            <a:noFill/>
          </a:ln>
        </p:spPr>
      </p:pic>
      <p:pic>
        <p:nvPicPr>
          <p:cNvPr descr="W_t \delta_t&#10;%87d29c9c-b704-4220-9417-e402d51225f6" id="858" name="Google Shape;858;p66"/>
          <p:cNvPicPr preferRelativeResize="0"/>
          <p:nvPr/>
        </p:nvPicPr>
        <p:blipFill>
          <a:blip r:embed="rId6">
            <a:alphaModFix/>
          </a:blip>
          <a:stretch>
            <a:fillRect/>
          </a:stretch>
        </p:blipFill>
        <p:spPr>
          <a:xfrm>
            <a:off x="4300467" y="2228596"/>
            <a:ext cx="466725" cy="200025"/>
          </a:xfrm>
          <a:prstGeom prst="rect">
            <a:avLst/>
          </a:prstGeom>
          <a:noFill/>
          <a:ln>
            <a:noFill/>
          </a:ln>
        </p:spPr>
      </p:pic>
      <p:pic>
        <p:nvPicPr>
          <p:cNvPr descr="\beta_t&#10;%10b586f5-2c29-4c41-ad08-f6e7906b9176" id="859" name="Google Shape;859;p66"/>
          <p:cNvPicPr preferRelativeResize="0"/>
          <p:nvPr/>
        </p:nvPicPr>
        <p:blipFill>
          <a:blip r:embed="rId7">
            <a:alphaModFix/>
          </a:blip>
          <a:stretch>
            <a:fillRect/>
          </a:stretch>
        </p:blipFill>
        <p:spPr>
          <a:xfrm>
            <a:off x="3464000" y="2502792"/>
            <a:ext cx="209550" cy="209550"/>
          </a:xfrm>
          <a:prstGeom prst="rect">
            <a:avLst/>
          </a:prstGeom>
          <a:noFill/>
          <a:ln>
            <a:noFill/>
          </a:ln>
        </p:spPr>
      </p:pic>
      <p:pic>
        <p:nvPicPr>
          <p:cNvPr descr="W_{t+1} = W_t\delta_t\left[\beta_te^{r+\sigma\epsilon_t}+(1-\beta_t)r_f\right]&#10;%9ac191fc-2633-41b1-ae5d-c847141e8674" id="860" name="Google Shape;860;p66"/>
          <p:cNvPicPr preferRelativeResize="0"/>
          <p:nvPr/>
        </p:nvPicPr>
        <p:blipFill>
          <a:blip r:embed="rId8">
            <a:alphaModFix/>
          </a:blip>
          <a:stretch>
            <a:fillRect/>
          </a:stretch>
        </p:blipFill>
        <p:spPr>
          <a:xfrm>
            <a:off x="1755850" y="3320850"/>
            <a:ext cx="3381375" cy="247650"/>
          </a:xfrm>
          <a:prstGeom prst="rect">
            <a:avLst/>
          </a:prstGeom>
          <a:noFill/>
          <a:ln>
            <a:noFill/>
          </a:ln>
        </p:spPr>
      </p:pic>
      <p:pic>
        <p:nvPicPr>
          <p:cNvPr descr="\nu(W_t\delta_t)&#10;%a71f8faa-3172-4aaa-812e-42ae16228972" id="861" name="Google Shape;861;p66"/>
          <p:cNvPicPr preferRelativeResize="0"/>
          <p:nvPr/>
        </p:nvPicPr>
        <p:blipFill>
          <a:blip r:embed="rId9">
            <a:alphaModFix/>
          </a:blip>
          <a:stretch>
            <a:fillRect/>
          </a:stretch>
        </p:blipFill>
        <p:spPr>
          <a:xfrm>
            <a:off x="2070750" y="3864785"/>
            <a:ext cx="762000" cy="2286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67"/>
          <p:cNvSpPr txBox="1"/>
          <p:nvPr>
            <p:ph type="title"/>
          </p:nvPr>
        </p:nvSpPr>
        <p:spPr>
          <a:xfrm>
            <a:off x="311700" y="445025"/>
            <a:ext cx="8520600" cy="1081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Ejemplo: Optimización de Portafolio con Consumo</a:t>
            </a:r>
            <a:endParaRPr/>
          </a:p>
        </p:txBody>
      </p:sp>
      <p:sp>
        <p:nvSpPr>
          <p:cNvPr id="867" name="Google Shape;867;p67"/>
          <p:cNvSpPr txBox="1"/>
          <p:nvPr/>
        </p:nvSpPr>
        <p:spPr>
          <a:xfrm>
            <a:off x="49300" y="1000550"/>
            <a:ext cx="9094500" cy="517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Estado = valor       del portfolio</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Asumimos que no hay costos asociados a la compra y venta de la acción</a:t>
            </a:r>
            <a:endParaRPr sz="1800">
              <a:solidFill>
                <a:schemeClr val="dk1"/>
              </a:solidFill>
            </a:endParaRPr>
          </a:p>
          <a:p>
            <a:pPr indent="0" lvl="0" marL="914400" rtl="0" algn="l">
              <a:spcBef>
                <a:spcPts val="0"/>
              </a:spcBef>
              <a:spcAft>
                <a:spcPts val="0"/>
              </a:spcAft>
              <a:buNone/>
            </a:pPr>
            <a:r>
              <a:rPr lang="en" sz="1800">
                <a:solidFill>
                  <a:schemeClr val="dk1"/>
                </a:solidFill>
              </a:rPr>
              <a:t>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Acción             	  y                 </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en cada periodo t, consumimos              </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invertimos una fracción     del restante en el activo y el resto en la caja de ahorros. </a:t>
            </a:r>
            <a:endParaRPr sz="1800">
              <a:solidFill>
                <a:schemeClr val="dk1"/>
              </a:solidFill>
            </a:endParaRPr>
          </a:p>
          <a:p>
            <a:pPr indent="0" lvl="0" marL="9144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Transición: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Recompensa: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Criterio de optimalidad:</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pic>
        <p:nvPicPr>
          <p:cNvPr descr="W_t&#10;%4edd8961-353e-4a54-9a11-9da36ef57647" id="868" name="Google Shape;868;p67"/>
          <p:cNvPicPr preferRelativeResize="0"/>
          <p:nvPr/>
        </p:nvPicPr>
        <p:blipFill>
          <a:blip r:embed="rId3">
            <a:alphaModFix/>
          </a:blip>
          <a:stretch>
            <a:fillRect/>
          </a:stretch>
        </p:blipFill>
        <p:spPr>
          <a:xfrm>
            <a:off x="2141653" y="1154657"/>
            <a:ext cx="295275" cy="190500"/>
          </a:xfrm>
          <a:prstGeom prst="rect">
            <a:avLst/>
          </a:prstGeom>
          <a:noFill/>
          <a:ln>
            <a:noFill/>
          </a:ln>
        </p:spPr>
      </p:pic>
      <p:pic>
        <p:nvPicPr>
          <p:cNvPr descr="0 \leq \beta_t \leq 1 &#10;%d4b23bd2-630b-4c05-90c0-f1e2cfdc74bd" id="869" name="Google Shape;869;p67"/>
          <p:cNvPicPr preferRelativeResize="0"/>
          <p:nvPr/>
        </p:nvPicPr>
        <p:blipFill>
          <a:blip r:embed="rId4">
            <a:alphaModFix/>
          </a:blip>
          <a:stretch>
            <a:fillRect/>
          </a:stretch>
        </p:blipFill>
        <p:spPr>
          <a:xfrm>
            <a:off x="1355050" y="1956250"/>
            <a:ext cx="1028700" cy="209550"/>
          </a:xfrm>
          <a:prstGeom prst="rect">
            <a:avLst/>
          </a:prstGeom>
          <a:noFill/>
          <a:ln>
            <a:noFill/>
          </a:ln>
        </p:spPr>
      </p:pic>
      <p:pic>
        <p:nvPicPr>
          <p:cNvPr descr="0 \leq \delta_t \leq 1&#10;%16a34a42-145a-4585-b894-c8492ccc4b7a" id="870" name="Google Shape;870;p67"/>
          <p:cNvPicPr preferRelativeResize="0"/>
          <p:nvPr/>
        </p:nvPicPr>
        <p:blipFill>
          <a:blip r:embed="rId5">
            <a:alphaModFix/>
          </a:blip>
          <a:stretch>
            <a:fillRect/>
          </a:stretch>
        </p:blipFill>
        <p:spPr>
          <a:xfrm>
            <a:off x="2762250" y="1961013"/>
            <a:ext cx="1000125" cy="200025"/>
          </a:xfrm>
          <a:prstGeom prst="rect">
            <a:avLst/>
          </a:prstGeom>
          <a:noFill/>
          <a:ln>
            <a:noFill/>
          </a:ln>
        </p:spPr>
      </p:pic>
      <p:pic>
        <p:nvPicPr>
          <p:cNvPr descr="W_t \delta_t&#10;%87d29c9c-b704-4220-9417-e402d51225f6" id="871" name="Google Shape;871;p67"/>
          <p:cNvPicPr preferRelativeResize="0"/>
          <p:nvPr/>
        </p:nvPicPr>
        <p:blipFill>
          <a:blip r:embed="rId6">
            <a:alphaModFix/>
          </a:blip>
          <a:stretch>
            <a:fillRect/>
          </a:stretch>
        </p:blipFill>
        <p:spPr>
          <a:xfrm>
            <a:off x="4300467" y="2228596"/>
            <a:ext cx="466725" cy="200025"/>
          </a:xfrm>
          <a:prstGeom prst="rect">
            <a:avLst/>
          </a:prstGeom>
          <a:noFill/>
          <a:ln>
            <a:noFill/>
          </a:ln>
        </p:spPr>
      </p:pic>
      <p:pic>
        <p:nvPicPr>
          <p:cNvPr descr="\beta_t&#10;%10b586f5-2c29-4c41-ad08-f6e7906b9176" id="872" name="Google Shape;872;p67"/>
          <p:cNvPicPr preferRelativeResize="0"/>
          <p:nvPr/>
        </p:nvPicPr>
        <p:blipFill>
          <a:blip r:embed="rId7">
            <a:alphaModFix/>
          </a:blip>
          <a:stretch>
            <a:fillRect/>
          </a:stretch>
        </p:blipFill>
        <p:spPr>
          <a:xfrm>
            <a:off x="3464000" y="2502792"/>
            <a:ext cx="209550" cy="209550"/>
          </a:xfrm>
          <a:prstGeom prst="rect">
            <a:avLst/>
          </a:prstGeom>
          <a:noFill/>
          <a:ln>
            <a:noFill/>
          </a:ln>
        </p:spPr>
      </p:pic>
      <p:pic>
        <p:nvPicPr>
          <p:cNvPr descr="W_{t+1} = W_t\delta_t\left[\beta_te^{r+\sigma\epsilon_t}+(1-\beta_t)r_f\right]&#10;%9ac191fc-2633-41b1-ae5d-c847141e8674" id="873" name="Google Shape;873;p67"/>
          <p:cNvPicPr preferRelativeResize="0"/>
          <p:nvPr/>
        </p:nvPicPr>
        <p:blipFill>
          <a:blip r:embed="rId8">
            <a:alphaModFix/>
          </a:blip>
          <a:stretch>
            <a:fillRect/>
          </a:stretch>
        </p:blipFill>
        <p:spPr>
          <a:xfrm>
            <a:off x="1755850" y="3320850"/>
            <a:ext cx="3381375" cy="247650"/>
          </a:xfrm>
          <a:prstGeom prst="rect">
            <a:avLst/>
          </a:prstGeom>
          <a:noFill/>
          <a:ln>
            <a:noFill/>
          </a:ln>
        </p:spPr>
      </p:pic>
      <p:pic>
        <p:nvPicPr>
          <p:cNvPr descr="\nu(W_t\delta_t)&#10;%a71f8faa-3172-4aaa-812e-42ae16228972" id="874" name="Google Shape;874;p67"/>
          <p:cNvPicPr preferRelativeResize="0"/>
          <p:nvPr/>
        </p:nvPicPr>
        <p:blipFill>
          <a:blip r:embed="rId9">
            <a:alphaModFix/>
          </a:blip>
          <a:stretch>
            <a:fillRect/>
          </a:stretch>
        </p:blipFill>
        <p:spPr>
          <a:xfrm>
            <a:off x="2070750" y="3864785"/>
            <a:ext cx="762000" cy="228600"/>
          </a:xfrm>
          <a:prstGeom prst="rect">
            <a:avLst/>
          </a:prstGeom>
          <a:noFill/>
          <a:ln>
            <a:noFill/>
          </a:ln>
        </p:spPr>
      </p:pic>
      <p:pic>
        <p:nvPicPr>
          <p:cNvPr descr="\max_u {\rm E}\left[\sum_{t=0}^\infty \alpha^t \nu(W_t\delta_t)\right]&#10;%de635cc5-8edd-4e76-a74f-f5e8e3659fd1" id="875" name="Google Shape;875;p67"/>
          <p:cNvPicPr preferRelativeResize="0"/>
          <p:nvPr/>
        </p:nvPicPr>
        <p:blipFill>
          <a:blip r:embed="rId10">
            <a:alphaModFix/>
          </a:blip>
          <a:stretch>
            <a:fillRect/>
          </a:stretch>
        </p:blipFill>
        <p:spPr>
          <a:xfrm>
            <a:off x="3015475" y="4389621"/>
            <a:ext cx="2466975" cy="276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