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23351def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23351def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23351deff0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23351deff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23351deff0_0_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23351deff0_0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23351deff0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23351deff0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3351deff0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23351deff0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25745650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25745650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257456505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257456505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81d1521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d81d1521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3351deff0_0_1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23351deff0_0_1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23351deff0_0_1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23351deff0_0_1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23351deff0_0_1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23351deff0_0_1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23351deff0_0_1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23351deff0_0_1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23351deff0_0_1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23351deff0_0_1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23351deff0_0_10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23351deff0_0_1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23351deff0_0_10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23351deff0_0_10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23351deff0_0_10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23351deff0_0_10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23351deff0_0_1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23351deff0_0_1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23351deff0_0_10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23351deff0_0_1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23351deff0_0_10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23351deff0_0_10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23351deff0_0_9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23351deff0_0_9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23351deff0_0_1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23351deff0_0_1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23351deff0_0_1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23351deff0_0_1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23351deff0_0_1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23351deff0_0_1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23351deff0_0_1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23351deff0_0_1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23351deff0_0_1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23351deff0_0_1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23351deff0_0_1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23351deff0_0_1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23351deff0_0_1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23351deff0_0_1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d797b237cc_0_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2d797b237cc_0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23351deff0_0_16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23351deff0_0_1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23351deff0_0_1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23351deff0_0_1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23351deff0_0_1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23351deff0_0_1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23351deff0_0_16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23351deff0_0_1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23351deff0_0_1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23351deff0_0_1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23351deff0_0_1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23351deff0_0_1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23351deff0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23351deff0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23351deff0_0_1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323351deff0_0_1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23351deff0_0_17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23351deff0_0_1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23351deff0_0_17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23351deff0_0_17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23351deff0_0_1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23351deff0_0_1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23351deff0_0_20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323351deff0_0_20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23351deff0_0_20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323351deff0_0_2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23351deff0_0_20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323351deff0_0_2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23351deff0_0_19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323351deff0_0_19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23351deff0_0_19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323351deff0_0_1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23351deff0_0_19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323351deff0_0_19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2d81d1521a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d81d1521a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2d81d1521a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2d81d1521a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2d81d1521a4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2d81d1521a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2d8213d28f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2d8213d28f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2d8213d28f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2d8213d28f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2d8213d28f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2d8213d28f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2d8213d28f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2d8213d28f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2d8213d28f3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2d8213d28f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2d8213d28f3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2d8213d28f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2d8213d28f3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2d8213d28f3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323351deff0_0_2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323351deff0_0_2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2d797b237cc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2d797b237cc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2d797b237cc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2d797b237cc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2d797b237cc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2d797b237cc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2d797b237cc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2d797b237cc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323351deff0_0_20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323351deff0_0_20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2d797b237cc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2d797b237cc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2d797b237cc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2d797b237cc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2d797b237cc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2d797b237cc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2d797b237cc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4" name="Google Shape;1104;g2d797b237cc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2d797b237cc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2d797b237cc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2d797b237cc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2" name="Google Shape;1122;g2d797b237cc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2d797b237cc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2d797b237cc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2d797b237cc_0_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0" name="Google Shape;1150;g2d797b237cc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g2d797b237cc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4" name="Google Shape;1164;g2d797b237cc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2d797b237cc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8" name="Google Shape;1178;g2d797b237cc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2d797b237cc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1" name="Google Shape;1191;g2d797b237cc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2d797b237cc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2d797b237cc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7.jpg"/><Relationship Id="rId10" Type="http://schemas.openxmlformats.org/officeDocument/2006/relationships/image" Target="../media/image8.png"/><Relationship Id="rId9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7.jpg"/><Relationship Id="rId5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9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10.png"/><Relationship Id="rId8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9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10.png"/><Relationship Id="rId8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10" Type="http://schemas.openxmlformats.org/officeDocument/2006/relationships/image" Target="../media/image12.png"/><Relationship Id="rId9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20.png"/><Relationship Id="rId8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10" Type="http://schemas.openxmlformats.org/officeDocument/2006/relationships/image" Target="../media/image12.png"/><Relationship Id="rId9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20.png"/><Relationship Id="rId8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10" Type="http://schemas.openxmlformats.org/officeDocument/2006/relationships/image" Target="../media/image12.png"/><Relationship Id="rId9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20.png"/><Relationship Id="rId8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10" Type="http://schemas.openxmlformats.org/officeDocument/2006/relationships/image" Target="../media/image12.png"/><Relationship Id="rId9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20.png"/><Relationship Id="rId8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10" Type="http://schemas.openxmlformats.org/officeDocument/2006/relationships/image" Target="../media/image20.png"/><Relationship Id="rId9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2.png"/><Relationship Id="rId8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16.jpg"/><Relationship Id="rId5" Type="http://schemas.openxmlformats.org/officeDocument/2006/relationships/image" Target="../media/image22.png"/><Relationship Id="rId6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16.jpg"/><Relationship Id="rId5" Type="http://schemas.openxmlformats.org/officeDocument/2006/relationships/image" Target="../media/image22.png"/><Relationship Id="rId6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Relationship Id="rId4" Type="http://schemas.openxmlformats.org/officeDocument/2006/relationships/image" Target="../media/image16.jpg"/><Relationship Id="rId5" Type="http://schemas.openxmlformats.org/officeDocument/2006/relationships/image" Target="../media/image22.png"/><Relationship Id="rId6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16.jp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Relationship Id="rId4" Type="http://schemas.openxmlformats.org/officeDocument/2006/relationships/image" Target="../media/image16.jp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16.jpg"/><Relationship Id="rId9" Type="http://schemas.openxmlformats.org/officeDocument/2006/relationships/image" Target="../media/image25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1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Relationship Id="rId4" Type="http://schemas.openxmlformats.org/officeDocument/2006/relationships/image" Target="../media/image3.png"/><Relationship Id="rId10" Type="http://schemas.openxmlformats.org/officeDocument/2006/relationships/image" Target="../media/image23.png"/><Relationship Id="rId9" Type="http://schemas.openxmlformats.org/officeDocument/2006/relationships/image" Target="../media/image18.png"/><Relationship Id="rId5" Type="http://schemas.openxmlformats.org/officeDocument/2006/relationships/image" Target="../media/image16.jpg"/><Relationship Id="rId6" Type="http://schemas.openxmlformats.org/officeDocument/2006/relationships/image" Target="../media/image22.png"/><Relationship Id="rId7" Type="http://schemas.openxmlformats.org/officeDocument/2006/relationships/image" Target="../media/image21.png"/><Relationship Id="rId8" Type="http://schemas.openxmlformats.org/officeDocument/2006/relationships/image" Target="../media/image1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Relationship Id="rId4" Type="http://schemas.openxmlformats.org/officeDocument/2006/relationships/image" Target="../media/image30.png"/><Relationship Id="rId5" Type="http://schemas.openxmlformats.org/officeDocument/2006/relationships/image" Target="../media/image23.png"/><Relationship Id="rId6" Type="http://schemas.openxmlformats.org/officeDocument/2006/relationships/image" Target="../media/image2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Relationship Id="rId6" Type="http://schemas.openxmlformats.org/officeDocument/2006/relationships/image" Target="../media/image23.png"/><Relationship Id="rId7" Type="http://schemas.openxmlformats.org/officeDocument/2006/relationships/image" Target="../media/image2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Relationship Id="rId4" Type="http://schemas.openxmlformats.org/officeDocument/2006/relationships/image" Target="../media/image27.png"/><Relationship Id="rId9" Type="http://schemas.openxmlformats.org/officeDocument/2006/relationships/image" Target="../media/image33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23.png"/><Relationship Id="rId8" Type="http://schemas.openxmlformats.org/officeDocument/2006/relationships/image" Target="../media/image2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Relationship Id="rId4" Type="http://schemas.openxmlformats.org/officeDocument/2006/relationships/image" Target="../media/image27.png"/><Relationship Id="rId11" Type="http://schemas.openxmlformats.org/officeDocument/2006/relationships/image" Target="../media/image26.png"/><Relationship Id="rId10" Type="http://schemas.openxmlformats.org/officeDocument/2006/relationships/image" Target="../media/image23.png"/><Relationship Id="rId12" Type="http://schemas.openxmlformats.org/officeDocument/2006/relationships/image" Target="../media/image33.png"/><Relationship Id="rId9" Type="http://schemas.openxmlformats.org/officeDocument/2006/relationships/image" Target="../media/image31.png"/><Relationship Id="rId5" Type="http://schemas.openxmlformats.org/officeDocument/2006/relationships/image" Target="../media/image29.png"/><Relationship Id="rId6" Type="http://schemas.openxmlformats.org/officeDocument/2006/relationships/image" Target="../media/image32.png"/><Relationship Id="rId7" Type="http://schemas.openxmlformats.org/officeDocument/2006/relationships/image" Target="../media/image28.png"/><Relationship Id="rId8" Type="http://schemas.openxmlformats.org/officeDocument/2006/relationships/image" Target="../media/image3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Relationship Id="rId4" Type="http://schemas.openxmlformats.org/officeDocument/2006/relationships/image" Target="../media/image27.png"/><Relationship Id="rId11" Type="http://schemas.openxmlformats.org/officeDocument/2006/relationships/image" Target="../media/image26.png"/><Relationship Id="rId10" Type="http://schemas.openxmlformats.org/officeDocument/2006/relationships/image" Target="../media/image23.png"/><Relationship Id="rId12" Type="http://schemas.openxmlformats.org/officeDocument/2006/relationships/image" Target="../media/image33.png"/><Relationship Id="rId9" Type="http://schemas.openxmlformats.org/officeDocument/2006/relationships/image" Target="../media/image31.png"/><Relationship Id="rId5" Type="http://schemas.openxmlformats.org/officeDocument/2006/relationships/image" Target="../media/image29.png"/><Relationship Id="rId6" Type="http://schemas.openxmlformats.org/officeDocument/2006/relationships/image" Target="../media/image32.png"/><Relationship Id="rId7" Type="http://schemas.openxmlformats.org/officeDocument/2006/relationships/image" Target="../media/image28.png"/><Relationship Id="rId8" Type="http://schemas.openxmlformats.org/officeDocument/2006/relationships/image" Target="../media/image3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Relationship Id="rId4" Type="http://schemas.openxmlformats.org/officeDocument/2006/relationships/image" Target="../media/image27.png"/><Relationship Id="rId11" Type="http://schemas.openxmlformats.org/officeDocument/2006/relationships/image" Target="../media/image26.png"/><Relationship Id="rId10" Type="http://schemas.openxmlformats.org/officeDocument/2006/relationships/image" Target="../media/image23.png"/><Relationship Id="rId12" Type="http://schemas.openxmlformats.org/officeDocument/2006/relationships/image" Target="../media/image33.png"/><Relationship Id="rId9" Type="http://schemas.openxmlformats.org/officeDocument/2006/relationships/image" Target="../media/image31.png"/><Relationship Id="rId5" Type="http://schemas.openxmlformats.org/officeDocument/2006/relationships/image" Target="../media/image29.png"/><Relationship Id="rId6" Type="http://schemas.openxmlformats.org/officeDocument/2006/relationships/image" Target="../media/image32.png"/><Relationship Id="rId7" Type="http://schemas.openxmlformats.org/officeDocument/2006/relationships/image" Target="../media/image28.png"/><Relationship Id="rId8" Type="http://schemas.openxmlformats.org/officeDocument/2006/relationships/image" Target="../media/image3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3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3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32.png"/><Relationship Id="rId8" Type="http://schemas.openxmlformats.org/officeDocument/2006/relationships/image" Target="../media/image3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9" Type="http://schemas.openxmlformats.org/officeDocument/2006/relationships/image" Target="../media/image35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32.png"/><Relationship Id="rId8" Type="http://schemas.openxmlformats.org/officeDocument/2006/relationships/image" Target="../media/image3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9" Type="http://schemas.openxmlformats.org/officeDocument/2006/relationships/image" Target="../media/image35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32.png"/><Relationship Id="rId8" Type="http://schemas.openxmlformats.org/officeDocument/2006/relationships/image" Target="../media/image3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9" Type="http://schemas.openxmlformats.org/officeDocument/2006/relationships/image" Target="../media/image35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32.png"/><Relationship Id="rId8" Type="http://schemas.openxmlformats.org/officeDocument/2006/relationships/image" Target="../media/image3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.png"/><Relationship Id="rId4" Type="http://schemas.openxmlformats.org/officeDocument/2006/relationships/image" Target="../media/image48.png"/><Relationship Id="rId11" Type="http://schemas.openxmlformats.org/officeDocument/2006/relationships/image" Target="../media/image38.png"/><Relationship Id="rId10" Type="http://schemas.openxmlformats.org/officeDocument/2006/relationships/image" Target="../media/image39.png"/><Relationship Id="rId9" Type="http://schemas.openxmlformats.org/officeDocument/2006/relationships/image" Target="../media/image60.png"/><Relationship Id="rId5" Type="http://schemas.openxmlformats.org/officeDocument/2006/relationships/image" Target="../media/image40.png"/><Relationship Id="rId6" Type="http://schemas.openxmlformats.org/officeDocument/2006/relationships/image" Target="../media/image49.png"/><Relationship Id="rId7" Type="http://schemas.openxmlformats.org/officeDocument/2006/relationships/image" Target="../media/image37.png"/><Relationship Id="rId8" Type="http://schemas.openxmlformats.org/officeDocument/2006/relationships/image" Target="../media/image4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.png"/><Relationship Id="rId4" Type="http://schemas.openxmlformats.org/officeDocument/2006/relationships/image" Target="../media/image4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.png"/><Relationship Id="rId4" Type="http://schemas.openxmlformats.org/officeDocument/2006/relationships/image" Target="../media/image45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.png"/><Relationship Id="rId4" Type="http://schemas.openxmlformats.org/officeDocument/2006/relationships/image" Target="../media/image4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.png"/><Relationship Id="rId4" Type="http://schemas.openxmlformats.org/officeDocument/2006/relationships/image" Target="../media/image45.png"/><Relationship Id="rId5" Type="http://schemas.openxmlformats.org/officeDocument/2006/relationships/image" Target="../media/image5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7.png"/><Relationship Id="rId4" Type="http://schemas.openxmlformats.org/officeDocument/2006/relationships/image" Target="../media/image3.png"/><Relationship Id="rId5" Type="http://schemas.openxmlformats.org/officeDocument/2006/relationships/image" Target="../media/image45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.png"/><Relationship Id="rId4" Type="http://schemas.openxmlformats.org/officeDocument/2006/relationships/image" Target="../media/image51.png"/><Relationship Id="rId5" Type="http://schemas.openxmlformats.org/officeDocument/2006/relationships/image" Target="../media/image46.png"/><Relationship Id="rId6" Type="http://schemas.openxmlformats.org/officeDocument/2006/relationships/image" Target="../media/image42.png"/><Relationship Id="rId7" Type="http://schemas.openxmlformats.org/officeDocument/2006/relationships/image" Target="../media/image4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3.png"/><Relationship Id="rId4" Type="http://schemas.openxmlformats.org/officeDocument/2006/relationships/image" Target="../media/image3.png"/><Relationship Id="rId5" Type="http://schemas.openxmlformats.org/officeDocument/2006/relationships/image" Target="../media/image51.png"/><Relationship Id="rId6" Type="http://schemas.openxmlformats.org/officeDocument/2006/relationships/image" Target="../media/image46.png"/><Relationship Id="rId7" Type="http://schemas.openxmlformats.org/officeDocument/2006/relationships/image" Target="../media/image4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.png"/><Relationship Id="rId4" Type="http://schemas.openxmlformats.org/officeDocument/2006/relationships/image" Target="../media/image59.png"/><Relationship Id="rId5" Type="http://schemas.openxmlformats.org/officeDocument/2006/relationships/image" Target="../media/image55.png"/><Relationship Id="rId6" Type="http://schemas.openxmlformats.org/officeDocument/2006/relationships/image" Target="../media/image52.png"/><Relationship Id="rId7" Type="http://schemas.openxmlformats.org/officeDocument/2006/relationships/image" Target="../media/image56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3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9" Type="http://schemas.openxmlformats.org/officeDocument/2006/relationships/image" Target="../media/image54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32.png"/><Relationship Id="rId8" Type="http://schemas.openxmlformats.org/officeDocument/2006/relationships/image" Target="../media/image67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10" Type="http://schemas.openxmlformats.org/officeDocument/2006/relationships/image" Target="../media/image54.png"/><Relationship Id="rId9" Type="http://schemas.openxmlformats.org/officeDocument/2006/relationships/image" Target="../media/image67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32.png"/><Relationship Id="rId8" Type="http://schemas.openxmlformats.org/officeDocument/2006/relationships/image" Target="../media/image57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11" Type="http://schemas.openxmlformats.org/officeDocument/2006/relationships/image" Target="../media/image2.png"/><Relationship Id="rId10" Type="http://schemas.openxmlformats.org/officeDocument/2006/relationships/image" Target="../media/image54.png"/><Relationship Id="rId12" Type="http://schemas.openxmlformats.org/officeDocument/2006/relationships/image" Target="../media/image14.png"/><Relationship Id="rId9" Type="http://schemas.openxmlformats.org/officeDocument/2006/relationships/image" Target="../media/image67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32.png"/><Relationship Id="rId8" Type="http://schemas.openxmlformats.org/officeDocument/2006/relationships/image" Target="../media/image57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11" Type="http://schemas.openxmlformats.org/officeDocument/2006/relationships/image" Target="../media/image2.png"/><Relationship Id="rId10" Type="http://schemas.openxmlformats.org/officeDocument/2006/relationships/image" Target="../media/image54.png"/><Relationship Id="rId12" Type="http://schemas.openxmlformats.org/officeDocument/2006/relationships/image" Target="../media/image14.png"/><Relationship Id="rId9" Type="http://schemas.openxmlformats.org/officeDocument/2006/relationships/image" Target="../media/image67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32.png"/><Relationship Id="rId8" Type="http://schemas.openxmlformats.org/officeDocument/2006/relationships/image" Target="../media/image57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.png"/><Relationship Id="rId4" Type="http://schemas.openxmlformats.org/officeDocument/2006/relationships/image" Target="../media/image70.png"/><Relationship Id="rId5" Type="http://schemas.openxmlformats.org/officeDocument/2006/relationships/image" Target="../media/image62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.png"/><Relationship Id="rId4" Type="http://schemas.openxmlformats.org/officeDocument/2006/relationships/image" Target="../media/image70.png"/><Relationship Id="rId5" Type="http://schemas.openxmlformats.org/officeDocument/2006/relationships/image" Target="../media/image62.png"/><Relationship Id="rId6" Type="http://schemas.openxmlformats.org/officeDocument/2006/relationships/image" Target="../media/image71.png"/><Relationship Id="rId7" Type="http://schemas.openxmlformats.org/officeDocument/2006/relationships/image" Target="../media/image63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.png"/><Relationship Id="rId4" Type="http://schemas.openxmlformats.org/officeDocument/2006/relationships/image" Target="../media/image70.png"/><Relationship Id="rId9" Type="http://schemas.openxmlformats.org/officeDocument/2006/relationships/image" Target="../media/image66.png"/><Relationship Id="rId5" Type="http://schemas.openxmlformats.org/officeDocument/2006/relationships/image" Target="../media/image62.png"/><Relationship Id="rId6" Type="http://schemas.openxmlformats.org/officeDocument/2006/relationships/image" Target="../media/image71.png"/><Relationship Id="rId7" Type="http://schemas.openxmlformats.org/officeDocument/2006/relationships/image" Target="../media/image63.png"/><Relationship Id="rId8" Type="http://schemas.openxmlformats.org/officeDocument/2006/relationships/image" Target="../media/image72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.png"/><Relationship Id="rId4" Type="http://schemas.openxmlformats.org/officeDocument/2006/relationships/image" Target="../media/image61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.png"/><Relationship Id="rId4" Type="http://schemas.openxmlformats.org/officeDocument/2006/relationships/image" Target="../media/image61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3.png"/><Relationship Id="rId4" Type="http://schemas.openxmlformats.org/officeDocument/2006/relationships/image" Target="../media/image61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.png"/><Relationship Id="rId4" Type="http://schemas.openxmlformats.org/officeDocument/2006/relationships/image" Target="../media/image65.png"/><Relationship Id="rId9" Type="http://schemas.openxmlformats.org/officeDocument/2006/relationships/image" Target="../media/image69.png"/><Relationship Id="rId5" Type="http://schemas.openxmlformats.org/officeDocument/2006/relationships/image" Target="../media/image78.png"/><Relationship Id="rId6" Type="http://schemas.openxmlformats.org/officeDocument/2006/relationships/image" Target="../media/image64.png"/><Relationship Id="rId7" Type="http://schemas.openxmlformats.org/officeDocument/2006/relationships/image" Target="../media/image68.png"/><Relationship Id="rId8" Type="http://schemas.openxmlformats.org/officeDocument/2006/relationships/image" Target="../media/image61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77.png"/><Relationship Id="rId4" Type="http://schemas.openxmlformats.org/officeDocument/2006/relationships/image" Target="../media/image3.png"/><Relationship Id="rId5" Type="http://schemas.openxmlformats.org/officeDocument/2006/relationships/image" Target="../media/image64.png"/><Relationship Id="rId6" Type="http://schemas.openxmlformats.org/officeDocument/2006/relationships/image" Target="../media/image83.png"/><Relationship Id="rId7" Type="http://schemas.openxmlformats.org/officeDocument/2006/relationships/image" Target="../media/image73.png"/><Relationship Id="rId8" Type="http://schemas.openxmlformats.org/officeDocument/2006/relationships/image" Target="../media/image75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7.png"/><Relationship Id="rId4" Type="http://schemas.openxmlformats.org/officeDocument/2006/relationships/image" Target="../media/image3.png"/><Relationship Id="rId5" Type="http://schemas.openxmlformats.org/officeDocument/2006/relationships/image" Target="../media/image64.png"/><Relationship Id="rId6" Type="http://schemas.openxmlformats.org/officeDocument/2006/relationships/image" Target="../media/image83.png"/><Relationship Id="rId7" Type="http://schemas.openxmlformats.org/officeDocument/2006/relationships/image" Target="../media/image73.png"/><Relationship Id="rId8" Type="http://schemas.openxmlformats.org/officeDocument/2006/relationships/image" Target="../media/image75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7.png"/><Relationship Id="rId4" Type="http://schemas.openxmlformats.org/officeDocument/2006/relationships/image" Target="../media/image3.png"/><Relationship Id="rId5" Type="http://schemas.openxmlformats.org/officeDocument/2006/relationships/image" Target="../media/image64.png"/><Relationship Id="rId6" Type="http://schemas.openxmlformats.org/officeDocument/2006/relationships/image" Target="../media/image83.png"/><Relationship Id="rId7" Type="http://schemas.openxmlformats.org/officeDocument/2006/relationships/image" Target="../media/image73.png"/><Relationship Id="rId8" Type="http://schemas.openxmlformats.org/officeDocument/2006/relationships/image" Target="../media/image75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4.png"/><Relationship Id="rId4" Type="http://schemas.openxmlformats.org/officeDocument/2006/relationships/image" Target="../media/image3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Relationship Id="rId7" Type="http://schemas.openxmlformats.org/officeDocument/2006/relationships/image" Target="../media/image76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4.png"/><Relationship Id="rId4" Type="http://schemas.openxmlformats.org/officeDocument/2006/relationships/image" Target="../media/image3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Relationship Id="rId7" Type="http://schemas.openxmlformats.org/officeDocument/2006/relationships/image" Target="../media/image76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3.png"/><Relationship Id="rId4" Type="http://schemas.openxmlformats.org/officeDocument/2006/relationships/image" Target="../media/image84.png"/><Relationship Id="rId5" Type="http://schemas.openxmlformats.org/officeDocument/2006/relationships/image" Target="../media/image79.png"/><Relationship Id="rId6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Aprendizaje por Refuerzo -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Métodos Computacionales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10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Clase 4</a:t>
            </a:r>
            <a:endParaRPr/>
          </a:p>
        </p:txBody>
      </p:sp>
      <p:sp>
        <p:nvSpPr>
          <p:cNvPr id="60" name="Google Shape;60;p14"/>
          <p:cNvSpPr txBox="1"/>
          <p:nvPr/>
        </p:nvSpPr>
        <p:spPr>
          <a:xfrm>
            <a:off x="93800" y="1000550"/>
            <a:ext cx="87384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Computación en MDPs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Iteración de valor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Iteración de política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Desafíos en MDPs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Incertidumbre y/o complejidad del ambiente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“Curse of dimensionality”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Métodos de Aprendizaje por Refuerzo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Simulación Monte Carlo 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TD-Learning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Q-Learning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0" y="838200"/>
            <a:ext cx="8342400" cy="7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MDP: tupla (</a:t>
            </a:r>
            <a:r>
              <a:rPr i="1" lang="en" sz="1800">
                <a:solidFill>
                  <a:schemeClr val="dk1"/>
                </a:solidFill>
              </a:rPr>
              <a:t>S, A, P,  </a:t>
            </a:r>
            <a:r>
              <a:rPr lang="en" sz="1800">
                <a:solidFill>
                  <a:schemeClr val="dk1"/>
                </a:solidFill>
              </a:rPr>
              <a:t>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&#10;%b2ec40be-a735-4635-8f85-29b8913da8e5"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Revisión: </a:t>
            </a:r>
            <a:r>
              <a:rPr lang="en" sz="2500"/>
              <a:t>MDPs</a:t>
            </a:r>
            <a:endParaRPr sz="2500"/>
          </a:p>
        </p:txBody>
      </p:sp>
      <p:pic>
        <p:nvPicPr>
          <p:cNvPr descr="r&#10;%031f44e6-edcb-4302-aa63-a45e029d8127"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0800" y="1038172"/>
            <a:ext cx="95250" cy="9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/>
        </p:nvSpPr>
        <p:spPr>
          <a:xfrm>
            <a:off x="0" y="838200"/>
            <a:ext cx="8342400" cy="82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MDP: tupla (</a:t>
            </a:r>
            <a:r>
              <a:rPr i="1" lang="en" sz="1800">
                <a:solidFill>
                  <a:schemeClr val="dk1"/>
                </a:solidFill>
              </a:rPr>
              <a:t>S, A, P,  </a:t>
            </a:r>
            <a:r>
              <a:rPr lang="en" sz="1800">
                <a:solidFill>
                  <a:schemeClr val="dk1"/>
                </a:solidFill>
              </a:rPr>
              <a:t>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Ecuación de Bellman y función valor: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&#10;%b2ec40be-a735-4635-8f85-29b8913da8e5"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^*(x) = \max_{a \in A}\left\{r_a(x)+\alpha \sum_y P_a(x,y)V^*(y)\right\}&#10;%17241b34-0dc8-48cb-99ad-2bf4b3b2eb17"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1875" y="1948812"/>
            <a:ext cx="461010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&#10;%031f44e6-edcb-4302-aa63-a45e029d8127" id="76" name="Google Shape;7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90800" y="1038172"/>
            <a:ext cx="95250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Revisión: MDPs</a:t>
            </a:r>
            <a:endParaRPr sz="2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/>
        </p:nvSpPr>
        <p:spPr>
          <a:xfrm>
            <a:off x="0" y="838200"/>
            <a:ext cx="8342400" cy="9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MDP: tupla (</a:t>
            </a:r>
            <a:r>
              <a:rPr i="1" lang="en" sz="1800">
                <a:solidFill>
                  <a:schemeClr val="dk1"/>
                </a:solidFill>
              </a:rPr>
              <a:t>S, A, P,  </a:t>
            </a:r>
            <a:r>
              <a:rPr lang="en" sz="1800">
                <a:solidFill>
                  <a:schemeClr val="dk1"/>
                </a:solidFill>
              </a:rPr>
              <a:t>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Ecuación de Bellman y función valor: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Función de políticas óptimas: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&#10;%b2ec40be-a735-4635-8f85-29b8913da8e5"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^*(x) = \max_{a \in A}\left\{r_a(x)+\alpha \sum_y P_a(x,y)V^*(y)\right\}&#10;%17241b34-0dc8-48cb-99ad-2bf4b3b2eb17"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1875" y="1948812"/>
            <a:ext cx="461010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^*(x) = \arg\max_{a \in A}\left\{r_a(x)+\alpha \sum_y P_a(x,y)V^*(y)\right\}&#10;%5fee8836-8cba-4b52-94dd-b1821c84f5b2" id="85" name="Google Shape;8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09775" y="3029431"/>
            <a:ext cx="4905375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&#10;%031f44e6-edcb-4302-aa63-a45e029d8127" id="86" name="Google Shape;86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90800" y="1038172"/>
            <a:ext cx="95250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Revisión: MDPs</a:t>
            </a:r>
            <a:endParaRPr sz="2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/>
        </p:nvSpPr>
        <p:spPr>
          <a:xfrm>
            <a:off x="0" y="838200"/>
            <a:ext cx="8342400" cy="98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MDP: tupla (</a:t>
            </a:r>
            <a:r>
              <a:rPr i="1" lang="en" sz="1800">
                <a:solidFill>
                  <a:schemeClr val="dk1"/>
                </a:solidFill>
              </a:rPr>
              <a:t>S, A, P,  </a:t>
            </a:r>
            <a:r>
              <a:rPr lang="en" sz="1800">
                <a:solidFill>
                  <a:schemeClr val="dk1"/>
                </a:solidFill>
              </a:rPr>
              <a:t>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Ecuación de Bellman y función valor: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Función de políticas óptimas: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Iteración de valor e iteración de política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&#10;%b2ec40be-a735-4635-8f85-29b8913da8e5"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^*(x) = \max_{a \in A}\left\{r_a(x)+\alpha \sum_y P_a(x,y)V^*(y)\right\}&#10;%17241b34-0dc8-48cb-99ad-2bf4b3b2eb17" id="94" name="Google Shape;9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1875" y="1948812"/>
            <a:ext cx="461010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^*(x) = \arg\max_{a \in A}\left\{r_a(x)+\alpha \sum_y P_a(x,y)V^*(y)\right\}&#10;%5fee8836-8cba-4b52-94dd-b1821c84f5b2" id="95" name="Google Shape;9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09775" y="3029431"/>
            <a:ext cx="4905375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&#10;%031f44e6-edcb-4302-aa63-a45e029d8127" id="96" name="Google Shape;96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90800" y="1038172"/>
            <a:ext cx="95250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Revisión: MDPs</a:t>
            </a:r>
            <a:endParaRPr sz="2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Ejemplo: Ruta de Casa al Trabajo</a:t>
            </a:r>
            <a:endParaRPr sz="2500"/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1200" y="953225"/>
            <a:ext cx="5125402" cy="396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/>
        </p:nvSpPr>
        <p:spPr>
          <a:xfrm>
            <a:off x="4970750" y="3693250"/>
            <a:ext cx="4009800" cy="1293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Objectivo: 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Encontrar politica u minimizando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0" name="Google Shape;110;p20"/>
          <p:cNvSpPr txBox="1"/>
          <p:nvPr/>
        </p:nvSpPr>
        <p:spPr>
          <a:xfrm>
            <a:off x="0" y="838200"/>
            <a:ext cx="8342400" cy="44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Estado = posición en el mapa, en las esquinas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Acciones = desplazamiento, una cuadra por vez: 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Transición (determinística)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Recompensa (castigo, en este caso):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&#10;%b2ec40be-a735-4635-8f85-29b8913da8e5"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Ejemplo: Ruta de Casa al Trabajo</a:t>
            </a:r>
            <a:endParaRPr sz="2500"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4401" y="953225"/>
            <a:ext cx="3487201" cy="26954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x = (i,j)&#10;%5f30c38b-db4b-4fc6-b6fa-e289bb52e936" id="114" name="Google Shape;11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5800" y="1267426"/>
            <a:ext cx="7905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= \begin{cases}&#10;(-1,0) &amp; {\rm N}\\&#10;(1,0) &amp; {\rm S}\\&#10;(0,1) &amp; {\rm E}\\&#10;(0,-1) &amp; {\rm O}\\&#10;&#10;\end{cases}&#10;%ce31fa7f-8fc2-494a-ad58-febdf1d6511b" id="115" name="Google Shape;115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5800" y="1925774"/>
            <a:ext cx="1524000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x^+ = \begin{cases}&#10;x+a &amp; {\rm si~~x\neq x^*}\\&#10;x^* &amp; {\rm si~~x= x^*}&#10;\end{cases}&#10;%fe726683-5186-4b2c-9534-3875d87b874a" id="116" name="Google Shape;116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5800" y="3283668"/>
            <a:ext cx="2143125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_a(x,w) = \begin{cases}&#10;{\rm tiempo}(x,x+a,w) &amp; {\rm si~~x\neq x^*}\\&#10;0 &amp; {\rm si~~x= x^*}&#10;\end{cases}&#10;%b04904f2-3a2a-4c5e-a22a-1df44d384f7c" id="117" name="Google Shape;117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5800" y="4191000"/>
            <a:ext cx="3781425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min_u {\rm E}\left[\sum\limits_{t=0}^\infty r_u(x_t)\right]&#10;%ad1336dc-794b-4366-903b-d77d620bd743" id="118" name="Google Shape;118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73796" y="4408846"/>
            <a:ext cx="1647825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_a(x) = {\rm E}_w \left[ r_a(x,w) \right]&#10;%41375c1f-92e0-4cb2-a99f-4baf1540b11d" id="119" name="Google Shape;119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85800" y="4876800"/>
            <a:ext cx="1819275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/>
        </p:nvSpPr>
        <p:spPr>
          <a:xfrm>
            <a:off x="474950" y="1026250"/>
            <a:ext cx="4009800" cy="1293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Objectivo: 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Encontrar politica u minimizando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0" y="2546775"/>
            <a:ext cx="8342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Cómo resolver?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Iteración de valores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Iteración de políticas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Implementación en Python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&#10;%b2ec40be-a735-4635-8f85-29b8913da8e5" id="126" name="Google Shape;12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1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Ejemplo: Ruta de Casa al Trabajo</a:t>
            </a:r>
            <a:endParaRPr sz="2500"/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4401" y="953225"/>
            <a:ext cx="3487201" cy="26954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min_u {\rm E}\left[\sum\limits_{t=0}^\infty r_u(x_t)\right]&#10;%ad1336dc-794b-4366-903b-d77d620bd743" id="129" name="Google Shape;12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77996" y="1741846"/>
            <a:ext cx="1647825" cy="50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/>
        </p:nvSpPr>
        <p:spPr>
          <a:xfrm>
            <a:off x="172200" y="943324"/>
            <a:ext cx="4399800" cy="4140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Información Parcial</a:t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0000"/>
              </a:solidFill>
            </a:endParaRPr>
          </a:p>
        </p:txBody>
      </p:sp>
      <p:pic>
        <p:nvPicPr>
          <p:cNvPr descr="&#10;%b2ec40be-a735-4635-8f85-29b8913da8e5" id="135" name="Google Shape;13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2"/>
          <p:cNvSpPr txBox="1"/>
          <p:nvPr>
            <p:ph type="title"/>
          </p:nvPr>
        </p:nvSpPr>
        <p:spPr>
          <a:xfrm>
            <a:off x="760200" y="361575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Desafíos Para la Aplicación de MDPs</a:t>
            </a:r>
            <a:endParaRPr sz="2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41" name="Google Shape;14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3"/>
          <p:cNvSpPr txBox="1"/>
          <p:nvPr/>
        </p:nvSpPr>
        <p:spPr>
          <a:xfrm>
            <a:off x="172200" y="943324"/>
            <a:ext cx="4399800" cy="4140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Información Parcial</a:t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1) </a:t>
            </a:r>
            <a:r>
              <a:rPr lang="en" sz="1600">
                <a:solidFill>
                  <a:schemeClr val="dk1"/>
                </a:solidFill>
              </a:rPr>
              <a:t>Parámetros del modelo desconocidos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probabilidades de transición     y recompensas  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FF0000"/>
              </a:solidFill>
            </a:endParaRPr>
          </a:p>
        </p:txBody>
      </p:sp>
      <p:pic>
        <p:nvPicPr>
          <p:cNvPr descr="P&#10;%8d49878f-233b-48fe-905b-10213392bba1" id="143" name="Google Shape;14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4978" y="1780662"/>
            <a:ext cx="1524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&#10;%031f44e6-edcb-4302-aa63-a45e029d8127" id="144" name="Google Shape;14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83321" y="2076061"/>
            <a:ext cx="95250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 txBox="1"/>
          <p:nvPr>
            <p:ph type="title"/>
          </p:nvPr>
        </p:nvSpPr>
        <p:spPr>
          <a:xfrm>
            <a:off x="760200" y="361575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Desafíos Para la Aplicación de MDPs</a:t>
            </a:r>
            <a:endParaRPr sz="2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50" name="Google Shape;15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4"/>
          <p:cNvSpPr txBox="1"/>
          <p:nvPr/>
        </p:nvSpPr>
        <p:spPr>
          <a:xfrm>
            <a:off x="172200" y="943324"/>
            <a:ext cx="4399800" cy="4140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Información Parcial</a:t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1) </a:t>
            </a:r>
            <a:r>
              <a:rPr lang="en" sz="1600">
                <a:solidFill>
                  <a:schemeClr val="dk1"/>
                </a:solidFill>
              </a:rPr>
              <a:t>Parámetros del modelo desconocidos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probabilidades de transición     y recompensas  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2) Estado     no siempre puede ser observado.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observaciones             con ruído 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procesos markovianos de decisión parcialmente observables, POMDPs)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FF0000"/>
              </a:solidFill>
            </a:endParaRPr>
          </a:p>
        </p:txBody>
      </p:sp>
      <p:pic>
        <p:nvPicPr>
          <p:cNvPr descr="x&#10;%e6ed15be-3d4f-4951-a88d-4eb0d80a8e59" id="152" name="Google Shape;15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1592" y="3071716"/>
            <a:ext cx="12382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&#10;%8d49878f-233b-48fe-905b-10213392bba1" id="153" name="Google Shape;153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4978" y="1780662"/>
            <a:ext cx="1524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&#10;%031f44e6-edcb-4302-aa63-a45e029d8127" id="154" name="Google Shape;154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83321" y="2076061"/>
            <a:ext cx="95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(x,w)&#10;%2263308a-b4f2-4831-8413-5d9dc67612d4" id="155" name="Google Shape;155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97527" y="3246429"/>
            <a:ext cx="6286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&#10;%69b3f8ec-680e-4bfd-ae8c-f69f14169fe8" id="156" name="Google Shape;156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85380" y="3305794"/>
            <a:ext cx="152400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4"/>
          <p:cNvSpPr txBox="1"/>
          <p:nvPr>
            <p:ph type="title"/>
          </p:nvPr>
        </p:nvSpPr>
        <p:spPr>
          <a:xfrm>
            <a:off x="760200" y="361575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Desafíos Para la Aplicación de MDPs</a:t>
            </a:r>
            <a:endParaRPr sz="2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/>
        </p:nvSpPr>
        <p:spPr>
          <a:xfrm>
            <a:off x="4744200" y="933775"/>
            <a:ext cx="4399800" cy="4155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Complejidad del Sistema</a:t>
            </a:r>
            <a:endParaRPr b="1"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3) “Maldición de la dimensionalidad”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</p:txBody>
      </p:sp>
      <p:pic>
        <p:nvPicPr>
          <p:cNvPr descr="&#10;%b2ec40be-a735-4635-8f85-29b8913da8e5" id="163" name="Google Shape;16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5"/>
          <p:cNvSpPr txBox="1"/>
          <p:nvPr/>
        </p:nvSpPr>
        <p:spPr>
          <a:xfrm>
            <a:off x="172200" y="943324"/>
            <a:ext cx="4399800" cy="4140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Información Parcial</a:t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1) </a:t>
            </a:r>
            <a:r>
              <a:rPr lang="en" sz="1600">
                <a:solidFill>
                  <a:schemeClr val="dk1"/>
                </a:solidFill>
              </a:rPr>
              <a:t>Parámetros del modelo desconocidos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probabilidades de transición     y recompensas  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2) Estado     no siempre puede ser observado.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observaciones             con ruído 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procesos markovianos de decisión parcialmente observables, POMDPs)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FF0000"/>
              </a:solidFill>
            </a:endParaRPr>
          </a:p>
        </p:txBody>
      </p:sp>
      <p:pic>
        <p:nvPicPr>
          <p:cNvPr descr="x&#10;%e6ed15be-3d4f-4951-a88d-4eb0d80a8e59" id="165" name="Google Shape;16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1592" y="3071716"/>
            <a:ext cx="12382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&#10;%8d49878f-233b-48fe-905b-10213392bba1" id="166" name="Google Shape;16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4978" y="1780662"/>
            <a:ext cx="1524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&#10;%031f44e6-edcb-4302-aa63-a45e029d8127" id="167" name="Google Shape;167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83321" y="2076061"/>
            <a:ext cx="95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(x,w)&#10;%2263308a-b4f2-4831-8413-5d9dc67612d4" id="168" name="Google Shape;168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97527" y="3246429"/>
            <a:ext cx="6286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&#10;%69b3f8ec-680e-4bfd-ae8c-f69f14169fe8" id="169" name="Google Shape;169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85380" y="3305794"/>
            <a:ext cx="152400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5"/>
          <p:cNvSpPr txBox="1"/>
          <p:nvPr>
            <p:ph type="title"/>
          </p:nvPr>
        </p:nvSpPr>
        <p:spPr>
          <a:xfrm>
            <a:off x="760200" y="361575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Desafíos Para la Aplicación de MDPs</a:t>
            </a:r>
            <a:endParaRPr sz="2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/>
          <p:nvPr/>
        </p:nvSpPr>
        <p:spPr>
          <a:xfrm>
            <a:off x="4744200" y="933775"/>
            <a:ext cx="4399800" cy="4155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Complejidad del Sistema</a:t>
            </a:r>
            <a:endParaRPr b="1"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3) “Maldición de la dimensionalidad”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El número de estados crece exponencialmente con el número de variables de estado</a:t>
            </a:r>
            <a:endParaRPr sz="16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</p:txBody>
      </p:sp>
      <p:pic>
        <p:nvPicPr>
          <p:cNvPr descr="&#10;%b2ec40be-a735-4635-8f85-29b8913da8e5" id="176" name="Google Shape;17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6"/>
          <p:cNvSpPr txBox="1"/>
          <p:nvPr/>
        </p:nvSpPr>
        <p:spPr>
          <a:xfrm>
            <a:off x="172200" y="943324"/>
            <a:ext cx="4399800" cy="4140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Información Parcial</a:t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1) </a:t>
            </a:r>
            <a:r>
              <a:rPr lang="en" sz="1600">
                <a:solidFill>
                  <a:schemeClr val="dk1"/>
                </a:solidFill>
              </a:rPr>
              <a:t>Parámetros del modelo desconocidos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probabilidades de transición     y recompensas  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2) Estado     no siempre puede ser observado.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observaciones             con ruído 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procesos markovianos de decisión parcialmente observables, POMDPs)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FF0000"/>
              </a:solidFill>
            </a:endParaRPr>
          </a:p>
        </p:txBody>
      </p:sp>
      <p:pic>
        <p:nvPicPr>
          <p:cNvPr descr="x&#10;%e6ed15be-3d4f-4951-a88d-4eb0d80a8e59" id="178" name="Google Shape;17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1592" y="3071716"/>
            <a:ext cx="12382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&#10;%8d49878f-233b-48fe-905b-10213392bba1" id="179" name="Google Shape;179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4978" y="1780662"/>
            <a:ext cx="1524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&#10;%031f44e6-edcb-4302-aa63-a45e029d8127" id="180" name="Google Shape;180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83321" y="2076061"/>
            <a:ext cx="95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(x,w)&#10;%2263308a-b4f2-4831-8413-5d9dc67612d4" id="181" name="Google Shape;181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97527" y="3246429"/>
            <a:ext cx="6286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&#10;%69b3f8ec-680e-4bfd-ae8c-f69f14169fe8" id="182" name="Google Shape;182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85380" y="3305794"/>
            <a:ext cx="152400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6"/>
          <p:cNvSpPr txBox="1"/>
          <p:nvPr>
            <p:ph type="title"/>
          </p:nvPr>
        </p:nvSpPr>
        <p:spPr>
          <a:xfrm>
            <a:off x="760200" y="361575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Desafíos Para la Aplicación de MDPs</a:t>
            </a:r>
            <a:endParaRPr sz="2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/>
          <p:nvPr/>
        </p:nvSpPr>
        <p:spPr>
          <a:xfrm>
            <a:off x="4744200" y="933775"/>
            <a:ext cx="4399800" cy="4155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Complejidad del Sistema</a:t>
            </a:r>
            <a:endParaRPr b="1"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3) “Maldición de la dimensionalidad”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El número de estados crece exponencialmente con el número de variables de estado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dificultades para almacenar     y      y calcular     </a:t>
            </a:r>
            <a:endParaRPr sz="16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</p:txBody>
      </p:sp>
      <p:pic>
        <p:nvPicPr>
          <p:cNvPr descr="&#10;%b2ec40be-a735-4635-8f85-29b8913da8e5" id="189" name="Google Shape;18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^*&#10;%6c0bd548-7d14-4667-b6e6-33d1cd3615ed" id="190" name="Google Shape;19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8516" y="2757426"/>
            <a:ext cx="2571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&#10;%8d49878f-233b-48fe-905b-10213392bba1" id="191" name="Google Shape;19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58780" y="2517141"/>
            <a:ext cx="1524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&#10;%031f44e6-edcb-4302-aa63-a45e029d8127" id="192" name="Google Shape;192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96612" y="2564431"/>
            <a:ext cx="95250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7"/>
          <p:cNvSpPr txBox="1"/>
          <p:nvPr/>
        </p:nvSpPr>
        <p:spPr>
          <a:xfrm>
            <a:off x="172200" y="943324"/>
            <a:ext cx="4399800" cy="4140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Información Parcial</a:t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1) </a:t>
            </a:r>
            <a:r>
              <a:rPr lang="en" sz="1600">
                <a:solidFill>
                  <a:schemeClr val="dk1"/>
                </a:solidFill>
              </a:rPr>
              <a:t>Parámetros del modelo desconocidos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probabilidades de transición     y recompensas  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2) Estado     no siempre puede ser observado.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observaciones             con ruído 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procesos markovianos de decisión parcialmente observables, POMDPs)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FF0000"/>
              </a:solidFill>
            </a:endParaRPr>
          </a:p>
        </p:txBody>
      </p:sp>
      <p:pic>
        <p:nvPicPr>
          <p:cNvPr descr="x&#10;%e6ed15be-3d4f-4951-a88d-4eb0d80a8e59" id="194" name="Google Shape;194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21592" y="3071716"/>
            <a:ext cx="12382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&#10;%8d49878f-233b-48fe-905b-10213392bba1" id="195" name="Google Shape;195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4978" y="1780662"/>
            <a:ext cx="1524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&#10;%031f44e6-edcb-4302-aa63-a45e029d8127" id="196" name="Google Shape;196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83321" y="2076061"/>
            <a:ext cx="95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(x,w)&#10;%2263308a-b4f2-4831-8413-5d9dc67612d4" id="197" name="Google Shape;197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97527" y="3246429"/>
            <a:ext cx="6286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&#10;%69b3f8ec-680e-4bfd-ae8c-f69f14169fe8" id="198" name="Google Shape;198;p2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85380" y="3305794"/>
            <a:ext cx="152400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7"/>
          <p:cNvSpPr txBox="1"/>
          <p:nvPr>
            <p:ph type="title"/>
          </p:nvPr>
        </p:nvSpPr>
        <p:spPr>
          <a:xfrm>
            <a:off x="760200" y="361575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Desafíos Para la Aplicación de MDPs</a:t>
            </a:r>
            <a:endParaRPr sz="2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/>
          <p:nvPr/>
        </p:nvSpPr>
        <p:spPr>
          <a:xfrm>
            <a:off x="4744200" y="933775"/>
            <a:ext cx="4399800" cy="4155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Complejidad del Sistema</a:t>
            </a:r>
            <a:endParaRPr b="1"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3) “Maldición de la dimensionalidad”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El número de estados crece exponencialmente con el número de variables de estado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dificultades para almacenar     y      y calcular     </a:t>
            </a:r>
            <a:endParaRPr sz="16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Similarmente, el número de acciones crece exponencialmente con el número de variables de acción</a:t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</p:txBody>
      </p:sp>
      <p:pic>
        <p:nvPicPr>
          <p:cNvPr descr="&#10;%b2ec40be-a735-4635-8f85-29b8913da8e5" id="205" name="Google Shape;20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^*&#10;%6c0bd548-7d14-4667-b6e6-33d1cd3615ed" id="206" name="Google Shape;20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8516" y="2757426"/>
            <a:ext cx="2571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&#10;%8d49878f-233b-48fe-905b-10213392bba1" id="207" name="Google Shape;207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58780" y="2517141"/>
            <a:ext cx="1524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&#10;%031f44e6-edcb-4302-aa63-a45e029d8127" id="208" name="Google Shape;208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96612" y="2564431"/>
            <a:ext cx="95250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8"/>
          <p:cNvSpPr txBox="1"/>
          <p:nvPr/>
        </p:nvSpPr>
        <p:spPr>
          <a:xfrm>
            <a:off x="172200" y="943324"/>
            <a:ext cx="4399800" cy="4140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Información Parcial</a:t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1) </a:t>
            </a:r>
            <a:r>
              <a:rPr lang="en" sz="1600">
                <a:solidFill>
                  <a:schemeClr val="dk1"/>
                </a:solidFill>
              </a:rPr>
              <a:t>Parámetros del modelo desconocidos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probabilidades de transición     y recompensas  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2) Estado     no siempre puede ser observado.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observaciones             con ruído 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procesos markovianos de decisión parcialmente observables, POMDPs)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FF0000"/>
              </a:solidFill>
            </a:endParaRPr>
          </a:p>
        </p:txBody>
      </p:sp>
      <p:pic>
        <p:nvPicPr>
          <p:cNvPr descr="x&#10;%e6ed15be-3d4f-4951-a88d-4eb0d80a8e59" id="210" name="Google Shape;210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21592" y="3071716"/>
            <a:ext cx="12382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&#10;%8d49878f-233b-48fe-905b-10213392bba1" id="211" name="Google Shape;211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4978" y="1780662"/>
            <a:ext cx="1524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&#10;%031f44e6-edcb-4302-aa63-a45e029d8127" id="212" name="Google Shape;212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83321" y="2076061"/>
            <a:ext cx="95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(x,w)&#10;%2263308a-b4f2-4831-8413-5d9dc67612d4" id="213" name="Google Shape;213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97527" y="3246429"/>
            <a:ext cx="6286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&#10;%69b3f8ec-680e-4bfd-ae8c-f69f14169fe8" id="214" name="Google Shape;214;p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85380" y="3305794"/>
            <a:ext cx="152400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8"/>
          <p:cNvSpPr txBox="1"/>
          <p:nvPr>
            <p:ph type="title"/>
          </p:nvPr>
        </p:nvSpPr>
        <p:spPr>
          <a:xfrm>
            <a:off x="760200" y="361575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Desafíos Para la Aplicación de MDPs</a:t>
            </a:r>
            <a:endParaRPr sz="2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 txBox="1"/>
          <p:nvPr/>
        </p:nvSpPr>
        <p:spPr>
          <a:xfrm>
            <a:off x="4744200" y="933775"/>
            <a:ext cx="4399800" cy="4155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Complejidad del Sistema</a:t>
            </a:r>
            <a:endParaRPr b="1"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3) “Maldición de la dimensionalidad”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El número de estados crece exponencialmente con el número de variables de estado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dificultades para almacenar     y      y calcular     </a:t>
            </a:r>
            <a:endParaRPr sz="16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Similarmente, el número de acciones crece exponencialmente con el número de variables de acción</a:t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</p:txBody>
      </p:sp>
      <p:pic>
        <p:nvPicPr>
          <p:cNvPr descr="&#10;%b2ec40be-a735-4635-8f85-29b8913da8e5" id="221" name="Google Shape;22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^*&#10;%6c0bd548-7d14-4667-b6e6-33d1cd3615ed" id="222" name="Google Shape;22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8516" y="2757426"/>
            <a:ext cx="2571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&#10;%8d49878f-233b-48fe-905b-10213392bba1" id="223" name="Google Shape;223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58780" y="2517141"/>
            <a:ext cx="1524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&#10;%031f44e6-edcb-4302-aa63-a45e029d8127" id="224" name="Google Shape;224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96612" y="2564431"/>
            <a:ext cx="95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max\limits_{a \in A}\left\{r_a(x)+\alpha\sum_y P_a(x,y)V^*(y\right\}&#10;%900ebec9-6562-48f4-8254-87b7ddf0ef56" id="225" name="Google Shape;225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44275" y="3865355"/>
            <a:ext cx="29908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9"/>
          <p:cNvSpPr txBox="1"/>
          <p:nvPr/>
        </p:nvSpPr>
        <p:spPr>
          <a:xfrm>
            <a:off x="172200" y="943324"/>
            <a:ext cx="4399800" cy="4140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Información Parcial</a:t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1) </a:t>
            </a:r>
            <a:r>
              <a:rPr lang="en" sz="1600">
                <a:solidFill>
                  <a:schemeClr val="dk1"/>
                </a:solidFill>
              </a:rPr>
              <a:t>Parámetros del modelo desconocidos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probabilidades de transición     y recompensas  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2) Estado     no siempre puede ser observado.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observaciones             con ruído 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procesos markovianos de decisión parcialmente observables, POMDPs)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FF0000"/>
              </a:solidFill>
            </a:endParaRPr>
          </a:p>
        </p:txBody>
      </p:sp>
      <p:pic>
        <p:nvPicPr>
          <p:cNvPr descr="x&#10;%e6ed15be-3d4f-4951-a88d-4eb0d80a8e59" id="227" name="Google Shape;227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21592" y="3071716"/>
            <a:ext cx="12382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&#10;%8d49878f-233b-48fe-905b-10213392bba1" id="228" name="Google Shape;2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4978" y="1780662"/>
            <a:ext cx="1524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&#10;%031f44e6-edcb-4302-aa63-a45e029d8127" id="229" name="Google Shape;229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83321" y="2076061"/>
            <a:ext cx="95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(x,w)&#10;%2263308a-b4f2-4831-8413-5d9dc67612d4" id="230" name="Google Shape;230;p2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097527" y="3246429"/>
            <a:ext cx="6286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&#10;%69b3f8ec-680e-4bfd-ae8c-f69f14169fe8" id="231" name="Google Shape;231;p2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85380" y="3305794"/>
            <a:ext cx="152400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9"/>
          <p:cNvSpPr txBox="1"/>
          <p:nvPr>
            <p:ph type="title"/>
          </p:nvPr>
        </p:nvSpPr>
        <p:spPr>
          <a:xfrm>
            <a:off x="760200" y="361575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Desafíos Para la Aplicación de MDPs</a:t>
            </a:r>
            <a:endParaRPr sz="25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0"/>
          <p:cNvSpPr txBox="1"/>
          <p:nvPr/>
        </p:nvSpPr>
        <p:spPr>
          <a:xfrm>
            <a:off x="4744200" y="933775"/>
            <a:ext cx="4399800" cy="4155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Complejidad del Sistema</a:t>
            </a:r>
            <a:endParaRPr b="1"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3) “Maldición de la dimensionalidad”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El número de estados crece exponencialmente con el número de variables de estado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dificultades para almacenar     y      y calcular     </a:t>
            </a:r>
            <a:endParaRPr sz="16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Similarmente, el número de acciones crece exponencialmente con el número de variables de acción</a:t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</p:txBody>
      </p:sp>
      <p:pic>
        <p:nvPicPr>
          <p:cNvPr descr="&#10;%b2ec40be-a735-4635-8f85-29b8913da8e5" id="238" name="Google Shape;23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^*&#10;%6c0bd548-7d14-4667-b6e6-33d1cd3615ed" id="239" name="Google Shape;23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8516" y="2757426"/>
            <a:ext cx="2571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&#10;%8d49878f-233b-48fe-905b-10213392bba1" id="240" name="Google Shape;24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58780" y="2517141"/>
            <a:ext cx="1524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&#10;%031f44e6-edcb-4302-aa63-a45e029d8127" id="241" name="Google Shape;241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96612" y="2564431"/>
            <a:ext cx="95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max\limits_{a \in A}\left\{r_a(x)+\alpha\sum_y P_a(x,y)V^*(y\right\}&#10;%900ebec9-6562-48f4-8254-87b7ddf0ef56" id="242" name="Google Shape;242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44275" y="3865355"/>
            <a:ext cx="29908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0"/>
          <p:cNvSpPr txBox="1"/>
          <p:nvPr/>
        </p:nvSpPr>
        <p:spPr>
          <a:xfrm>
            <a:off x="172200" y="943324"/>
            <a:ext cx="4399800" cy="4140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Información Parcial</a:t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1) </a:t>
            </a:r>
            <a:r>
              <a:rPr lang="en" sz="1600">
                <a:solidFill>
                  <a:schemeClr val="dk1"/>
                </a:solidFill>
              </a:rPr>
              <a:t>Parámetros del modelo desconocidos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probabilidades de transición     y recompensas  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2) Estado     no siempre puede ser observado.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observaciones             con ruído 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procesos markovianos de decisión parcialmente observables, POMDPs)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FF0000"/>
              </a:solidFill>
            </a:endParaRPr>
          </a:p>
        </p:txBody>
      </p:sp>
      <p:pic>
        <p:nvPicPr>
          <p:cNvPr descr="x&#10;%e6ed15be-3d4f-4951-a88d-4eb0d80a8e59" id="244" name="Google Shape;244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21592" y="3071716"/>
            <a:ext cx="12382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&#10;%8d49878f-233b-48fe-905b-10213392bba1" id="245" name="Google Shape;245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4978" y="1780662"/>
            <a:ext cx="1524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&#10;%031f44e6-edcb-4302-aa63-a45e029d8127" id="246" name="Google Shape;246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83321" y="2076061"/>
            <a:ext cx="95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(x,w)&#10;%2263308a-b4f2-4831-8413-5d9dc67612d4" id="247" name="Google Shape;247;p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097527" y="3246429"/>
            <a:ext cx="6286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&#10;%69b3f8ec-680e-4bfd-ae8c-f69f14169fe8" id="248" name="Google Shape;248;p3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85380" y="3305794"/>
            <a:ext cx="152400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0"/>
          <p:cNvSpPr txBox="1"/>
          <p:nvPr/>
        </p:nvSpPr>
        <p:spPr>
          <a:xfrm>
            <a:off x="3159221" y="-81675"/>
            <a:ext cx="5496600" cy="63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0">
                <a:solidFill>
                  <a:schemeClr val="dk2"/>
                </a:solidFill>
              </a:rPr>
              <a:t>?</a:t>
            </a:r>
            <a:endParaRPr sz="40000">
              <a:solidFill>
                <a:schemeClr val="dk2"/>
              </a:solidFill>
            </a:endParaRPr>
          </a:p>
        </p:txBody>
      </p:sp>
      <p:sp>
        <p:nvSpPr>
          <p:cNvPr id="250" name="Google Shape;250;p30"/>
          <p:cNvSpPr txBox="1"/>
          <p:nvPr>
            <p:ph type="title"/>
          </p:nvPr>
        </p:nvSpPr>
        <p:spPr>
          <a:xfrm>
            <a:off x="760200" y="361575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Desafíos Para la Aplicación de MDPs</a:t>
            </a:r>
            <a:endParaRPr sz="25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1"/>
          <p:cNvSpPr txBox="1"/>
          <p:nvPr/>
        </p:nvSpPr>
        <p:spPr>
          <a:xfrm>
            <a:off x="4744200" y="933775"/>
            <a:ext cx="4399800" cy="4155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Complejidad del Sistema</a:t>
            </a:r>
            <a:endParaRPr b="1"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3) “Maldición de la dimensionalidad”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El número de estados crece exponencialmente con el número de variables de estado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dificultades para almacenar     y      y calcular     </a:t>
            </a:r>
            <a:endParaRPr sz="16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Similarmente, el número de acciones crece exponencialmente con el número de variables de acción</a:t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</p:txBody>
      </p:sp>
      <p:pic>
        <p:nvPicPr>
          <p:cNvPr descr="&#10;%b2ec40be-a735-4635-8f85-29b8913da8e5" id="256" name="Google Shape;25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^*&#10;%6c0bd548-7d14-4667-b6e6-33d1cd3615ed" id="257" name="Google Shape;25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8516" y="2757426"/>
            <a:ext cx="2571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&#10;%8d49878f-233b-48fe-905b-10213392bba1" id="258" name="Google Shape;258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58780" y="2517141"/>
            <a:ext cx="1524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&#10;%031f44e6-edcb-4302-aa63-a45e029d8127" id="259" name="Google Shape;259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96612" y="2564431"/>
            <a:ext cx="95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max\limits_{a \in A}\left\{r_a(x)+\alpha\sum_y P_a(x,y)V^*(y\right\}&#10;%900ebec9-6562-48f4-8254-87b7ddf0ef56" id="260" name="Google Shape;260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44275" y="3865355"/>
            <a:ext cx="29908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1"/>
          <p:cNvSpPr txBox="1"/>
          <p:nvPr/>
        </p:nvSpPr>
        <p:spPr>
          <a:xfrm>
            <a:off x="172200" y="943324"/>
            <a:ext cx="4399800" cy="4140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Información Parcial</a:t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1) </a:t>
            </a:r>
            <a:r>
              <a:rPr lang="en" sz="1600">
                <a:solidFill>
                  <a:schemeClr val="dk1"/>
                </a:solidFill>
              </a:rPr>
              <a:t>Parámetros del modelo desconocidos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probabilidades de transición     y recompensas  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</a:rPr>
              <a:t>⇒ aprendizaje</a:t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2) Estado     no siempre puede ser observado.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observaciones             con ruído 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procesos markovianos de decisión parcialmente observables, POMDPs)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FF0000"/>
              </a:solidFill>
            </a:endParaRPr>
          </a:p>
        </p:txBody>
      </p:sp>
      <p:pic>
        <p:nvPicPr>
          <p:cNvPr descr="x&#10;%e6ed15be-3d4f-4951-a88d-4eb0d80a8e59" id="262" name="Google Shape;262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21592" y="3071716"/>
            <a:ext cx="12382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&#10;%8d49878f-233b-48fe-905b-10213392bba1" id="263" name="Google Shape;26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4978" y="1780662"/>
            <a:ext cx="1524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&#10;%031f44e6-edcb-4302-aa63-a45e029d8127" id="264" name="Google Shape;264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83321" y="2076061"/>
            <a:ext cx="95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(x,w)&#10;%2263308a-b4f2-4831-8413-5d9dc67612d4" id="265" name="Google Shape;265;p3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097527" y="3246429"/>
            <a:ext cx="6286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&#10;%69b3f8ec-680e-4bfd-ae8c-f69f14169fe8" id="266" name="Google Shape;266;p3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85380" y="3305794"/>
            <a:ext cx="152400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1"/>
          <p:cNvSpPr txBox="1"/>
          <p:nvPr>
            <p:ph type="title"/>
          </p:nvPr>
        </p:nvSpPr>
        <p:spPr>
          <a:xfrm>
            <a:off x="760200" y="361575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Desafíos Para la Aplicación de MDPs</a:t>
            </a:r>
            <a:endParaRPr sz="25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"/>
          <p:cNvSpPr txBox="1"/>
          <p:nvPr/>
        </p:nvSpPr>
        <p:spPr>
          <a:xfrm>
            <a:off x="4744200" y="933775"/>
            <a:ext cx="4399800" cy="4155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Complejidad del Sistema</a:t>
            </a:r>
            <a:endParaRPr b="1"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3) “Maldición de la dimensionalidad”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El número de estados crece exponencialmente con el número de variables de estado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dificultades para almacenar     y      y calcular     </a:t>
            </a:r>
            <a:endParaRPr sz="16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Similarmente, el número de acciones crece exponencialmente con el número de variables de acción</a:t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</a:rPr>
              <a:t>⇒ generalización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</p:txBody>
      </p:sp>
      <p:pic>
        <p:nvPicPr>
          <p:cNvPr descr="&#10;%b2ec40be-a735-4635-8f85-29b8913da8e5" id="273" name="Google Shape;27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^*&#10;%6c0bd548-7d14-4667-b6e6-33d1cd3615ed" id="274" name="Google Shape;27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8516" y="2757426"/>
            <a:ext cx="2571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&#10;%8d49878f-233b-48fe-905b-10213392bba1" id="275" name="Google Shape;275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58780" y="2517141"/>
            <a:ext cx="1524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&#10;%031f44e6-edcb-4302-aa63-a45e029d8127" id="276" name="Google Shape;276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96612" y="2564431"/>
            <a:ext cx="95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max\limits_{a \in A}\left\{r_a(x)+\alpha\sum_y P_a(x,y)V^*(y\right\}&#10;%900ebec9-6562-48f4-8254-87b7ddf0ef56" id="277" name="Google Shape;277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44275" y="3865355"/>
            <a:ext cx="29908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2"/>
          <p:cNvSpPr txBox="1"/>
          <p:nvPr/>
        </p:nvSpPr>
        <p:spPr>
          <a:xfrm>
            <a:off x="172200" y="943324"/>
            <a:ext cx="4399800" cy="4140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Información Parcial</a:t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1) </a:t>
            </a:r>
            <a:r>
              <a:rPr lang="en" sz="1600">
                <a:solidFill>
                  <a:schemeClr val="dk1"/>
                </a:solidFill>
              </a:rPr>
              <a:t>Parámetros del modelo desconocidos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probabilidades de transición     y recompensas  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</a:rPr>
              <a:t>⇒ aprendizaje</a:t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2) Estado     no siempre puede ser observado.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observaciones             con ruído 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procesos markovianos de decisión parcialmente observables, POMDPs)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FF0000"/>
              </a:solidFill>
            </a:endParaRPr>
          </a:p>
        </p:txBody>
      </p:sp>
      <p:pic>
        <p:nvPicPr>
          <p:cNvPr descr="x&#10;%e6ed15be-3d4f-4951-a88d-4eb0d80a8e59" id="279" name="Google Shape;279;p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21592" y="3071716"/>
            <a:ext cx="12382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&#10;%8d49878f-233b-48fe-905b-10213392bba1" id="280" name="Google Shape;280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4978" y="1780662"/>
            <a:ext cx="1524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&#10;%031f44e6-edcb-4302-aa63-a45e029d8127" id="281" name="Google Shape;281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83321" y="2076061"/>
            <a:ext cx="95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(x,w)&#10;%2263308a-b4f2-4831-8413-5d9dc67612d4" id="282" name="Google Shape;282;p3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097527" y="3246429"/>
            <a:ext cx="6286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&#10;%69b3f8ec-680e-4bfd-ae8c-f69f14169fe8" id="283" name="Google Shape;283;p3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85380" y="3305794"/>
            <a:ext cx="152400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2"/>
          <p:cNvSpPr txBox="1"/>
          <p:nvPr>
            <p:ph type="title"/>
          </p:nvPr>
        </p:nvSpPr>
        <p:spPr>
          <a:xfrm>
            <a:off x="760200" y="361575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Desafíos Para la Aplicación de MDPs</a:t>
            </a:r>
            <a:endParaRPr sz="25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 txBox="1"/>
          <p:nvPr/>
        </p:nvSpPr>
        <p:spPr>
          <a:xfrm>
            <a:off x="4744200" y="933775"/>
            <a:ext cx="4399800" cy="4155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Complejidad del Sistema</a:t>
            </a:r>
            <a:endParaRPr b="1"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3) “Maldición de la dimensionalidad”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El número de estados crece exponencialmente con el número de variables de estado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dificultades para almacenar     y      y calcular     </a:t>
            </a:r>
            <a:endParaRPr sz="16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Similarmente, el número de acciones crece exponencialmente con el número de variables de acción</a:t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</a:rPr>
              <a:t>⇒ generalización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</p:txBody>
      </p:sp>
      <p:sp>
        <p:nvSpPr>
          <p:cNvPr id="290" name="Google Shape;290;p33"/>
          <p:cNvSpPr txBox="1"/>
          <p:nvPr/>
        </p:nvSpPr>
        <p:spPr>
          <a:xfrm>
            <a:off x="172200" y="943324"/>
            <a:ext cx="4399800" cy="4140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Información Parcial</a:t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1) </a:t>
            </a:r>
            <a:r>
              <a:rPr lang="en" sz="1600">
                <a:solidFill>
                  <a:schemeClr val="dk1"/>
                </a:solidFill>
              </a:rPr>
              <a:t>Parámetros del modelo desconocidos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probabilidades de transición     y recompensas  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</a:rPr>
              <a:t>⇒ aprendizaje</a:t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2) Estado     no siempre puede ser observado.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observaciones             con ruído 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procesos markovianos de decisión parcialmente observables, POMDPs)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</a:rPr>
              <a:t>⇒ en principio, se convierte en MDP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</a:rPr>
              <a:t>   	… en la práctica, muy difícil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FF0000"/>
              </a:solidFill>
            </a:endParaRPr>
          </a:p>
        </p:txBody>
      </p:sp>
      <p:pic>
        <p:nvPicPr>
          <p:cNvPr descr="&#10;%b2ec40be-a735-4635-8f85-29b8913da8e5" id="291" name="Google Shape;29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3"/>
          <p:cNvSpPr txBox="1"/>
          <p:nvPr>
            <p:ph type="title"/>
          </p:nvPr>
        </p:nvSpPr>
        <p:spPr>
          <a:xfrm>
            <a:off x="760200" y="361575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Desafíos Para la Aplicación de MDPs</a:t>
            </a:r>
            <a:endParaRPr sz="2500"/>
          </a:p>
        </p:txBody>
      </p:sp>
      <p:pic>
        <p:nvPicPr>
          <p:cNvPr descr="V^*&#10;%6c0bd548-7d14-4667-b6e6-33d1cd3615ed" id="293" name="Google Shape;29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8516" y="2757426"/>
            <a:ext cx="2571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x&#10;%e6ed15be-3d4f-4951-a88d-4eb0d80a8e59" id="294" name="Google Shape;294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1592" y="3071716"/>
            <a:ext cx="12382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&#10;%8d49878f-233b-48fe-905b-10213392bba1" id="295" name="Google Shape;295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94978" y="1780662"/>
            <a:ext cx="1524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&#10;%031f44e6-edcb-4302-aa63-a45e029d8127" id="296" name="Google Shape;296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83321" y="2076061"/>
            <a:ext cx="95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&#10;%8d49878f-233b-48fe-905b-10213392bba1" id="297" name="Google Shape;297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58780" y="2517141"/>
            <a:ext cx="1524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&#10;%031f44e6-edcb-4302-aa63-a45e029d8127" id="298" name="Google Shape;298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696612" y="2564431"/>
            <a:ext cx="95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(x,w)&#10;%2263308a-b4f2-4831-8413-5d9dc67612d4" id="299" name="Google Shape;299;p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97527" y="3246429"/>
            <a:ext cx="6286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&#10;%69b3f8ec-680e-4bfd-ae8c-f69f14169fe8" id="300" name="Google Shape;300;p3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85380" y="3305794"/>
            <a:ext cx="1524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max\limits_{a \in A}\left\{r_a(x)+\alpha\sum_y P_a(x,y)V^*(y\right\}&#10;%900ebec9-6562-48f4-8254-87b7ddf0ef56" id="301" name="Google Shape;301;p3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544275" y="3865355"/>
            <a:ext cx="2990850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4"/>
          <p:cNvSpPr txBox="1"/>
          <p:nvPr/>
        </p:nvSpPr>
        <p:spPr>
          <a:xfrm>
            <a:off x="0" y="838200"/>
            <a:ext cx="91440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La metodología está basada en información que no siempre tenemos, en especial las probabilidades de transición P y recompensas r.</a:t>
            </a:r>
            <a:endParaRPr sz="18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En la práctica, </a:t>
            </a:r>
            <a:r>
              <a:rPr lang="en" sz="1800">
                <a:solidFill>
                  <a:schemeClr val="dk1"/>
                </a:solidFill>
              </a:rPr>
              <a:t>muchas veces no tenemos eses parámetros</a:t>
            </a:r>
            <a:r>
              <a:rPr lang="en" sz="1800">
                <a:solidFill>
                  <a:schemeClr val="dk1"/>
                </a:solidFill>
              </a:rPr>
              <a:t>. Qué hacer? </a:t>
            </a:r>
            <a:endParaRPr sz="18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descr="&#10;%b2ec40be-a735-4635-8f85-29b8913da8e5" id="307" name="Google Shape;30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4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Desafío: Incertidumbre Sobre Parámetros del Modelo</a:t>
            </a:r>
            <a:endParaRPr sz="2500"/>
          </a:p>
        </p:txBody>
      </p:sp>
      <p:sp>
        <p:nvSpPr>
          <p:cNvPr id="309" name="Google Shape;309;p34"/>
          <p:cNvSpPr/>
          <p:nvPr/>
        </p:nvSpPr>
        <p:spPr>
          <a:xfrm>
            <a:off x="6534150" y="4211525"/>
            <a:ext cx="572700" cy="22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x_t&#10;%b3225732-97fe-4265-985f-939d1eb439d0" id="310" name="Google Shape;31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4685" y="4306078"/>
            <a:ext cx="1905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_t&#10;%ca612888-0056-4fc9-ae56-c360da44cd53" id="311" name="Google Shape;311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05600" y="2438400"/>
            <a:ext cx="18097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4"/>
          <p:cNvSpPr/>
          <p:nvPr/>
        </p:nvSpPr>
        <p:spPr>
          <a:xfrm>
            <a:off x="5965800" y="4774700"/>
            <a:ext cx="1784400" cy="38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4"/>
          <p:cNvSpPr/>
          <p:nvPr/>
        </p:nvSpPr>
        <p:spPr>
          <a:xfrm>
            <a:off x="6471275" y="2236075"/>
            <a:ext cx="635700" cy="38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4"/>
          <p:cNvSpPr/>
          <p:nvPr/>
        </p:nvSpPr>
        <p:spPr>
          <a:xfrm>
            <a:off x="6413750" y="4258825"/>
            <a:ext cx="802200" cy="38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5"/>
          <p:cNvSpPr txBox="1"/>
          <p:nvPr/>
        </p:nvSpPr>
        <p:spPr>
          <a:xfrm>
            <a:off x="0" y="838200"/>
            <a:ext cx="91440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La metodología está basada en información que no siempre tenemos, en especial las probabilidades de transición P y recompensas r.</a:t>
            </a:r>
            <a:endParaRPr sz="18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En la práctica, muchas veces no tenemos eses parámetros. Qué hacer? </a:t>
            </a:r>
            <a:endParaRPr b="1" sz="1800">
              <a:solidFill>
                <a:schemeClr val="dk1"/>
              </a:solidFill>
            </a:endParaRPr>
          </a:p>
          <a:p>
            <a:pPr indent="-342900" lvl="1" marL="800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Aprender	a partir de interacciones con el ambiente.</a:t>
            </a:r>
            <a:endParaRPr sz="1800">
              <a:solidFill>
                <a:schemeClr val="dk1"/>
              </a:solidFill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descr="&#10;%b2ec40be-a735-4635-8f85-29b8913da8e5" id="320" name="Google Shape;32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5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Desafío: Incertidumbre Sobre Parámetros del Modelo</a:t>
            </a:r>
            <a:endParaRPr sz="2500"/>
          </a:p>
        </p:txBody>
      </p:sp>
      <p:pic>
        <p:nvPicPr>
          <p:cNvPr id="322" name="Google Shape;32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8485" y="2162445"/>
            <a:ext cx="3299027" cy="2999981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5"/>
          <p:cNvSpPr/>
          <p:nvPr/>
        </p:nvSpPr>
        <p:spPr>
          <a:xfrm>
            <a:off x="6534150" y="4211525"/>
            <a:ext cx="572700" cy="22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x_t&#10;%b3225732-97fe-4265-985f-939d1eb439d0" id="324" name="Google Shape;324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24685" y="4306078"/>
            <a:ext cx="1905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_t&#10;%ca612888-0056-4fc9-ae56-c360da44cd53" id="325" name="Google Shape;325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05600" y="2438400"/>
            <a:ext cx="18097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5"/>
          <p:cNvSpPr/>
          <p:nvPr/>
        </p:nvSpPr>
        <p:spPr>
          <a:xfrm>
            <a:off x="5965800" y="4774700"/>
            <a:ext cx="1784400" cy="38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5"/>
          <p:cNvSpPr/>
          <p:nvPr/>
        </p:nvSpPr>
        <p:spPr>
          <a:xfrm>
            <a:off x="6471275" y="2236075"/>
            <a:ext cx="635700" cy="38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5"/>
          <p:cNvSpPr/>
          <p:nvPr/>
        </p:nvSpPr>
        <p:spPr>
          <a:xfrm>
            <a:off x="6413750" y="4258825"/>
            <a:ext cx="802200" cy="38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6"/>
          <p:cNvSpPr txBox="1"/>
          <p:nvPr/>
        </p:nvSpPr>
        <p:spPr>
          <a:xfrm>
            <a:off x="0" y="838200"/>
            <a:ext cx="91440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La metodología está basada en información que no siempre tenemos, en especial las probabilidades de transición P y recompensas r.</a:t>
            </a:r>
            <a:endParaRPr sz="18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En la práctica, muchas veces no tenemos eses parámetros. Qué hacer? </a:t>
            </a:r>
            <a:endParaRPr b="1" sz="1800">
              <a:solidFill>
                <a:schemeClr val="dk1"/>
              </a:solidFill>
            </a:endParaRPr>
          </a:p>
          <a:p>
            <a:pPr indent="-342900" lvl="1" marL="800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Aprender	a partir de interacciones con el ambiente.</a:t>
            </a:r>
            <a:endParaRPr sz="1800">
              <a:solidFill>
                <a:schemeClr val="dk1"/>
              </a:solidFill>
            </a:endParaRPr>
          </a:p>
          <a:p>
            <a:pPr indent="-342900" lvl="1" marL="800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Con qué datos?</a:t>
            </a:r>
            <a:endParaRPr sz="1800">
              <a:solidFill>
                <a:schemeClr val="dk1"/>
              </a:solidFill>
            </a:endParaRPr>
          </a:p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descr="&#10;%b2ec40be-a735-4635-8f85-29b8913da8e5" id="334" name="Google Shape;33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6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Desafío: Incertidumbre Sobre Parámetros del Modelo</a:t>
            </a:r>
            <a:endParaRPr sz="2500"/>
          </a:p>
        </p:txBody>
      </p:sp>
      <p:pic>
        <p:nvPicPr>
          <p:cNvPr id="336" name="Google Shape;33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8485" y="2162445"/>
            <a:ext cx="3299027" cy="2999981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6"/>
          <p:cNvSpPr/>
          <p:nvPr/>
        </p:nvSpPr>
        <p:spPr>
          <a:xfrm>
            <a:off x="6534150" y="4211525"/>
            <a:ext cx="572700" cy="22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x_t&#10;%b3225732-97fe-4265-985f-939d1eb439d0" id="338" name="Google Shape;338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24685" y="4306078"/>
            <a:ext cx="1905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_t&#10;%ca612888-0056-4fc9-ae56-c360da44cd53" id="339" name="Google Shape;339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05600" y="2438400"/>
            <a:ext cx="18097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6"/>
          <p:cNvSpPr/>
          <p:nvPr/>
        </p:nvSpPr>
        <p:spPr>
          <a:xfrm>
            <a:off x="5965800" y="4774700"/>
            <a:ext cx="1784400" cy="38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6"/>
          <p:cNvSpPr/>
          <p:nvPr/>
        </p:nvSpPr>
        <p:spPr>
          <a:xfrm>
            <a:off x="6471275" y="2236075"/>
            <a:ext cx="635700" cy="38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6"/>
          <p:cNvSpPr/>
          <p:nvPr/>
        </p:nvSpPr>
        <p:spPr>
          <a:xfrm>
            <a:off x="6413750" y="4258825"/>
            <a:ext cx="802200" cy="38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7"/>
          <p:cNvSpPr txBox="1"/>
          <p:nvPr/>
        </p:nvSpPr>
        <p:spPr>
          <a:xfrm>
            <a:off x="0" y="838200"/>
            <a:ext cx="91440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La metodología está basada en información que no siempre tenemos, en especial las probabilidades de transición P y recompensas r.</a:t>
            </a:r>
            <a:endParaRPr sz="18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En la práctica, muchas veces no tenemos eses parámetros. Qué hacer? </a:t>
            </a:r>
            <a:endParaRPr b="1" sz="1800">
              <a:solidFill>
                <a:schemeClr val="dk1"/>
              </a:solidFill>
            </a:endParaRPr>
          </a:p>
          <a:p>
            <a:pPr indent="-342900" lvl="1" marL="800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Aprender	a partir de interacciones con el ambiente.</a:t>
            </a:r>
            <a:endParaRPr sz="1800">
              <a:solidFill>
                <a:schemeClr val="dk1"/>
              </a:solidFill>
            </a:endParaRPr>
          </a:p>
          <a:p>
            <a:pPr indent="-342900" lvl="1" marL="800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Con qué datos?</a:t>
            </a:r>
            <a:endParaRPr sz="1800">
              <a:solidFill>
                <a:schemeClr val="dk1"/>
              </a:solidFill>
            </a:endParaRPr>
          </a:p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descr="&#10;%b2ec40be-a735-4635-8f85-29b8913da8e5" id="348" name="Google Shape;34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7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Desafío: Incertidumbre Sobre Parámetros del Modelo</a:t>
            </a:r>
            <a:endParaRPr sz="2500"/>
          </a:p>
        </p:txBody>
      </p:sp>
      <p:pic>
        <p:nvPicPr>
          <p:cNvPr id="350" name="Google Shape;35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8485" y="2162445"/>
            <a:ext cx="3299027" cy="2999981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7"/>
          <p:cNvSpPr/>
          <p:nvPr/>
        </p:nvSpPr>
        <p:spPr>
          <a:xfrm>
            <a:off x="6534150" y="4211525"/>
            <a:ext cx="572700" cy="22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x_t&#10;%b3225732-97fe-4265-985f-939d1eb439d0" id="352" name="Google Shape;352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24685" y="4306078"/>
            <a:ext cx="1905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_t&#10;%ca612888-0056-4fc9-ae56-c360da44cd53" id="353" name="Google Shape;353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05600" y="2438400"/>
            <a:ext cx="18097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7"/>
          <p:cNvSpPr/>
          <p:nvPr/>
        </p:nvSpPr>
        <p:spPr>
          <a:xfrm>
            <a:off x="5965800" y="4774700"/>
            <a:ext cx="1784400" cy="38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7"/>
          <p:cNvSpPr/>
          <p:nvPr/>
        </p:nvSpPr>
        <p:spPr>
          <a:xfrm>
            <a:off x="6471275" y="2236075"/>
            <a:ext cx="635700" cy="38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8"/>
          <p:cNvSpPr txBox="1"/>
          <p:nvPr/>
        </p:nvSpPr>
        <p:spPr>
          <a:xfrm>
            <a:off x="0" y="838200"/>
            <a:ext cx="91440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La metodología está basada en información que no siempre tenemos, en especial las probabilidades de transición P y recompensas r.</a:t>
            </a:r>
            <a:endParaRPr sz="18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En la práctica, muchas veces no tenemos eses parámetros. Qué hacer? </a:t>
            </a:r>
            <a:endParaRPr b="1" sz="1800">
              <a:solidFill>
                <a:schemeClr val="dk1"/>
              </a:solidFill>
            </a:endParaRPr>
          </a:p>
          <a:p>
            <a:pPr indent="-342900" lvl="1" marL="800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Aprender	a partir de interacciones con el ambiente.</a:t>
            </a:r>
            <a:endParaRPr sz="1800">
              <a:solidFill>
                <a:schemeClr val="dk1"/>
              </a:solidFill>
            </a:endParaRPr>
          </a:p>
          <a:p>
            <a:pPr indent="-342900" lvl="1" marL="800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Con qué datos?</a:t>
            </a:r>
            <a:endParaRPr sz="1800">
              <a:solidFill>
                <a:schemeClr val="dk1"/>
              </a:solidFill>
            </a:endParaRPr>
          </a:p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descr="&#10;%b2ec40be-a735-4635-8f85-29b8913da8e5" id="361" name="Google Shape;36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8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Desafío: Incertidumbre Sobre Parámetros del Modelo</a:t>
            </a:r>
            <a:endParaRPr sz="2500"/>
          </a:p>
        </p:txBody>
      </p:sp>
      <p:pic>
        <p:nvPicPr>
          <p:cNvPr id="363" name="Google Shape;363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8485" y="2162445"/>
            <a:ext cx="3299027" cy="2999981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8"/>
          <p:cNvSpPr/>
          <p:nvPr/>
        </p:nvSpPr>
        <p:spPr>
          <a:xfrm>
            <a:off x="6534150" y="4211525"/>
            <a:ext cx="572700" cy="22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x_t&#10;%b3225732-97fe-4265-985f-939d1eb439d0" id="365" name="Google Shape;365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24685" y="4306078"/>
            <a:ext cx="1905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_t&#10;%ca612888-0056-4fc9-ae56-c360da44cd53" id="366" name="Google Shape;366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05600" y="2438400"/>
            <a:ext cx="1809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_t&#10;%48f2011c-7839-48d3-ab12-cadc6fbecddf" id="367" name="Google Shape;367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33672" y="4837996"/>
            <a:ext cx="16192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8"/>
          <p:cNvSpPr/>
          <p:nvPr/>
        </p:nvSpPr>
        <p:spPr>
          <a:xfrm>
            <a:off x="5965800" y="4774700"/>
            <a:ext cx="1784400" cy="38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9"/>
          <p:cNvSpPr txBox="1"/>
          <p:nvPr/>
        </p:nvSpPr>
        <p:spPr>
          <a:xfrm>
            <a:off x="0" y="838200"/>
            <a:ext cx="91440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La metodología está basada en información que no siempre tenemos, en especial las probabilidades de transición P y recompensas r.</a:t>
            </a:r>
            <a:endParaRPr sz="18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En la práctica, muchas veces no tenemos eses parámetros. Qué hacer? </a:t>
            </a:r>
            <a:endParaRPr b="1" sz="1800">
              <a:solidFill>
                <a:schemeClr val="dk1"/>
              </a:solidFill>
            </a:endParaRPr>
          </a:p>
          <a:p>
            <a:pPr indent="-342900" lvl="1" marL="800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Aprender	a partir de interacciones con el ambiente.</a:t>
            </a:r>
            <a:endParaRPr sz="1800">
              <a:solidFill>
                <a:schemeClr val="dk1"/>
              </a:solidFill>
            </a:endParaRPr>
          </a:p>
          <a:p>
            <a:pPr indent="-342900" lvl="1" marL="800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Con qué datos?</a:t>
            </a:r>
            <a:endParaRPr sz="1800">
              <a:solidFill>
                <a:schemeClr val="dk1"/>
              </a:solidFill>
            </a:endParaRPr>
          </a:p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descr="&#10;%b2ec40be-a735-4635-8f85-29b8913da8e5" id="374" name="Google Shape;37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9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Desafío: Incertidumbre Sobre Parámetros del Modelo</a:t>
            </a:r>
            <a:endParaRPr sz="2500"/>
          </a:p>
        </p:txBody>
      </p:sp>
      <p:pic>
        <p:nvPicPr>
          <p:cNvPr id="376" name="Google Shape;37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8485" y="2162445"/>
            <a:ext cx="3299027" cy="2999981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9"/>
          <p:cNvSpPr/>
          <p:nvPr/>
        </p:nvSpPr>
        <p:spPr>
          <a:xfrm>
            <a:off x="6534150" y="4211525"/>
            <a:ext cx="572700" cy="22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x_t&#10;%b3225732-97fe-4265-985f-939d1eb439d0" id="378" name="Google Shape;378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24685" y="4306078"/>
            <a:ext cx="1905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_t&#10;%ca612888-0056-4fc9-ae56-c360da44cd53" id="379" name="Google Shape;379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05600" y="2438400"/>
            <a:ext cx="1809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,~x_{t+1}&#10;%1b9fa411-de32-4602-84d7-e280772abac1" id="380" name="Google Shape;380;p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34200" y="4314772"/>
            <a:ext cx="5048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_t&#10;%48f2011c-7839-48d3-ab12-cadc6fbecddf" id="381" name="Google Shape;381;p3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33672" y="4837996"/>
            <a:ext cx="161925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0"/>
          <p:cNvSpPr txBox="1"/>
          <p:nvPr/>
        </p:nvSpPr>
        <p:spPr>
          <a:xfrm>
            <a:off x="0" y="838200"/>
            <a:ext cx="91440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La metodología está basada en información que no siempre tenemos, en especial las probabilidades de transición P y recompensas r.</a:t>
            </a:r>
            <a:endParaRPr sz="18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En la práctica, muchas veces no tenemos eses parámetros. Qué hacer? </a:t>
            </a:r>
            <a:endParaRPr b="1" sz="1800">
              <a:solidFill>
                <a:schemeClr val="dk1"/>
              </a:solidFill>
            </a:endParaRPr>
          </a:p>
          <a:p>
            <a:pPr indent="-342900" lvl="1" marL="800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Aprender	a partir de interacciones con el ambiente.</a:t>
            </a:r>
            <a:endParaRPr sz="1800">
              <a:solidFill>
                <a:schemeClr val="dk1"/>
              </a:solidFill>
            </a:endParaRPr>
          </a:p>
          <a:p>
            <a:pPr indent="-342900" lvl="1" marL="800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Con qué datos?</a:t>
            </a:r>
            <a:endParaRPr sz="1800">
              <a:solidFill>
                <a:schemeClr val="dk1"/>
              </a:solidFill>
            </a:endParaRPr>
          </a:p>
          <a:p>
            <a:pPr indent="-342900" lvl="2" marL="1143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trayectorias 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&#10;%b2ec40be-a735-4635-8f85-29b8913da8e5" id="387" name="Google Shape;38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0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Desafío: Incertidumbre Sobre Parámetros del Modelo</a:t>
            </a:r>
            <a:endParaRPr sz="2500"/>
          </a:p>
        </p:txBody>
      </p:sp>
      <p:pic>
        <p:nvPicPr>
          <p:cNvPr id="389" name="Google Shape;38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8485" y="2162445"/>
            <a:ext cx="3299027" cy="2999981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40"/>
          <p:cNvSpPr/>
          <p:nvPr/>
        </p:nvSpPr>
        <p:spPr>
          <a:xfrm>
            <a:off x="6534150" y="4211525"/>
            <a:ext cx="572700" cy="22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x_t&#10;%b3225732-97fe-4265-985f-939d1eb439d0" id="391" name="Google Shape;391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24685" y="4306078"/>
            <a:ext cx="1905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_t&#10;%ca612888-0056-4fc9-ae56-c360da44cd53" id="392" name="Google Shape;392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05600" y="2438400"/>
            <a:ext cx="1809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,~x_{t+1}&#10;%1b9fa411-de32-4602-84d7-e280772abac1" id="393" name="Google Shape;393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34200" y="4314772"/>
            <a:ext cx="5048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_t&#10;%48f2011c-7839-48d3-ab12-cadc6fbecddf" id="394" name="Google Shape;394;p4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33672" y="4837996"/>
            <a:ext cx="1619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(x_{t_i},a_{t_i},r_{t_i},x_{t_i+1}),~i=1,...,n&#10;%0f804d15-fcc9-4976-bca2-e59817b70ff3" id="395" name="Google Shape;395;p4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40525" y="2466975"/>
            <a:ext cx="2638425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(x_{t_i},a_{t_i},r_{t_i},x_{t_i+1}),~i=1,...,n&#10;%0f804d15-fcc9-4976-bca2-e59817b70ff3" id="400" name="Google Shape;40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3775" y="2743200"/>
            <a:ext cx="26384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41"/>
          <p:cNvSpPr/>
          <p:nvPr/>
        </p:nvSpPr>
        <p:spPr>
          <a:xfrm>
            <a:off x="1718150" y="2695575"/>
            <a:ext cx="1545900" cy="32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#10;%b2ec40be-a735-4635-8f85-29b8913da8e5" id="402" name="Google Shape;40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41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Desafío: Incertidumbre Sobre Parámetros del Modelo</a:t>
            </a:r>
            <a:endParaRPr sz="2500"/>
          </a:p>
        </p:txBody>
      </p:sp>
      <p:pic>
        <p:nvPicPr>
          <p:cNvPr id="404" name="Google Shape;404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8485" y="2162445"/>
            <a:ext cx="3299027" cy="299998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41"/>
          <p:cNvSpPr/>
          <p:nvPr/>
        </p:nvSpPr>
        <p:spPr>
          <a:xfrm>
            <a:off x="6534150" y="4211525"/>
            <a:ext cx="572700" cy="22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x_t&#10;%b3225732-97fe-4265-985f-939d1eb439d0" id="406" name="Google Shape;406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24685" y="4306078"/>
            <a:ext cx="1905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_t&#10;%ca612888-0056-4fc9-ae56-c360da44cd53" id="407" name="Google Shape;407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05600" y="2438400"/>
            <a:ext cx="1809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,~x_{t+1}&#10;%1b9fa411-de32-4602-84d7-e280772abac1" id="408" name="Google Shape;408;p4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34200" y="4314772"/>
            <a:ext cx="50482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41"/>
          <p:cNvSpPr txBox="1"/>
          <p:nvPr/>
        </p:nvSpPr>
        <p:spPr>
          <a:xfrm>
            <a:off x="0" y="838200"/>
            <a:ext cx="91440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La metodología está basada en información que no siempre tenemos, en especial las probabilidades de transición P y recompensas r.</a:t>
            </a:r>
            <a:endParaRPr sz="18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En la práctica, muchas veces no tenemos eses parámetros. Qué hacer? </a:t>
            </a:r>
            <a:endParaRPr b="1" sz="1800">
              <a:solidFill>
                <a:schemeClr val="dk1"/>
              </a:solidFill>
            </a:endParaRPr>
          </a:p>
          <a:p>
            <a:pPr indent="-342900" lvl="1" marL="800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Aprender	a partir de interacciones con el ambiente.</a:t>
            </a:r>
            <a:endParaRPr sz="1800">
              <a:solidFill>
                <a:schemeClr val="dk1"/>
              </a:solidFill>
            </a:endParaRPr>
          </a:p>
          <a:p>
            <a:pPr indent="-342900" lvl="1" marL="800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Con qué datos?</a:t>
            </a:r>
            <a:endParaRPr sz="1800">
              <a:solidFill>
                <a:schemeClr val="dk1"/>
              </a:solidFill>
            </a:endParaRPr>
          </a:p>
          <a:p>
            <a:pPr indent="-342900" lvl="2" marL="1143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trayectorias</a:t>
            </a:r>
            <a:endParaRPr sz="1800">
              <a:solidFill>
                <a:schemeClr val="dk1"/>
              </a:solidFill>
            </a:endParaRPr>
          </a:p>
          <a:p>
            <a:pPr indent="-342900" lvl="2" marL="1143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tuplas  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r_t&#10;%48f2011c-7839-48d3-ab12-cadc6fbecddf" id="410" name="Google Shape;410;p4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133672" y="4837996"/>
            <a:ext cx="1619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(x_{t_i},a_{t_i},r_{t_i},x_{t_i+1}),~i=1,...,n&#10;%0f804d15-fcc9-4976-bca2-e59817b70ff3" id="411" name="Google Shape;41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0525" y="2466975"/>
            <a:ext cx="26384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(x_i,a_i,r_i,x_i^+)&#10;%a6490a88-ec1f-46be-ac5f-0ea89792fb71" id="412" name="Google Shape;412;p4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066925" y="2724203"/>
            <a:ext cx="11811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2"/>
          <p:cNvSpPr txBox="1"/>
          <p:nvPr/>
        </p:nvSpPr>
        <p:spPr>
          <a:xfrm>
            <a:off x="0" y="828657"/>
            <a:ext cx="83424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Cómo ir de los datos                                       a una política de decisión?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&#10;%b2ec40be-a735-4635-8f85-29b8913da8e5" id="418" name="Google Shape;41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42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Aprendizaje por Refuerzo</a:t>
            </a:r>
            <a:endParaRPr sz="2500"/>
          </a:p>
        </p:txBody>
      </p:sp>
      <p:pic>
        <p:nvPicPr>
          <p:cNvPr descr="(x_i,a_i,r_i,x_i^+),~i=1,...,n&#10;%0429a43d-4df0-4488-a52f-508be25bb5d7" id="420" name="Google Shape;420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4626" y="967921"/>
            <a:ext cx="2324100" cy="22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1" name="Google Shape;421;p42"/>
          <p:cNvGrpSpPr/>
          <p:nvPr/>
        </p:nvGrpSpPr>
        <p:grpSpPr>
          <a:xfrm>
            <a:off x="6525060" y="1354842"/>
            <a:ext cx="1975326" cy="841200"/>
            <a:chOff x="6939073" y="1452955"/>
            <a:chExt cx="1975326" cy="841200"/>
          </a:xfrm>
        </p:grpSpPr>
        <p:sp>
          <p:nvSpPr>
            <p:cNvPr id="422" name="Google Shape;422;p42"/>
            <p:cNvSpPr/>
            <p:nvPr/>
          </p:nvSpPr>
          <p:spPr>
            <a:xfrm>
              <a:off x="7195399" y="1452955"/>
              <a:ext cx="1719000" cy="8412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42"/>
            <p:cNvSpPr txBox="1"/>
            <p:nvPr/>
          </p:nvSpPr>
          <p:spPr>
            <a:xfrm>
              <a:off x="6939073" y="1496063"/>
              <a:ext cx="1815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595959"/>
                  </a:solidFill>
                </a:rPr>
                <a:t>Experiencias</a:t>
              </a:r>
              <a:endParaRPr b="1">
                <a:solidFill>
                  <a:srgbClr val="595959"/>
                </a:solidFill>
              </a:endParaRPr>
            </a:p>
          </p:txBody>
        </p:sp>
        <p:pic>
          <p:nvPicPr>
            <p:cNvPr descr="(x_i, a_i, r_i, x_i^+)&#10;%936c4b92-bdcd-4f4b-9410-3bb0f3f66cf8" id="424" name="Google Shape;424;p4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464349" y="1762143"/>
              <a:ext cx="1181100" cy="22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 = 1,...,n&#10;%2a3e6504-078b-4df2-8fb8-4db46ee3e516" id="425" name="Google Shape;425;p4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550074" y="2004942"/>
              <a:ext cx="1009650" cy="1809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3"/>
          <p:cNvSpPr txBox="1"/>
          <p:nvPr/>
        </p:nvSpPr>
        <p:spPr>
          <a:xfrm>
            <a:off x="0" y="828657"/>
            <a:ext cx="83424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Cómo ir de los datos                                       a una política de decisión?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" sz="1800">
                <a:solidFill>
                  <a:schemeClr val="dk1"/>
                </a:solidFill>
              </a:rPr>
              <a:t>Aprendiendo un modelo</a:t>
            </a:r>
            <a:endParaRPr b="1" sz="18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&#10;%b2ec40be-a735-4635-8f85-29b8913da8e5" id="431" name="Google Shape;43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43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Aprendizaje por Refuerzo</a:t>
            </a:r>
            <a:endParaRPr sz="2500"/>
          </a:p>
        </p:txBody>
      </p:sp>
      <p:grpSp>
        <p:nvGrpSpPr>
          <p:cNvPr id="433" name="Google Shape;433;p43"/>
          <p:cNvGrpSpPr/>
          <p:nvPr/>
        </p:nvGrpSpPr>
        <p:grpSpPr>
          <a:xfrm rot="5400000">
            <a:off x="7385792" y="2405687"/>
            <a:ext cx="594733" cy="212400"/>
            <a:chOff x="2782535" y="3077633"/>
            <a:chExt cx="594733" cy="212400"/>
          </a:xfrm>
        </p:grpSpPr>
        <p:cxnSp>
          <p:nvCxnSpPr>
            <p:cNvPr id="434" name="Google Shape;434;p43"/>
            <p:cNvCxnSpPr/>
            <p:nvPr/>
          </p:nvCxnSpPr>
          <p:spPr>
            <a:xfrm flipH="1" rot="10800000">
              <a:off x="2782535" y="3178032"/>
              <a:ext cx="548700" cy="21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35" name="Google Shape;435;p43"/>
            <p:cNvSpPr/>
            <p:nvPr/>
          </p:nvSpPr>
          <p:spPr>
            <a:xfrm rot="5400000">
              <a:off x="3191118" y="3103883"/>
              <a:ext cx="212400" cy="1599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6" name="Google Shape;436;p43"/>
          <p:cNvGrpSpPr/>
          <p:nvPr/>
        </p:nvGrpSpPr>
        <p:grpSpPr>
          <a:xfrm>
            <a:off x="6781527" y="2795184"/>
            <a:ext cx="1719000" cy="841200"/>
            <a:chOff x="7241200" y="2673850"/>
            <a:chExt cx="1719000" cy="841200"/>
          </a:xfrm>
        </p:grpSpPr>
        <p:sp>
          <p:nvSpPr>
            <p:cNvPr id="437" name="Google Shape;437;p43"/>
            <p:cNvSpPr/>
            <p:nvPr/>
          </p:nvSpPr>
          <p:spPr>
            <a:xfrm>
              <a:off x="7241200" y="2673850"/>
              <a:ext cx="1719000" cy="8412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43"/>
            <p:cNvSpPr txBox="1"/>
            <p:nvPr/>
          </p:nvSpPr>
          <p:spPr>
            <a:xfrm>
              <a:off x="7622650" y="2808942"/>
              <a:ext cx="9561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595959"/>
                  </a:solidFill>
                </a:rPr>
                <a:t>Modelo</a:t>
              </a:r>
              <a:endParaRPr b="1">
                <a:solidFill>
                  <a:srgbClr val="595959"/>
                </a:solidFill>
              </a:endParaRPr>
            </a:p>
          </p:txBody>
        </p:sp>
        <p:pic>
          <p:nvPicPr>
            <p:cNvPr descr="\hat P, \hat r&#10;%4fb54901-efd2-4919-b2cd-cd8e2ed1c8a4" id="439" name="Google Shape;43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34013" y="3060247"/>
              <a:ext cx="333375" cy="2571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(x_i,a_i,r_i,x_i^+),~i=1,...,n&#10;%0429a43d-4df0-4488-a52f-508be25bb5d7" id="440" name="Google Shape;440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94626" y="967921"/>
            <a:ext cx="2324100" cy="22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1" name="Google Shape;441;p43"/>
          <p:cNvGrpSpPr/>
          <p:nvPr/>
        </p:nvGrpSpPr>
        <p:grpSpPr>
          <a:xfrm>
            <a:off x="6525060" y="1354842"/>
            <a:ext cx="1975326" cy="841200"/>
            <a:chOff x="6939073" y="1452955"/>
            <a:chExt cx="1975326" cy="841200"/>
          </a:xfrm>
        </p:grpSpPr>
        <p:sp>
          <p:nvSpPr>
            <p:cNvPr id="442" name="Google Shape;442;p43"/>
            <p:cNvSpPr/>
            <p:nvPr/>
          </p:nvSpPr>
          <p:spPr>
            <a:xfrm>
              <a:off x="7195399" y="1452955"/>
              <a:ext cx="1719000" cy="8412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43"/>
            <p:cNvSpPr txBox="1"/>
            <p:nvPr/>
          </p:nvSpPr>
          <p:spPr>
            <a:xfrm>
              <a:off x="6939073" y="1496063"/>
              <a:ext cx="1815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595959"/>
                  </a:solidFill>
                </a:rPr>
                <a:t>Experiencias</a:t>
              </a:r>
              <a:endParaRPr b="1">
                <a:solidFill>
                  <a:srgbClr val="595959"/>
                </a:solidFill>
              </a:endParaRPr>
            </a:p>
          </p:txBody>
        </p:sp>
        <p:pic>
          <p:nvPicPr>
            <p:cNvPr descr="(x_i, a_i, r_i, x_i^+)&#10;%936c4b92-bdcd-4f4b-9410-3bb0f3f66cf8" id="444" name="Google Shape;444;p4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464349" y="1762143"/>
              <a:ext cx="1181100" cy="22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 = 1,...,n&#10;%2a3e6504-078b-4df2-8fb8-4db46ee3e516" id="445" name="Google Shape;445;p4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550074" y="2004942"/>
              <a:ext cx="1009650" cy="1809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4"/>
          <p:cNvSpPr txBox="1"/>
          <p:nvPr/>
        </p:nvSpPr>
        <p:spPr>
          <a:xfrm>
            <a:off x="0" y="828657"/>
            <a:ext cx="83424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Cómo ir de los datos                                       a una política de decisión?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" sz="1800">
                <a:solidFill>
                  <a:schemeClr val="dk1"/>
                </a:solidFill>
              </a:rPr>
              <a:t>Aprendiendo un modelo</a:t>
            </a:r>
            <a:endParaRPr b="1"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Aprendizaje supervisionado:</a:t>
            </a:r>
            <a:endParaRPr sz="8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&#10;%b2ec40be-a735-4635-8f85-29b8913da8e5" id="451" name="Google Shape;45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4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Aprendizaje por Refuerzo</a:t>
            </a:r>
            <a:endParaRPr sz="2500"/>
          </a:p>
        </p:txBody>
      </p:sp>
      <p:grpSp>
        <p:nvGrpSpPr>
          <p:cNvPr id="453" name="Google Shape;453;p44"/>
          <p:cNvGrpSpPr/>
          <p:nvPr/>
        </p:nvGrpSpPr>
        <p:grpSpPr>
          <a:xfrm rot="5400000">
            <a:off x="7385792" y="2405687"/>
            <a:ext cx="594733" cy="212400"/>
            <a:chOff x="2782535" y="3077633"/>
            <a:chExt cx="594733" cy="212400"/>
          </a:xfrm>
        </p:grpSpPr>
        <p:cxnSp>
          <p:nvCxnSpPr>
            <p:cNvPr id="454" name="Google Shape;454;p44"/>
            <p:cNvCxnSpPr/>
            <p:nvPr/>
          </p:nvCxnSpPr>
          <p:spPr>
            <a:xfrm flipH="1" rot="10800000">
              <a:off x="2782535" y="3178032"/>
              <a:ext cx="548700" cy="21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5" name="Google Shape;455;p44"/>
            <p:cNvSpPr/>
            <p:nvPr/>
          </p:nvSpPr>
          <p:spPr>
            <a:xfrm rot="5400000">
              <a:off x="3191118" y="3103883"/>
              <a:ext cx="212400" cy="1599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6" name="Google Shape;456;p44"/>
          <p:cNvSpPr txBox="1"/>
          <p:nvPr/>
        </p:nvSpPr>
        <p:spPr>
          <a:xfrm>
            <a:off x="7143084" y="2155075"/>
            <a:ext cx="209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</a:rPr>
              <a:t>Aprendizaje Supervisionado</a:t>
            </a:r>
            <a:endParaRPr b="1">
              <a:solidFill>
                <a:srgbClr val="595959"/>
              </a:solidFill>
            </a:endParaRPr>
          </a:p>
        </p:txBody>
      </p:sp>
      <p:grpSp>
        <p:nvGrpSpPr>
          <p:cNvPr id="457" name="Google Shape;457;p44"/>
          <p:cNvGrpSpPr/>
          <p:nvPr/>
        </p:nvGrpSpPr>
        <p:grpSpPr>
          <a:xfrm>
            <a:off x="6781527" y="2795184"/>
            <a:ext cx="1719000" cy="841200"/>
            <a:chOff x="7241200" y="2673850"/>
            <a:chExt cx="1719000" cy="841200"/>
          </a:xfrm>
        </p:grpSpPr>
        <p:sp>
          <p:nvSpPr>
            <p:cNvPr id="458" name="Google Shape;458;p44"/>
            <p:cNvSpPr/>
            <p:nvPr/>
          </p:nvSpPr>
          <p:spPr>
            <a:xfrm>
              <a:off x="7241200" y="2673850"/>
              <a:ext cx="1719000" cy="8412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44"/>
            <p:cNvSpPr txBox="1"/>
            <p:nvPr/>
          </p:nvSpPr>
          <p:spPr>
            <a:xfrm>
              <a:off x="7622650" y="2808942"/>
              <a:ext cx="9561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595959"/>
                  </a:solidFill>
                </a:rPr>
                <a:t>Modelo</a:t>
              </a:r>
              <a:endParaRPr b="1">
                <a:solidFill>
                  <a:srgbClr val="595959"/>
                </a:solidFill>
              </a:endParaRPr>
            </a:p>
          </p:txBody>
        </p:sp>
        <p:pic>
          <p:nvPicPr>
            <p:cNvPr descr="\hat P, \hat r&#10;%4fb54901-efd2-4919-b2cd-cd8e2ed1c8a4" id="460" name="Google Shape;46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34013" y="3060247"/>
              <a:ext cx="333375" cy="2571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(x_i,a_i,r_i,x_i^+),~i=1,...,n&#10;%0429a43d-4df0-4488-a52f-508be25bb5d7" id="461" name="Google Shape;461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94626" y="967921"/>
            <a:ext cx="23241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array}{rcl}&#10;\hat{r}(x) &amp; = &amp; \frac{\sum_{i:~x_i=x} r_i}{\sum_{i:~x_i=x} 1}\\&#10;\end{array}&#10;%dc520a92-81d6-4d36-aef3-f020f43677da" id="462" name="Google Shape;462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40659" y="1944505"/>
            <a:ext cx="1638300" cy="400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3" name="Google Shape;463;p44"/>
          <p:cNvGrpSpPr/>
          <p:nvPr/>
        </p:nvGrpSpPr>
        <p:grpSpPr>
          <a:xfrm>
            <a:off x="6525060" y="1354842"/>
            <a:ext cx="1975326" cy="841200"/>
            <a:chOff x="6939073" y="1452955"/>
            <a:chExt cx="1975326" cy="841200"/>
          </a:xfrm>
        </p:grpSpPr>
        <p:sp>
          <p:nvSpPr>
            <p:cNvPr id="464" name="Google Shape;464;p44"/>
            <p:cNvSpPr/>
            <p:nvPr/>
          </p:nvSpPr>
          <p:spPr>
            <a:xfrm>
              <a:off x="7195399" y="1452955"/>
              <a:ext cx="1719000" cy="8412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44"/>
            <p:cNvSpPr txBox="1"/>
            <p:nvPr/>
          </p:nvSpPr>
          <p:spPr>
            <a:xfrm>
              <a:off x="6939073" y="1496063"/>
              <a:ext cx="1815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595959"/>
                  </a:solidFill>
                </a:rPr>
                <a:t>Experiencias</a:t>
              </a:r>
              <a:endParaRPr b="1">
                <a:solidFill>
                  <a:srgbClr val="595959"/>
                </a:solidFill>
              </a:endParaRPr>
            </a:p>
          </p:txBody>
        </p:sp>
        <p:pic>
          <p:nvPicPr>
            <p:cNvPr descr="(x_i, a_i, r_i, x_i^+)&#10;%936c4b92-bdcd-4f4b-9410-3bb0f3f66cf8" id="466" name="Google Shape;466;p4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464349" y="1762143"/>
              <a:ext cx="1181100" cy="22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 = 1,...,n&#10;%2a3e6504-078b-4df2-8fb8-4db46ee3e516" id="467" name="Google Shape;467;p4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550074" y="2004942"/>
              <a:ext cx="1009650" cy="1809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\hat{P}(x,y) = \frac{\sum_{i:~x_i = x,~x_i^+ = y} 1}{\sum_{i:~x_i = x} 1}&#10;&#10;%6736b6f5-1d25-4209-83e0-5e70eae57942" id="468" name="Google Shape;468;p4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21565" y="2510000"/>
            <a:ext cx="1876425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5"/>
          <p:cNvSpPr txBox="1"/>
          <p:nvPr/>
        </p:nvSpPr>
        <p:spPr>
          <a:xfrm>
            <a:off x="0" y="828657"/>
            <a:ext cx="83424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Cómo ir de los datos                                       a una política de decisión?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" sz="1800">
                <a:solidFill>
                  <a:schemeClr val="dk1"/>
                </a:solidFill>
              </a:rPr>
              <a:t>Aprendiendo un modelo</a:t>
            </a:r>
            <a:endParaRPr b="1"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Aprendizaje supervisionado:</a:t>
            </a:r>
            <a:endParaRPr sz="8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Programación dinámica con                </a:t>
            </a:r>
            <a:endParaRPr sz="18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→ función valor    , política  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&#10;%b2ec40be-a735-4635-8f85-29b8913da8e5" id="474" name="Google Shape;47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45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Aprendizaje por Refuerzo</a:t>
            </a:r>
            <a:endParaRPr sz="2500"/>
          </a:p>
        </p:txBody>
      </p:sp>
      <p:grpSp>
        <p:nvGrpSpPr>
          <p:cNvPr id="476" name="Google Shape;476;p45"/>
          <p:cNvGrpSpPr/>
          <p:nvPr/>
        </p:nvGrpSpPr>
        <p:grpSpPr>
          <a:xfrm rot="5400000">
            <a:off x="7385792" y="2405687"/>
            <a:ext cx="594733" cy="212400"/>
            <a:chOff x="2782535" y="3077633"/>
            <a:chExt cx="594733" cy="212400"/>
          </a:xfrm>
        </p:grpSpPr>
        <p:cxnSp>
          <p:nvCxnSpPr>
            <p:cNvPr id="477" name="Google Shape;477;p45"/>
            <p:cNvCxnSpPr/>
            <p:nvPr/>
          </p:nvCxnSpPr>
          <p:spPr>
            <a:xfrm flipH="1" rot="10800000">
              <a:off x="2782535" y="3178032"/>
              <a:ext cx="548700" cy="21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78" name="Google Shape;478;p45"/>
            <p:cNvSpPr/>
            <p:nvPr/>
          </p:nvSpPr>
          <p:spPr>
            <a:xfrm rot="5400000">
              <a:off x="3191118" y="3103883"/>
              <a:ext cx="212400" cy="1599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9" name="Google Shape;479;p45"/>
          <p:cNvSpPr txBox="1"/>
          <p:nvPr/>
        </p:nvSpPr>
        <p:spPr>
          <a:xfrm>
            <a:off x="7143084" y="2155075"/>
            <a:ext cx="209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</a:rPr>
              <a:t>Aprendizaje Supervisionado</a:t>
            </a:r>
            <a:endParaRPr b="1">
              <a:solidFill>
                <a:srgbClr val="595959"/>
              </a:solidFill>
            </a:endParaRPr>
          </a:p>
        </p:txBody>
      </p:sp>
      <p:sp>
        <p:nvSpPr>
          <p:cNvPr id="480" name="Google Shape;480;p45"/>
          <p:cNvSpPr txBox="1"/>
          <p:nvPr/>
        </p:nvSpPr>
        <p:spPr>
          <a:xfrm>
            <a:off x="7160366" y="3702110"/>
            <a:ext cx="19524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</a:rPr>
              <a:t>Programación Dinámica</a:t>
            </a:r>
            <a:endParaRPr b="1">
              <a:solidFill>
                <a:srgbClr val="595959"/>
              </a:solidFill>
            </a:endParaRPr>
          </a:p>
        </p:txBody>
      </p:sp>
      <p:grpSp>
        <p:nvGrpSpPr>
          <p:cNvPr id="481" name="Google Shape;481;p45"/>
          <p:cNvGrpSpPr/>
          <p:nvPr/>
        </p:nvGrpSpPr>
        <p:grpSpPr>
          <a:xfrm>
            <a:off x="6781527" y="2795184"/>
            <a:ext cx="1719000" cy="841200"/>
            <a:chOff x="7241200" y="2673850"/>
            <a:chExt cx="1719000" cy="841200"/>
          </a:xfrm>
        </p:grpSpPr>
        <p:sp>
          <p:nvSpPr>
            <p:cNvPr id="482" name="Google Shape;482;p45"/>
            <p:cNvSpPr/>
            <p:nvPr/>
          </p:nvSpPr>
          <p:spPr>
            <a:xfrm>
              <a:off x="7241200" y="2673850"/>
              <a:ext cx="1719000" cy="8412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45"/>
            <p:cNvSpPr txBox="1"/>
            <p:nvPr/>
          </p:nvSpPr>
          <p:spPr>
            <a:xfrm>
              <a:off x="7622650" y="2808942"/>
              <a:ext cx="9561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595959"/>
                  </a:solidFill>
                </a:rPr>
                <a:t>Modelo</a:t>
              </a:r>
              <a:endParaRPr b="1">
                <a:solidFill>
                  <a:srgbClr val="595959"/>
                </a:solidFill>
              </a:endParaRPr>
            </a:p>
          </p:txBody>
        </p:sp>
        <p:pic>
          <p:nvPicPr>
            <p:cNvPr descr="\hat P, \hat r&#10;%4fb54901-efd2-4919-b2cd-cd8e2ed1c8a4" id="484" name="Google Shape;484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34013" y="3060247"/>
              <a:ext cx="333375" cy="2571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(S, A, \hat P, \hat r)&#10;%134b934c-c741-4c42-9716-0198a4e0f9a2" id="485" name="Google Shape;485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83583" y="3098912"/>
            <a:ext cx="9525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hat u&#10;%6527a728-9297-4cc6-bc00-07999d9572ea" id="486" name="Google Shape;486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52360" y="3441837"/>
            <a:ext cx="1238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hat V&#10;&#10;%14d0f7e3-8427-4cc6-8ba2-70f3843d63f1" id="487" name="Google Shape;487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76401" y="3391678"/>
            <a:ext cx="161925" cy="219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8" name="Google Shape;488;p45"/>
          <p:cNvGrpSpPr/>
          <p:nvPr/>
        </p:nvGrpSpPr>
        <p:grpSpPr>
          <a:xfrm rot="5400000">
            <a:off x="7389527" y="3824612"/>
            <a:ext cx="594733" cy="212400"/>
            <a:chOff x="2782535" y="3077633"/>
            <a:chExt cx="594733" cy="212400"/>
          </a:xfrm>
        </p:grpSpPr>
        <p:cxnSp>
          <p:nvCxnSpPr>
            <p:cNvPr id="489" name="Google Shape;489;p45"/>
            <p:cNvCxnSpPr/>
            <p:nvPr/>
          </p:nvCxnSpPr>
          <p:spPr>
            <a:xfrm flipH="1" rot="10800000">
              <a:off x="2782535" y="3178032"/>
              <a:ext cx="548700" cy="21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90" name="Google Shape;490;p45"/>
            <p:cNvSpPr/>
            <p:nvPr/>
          </p:nvSpPr>
          <p:spPr>
            <a:xfrm rot="5400000">
              <a:off x="3191118" y="3103883"/>
              <a:ext cx="212400" cy="1599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(x_i,a_i,r_i,x_i^+),~i=1,...,n&#10;%0429a43d-4df0-4488-a52f-508be25bb5d7" id="491" name="Google Shape;491;p4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94626" y="967921"/>
            <a:ext cx="23241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array}{rcl}&#10;\hat{r}(x) &amp; = &amp; \frac{\sum_{i:~x_i=x} r_i}{\sum_{i:~x_i=x} 1}\\&#10;\end{array}&#10;%dc520a92-81d6-4d36-aef3-f020f43677da" id="492" name="Google Shape;492;p4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40659" y="1944505"/>
            <a:ext cx="1638300" cy="400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3" name="Google Shape;493;p45"/>
          <p:cNvGrpSpPr/>
          <p:nvPr/>
        </p:nvGrpSpPr>
        <p:grpSpPr>
          <a:xfrm>
            <a:off x="6525060" y="1354842"/>
            <a:ext cx="1975326" cy="841200"/>
            <a:chOff x="6939073" y="1452955"/>
            <a:chExt cx="1975326" cy="841200"/>
          </a:xfrm>
        </p:grpSpPr>
        <p:sp>
          <p:nvSpPr>
            <p:cNvPr id="494" name="Google Shape;494;p45"/>
            <p:cNvSpPr/>
            <p:nvPr/>
          </p:nvSpPr>
          <p:spPr>
            <a:xfrm>
              <a:off x="7195399" y="1452955"/>
              <a:ext cx="1719000" cy="8412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45"/>
            <p:cNvSpPr txBox="1"/>
            <p:nvPr/>
          </p:nvSpPr>
          <p:spPr>
            <a:xfrm>
              <a:off x="6939073" y="1496063"/>
              <a:ext cx="1815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595959"/>
                  </a:solidFill>
                </a:rPr>
                <a:t>Experiencias</a:t>
              </a:r>
              <a:endParaRPr b="1">
                <a:solidFill>
                  <a:srgbClr val="595959"/>
                </a:solidFill>
              </a:endParaRPr>
            </a:p>
          </p:txBody>
        </p:sp>
        <p:pic>
          <p:nvPicPr>
            <p:cNvPr descr="(x_i, a_i, r_i, x_i^+)&#10;%936c4b92-bdcd-4f4b-9410-3bb0f3f66cf8" id="496" name="Google Shape;496;p45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7464349" y="1762143"/>
              <a:ext cx="1181100" cy="22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 = 1,...,n&#10;%2a3e6504-078b-4df2-8fb8-4db46ee3e516" id="497" name="Google Shape;497;p45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7550074" y="2004942"/>
              <a:ext cx="1009650" cy="180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8" name="Google Shape;498;p45"/>
          <p:cNvGrpSpPr/>
          <p:nvPr/>
        </p:nvGrpSpPr>
        <p:grpSpPr>
          <a:xfrm>
            <a:off x="6782427" y="4235525"/>
            <a:ext cx="1717200" cy="836700"/>
            <a:chOff x="7060325" y="3930725"/>
            <a:chExt cx="1717200" cy="836700"/>
          </a:xfrm>
        </p:grpSpPr>
        <p:sp>
          <p:nvSpPr>
            <p:cNvPr id="499" name="Google Shape;499;p45"/>
            <p:cNvSpPr/>
            <p:nvPr/>
          </p:nvSpPr>
          <p:spPr>
            <a:xfrm>
              <a:off x="7060325" y="3930725"/>
              <a:ext cx="1717200" cy="8367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00" name="Google Shape;500;p45"/>
            <p:cNvGrpSpPr/>
            <p:nvPr/>
          </p:nvGrpSpPr>
          <p:grpSpPr>
            <a:xfrm>
              <a:off x="7083634" y="4086500"/>
              <a:ext cx="1527442" cy="387000"/>
              <a:chOff x="6929587" y="4315100"/>
              <a:chExt cx="1527442" cy="387000"/>
            </a:xfrm>
          </p:grpSpPr>
          <p:sp>
            <p:nvSpPr>
              <p:cNvPr id="501" name="Google Shape;501;p45"/>
              <p:cNvSpPr txBox="1"/>
              <p:nvPr/>
            </p:nvSpPr>
            <p:spPr>
              <a:xfrm>
                <a:off x="6929587" y="4315100"/>
                <a:ext cx="1460400" cy="38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rgbClr val="595959"/>
                    </a:solidFill>
                  </a:rPr>
                  <a:t>Función Valor</a:t>
                </a:r>
                <a:endParaRPr b="1">
                  <a:solidFill>
                    <a:srgbClr val="595959"/>
                  </a:solidFill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pic>
            <p:nvPicPr>
              <p:cNvPr descr="\hat V&#10;&#10;%14d0f7e3-8427-4cc6-8ba2-70f3843d63f1" id="502" name="Google Shape;502;p45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8295104" y="4364865"/>
                <a:ext cx="161925" cy="2190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03" name="Google Shape;503;p45"/>
            <p:cNvGrpSpPr/>
            <p:nvPr/>
          </p:nvGrpSpPr>
          <p:grpSpPr>
            <a:xfrm>
              <a:off x="7418296" y="4290950"/>
              <a:ext cx="944000" cy="400200"/>
              <a:chOff x="7217175" y="4519550"/>
              <a:chExt cx="944000" cy="400200"/>
            </a:xfrm>
          </p:grpSpPr>
          <p:pic>
            <p:nvPicPr>
              <p:cNvPr descr="\hat u&#10;%6527a728-9297-4cc6-bc00-07999d9572ea" id="504" name="Google Shape;504;p45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8037351" y="4605453"/>
                <a:ext cx="123825" cy="1714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05" name="Google Shape;505;p45"/>
              <p:cNvSpPr txBox="1"/>
              <p:nvPr/>
            </p:nvSpPr>
            <p:spPr>
              <a:xfrm>
                <a:off x="7217175" y="4519550"/>
                <a:ext cx="8673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chemeClr val="dk2"/>
                    </a:solidFill>
                  </a:rPr>
                  <a:t>Política</a:t>
                </a:r>
                <a:endParaRPr b="1"/>
              </a:p>
            </p:txBody>
          </p:sp>
        </p:grpSp>
      </p:grpSp>
      <p:pic>
        <p:nvPicPr>
          <p:cNvPr descr="\hat{P}(x,y) = \frac{\sum_{i:~x_i = x,~x_i^+ = y} 1}{\sum_{i:~x_i = x} 1}&#10;&#10;%6736b6f5-1d25-4209-83e0-5e70eae57942" id="506" name="Google Shape;506;p4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421565" y="2510000"/>
            <a:ext cx="1876425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6"/>
          <p:cNvSpPr txBox="1"/>
          <p:nvPr/>
        </p:nvSpPr>
        <p:spPr>
          <a:xfrm>
            <a:off x="0" y="828657"/>
            <a:ext cx="83424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Cómo ir de los datos                                       a una política de decisión?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" sz="1800">
                <a:solidFill>
                  <a:schemeClr val="dk1"/>
                </a:solidFill>
              </a:rPr>
              <a:t>Aprendiendo un</a:t>
            </a:r>
            <a:r>
              <a:rPr b="1" lang="en" sz="1800">
                <a:solidFill>
                  <a:schemeClr val="dk1"/>
                </a:solidFill>
              </a:rPr>
              <a:t> modelo</a:t>
            </a:r>
            <a:endParaRPr b="1"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Aprendizaje supervisionado:</a:t>
            </a:r>
            <a:endParaRPr sz="8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Programación dinámica con                </a:t>
            </a:r>
            <a:endParaRPr sz="18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→ función valor    , política  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" sz="1800">
                <a:solidFill>
                  <a:schemeClr val="dk1"/>
                </a:solidFill>
              </a:rPr>
              <a:t>S</a:t>
            </a:r>
            <a:r>
              <a:rPr b="1" lang="en" sz="1800">
                <a:solidFill>
                  <a:schemeClr val="dk1"/>
                </a:solidFill>
              </a:rPr>
              <a:t>in modelo</a:t>
            </a:r>
            <a:endParaRPr b="1"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Aprender     y/o     directamente.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&#10;%b2ec40be-a735-4635-8f85-29b8913da8e5" id="512" name="Google Shape;51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6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Aprendizaje por Refuerzo</a:t>
            </a:r>
            <a:endParaRPr sz="2500"/>
          </a:p>
        </p:txBody>
      </p:sp>
      <p:grpSp>
        <p:nvGrpSpPr>
          <p:cNvPr id="514" name="Google Shape;514;p46"/>
          <p:cNvGrpSpPr/>
          <p:nvPr/>
        </p:nvGrpSpPr>
        <p:grpSpPr>
          <a:xfrm rot="5400000">
            <a:off x="7385792" y="2405687"/>
            <a:ext cx="594733" cy="212400"/>
            <a:chOff x="2782535" y="3077633"/>
            <a:chExt cx="594733" cy="212400"/>
          </a:xfrm>
        </p:grpSpPr>
        <p:cxnSp>
          <p:nvCxnSpPr>
            <p:cNvPr id="515" name="Google Shape;515;p46"/>
            <p:cNvCxnSpPr/>
            <p:nvPr/>
          </p:nvCxnSpPr>
          <p:spPr>
            <a:xfrm flipH="1" rot="10800000">
              <a:off x="2782535" y="3178032"/>
              <a:ext cx="548700" cy="21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16" name="Google Shape;516;p46"/>
            <p:cNvSpPr/>
            <p:nvPr/>
          </p:nvSpPr>
          <p:spPr>
            <a:xfrm rot="5400000">
              <a:off x="3191118" y="3103883"/>
              <a:ext cx="212400" cy="1599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7" name="Google Shape;517;p46"/>
          <p:cNvSpPr txBox="1"/>
          <p:nvPr/>
        </p:nvSpPr>
        <p:spPr>
          <a:xfrm>
            <a:off x="7143084" y="2155075"/>
            <a:ext cx="209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</a:rPr>
              <a:t>Aprendizaje Supervisionado</a:t>
            </a:r>
            <a:endParaRPr b="1">
              <a:solidFill>
                <a:srgbClr val="595959"/>
              </a:solidFill>
            </a:endParaRPr>
          </a:p>
        </p:txBody>
      </p:sp>
      <p:sp>
        <p:nvSpPr>
          <p:cNvPr id="518" name="Google Shape;518;p46"/>
          <p:cNvSpPr txBox="1"/>
          <p:nvPr/>
        </p:nvSpPr>
        <p:spPr>
          <a:xfrm>
            <a:off x="7160366" y="3702110"/>
            <a:ext cx="19524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</a:rPr>
              <a:t>Programación Dinámica</a:t>
            </a:r>
            <a:endParaRPr b="1">
              <a:solidFill>
                <a:srgbClr val="595959"/>
              </a:solidFill>
            </a:endParaRPr>
          </a:p>
        </p:txBody>
      </p:sp>
      <p:grpSp>
        <p:nvGrpSpPr>
          <p:cNvPr id="519" name="Google Shape;519;p46"/>
          <p:cNvGrpSpPr/>
          <p:nvPr/>
        </p:nvGrpSpPr>
        <p:grpSpPr>
          <a:xfrm>
            <a:off x="6781527" y="2795184"/>
            <a:ext cx="1719000" cy="841200"/>
            <a:chOff x="7241200" y="2673850"/>
            <a:chExt cx="1719000" cy="841200"/>
          </a:xfrm>
        </p:grpSpPr>
        <p:sp>
          <p:nvSpPr>
            <p:cNvPr id="520" name="Google Shape;520;p46"/>
            <p:cNvSpPr/>
            <p:nvPr/>
          </p:nvSpPr>
          <p:spPr>
            <a:xfrm>
              <a:off x="7241200" y="2673850"/>
              <a:ext cx="1719000" cy="8412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46"/>
            <p:cNvSpPr txBox="1"/>
            <p:nvPr/>
          </p:nvSpPr>
          <p:spPr>
            <a:xfrm>
              <a:off x="7622650" y="2808942"/>
              <a:ext cx="9561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595959"/>
                  </a:solidFill>
                </a:rPr>
                <a:t>Modelo</a:t>
              </a:r>
              <a:endParaRPr b="1">
                <a:solidFill>
                  <a:srgbClr val="595959"/>
                </a:solidFill>
              </a:endParaRPr>
            </a:p>
          </p:txBody>
        </p:sp>
        <p:pic>
          <p:nvPicPr>
            <p:cNvPr descr="\hat P, \hat r&#10;%4fb54901-efd2-4919-b2cd-cd8e2ed1c8a4" id="522" name="Google Shape;522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34013" y="3060247"/>
              <a:ext cx="333375" cy="2571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(S, A, \hat P, \hat r)&#10;%134b934c-c741-4c42-9716-0198a4e0f9a2" id="523" name="Google Shape;523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83583" y="3098912"/>
            <a:ext cx="9525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hat u&#10;%6527a728-9297-4cc6-bc00-07999d9572ea" id="524" name="Google Shape;524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52360" y="3441837"/>
            <a:ext cx="1238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hat V&#10;&#10;%14d0f7e3-8427-4cc6-8ba2-70f3843d63f1" id="525" name="Google Shape;525;p4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76401" y="3391678"/>
            <a:ext cx="161925" cy="219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6" name="Google Shape;526;p46"/>
          <p:cNvGrpSpPr/>
          <p:nvPr/>
        </p:nvGrpSpPr>
        <p:grpSpPr>
          <a:xfrm rot="5400000">
            <a:off x="7389527" y="3824612"/>
            <a:ext cx="594733" cy="212400"/>
            <a:chOff x="2782535" y="3077633"/>
            <a:chExt cx="594733" cy="212400"/>
          </a:xfrm>
        </p:grpSpPr>
        <p:cxnSp>
          <p:nvCxnSpPr>
            <p:cNvPr id="527" name="Google Shape;527;p46"/>
            <p:cNvCxnSpPr/>
            <p:nvPr/>
          </p:nvCxnSpPr>
          <p:spPr>
            <a:xfrm flipH="1" rot="10800000">
              <a:off x="2782535" y="3178032"/>
              <a:ext cx="548700" cy="21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28" name="Google Shape;528;p46"/>
            <p:cNvSpPr/>
            <p:nvPr/>
          </p:nvSpPr>
          <p:spPr>
            <a:xfrm rot="5400000">
              <a:off x="3191118" y="3103883"/>
              <a:ext cx="212400" cy="1599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(x_i,a_i,r_i,x_i^+),~i=1,...,n&#10;%0429a43d-4df0-4488-a52f-508be25bb5d7" id="529" name="Google Shape;529;p4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94626" y="967921"/>
            <a:ext cx="23241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array}{rcl}&#10;\hat{r}(x) &amp; = &amp; \frac{\sum_{i:~x_i=x} r_i}{\sum_{i:~x_i=x} 1}\\&#10;\end{array}&#10;%dc520a92-81d6-4d36-aef3-f020f43677da" id="530" name="Google Shape;530;p4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40659" y="1944505"/>
            <a:ext cx="16383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hat u&#10;%6527a728-9297-4cc6-bc00-07999d9572ea" id="531" name="Google Shape;531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36985" y="4256761"/>
            <a:ext cx="1238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hat V&#10;&#10;%14d0f7e3-8427-4cc6-8ba2-70f3843d63f1" id="532" name="Google Shape;532;p4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89598" y="4225687"/>
            <a:ext cx="161925" cy="219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3" name="Google Shape;533;p46"/>
          <p:cNvGrpSpPr/>
          <p:nvPr/>
        </p:nvGrpSpPr>
        <p:grpSpPr>
          <a:xfrm>
            <a:off x="6525060" y="1354842"/>
            <a:ext cx="1975326" cy="841200"/>
            <a:chOff x="6939073" y="1452955"/>
            <a:chExt cx="1975326" cy="841200"/>
          </a:xfrm>
        </p:grpSpPr>
        <p:sp>
          <p:nvSpPr>
            <p:cNvPr id="534" name="Google Shape;534;p46"/>
            <p:cNvSpPr/>
            <p:nvPr/>
          </p:nvSpPr>
          <p:spPr>
            <a:xfrm>
              <a:off x="7195399" y="1452955"/>
              <a:ext cx="1719000" cy="8412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46"/>
            <p:cNvSpPr txBox="1"/>
            <p:nvPr/>
          </p:nvSpPr>
          <p:spPr>
            <a:xfrm>
              <a:off x="6939073" y="1496063"/>
              <a:ext cx="1815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595959"/>
                  </a:solidFill>
                </a:rPr>
                <a:t>Experiencias</a:t>
              </a:r>
              <a:endParaRPr b="1">
                <a:solidFill>
                  <a:srgbClr val="595959"/>
                </a:solidFill>
              </a:endParaRPr>
            </a:p>
          </p:txBody>
        </p:sp>
        <p:pic>
          <p:nvPicPr>
            <p:cNvPr descr="(x_i, a_i, r_i, x_i^+)&#10;%936c4b92-bdcd-4f4b-9410-3bb0f3f66cf8" id="536" name="Google Shape;536;p46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7464349" y="1762143"/>
              <a:ext cx="1181100" cy="22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 = 1,...,n&#10;%2a3e6504-078b-4df2-8fb8-4db46ee3e516" id="537" name="Google Shape;537;p46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7550074" y="2004942"/>
              <a:ext cx="1009650" cy="180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8" name="Google Shape;538;p46"/>
          <p:cNvGrpSpPr/>
          <p:nvPr/>
        </p:nvGrpSpPr>
        <p:grpSpPr>
          <a:xfrm>
            <a:off x="6782427" y="4235525"/>
            <a:ext cx="1717200" cy="836700"/>
            <a:chOff x="7060325" y="3930725"/>
            <a:chExt cx="1717200" cy="836700"/>
          </a:xfrm>
        </p:grpSpPr>
        <p:sp>
          <p:nvSpPr>
            <p:cNvPr id="539" name="Google Shape;539;p46"/>
            <p:cNvSpPr/>
            <p:nvPr/>
          </p:nvSpPr>
          <p:spPr>
            <a:xfrm>
              <a:off x="7060325" y="3930725"/>
              <a:ext cx="1717200" cy="8367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40" name="Google Shape;540;p46"/>
            <p:cNvGrpSpPr/>
            <p:nvPr/>
          </p:nvGrpSpPr>
          <p:grpSpPr>
            <a:xfrm>
              <a:off x="7083634" y="4086500"/>
              <a:ext cx="1527442" cy="387000"/>
              <a:chOff x="6929587" y="4315100"/>
              <a:chExt cx="1527442" cy="387000"/>
            </a:xfrm>
          </p:grpSpPr>
          <p:sp>
            <p:nvSpPr>
              <p:cNvPr id="541" name="Google Shape;541;p46"/>
              <p:cNvSpPr txBox="1"/>
              <p:nvPr/>
            </p:nvSpPr>
            <p:spPr>
              <a:xfrm>
                <a:off x="6929587" y="4315100"/>
                <a:ext cx="1460400" cy="38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rgbClr val="595959"/>
                    </a:solidFill>
                  </a:rPr>
                  <a:t>Función Valor</a:t>
                </a:r>
                <a:endParaRPr b="1">
                  <a:solidFill>
                    <a:srgbClr val="595959"/>
                  </a:solidFill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pic>
            <p:nvPicPr>
              <p:cNvPr descr="\hat V&#10;&#10;%14d0f7e3-8427-4cc6-8ba2-70f3843d63f1" id="542" name="Google Shape;542;p46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8295104" y="4364865"/>
                <a:ext cx="161925" cy="2190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43" name="Google Shape;543;p46"/>
            <p:cNvGrpSpPr/>
            <p:nvPr/>
          </p:nvGrpSpPr>
          <p:grpSpPr>
            <a:xfrm>
              <a:off x="7418296" y="4290950"/>
              <a:ext cx="944000" cy="400200"/>
              <a:chOff x="7217175" y="4519550"/>
              <a:chExt cx="944000" cy="400200"/>
            </a:xfrm>
          </p:grpSpPr>
          <p:pic>
            <p:nvPicPr>
              <p:cNvPr descr="\hat u&#10;%6527a728-9297-4cc6-bc00-07999d9572ea" id="544" name="Google Shape;544;p46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8037351" y="4605453"/>
                <a:ext cx="123825" cy="1714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45" name="Google Shape;545;p46"/>
              <p:cNvSpPr txBox="1"/>
              <p:nvPr/>
            </p:nvSpPr>
            <p:spPr>
              <a:xfrm>
                <a:off x="7217175" y="4519550"/>
                <a:ext cx="8673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chemeClr val="dk2"/>
                    </a:solidFill>
                  </a:rPr>
                  <a:t>Política</a:t>
                </a:r>
                <a:endParaRPr b="1"/>
              </a:p>
            </p:txBody>
          </p:sp>
        </p:grpSp>
      </p:grpSp>
      <p:sp>
        <p:nvSpPr>
          <p:cNvPr id="546" name="Google Shape;546;p46"/>
          <p:cNvSpPr/>
          <p:nvPr/>
        </p:nvSpPr>
        <p:spPr>
          <a:xfrm>
            <a:off x="5925307" y="2217250"/>
            <a:ext cx="1719950" cy="2328425"/>
          </a:xfrm>
          <a:custGeom>
            <a:rect b="b" l="l" r="r" t="t"/>
            <a:pathLst>
              <a:path extrusionOk="0" h="93137" w="68798">
                <a:moveTo>
                  <a:pt x="68798" y="0"/>
                </a:moveTo>
                <a:cubicBezTo>
                  <a:pt x="59065" y="4072"/>
                  <a:pt x="21530" y="12851"/>
                  <a:pt x="10397" y="24429"/>
                </a:cubicBezTo>
                <a:cubicBezTo>
                  <a:pt x="-736" y="36008"/>
                  <a:pt x="-1753" y="58020"/>
                  <a:pt x="2000" y="69471"/>
                </a:cubicBezTo>
                <a:cubicBezTo>
                  <a:pt x="5754" y="80922"/>
                  <a:pt x="27765" y="89193"/>
                  <a:pt x="32918" y="9313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47" name="Google Shape;547;p46"/>
          <p:cNvSpPr/>
          <p:nvPr/>
        </p:nvSpPr>
        <p:spPr>
          <a:xfrm rot="7208754">
            <a:off x="6596033" y="4420986"/>
            <a:ext cx="212663" cy="159821"/>
          </a:xfrm>
          <a:prstGeom prst="triangle">
            <a:avLst>
              <a:gd fmla="val 50000" name="adj"/>
            </a:avLst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\hat{P}(x,y) = \frac{\sum_{i:~x_i = x,~x_i^+ = y} 1}{\sum_{i:~x_i = x} 1}&#10;&#10;%6736b6f5-1d25-4209-83e0-5e70eae57942" id="548" name="Google Shape;548;p4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421565" y="2510000"/>
            <a:ext cx="1876425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7"/>
          <p:cNvSpPr txBox="1"/>
          <p:nvPr/>
        </p:nvSpPr>
        <p:spPr>
          <a:xfrm>
            <a:off x="0" y="828657"/>
            <a:ext cx="83424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Cómo ir de los datos                                       a una política de decisión?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" sz="1800">
                <a:solidFill>
                  <a:schemeClr val="dk1"/>
                </a:solidFill>
              </a:rPr>
              <a:t>Aprendiendo</a:t>
            </a:r>
            <a:r>
              <a:rPr b="1" lang="en" sz="1800">
                <a:solidFill>
                  <a:schemeClr val="dk1"/>
                </a:solidFill>
              </a:rPr>
              <a:t> un modelo</a:t>
            </a:r>
            <a:endParaRPr b="1"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Aprendizaje supervisionado:</a:t>
            </a:r>
            <a:endParaRPr sz="8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Programación dinámica con                </a:t>
            </a:r>
            <a:endParaRPr sz="18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→ función valor    , política  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" sz="1800">
                <a:solidFill>
                  <a:schemeClr val="dk1"/>
                </a:solidFill>
              </a:rPr>
              <a:t>Sin</a:t>
            </a:r>
            <a:r>
              <a:rPr b="1" lang="en" sz="1800">
                <a:solidFill>
                  <a:schemeClr val="dk1"/>
                </a:solidFill>
              </a:rPr>
              <a:t> modelo</a:t>
            </a:r>
            <a:endParaRPr b="1"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Aprender     y/o     directamente.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" sz="1800">
                <a:solidFill>
                  <a:schemeClr val="dk1"/>
                </a:solidFill>
              </a:rPr>
              <a:t>Aprendizaje por refuerzo</a:t>
            </a:r>
            <a:r>
              <a:rPr lang="en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&#10;%b2ec40be-a735-4635-8f85-29b8913da8e5" id="554" name="Google Shape;55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47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Aprendizaje por Refuerzo</a:t>
            </a:r>
            <a:endParaRPr sz="2500"/>
          </a:p>
        </p:txBody>
      </p:sp>
      <p:grpSp>
        <p:nvGrpSpPr>
          <p:cNvPr id="556" name="Google Shape;556;p47"/>
          <p:cNvGrpSpPr/>
          <p:nvPr/>
        </p:nvGrpSpPr>
        <p:grpSpPr>
          <a:xfrm rot="5400000">
            <a:off x="7385792" y="2405687"/>
            <a:ext cx="594733" cy="212400"/>
            <a:chOff x="2782535" y="3077633"/>
            <a:chExt cx="594733" cy="212400"/>
          </a:xfrm>
        </p:grpSpPr>
        <p:cxnSp>
          <p:nvCxnSpPr>
            <p:cNvPr id="557" name="Google Shape;557;p47"/>
            <p:cNvCxnSpPr/>
            <p:nvPr/>
          </p:nvCxnSpPr>
          <p:spPr>
            <a:xfrm flipH="1" rot="10800000">
              <a:off x="2782535" y="3178032"/>
              <a:ext cx="548700" cy="21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58" name="Google Shape;558;p47"/>
            <p:cNvSpPr/>
            <p:nvPr/>
          </p:nvSpPr>
          <p:spPr>
            <a:xfrm rot="5400000">
              <a:off x="3191118" y="3103883"/>
              <a:ext cx="212400" cy="1599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9" name="Google Shape;559;p47"/>
          <p:cNvSpPr txBox="1"/>
          <p:nvPr/>
        </p:nvSpPr>
        <p:spPr>
          <a:xfrm>
            <a:off x="7143084" y="2155075"/>
            <a:ext cx="209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</a:rPr>
              <a:t>Aprendizaje Supervisionado</a:t>
            </a:r>
            <a:endParaRPr b="1">
              <a:solidFill>
                <a:srgbClr val="595959"/>
              </a:solidFill>
            </a:endParaRPr>
          </a:p>
        </p:txBody>
      </p:sp>
      <p:sp>
        <p:nvSpPr>
          <p:cNvPr id="560" name="Google Shape;560;p47"/>
          <p:cNvSpPr txBox="1"/>
          <p:nvPr/>
        </p:nvSpPr>
        <p:spPr>
          <a:xfrm>
            <a:off x="7160366" y="3702110"/>
            <a:ext cx="19524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</a:rPr>
              <a:t>Programación Dinámica</a:t>
            </a:r>
            <a:endParaRPr b="1">
              <a:solidFill>
                <a:srgbClr val="595959"/>
              </a:solidFill>
            </a:endParaRPr>
          </a:p>
        </p:txBody>
      </p:sp>
      <p:grpSp>
        <p:nvGrpSpPr>
          <p:cNvPr id="561" name="Google Shape;561;p47"/>
          <p:cNvGrpSpPr/>
          <p:nvPr/>
        </p:nvGrpSpPr>
        <p:grpSpPr>
          <a:xfrm>
            <a:off x="6781527" y="2795184"/>
            <a:ext cx="1719000" cy="841200"/>
            <a:chOff x="7241200" y="2673850"/>
            <a:chExt cx="1719000" cy="841200"/>
          </a:xfrm>
        </p:grpSpPr>
        <p:sp>
          <p:nvSpPr>
            <p:cNvPr id="562" name="Google Shape;562;p47"/>
            <p:cNvSpPr/>
            <p:nvPr/>
          </p:nvSpPr>
          <p:spPr>
            <a:xfrm>
              <a:off x="7241200" y="2673850"/>
              <a:ext cx="1719000" cy="8412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47"/>
            <p:cNvSpPr txBox="1"/>
            <p:nvPr/>
          </p:nvSpPr>
          <p:spPr>
            <a:xfrm>
              <a:off x="7622650" y="2808942"/>
              <a:ext cx="9561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595959"/>
                  </a:solidFill>
                </a:rPr>
                <a:t>Modelo</a:t>
              </a:r>
              <a:endParaRPr b="1">
                <a:solidFill>
                  <a:srgbClr val="595959"/>
                </a:solidFill>
              </a:endParaRPr>
            </a:p>
          </p:txBody>
        </p:sp>
        <p:pic>
          <p:nvPicPr>
            <p:cNvPr descr="\hat P, \hat r&#10;%4fb54901-efd2-4919-b2cd-cd8e2ed1c8a4" id="564" name="Google Shape;564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34013" y="3060247"/>
              <a:ext cx="333375" cy="2571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(S, A, \hat P, \hat r)&#10;%134b934c-c741-4c42-9716-0198a4e0f9a2" id="565" name="Google Shape;565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83583" y="3098912"/>
            <a:ext cx="9525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hat u&#10;%6527a728-9297-4cc6-bc00-07999d9572ea" id="566" name="Google Shape;566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52360" y="3441837"/>
            <a:ext cx="12382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47"/>
          <p:cNvSpPr txBox="1"/>
          <p:nvPr/>
        </p:nvSpPr>
        <p:spPr>
          <a:xfrm>
            <a:off x="4769138" y="2116858"/>
            <a:ext cx="19524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</a:rPr>
              <a:t>Aprendizaje por Refuerzo</a:t>
            </a:r>
            <a:endParaRPr b="1">
              <a:solidFill>
                <a:srgbClr val="595959"/>
              </a:solidFill>
            </a:endParaRPr>
          </a:p>
        </p:txBody>
      </p:sp>
      <p:pic>
        <p:nvPicPr>
          <p:cNvPr descr="\hat V&#10;&#10;%14d0f7e3-8427-4cc6-8ba2-70f3843d63f1" id="568" name="Google Shape;568;p4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76401" y="3391678"/>
            <a:ext cx="161925" cy="219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9" name="Google Shape;569;p47"/>
          <p:cNvGrpSpPr/>
          <p:nvPr/>
        </p:nvGrpSpPr>
        <p:grpSpPr>
          <a:xfrm rot="5400000">
            <a:off x="7389527" y="3824612"/>
            <a:ext cx="594733" cy="212400"/>
            <a:chOff x="2782535" y="3077633"/>
            <a:chExt cx="594733" cy="212400"/>
          </a:xfrm>
        </p:grpSpPr>
        <p:cxnSp>
          <p:nvCxnSpPr>
            <p:cNvPr id="570" name="Google Shape;570;p47"/>
            <p:cNvCxnSpPr/>
            <p:nvPr/>
          </p:nvCxnSpPr>
          <p:spPr>
            <a:xfrm flipH="1" rot="10800000">
              <a:off x="2782535" y="3178032"/>
              <a:ext cx="548700" cy="21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71" name="Google Shape;571;p47"/>
            <p:cNvSpPr/>
            <p:nvPr/>
          </p:nvSpPr>
          <p:spPr>
            <a:xfrm rot="5400000">
              <a:off x="3191118" y="3103883"/>
              <a:ext cx="212400" cy="1599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(x_i,a_i,r_i,x_i^+),~i=1,...,n&#10;%0429a43d-4df0-4488-a52f-508be25bb5d7" id="572" name="Google Shape;572;p4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85926" y="963271"/>
            <a:ext cx="23241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array}{rcl}&#10;\hat{r}(x) &amp; = &amp; \frac{\sum_{i:~x_i=x} r_i}{\sum_{i:~x_i=x} 1}\\&#10;\end{array}&#10;%dc520a92-81d6-4d36-aef3-f020f43677da" id="573" name="Google Shape;573;p4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40659" y="1944505"/>
            <a:ext cx="16383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hat u&#10;%6527a728-9297-4cc6-bc00-07999d9572ea" id="574" name="Google Shape;574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36985" y="4256761"/>
            <a:ext cx="1238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hat V&#10;&#10;%14d0f7e3-8427-4cc6-8ba2-70f3843d63f1" id="575" name="Google Shape;575;p4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89598" y="4225687"/>
            <a:ext cx="161925" cy="219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6" name="Google Shape;576;p47"/>
          <p:cNvGrpSpPr/>
          <p:nvPr/>
        </p:nvGrpSpPr>
        <p:grpSpPr>
          <a:xfrm>
            <a:off x="6525060" y="1354842"/>
            <a:ext cx="1975326" cy="841200"/>
            <a:chOff x="6939073" y="1452955"/>
            <a:chExt cx="1975326" cy="841200"/>
          </a:xfrm>
        </p:grpSpPr>
        <p:sp>
          <p:nvSpPr>
            <p:cNvPr id="577" name="Google Shape;577;p47"/>
            <p:cNvSpPr/>
            <p:nvPr/>
          </p:nvSpPr>
          <p:spPr>
            <a:xfrm>
              <a:off x="7195399" y="1452955"/>
              <a:ext cx="1719000" cy="8412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47"/>
            <p:cNvSpPr txBox="1"/>
            <p:nvPr/>
          </p:nvSpPr>
          <p:spPr>
            <a:xfrm>
              <a:off x="6939073" y="1496063"/>
              <a:ext cx="1815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595959"/>
                  </a:solidFill>
                </a:rPr>
                <a:t>Experiencias</a:t>
              </a:r>
              <a:endParaRPr b="1">
                <a:solidFill>
                  <a:srgbClr val="595959"/>
                </a:solidFill>
              </a:endParaRPr>
            </a:p>
          </p:txBody>
        </p:sp>
        <p:pic>
          <p:nvPicPr>
            <p:cNvPr descr="(x_i, a_i, r_i, x_i^+)&#10;%936c4b92-bdcd-4f4b-9410-3bb0f3f66cf8" id="579" name="Google Shape;579;p47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7464349" y="1762143"/>
              <a:ext cx="1181100" cy="22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 = 1,...,n&#10;%2a3e6504-078b-4df2-8fb8-4db46ee3e516" id="580" name="Google Shape;580;p47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7550074" y="2004942"/>
              <a:ext cx="1009650" cy="180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81" name="Google Shape;581;p47"/>
          <p:cNvGrpSpPr/>
          <p:nvPr/>
        </p:nvGrpSpPr>
        <p:grpSpPr>
          <a:xfrm>
            <a:off x="6782427" y="4235525"/>
            <a:ext cx="1717200" cy="836700"/>
            <a:chOff x="7060325" y="3930725"/>
            <a:chExt cx="1717200" cy="836700"/>
          </a:xfrm>
        </p:grpSpPr>
        <p:sp>
          <p:nvSpPr>
            <p:cNvPr id="582" name="Google Shape;582;p47"/>
            <p:cNvSpPr/>
            <p:nvPr/>
          </p:nvSpPr>
          <p:spPr>
            <a:xfrm>
              <a:off x="7060325" y="3930725"/>
              <a:ext cx="1717200" cy="8367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83" name="Google Shape;583;p47"/>
            <p:cNvGrpSpPr/>
            <p:nvPr/>
          </p:nvGrpSpPr>
          <p:grpSpPr>
            <a:xfrm>
              <a:off x="7083634" y="4086500"/>
              <a:ext cx="1527442" cy="387000"/>
              <a:chOff x="6929587" y="4315100"/>
              <a:chExt cx="1527442" cy="387000"/>
            </a:xfrm>
          </p:grpSpPr>
          <p:sp>
            <p:nvSpPr>
              <p:cNvPr id="584" name="Google Shape;584;p47"/>
              <p:cNvSpPr txBox="1"/>
              <p:nvPr/>
            </p:nvSpPr>
            <p:spPr>
              <a:xfrm>
                <a:off x="6929587" y="4315100"/>
                <a:ext cx="1460400" cy="38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rgbClr val="595959"/>
                    </a:solidFill>
                  </a:rPr>
                  <a:t>Función Valor</a:t>
                </a:r>
                <a:endParaRPr b="1">
                  <a:solidFill>
                    <a:srgbClr val="595959"/>
                  </a:solidFill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pic>
            <p:nvPicPr>
              <p:cNvPr descr="\hat V&#10;&#10;%14d0f7e3-8427-4cc6-8ba2-70f3843d63f1" id="585" name="Google Shape;585;p47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8295104" y="4364865"/>
                <a:ext cx="161925" cy="2190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86" name="Google Shape;586;p47"/>
            <p:cNvGrpSpPr/>
            <p:nvPr/>
          </p:nvGrpSpPr>
          <p:grpSpPr>
            <a:xfrm>
              <a:off x="7418296" y="4290950"/>
              <a:ext cx="944000" cy="400200"/>
              <a:chOff x="7217175" y="4519550"/>
              <a:chExt cx="944000" cy="400200"/>
            </a:xfrm>
          </p:grpSpPr>
          <p:pic>
            <p:nvPicPr>
              <p:cNvPr descr="\hat u&#10;%6527a728-9297-4cc6-bc00-07999d9572ea" id="587" name="Google Shape;587;p47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8037351" y="4605453"/>
                <a:ext cx="123825" cy="1714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88" name="Google Shape;588;p47"/>
              <p:cNvSpPr txBox="1"/>
              <p:nvPr/>
            </p:nvSpPr>
            <p:spPr>
              <a:xfrm>
                <a:off x="7217175" y="4519550"/>
                <a:ext cx="8673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chemeClr val="dk2"/>
                    </a:solidFill>
                  </a:rPr>
                  <a:t>Política</a:t>
                </a:r>
                <a:endParaRPr b="1"/>
              </a:p>
            </p:txBody>
          </p:sp>
        </p:grpSp>
      </p:grpSp>
      <p:sp>
        <p:nvSpPr>
          <p:cNvPr id="589" name="Google Shape;589;p47"/>
          <p:cNvSpPr/>
          <p:nvPr/>
        </p:nvSpPr>
        <p:spPr>
          <a:xfrm>
            <a:off x="5925307" y="2217250"/>
            <a:ext cx="1719950" cy="2328425"/>
          </a:xfrm>
          <a:custGeom>
            <a:rect b="b" l="l" r="r" t="t"/>
            <a:pathLst>
              <a:path extrusionOk="0" h="93137" w="68798">
                <a:moveTo>
                  <a:pt x="68798" y="0"/>
                </a:moveTo>
                <a:cubicBezTo>
                  <a:pt x="59065" y="4072"/>
                  <a:pt x="21530" y="12851"/>
                  <a:pt x="10397" y="24429"/>
                </a:cubicBezTo>
                <a:cubicBezTo>
                  <a:pt x="-736" y="36008"/>
                  <a:pt x="-1753" y="58020"/>
                  <a:pt x="2000" y="69471"/>
                </a:cubicBezTo>
                <a:cubicBezTo>
                  <a:pt x="5754" y="80922"/>
                  <a:pt x="27765" y="89193"/>
                  <a:pt x="32918" y="9313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90" name="Google Shape;590;p47"/>
          <p:cNvSpPr/>
          <p:nvPr/>
        </p:nvSpPr>
        <p:spPr>
          <a:xfrm rot="7208754">
            <a:off x="6596033" y="4420986"/>
            <a:ext cx="212663" cy="159821"/>
          </a:xfrm>
          <a:prstGeom prst="triangle">
            <a:avLst>
              <a:gd fmla="val 50000" name="adj"/>
            </a:avLst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\hat{P}(x,y) = \frac{\sum_{i:~x_i = x,~x_i^+ = y} 1}{\sum_{i:~x_i = x} 1}&#10;&#10;%6736b6f5-1d25-4209-83e0-5e70eae57942" id="591" name="Google Shape;591;p4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421565" y="2510000"/>
            <a:ext cx="1876425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596" name="Google Shape;59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48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Aprendizaje por Refuerzo: </a:t>
            </a:r>
            <a:r>
              <a:rPr lang="en" sz="2500"/>
              <a:t>Por Qué </a:t>
            </a:r>
            <a:r>
              <a:rPr lang="en" sz="2500"/>
              <a:t>?</a:t>
            </a:r>
            <a:endParaRPr sz="2500"/>
          </a:p>
        </p:txBody>
      </p:sp>
      <p:sp>
        <p:nvSpPr>
          <p:cNvPr id="598" name="Google Shape;598;p48"/>
          <p:cNvSpPr txBox="1"/>
          <p:nvPr/>
        </p:nvSpPr>
        <p:spPr>
          <a:xfrm>
            <a:off x="0" y="838200"/>
            <a:ext cx="90864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Única opción cuando no es posible construir un modelo: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Necesitamos aprender sobre el ambiente y tomar decisiones en tiempo real</a:t>
            </a:r>
            <a:endParaRPr sz="1800">
              <a:solidFill>
                <a:schemeClr val="dk1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Problema enfrentado por seres humanos y animales!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El comportamiento del ambiente está sujeto a cambios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603" name="Google Shape;60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9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Aprendizaje por Refuerzo: Por Qué ?</a:t>
            </a:r>
            <a:endParaRPr sz="2500"/>
          </a:p>
        </p:txBody>
      </p:sp>
      <p:sp>
        <p:nvSpPr>
          <p:cNvPr id="605" name="Google Shape;605;p49"/>
          <p:cNvSpPr txBox="1"/>
          <p:nvPr/>
        </p:nvSpPr>
        <p:spPr>
          <a:xfrm>
            <a:off x="0" y="838200"/>
            <a:ext cx="90864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Única opción cuando no es posible construir un modelo: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Necesitamos aprender sobre el ambiente y tomar decisiones en tiempo real</a:t>
            </a:r>
            <a:endParaRPr sz="1800">
              <a:solidFill>
                <a:schemeClr val="dk1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Problema enfrentado por seres humanos y animales!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El comportamiento del ambiente está sujeto a cambios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Menos suposiciones sobre el modelo del ambiente → sistema más robusto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610" name="Google Shape;61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50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Aprendizaje por Refuerzo: Por Qué ?</a:t>
            </a:r>
            <a:endParaRPr sz="2500"/>
          </a:p>
        </p:txBody>
      </p:sp>
      <p:sp>
        <p:nvSpPr>
          <p:cNvPr id="612" name="Google Shape;612;p50"/>
          <p:cNvSpPr txBox="1"/>
          <p:nvPr/>
        </p:nvSpPr>
        <p:spPr>
          <a:xfrm>
            <a:off x="0" y="838200"/>
            <a:ext cx="90864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Única opción cuando no es posible construir un modelo: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Necesitamos aprender sobre el ambiente y tomar decisiones en tiempo real</a:t>
            </a:r>
            <a:endParaRPr sz="1800">
              <a:solidFill>
                <a:schemeClr val="dk1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Problema enfrentado por seres humanos y animales!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El comportamiento del ambiente está sujeto a cambios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Menos suposiciones sobre el modelo del ambiente → sistema más robusto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También útil en situaciones donde tenemos acceso a un modelo: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Modelo explícito y conocido, pero no puede ser tratado analíticamente</a:t>
            </a:r>
            <a:endParaRPr sz="18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617" name="Google Shape;617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51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Aprendizaje por Refuerzo: Por Qué ?</a:t>
            </a:r>
            <a:endParaRPr sz="2500"/>
          </a:p>
        </p:txBody>
      </p:sp>
      <p:sp>
        <p:nvSpPr>
          <p:cNvPr id="619" name="Google Shape;619;p51"/>
          <p:cNvSpPr txBox="1"/>
          <p:nvPr/>
        </p:nvSpPr>
        <p:spPr>
          <a:xfrm>
            <a:off x="0" y="838200"/>
            <a:ext cx="90864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Única opción cuando no es posible construir un modelo: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Necesitamos aprender sobre el ambiente y tomar decisiones en tiempo real</a:t>
            </a:r>
            <a:endParaRPr sz="1800">
              <a:solidFill>
                <a:schemeClr val="dk1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Problema enfrentado por seres humanos y animales!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El comportamiento del ambiente está sujeto a cambios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Menos suposiciones sobre el modelo del ambiente → sistema más robusto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También útil en situaciones donde tenemos acceso a un modelo: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Modelo explícito y conocido, pero no puede ser tratado analíticamente</a:t>
            </a:r>
            <a:endParaRPr sz="1800">
              <a:solidFill>
                <a:schemeClr val="dk1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Sistema demasiado grande, almacenamiento de matrices y cálculos difícil o imposible → “Maldición de la dimensionalidad”</a:t>
            </a:r>
            <a:endParaRPr sz="1800">
              <a:solidFill>
                <a:schemeClr val="dk1"/>
              </a:solidFill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624" name="Google Shape;62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52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Aprendizaje por Refuerzo: Por Qué ?</a:t>
            </a:r>
            <a:endParaRPr sz="2500"/>
          </a:p>
        </p:txBody>
      </p:sp>
      <p:sp>
        <p:nvSpPr>
          <p:cNvPr id="626" name="Google Shape;626;p52"/>
          <p:cNvSpPr txBox="1"/>
          <p:nvPr/>
        </p:nvSpPr>
        <p:spPr>
          <a:xfrm>
            <a:off x="0" y="838200"/>
            <a:ext cx="90864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Única opción cuando no es posible construir un modelo: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Necesitamos aprender sobre el ambiente y tomar decisiones en tiempo real</a:t>
            </a:r>
            <a:endParaRPr sz="1800">
              <a:solidFill>
                <a:schemeClr val="dk1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Problema enfrentado por seres humanos y animales!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El comportamiento del ambiente está sujeto a cambios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Menos suposiciones sobre el modelo del ambiente → sistema más robusto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También útil en situaciones donde tenemos acceso a un modelo: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Modelo explícito y conocido, pero no puede ser tratado analíticamente</a:t>
            </a:r>
            <a:endParaRPr sz="1800">
              <a:solidFill>
                <a:schemeClr val="dk1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Sistema demasiado grande, almacenamiento de matrices y cálculos difícil o imposible</a:t>
            </a:r>
            <a:r>
              <a:rPr lang="en" sz="1800">
                <a:solidFill>
                  <a:schemeClr val="dk1"/>
                </a:solidFill>
              </a:rPr>
              <a:t> → “Maldición de la dimensionalidad”</a:t>
            </a:r>
            <a:endParaRPr sz="1800">
              <a:solidFill>
                <a:schemeClr val="dk1"/>
              </a:solidFill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Modelo disponible solo a través de un simulador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631" name="Google Shape;63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53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Aprendizaje por Refuerzo: Cómo?</a:t>
            </a:r>
            <a:endParaRPr sz="2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633" name="Google Shape;633;p53"/>
          <p:cNvSpPr txBox="1"/>
          <p:nvPr/>
        </p:nvSpPr>
        <p:spPr>
          <a:xfrm>
            <a:off x="90900" y="1118450"/>
            <a:ext cx="89622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en" sz="1800">
                <a:solidFill>
                  <a:schemeClr val="dk1"/>
                </a:solidFill>
              </a:rPr>
              <a:t>Estimación de la función valor 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grpSp>
        <p:nvGrpSpPr>
          <p:cNvPr id="634" name="Google Shape;634;p53"/>
          <p:cNvGrpSpPr/>
          <p:nvPr/>
        </p:nvGrpSpPr>
        <p:grpSpPr>
          <a:xfrm rot="5400000">
            <a:off x="7149842" y="2564870"/>
            <a:ext cx="1966333" cy="212400"/>
            <a:chOff x="1410935" y="3077633"/>
            <a:chExt cx="1966333" cy="212400"/>
          </a:xfrm>
        </p:grpSpPr>
        <p:cxnSp>
          <p:nvCxnSpPr>
            <p:cNvPr id="635" name="Google Shape;635;p53"/>
            <p:cNvCxnSpPr/>
            <p:nvPr/>
          </p:nvCxnSpPr>
          <p:spPr>
            <a:xfrm flipH="1" rot="10800000">
              <a:off x="1410935" y="3178032"/>
              <a:ext cx="1828800" cy="21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36" name="Google Shape;636;p53"/>
            <p:cNvSpPr/>
            <p:nvPr/>
          </p:nvSpPr>
          <p:spPr>
            <a:xfrm rot="5400000">
              <a:off x="3191118" y="3103883"/>
              <a:ext cx="212400" cy="1599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7" name="Google Shape;637;p53"/>
          <p:cNvGrpSpPr/>
          <p:nvPr/>
        </p:nvGrpSpPr>
        <p:grpSpPr>
          <a:xfrm>
            <a:off x="7061701" y="1084470"/>
            <a:ext cx="1975326" cy="841200"/>
            <a:chOff x="6939073" y="1452955"/>
            <a:chExt cx="1975326" cy="841200"/>
          </a:xfrm>
        </p:grpSpPr>
        <p:sp>
          <p:nvSpPr>
            <p:cNvPr id="638" name="Google Shape;638;p53"/>
            <p:cNvSpPr/>
            <p:nvPr/>
          </p:nvSpPr>
          <p:spPr>
            <a:xfrm>
              <a:off x="7195399" y="1452955"/>
              <a:ext cx="1719000" cy="8412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53"/>
            <p:cNvSpPr txBox="1"/>
            <p:nvPr/>
          </p:nvSpPr>
          <p:spPr>
            <a:xfrm>
              <a:off x="6939073" y="1496063"/>
              <a:ext cx="1815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595959"/>
                  </a:solidFill>
                </a:rPr>
                <a:t>Experiencias</a:t>
              </a:r>
              <a:endParaRPr b="1">
                <a:solidFill>
                  <a:srgbClr val="595959"/>
                </a:solidFill>
              </a:endParaRPr>
            </a:p>
          </p:txBody>
        </p:sp>
        <p:pic>
          <p:nvPicPr>
            <p:cNvPr descr="(x_i, a_i, r_i, x_i^+)&#10;%936c4b92-bdcd-4f4b-9410-3bb0f3f66cf8" id="640" name="Google Shape;640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464349" y="1762143"/>
              <a:ext cx="1181100" cy="22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 = 1,...,n&#10;%2a3e6504-078b-4df2-8fb8-4db46ee3e516" id="641" name="Google Shape;641;p5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550074" y="2004942"/>
              <a:ext cx="1009650" cy="180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42" name="Google Shape;642;p53"/>
          <p:cNvGrpSpPr/>
          <p:nvPr/>
        </p:nvGrpSpPr>
        <p:grpSpPr>
          <a:xfrm>
            <a:off x="7274402" y="3711570"/>
            <a:ext cx="1717200" cy="836700"/>
            <a:chOff x="7060325" y="3930725"/>
            <a:chExt cx="1717200" cy="836700"/>
          </a:xfrm>
        </p:grpSpPr>
        <p:sp>
          <p:nvSpPr>
            <p:cNvPr id="643" name="Google Shape;643;p53"/>
            <p:cNvSpPr/>
            <p:nvPr/>
          </p:nvSpPr>
          <p:spPr>
            <a:xfrm>
              <a:off x="7060325" y="3930725"/>
              <a:ext cx="1717200" cy="8367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44" name="Google Shape;644;p53"/>
            <p:cNvGrpSpPr/>
            <p:nvPr/>
          </p:nvGrpSpPr>
          <p:grpSpPr>
            <a:xfrm>
              <a:off x="7083634" y="4086500"/>
              <a:ext cx="1527442" cy="387000"/>
              <a:chOff x="6929587" y="4315100"/>
              <a:chExt cx="1527442" cy="387000"/>
            </a:xfrm>
          </p:grpSpPr>
          <p:sp>
            <p:nvSpPr>
              <p:cNvPr id="645" name="Google Shape;645;p53"/>
              <p:cNvSpPr txBox="1"/>
              <p:nvPr/>
            </p:nvSpPr>
            <p:spPr>
              <a:xfrm>
                <a:off x="6929587" y="4315100"/>
                <a:ext cx="1460400" cy="38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rgbClr val="595959"/>
                    </a:solidFill>
                  </a:rPr>
                  <a:t>Función Valor</a:t>
                </a:r>
                <a:endParaRPr b="1">
                  <a:solidFill>
                    <a:srgbClr val="595959"/>
                  </a:solidFill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pic>
            <p:nvPicPr>
              <p:cNvPr descr="\hat V&#10;&#10;%14d0f7e3-8427-4cc6-8ba2-70f3843d63f1" id="646" name="Google Shape;646;p53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8295104" y="4364865"/>
                <a:ext cx="161925" cy="2190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47" name="Google Shape;647;p53"/>
            <p:cNvGrpSpPr/>
            <p:nvPr/>
          </p:nvGrpSpPr>
          <p:grpSpPr>
            <a:xfrm>
              <a:off x="7418296" y="4290950"/>
              <a:ext cx="944000" cy="400200"/>
              <a:chOff x="7217175" y="4519550"/>
              <a:chExt cx="944000" cy="400200"/>
            </a:xfrm>
          </p:grpSpPr>
          <p:pic>
            <p:nvPicPr>
              <p:cNvPr descr="\hat u&#10;%6527a728-9297-4cc6-bc00-07999d9572ea" id="648" name="Google Shape;648;p53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8037351" y="4605453"/>
                <a:ext cx="123825" cy="1714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49" name="Google Shape;649;p53"/>
              <p:cNvSpPr txBox="1"/>
              <p:nvPr/>
            </p:nvSpPr>
            <p:spPr>
              <a:xfrm>
                <a:off x="7217175" y="4519550"/>
                <a:ext cx="8673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chemeClr val="dk2"/>
                    </a:solidFill>
                  </a:rPr>
                  <a:t>Política</a:t>
                </a:r>
                <a:endParaRPr b="1"/>
              </a:p>
            </p:txBody>
          </p:sp>
        </p:grpSp>
      </p:grpSp>
      <p:pic>
        <p:nvPicPr>
          <p:cNvPr descr="\hat V&#10;&#10;%14d0f7e3-8427-4cc6-8ba2-70f3843d63f1" id="650" name="Google Shape;650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41798" y="1214172"/>
            <a:ext cx="16192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655" name="Google Shape;65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54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Aprendizaje por Refuerzo: Cómo?</a:t>
            </a:r>
            <a:endParaRPr sz="2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657" name="Google Shape;657;p54"/>
          <p:cNvSpPr txBox="1"/>
          <p:nvPr/>
        </p:nvSpPr>
        <p:spPr>
          <a:xfrm>
            <a:off x="90900" y="1118450"/>
            <a:ext cx="89622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en" sz="1800">
                <a:solidFill>
                  <a:schemeClr val="dk1"/>
                </a:solidFill>
              </a:rPr>
              <a:t>Estimación de la función valor 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Aprendizaje supervisionado/Monte Carlo </a:t>
            </a:r>
            <a:r>
              <a:rPr lang="en" sz="1800">
                <a:solidFill>
                  <a:schemeClr val="dk1"/>
                </a:solidFill>
              </a:rPr>
              <a:t>en el caso de MRP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Versiones de iteración de valor o iteración de políticas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grpSp>
        <p:nvGrpSpPr>
          <p:cNvPr id="658" name="Google Shape;658;p54"/>
          <p:cNvGrpSpPr/>
          <p:nvPr/>
        </p:nvGrpSpPr>
        <p:grpSpPr>
          <a:xfrm rot="5400000">
            <a:off x="7149842" y="2564870"/>
            <a:ext cx="1966333" cy="212400"/>
            <a:chOff x="1410935" y="3077633"/>
            <a:chExt cx="1966333" cy="212400"/>
          </a:xfrm>
        </p:grpSpPr>
        <p:cxnSp>
          <p:nvCxnSpPr>
            <p:cNvPr id="659" name="Google Shape;659;p54"/>
            <p:cNvCxnSpPr/>
            <p:nvPr/>
          </p:nvCxnSpPr>
          <p:spPr>
            <a:xfrm flipH="1" rot="10800000">
              <a:off x="1410935" y="3178032"/>
              <a:ext cx="1828800" cy="21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60" name="Google Shape;660;p54"/>
            <p:cNvSpPr/>
            <p:nvPr/>
          </p:nvSpPr>
          <p:spPr>
            <a:xfrm rot="5400000">
              <a:off x="3191118" y="3103883"/>
              <a:ext cx="212400" cy="1599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1" name="Google Shape;661;p54"/>
          <p:cNvGrpSpPr/>
          <p:nvPr/>
        </p:nvGrpSpPr>
        <p:grpSpPr>
          <a:xfrm>
            <a:off x="7061701" y="1084470"/>
            <a:ext cx="1975326" cy="841200"/>
            <a:chOff x="6939073" y="1452955"/>
            <a:chExt cx="1975326" cy="841200"/>
          </a:xfrm>
        </p:grpSpPr>
        <p:sp>
          <p:nvSpPr>
            <p:cNvPr id="662" name="Google Shape;662;p54"/>
            <p:cNvSpPr/>
            <p:nvPr/>
          </p:nvSpPr>
          <p:spPr>
            <a:xfrm>
              <a:off x="7195399" y="1452955"/>
              <a:ext cx="1719000" cy="8412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54"/>
            <p:cNvSpPr txBox="1"/>
            <p:nvPr/>
          </p:nvSpPr>
          <p:spPr>
            <a:xfrm>
              <a:off x="6939073" y="1496063"/>
              <a:ext cx="1815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595959"/>
                  </a:solidFill>
                </a:rPr>
                <a:t>Experiencias</a:t>
              </a:r>
              <a:endParaRPr b="1">
                <a:solidFill>
                  <a:srgbClr val="595959"/>
                </a:solidFill>
              </a:endParaRPr>
            </a:p>
          </p:txBody>
        </p:sp>
        <p:pic>
          <p:nvPicPr>
            <p:cNvPr descr="(x_i, a_i, r_i, x_i^+)&#10;%936c4b92-bdcd-4f4b-9410-3bb0f3f66cf8" id="664" name="Google Shape;664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464349" y="1762143"/>
              <a:ext cx="1181100" cy="22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 = 1,...,n&#10;%2a3e6504-078b-4df2-8fb8-4db46ee3e516" id="665" name="Google Shape;665;p5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550074" y="2004942"/>
              <a:ext cx="1009650" cy="180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66" name="Google Shape;666;p54"/>
          <p:cNvGrpSpPr/>
          <p:nvPr/>
        </p:nvGrpSpPr>
        <p:grpSpPr>
          <a:xfrm>
            <a:off x="7274402" y="3711570"/>
            <a:ext cx="1717200" cy="836700"/>
            <a:chOff x="7060325" y="3930725"/>
            <a:chExt cx="1717200" cy="836700"/>
          </a:xfrm>
        </p:grpSpPr>
        <p:sp>
          <p:nvSpPr>
            <p:cNvPr id="667" name="Google Shape;667;p54"/>
            <p:cNvSpPr/>
            <p:nvPr/>
          </p:nvSpPr>
          <p:spPr>
            <a:xfrm>
              <a:off x="7060325" y="3930725"/>
              <a:ext cx="1717200" cy="8367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68" name="Google Shape;668;p54"/>
            <p:cNvGrpSpPr/>
            <p:nvPr/>
          </p:nvGrpSpPr>
          <p:grpSpPr>
            <a:xfrm>
              <a:off x="7083634" y="4086500"/>
              <a:ext cx="1527442" cy="387000"/>
              <a:chOff x="6929587" y="4315100"/>
              <a:chExt cx="1527442" cy="387000"/>
            </a:xfrm>
          </p:grpSpPr>
          <p:sp>
            <p:nvSpPr>
              <p:cNvPr id="669" name="Google Shape;669;p54"/>
              <p:cNvSpPr txBox="1"/>
              <p:nvPr/>
            </p:nvSpPr>
            <p:spPr>
              <a:xfrm>
                <a:off x="6929587" y="4315100"/>
                <a:ext cx="1460400" cy="38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rgbClr val="595959"/>
                    </a:solidFill>
                  </a:rPr>
                  <a:t>Función Valor</a:t>
                </a:r>
                <a:endParaRPr b="1">
                  <a:solidFill>
                    <a:srgbClr val="595959"/>
                  </a:solidFill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pic>
            <p:nvPicPr>
              <p:cNvPr descr="\hat V&#10;&#10;%14d0f7e3-8427-4cc6-8ba2-70f3843d63f1" id="670" name="Google Shape;670;p54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8295104" y="4364865"/>
                <a:ext cx="161925" cy="2190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71" name="Google Shape;671;p54"/>
            <p:cNvGrpSpPr/>
            <p:nvPr/>
          </p:nvGrpSpPr>
          <p:grpSpPr>
            <a:xfrm>
              <a:off x="7418296" y="4290950"/>
              <a:ext cx="944000" cy="400200"/>
              <a:chOff x="7217175" y="4519550"/>
              <a:chExt cx="944000" cy="400200"/>
            </a:xfrm>
          </p:grpSpPr>
          <p:pic>
            <p:nvPicPr>
              <p:cNvPr descr="\hat u&#10;%6527a728-9297-4cc6-bc00-07999d9572ea" id="672" name="Google Shape;672;p54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8037351" y="4605453"/>
                <a:ext cx="123825" cy="1714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73" name="Google Shape;673;p54"/>
              <p:cNvSpPr txBox="1"/>
              <p:nvPr/>
            </p:nvSpPr>
            <p:spPr>
              <a:xfrm>
                <a:off x="7217175" y="4519550"/>
                <a:ext cx="8673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chemeClr val="dk2"/>
                    </a:solidFill>
                  </a:rPr>
                  <a:t>Política</a:t>
                </a:r>
                <a:endParaRPr b="1"/>
              </a:p>
            </p:txBody>
          </p:sp>
        </p:grpSp>
      </p:grpSp>
      <p:pic>
        <p:nvPicPr>
          <p:cNvPr descr="\hat V&#10;&#10;%14d0f7e3-8427-4cc6-8ba2-70f3843d63f1" id="674" name="Google Shape;674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41798" y="1214172"/>
            <a:ext cx="16192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679" name="Google Shape;679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55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Aprendizaje por Refuerzo: Cómo?</a:t>
            </a:r>
            <a:endParaRPr sz="2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681" name="Google Shape;681;p55"/>
          <p:cNvSpPr txBox="1"/>
          <p:nvPr/>
        </p:nvSpPr>
        <p:spPr>
          <a:xfrm>
            <a:off x="90900" y="1118450"/>
            <a:ext cx="89622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en" sz="1800">
                <a:solidFill>
                  <a:schemeClr val="dk1"/>
                </a:solidFill>
              </a:rPr>
              <a:t>Estimación de la función valor 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Aprendizaje supervisionado/Monte Carlo </a:t>
            </a:r>
            <a:r>
              <a:rPr lang="en" sz="1800">
                <a:solidFill>
                  <a:schemeClr val="dk1"/>
                </a:solidFill>
              </a:rPr>
              <a:t>en el caso de MRP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Versiones de iteración de valor o iteración de políticas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en" sz="1800">
                <a:solidFill>
                  <a:schemeClr val="dk1"/>
                </a:solidFill>
              </a:rPr>
              <a:t>Optimización directa de la política 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Consideramos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grpSp>
        <p:nvGrpSpPr>
          <p:cNvPr id="682" name="Google Shape;682;p55"/>
          <p:cNvGrpSpPr/>
          <p:nvPr/>
        </p:nvGrpSpPr>
        <p:grpSpPr>
          <a:xfrm rot="5400000">
            <a:off x="7149842" y="2564870"/>
            <a:ext cx="1966333" cy="212400"/>
            <a:chOff x="1410935" y="3077633"/>
            <a:chExt cx="1966333" cy="212400"/>
          </a:xfrm>
        </p:grpSpPr>
        <p:cxnSp>
          <p:nvCxnSpPr>
            <p:cNvPr id="683" name="Google Shape;683;p55"/>
            <p:cNvCxnSpPr/>
            <p:nvPr/>
          </p:nvCxnSpPr>
          <p:spPr>
            <a:xfrm flipH="1" rot="10800000">
              <a:off x="1410935" y="3178032"/>
              <a:ext cx="1828800" cy="21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84" name="Google Shape;684;p55"/>
            <p:cNvSpPr/>
            <p:nvPr/>
          </p:nvSpPr>
          <p:spPr>
            <a:xfrm rot="5400000">
              <a:off x="3191118" y="3103883"/>
              <a:ext cx="212400" cy="1599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5" name="Google Shape;685;p55"/>
          <p:cNvGrpSpPr/>
          <p:nvPr/>
        </p:nvGrpSpPr>
        <p:grpSpPr>
          <a:xfrm>
            <a:off x="7061701" y="1084470"/>
            <a:ext cx="1975326" cy="841200"/>
            <a:chOff x="6939073" y="1452955"/>
            <a:chExt cx="1975326" cy="841200"/>
          </a:xfrm>
        </p:grpSpPr>
        <p:sp>
          <p:nvSpPr>
            <p:cNvPr id="686" name="Google Shape;686;p55"/>
            <p:cNvSpPr/>
            <p:nvPr/>
          </p:nvSpPr>
          <p:spPr>
            <a:xfrm>
              <a:off x="7195399" y="1452955"/>
              <a:ext cx="1719000" cy="8412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55"/>
            <p:cNvSpPr txBox="1"/>
            <p:nvPr/>
          </p:nvSpPr>
          <p:spPr>
            <a:xfrm>
              <a:off x="6939073" y="1496063"/>
              <a:ext cx="1815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595959"/>
                  </a:solidFill>
                </a:rPr>
                <a:t>Experiencias</a:t>
              </a:r>
              <a:endParaRPr b="1">
                <a:solidFill>
                  <a:srgbClr val="595959"/>
                </a:solidFill>
              </a:endParaRPr>
            </a:p>
          </p:txBody>
        </p:sp>
        <p:pic>
          <p:nvPicPr>
            <p:cNvPr descr="(x_i, a_i, r_i, x_i^+)&#10;%936c4b92-bdcd-4f4b-9410-3bb0f3f66cf8" id="688" name="Google Shape;688;p5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464349" y="1762143"/>
              <a:ext cx="1181100" cy="22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 = 1,...,n&#10;%2a3e6504-078b-4df2-8fb8-4db46ee3e516" id="689" name="Google Shape;689;p5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550074" y="2004942"/>
              <a:ext cx="1009650" cy="180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90" name="Google Shape;690;p55"/>
          <p:cNvGrpSpPr/>
          <p:nvPr/>
        </p:nvGrpSpPr>
        <p:grpSpPr>
          <a:xfrm>
            <a:off x="7274402" y="3711570"/>
            <a:ext cx="1717200" cy="836700"/>
            <a:chOff x="7060325" y="3930725"/>
            <a:chExt cx="1717200" cy="836700"/>
          </a:xfrm>
        </p:grpSpPr>
        <p:sp>
          <p:nvSpPr>
            <p:cNvPr id="691" name="Google Shape;691;p55"/>
            <p:cNvSpPr/>
            <p:nvPr/>
          </p:nvSpPr>
          <p:spPr>
            <a:xfrm>
              <a:off x="7060325" y="3930725"/>
              <a:ext cx="1717200" cy="8367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92" name="Google Shape;692;p55"/>
            <p:cNvGrpSpPr/>
            <p:nvPr/>
          </p:nvGrpSpPr>
          <p:grpSpPr>
            <a:xfrm>
              <a:off x="7083634" y="4086500"/>
              <a:ext cx="1527442" cy="387000"/>
              <a:chOff x="6929587" y="4315100"/>
              <a:chExt cx="1527442" cy="387000"/>
            </a:xfrm>
          </p:grpSpPr>
          <p:sp>
            <p:nvSpPr>
              <p:cNvPr id="693" name="Google Shape;693;p55"/>
              <p:cNvSpPr txBox="1"/>
              <p:nvPr/>
            </p:nvSpPr>
            <p:spPr>
              <a:xfrm>
                <a:off x="6929587" y="4315100"/>
                <a:ext cx="1460400" cy="38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rgbClr val="595959"/>
                    </a:solidFill>
                  </a:rPr>
                  <a:t>Función Valor</a:t>
                </a:r>
                <a:endParaRPr b="1">
                  <a:solidFill>
                    <a:srgbClr val="595959"/>
                  </a:solidFill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pic>
            <p:nvPicPr>
              <p:cNvPr descr="\hat V&#10;&#10;%14d0f7e3-8427-4cc6-8ba2-70f3843d63f1" id="694" name="Google Shape;694;p55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8295104" y="4364865"/>
                <a:ext cx="161925" cy="2190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95" name="Google Shape;695;p55"/>
            <p:cNvGrpSpPr/>
            <p:nvPr/>
          </p:nvGrpSpPr>
          <p:grpSpPr>
            <a:xfrm>
              <a:off x="7418296" y="4290950"/>
              <a:ext cx="944000" cy="400200"/>
              <a:chOff x="7217175" y="4519550"/>
              <a:chExt cx="944000" cy="400200"/>
            </a:xfrm>
          </p:grpSpPr>
          <p:pic>
            <p:nvPicPr>
              <p:cNvPr descr="\hat u&#10;%6527a728-9297-4cc6-bc00-07999d9572ea" id="696" name="Google Shape;696;p55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8037351" y="4605453"/>
                <a:ext cx="123825" cy="1714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97" name="Google Shape;697;p55"/>
              <p:cNvSpPr txBox="1"/>
              <p:nvPr/>
            </p:nvSpPr>
            <p:spPr>
              <a:xfrm>
                <a:off x="7217175" y="4519550"/>
                <a:ext cx="8673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chemeClr val="dk2"/>
                    </a:solidFill>
                  </a:rPr>
                  <a:t>Política</a:t>
                </a:r>
                <a:endParaRPr b="1"/>
              </a:p>
            </p:txBody>
          </p:sp>
        </p:grpSp>
      </p:grpSp>
      <p:pic>
        <p:nvPicPr>
          <p:cNvPr descr="\hat V&#10;&#10;%14d0f7e3-8427-4cc6-8ba2-70f3843d63f1" id="698" name="Google Shape;698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41798" y="1214172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hat u(x) = \mu(x,\psi)&#10;%a752a30d-9635-40d1-a136-5ce561c91ed4" id="699" name="Google Shape;699;p5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37508" y="2612266"/>
            <a:ext cx="12763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704" name="Google Shape;70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56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Aprendizaje por Refuerzo: Cómo?</a:t>
            </a:r>
            <a:endParaRPr sz="2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706" name="Google Shape;706;p56"/>
          <p:cNvSpPr txBox="1"/>
          <p:nvPr/>
        </p:nvSpPr>
        <p:spPr>
          <a:xfrm>
            <a:off x="90900" y="1118450"/>
            <a:ext cx="89622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en" sz="1800">
                <a:solidFill>
                  <a:schemeClr val="dk1"/>
                </a:solidFill>
              </a:rPr>
              <a:t>Estimación de la función valor 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Aprendizaje supervisionado/Monte Carlo </a:t>
            </a:r>
            <a:r>
              <a:rPr lang="en" sz="1800">
                <a:solidFill>
                  <a:schemeClr val="dk1"/>
                </a:solidFill>
              </a:rPr>
              <a:t>en el caso de MRP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Versiones de iteración de valor o iteración de políticas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en" sz="1800">
                <a:solidFill>
                  <a:schemeClr val="dk1"/>
                </a:solidFill>
              </a:rPr>
              <a:t>Optimización directa de la política 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Consideramos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Resolvemos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grpSp>
        <p:nvGrpSpPr>
          <p:cNvPr id="707" name="Google Shape;707;p56"/>
          <p:cNvGrpSpPr/>
          <p:nvPr/>
        </p:nvGrpSpPr>
        <p:grpSpPr>
          <a:xfrm rot="5400000">
            <a:off x="7149842" y="2564870"/>
            <a:ext cx="1966333" cy="212400"/>
            <a:chOff x="1410935" y="3077633"/>
            <a:chExt cx="1966333" cy="212400"/>
          </a:xfrm>
        </p:grpSpPr>
        <p:cxnSp>
          <p:nvCxnSpPr>
            <p:cNvPr id="708" name="Google Shape;708;p56"/>
            <p:cNvCxnSpPr/>
            <p:nvPr/>
          </p:nvCxnSpPr>
          <p:spPr>
            <a:xfrm flipH="1" rot="10800000">
              <a:off x="1410935" y="3178032"/>
              <a:ext cx="1828800" cy="21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09" name="Google Shape;709;p56"/>
            <p:cNvSpPr/>
            <p:nvPr/>
          </p:nvSpPr>
          <p:spPr>
            <a:xfrm rot="5400000">
              <a:off x="3191118" y="3103883"/>
              <a:ext cx="212400" cy="1599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0" name="Google Shape;710;p56"/>
          <p:cNvGrpSpPr/>
          <p:nvPr/>
        </p:nvGrpSpPr>
        <p:grpSpPr>
          <a:xfrm>
            <a:off x="7061701" y="1084470"/>
            <a:ext cx="1975326" cy="841200"/>
            <a:chOff x="6939073" y="1452955"/>
            <a:chExt cx="1975326" cy="841200"/>
          </a:xfrm>
        </p:grpSpPr>
        <p:sp>
          <p:nvSpPr>
            <p:cNvPr id="711" name="Google Shape;711;p56"/>
            <p:cNvSpPr/>
            <p:nvPr/>
          </p:nvSpPr>
          <p:spPr>
            <a:xfrm>
              <a:off x="7195399" y="1452955"/>
              <a:ext cx="1719000" cy="8412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56"/>
            <p:cNvSpPr txBox="1"/>
            <p:nvPr/>
          </p:nvSpPr>
          <p:spPr>
            <a:xfrm>
              <a:off x="6939073" y="1496063"/>
              <a:ext cx="1815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595959"/>
                  </a:solidFill>
                </a:rPr>
                <a:t>Experiencias</a:t>
              </a:r>
              <a:endParaRPr b="1">
                <a:solidFill>
                  <a:srgbClr val="595959"/>
                </a:solidFill>
              </a:endParaRPr>
            </a:p>
          </p:txBody>
        </p:sp>
        <p:pic>
          <p:nvPicPr>
            <p:cNvPr descr="(x_i, a_i, r_i, x_i^+)&#10;%936c4b92-bdcd-4f4b-9410-3bb0f3f66cf8" id="713" name="Google Shape;713;p5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464349" y="1762143"/>
              <a:ext cx="1181100" cy="22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 = 1,...,n&#10;%2a3e6504-078b-4df2-8fb8-4db46ee3e516" id="714" name="Google Shape;714;p5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550074" y="2004942"/>
              <a:ext cx="1009650" cy="180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15" name="Google Shape;715;p56"/>
          <p:cNvGrpSpPr/>
          <p:nvPr/>
        </p:nvGrpSpPr>
        <p:grpSpPr>
          <a:xfrm>
            <a:off x="7274402" y="3711570"/>
            <a:ext cx="1717200" cy="836700"/>
            <a:chOff x="7060325" y="3930725"/>
            <a:chExt cx="1717200" cy="836700"/>
          </a:xfrm>
        </p:grpSpPr>
        <p:sp>
          <p:nvSpPr>
            <p:cNvPr id="716" name="Google Shape;716;p56"/>
            <p:cNvSpPr/>
            <p:nvPr/>
          </p:nvSpPr>
          <p:spPr>
            <a:xfrm>
              <a:off x="7060325" y="3930725"/>
              <a:ext cx="1717200" cy="8367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17" name="Google Shape;717;p56"/>
            <p:cNvGrpSpPr/>
            <p:nvPr/>
          </p:nvGrpSpPr>
          <p:grpSpPr>
            <a:xfrm>
              <a:off x="7083634" y="4086500"/>
              <a:ext cx="1527442" cy="387000"/>
              <a:chOff x="6929587" y="4315100"/>
              <a:chExt cx="1527442" cy="387000"/>
            </a:xfrm>
          </p:grpSpPr>
          <p:sp>
            <p:nvSpPr>
              <p:cNvPr id="718" name="Google Shape;718;p56"/>
              <p:cNvSpPr txBox="1"/>
              <p:nvPr/>
            </p:nvSpPr>
            <p:spPr>
              <a:xfrm>
                <a:off x="6929587" y="4315100"/>
                <a:ext cx="1460400" cy="38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rgbClr val="595959"/>
                    </a:solidFill>
                  </a:rPr>
                  <a:t>Función Valor</a:t>
                </a:r>
                <a:endParaRPr b="1">
                  <a:solidFill>
                    <a:srgbClr val="595959"/>
                  </a:solidFill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pic>
            <p:nvPicPr>
              <p:cNvPr descr="\hat V&#10;&#10;%14d0f7e3-8427-4cc6-8ba2-70f3843d63f1" id="719" name="Google Shape;719;p56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8295104" y="4364865"/>
                <a:ext cx="161925" cy="2190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20" name="Google Shape;720;p56"/>
            <p:cNvGrpSpPr/>
            <p:nvPr/>
          </p:nvGrpSpPr>
          <p:grpSpPr>
            <a:xfrm>
              <a:off x="7418296" y="4290950"/>
              <a:ext cx="944000" cy="400200"/>
              <a:chOff x="7217175" y="4519550"/>
              <a:chExt cx="944000" cy="400200"/>
            </a:xfrm>
          </p:grpSpPr>
          <p:pic>
            <p:nvPicPr>
              <p:cNvPr descr="\hat u&#10;%6527a728-9297-4cc6-bc00-07999d9572ea" id="721" name="Google Shape;721;p56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8037351" y="4605453"/>
                <a:ext cx="123825" cy="1714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22" name="Google Shape;722;p56"/>
              <p:cNvSpPr txBox="1"/>
              <p:nvPr/>
            </p:nvSpPr>
            <p:spPr>
              <a:xfrm>
                <a:off x="7217175" y="4519550"/>
                <a:ext cx="8673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chemeClr val="dk2"/>
                    </a:solidFill>
                  </a:rPr>
                  <a:t>Política</a:t>
                </a:r>
                <a:endParaRPr b="1"/>
              </a:p>
            </p:txBody>
          </p:sp>
        </p:grpSp>
      </p:grpSp>
      <p:pic>
        <p:nvPicPr>
          <p:cNvPr descr="\hat V&#10;&#10;%14d0f7e3-8427-4cc6-8ba2-70f3843d63f1" id="723" name="Google Shape;723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41798" y="1214172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hat u(x) = \mu(x,\psi)&#10;%a752a30d-9635-40d1-a136-5ce561c91ed4" id="724" name="Google Shape;724;p5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37508" y="2612266"/>
            <a:ext cx="1276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max\limits_{\psi \in \Re^K} {\rm E}\left[\sum_{t=0}^\infty \alpha^t r_{\hat u(x_t,\psi)}(x_t)\right] = \max\limits_{\psi \in \Re^K} f(\psi)&#10;%1c29f8e6-a030-4cc3-808b-4fc2989f25e3" id="725" name="Google Shape;725;p5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31901" y="2882081"/>
            <a:ext cx="3486150" cy="37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730" name="Google Shape;73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57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Aprendizaje por Refuerzo: Cómo?</a:t>
            </a:r>
            <a:endParaRPr sz="2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732" name="Google Shape;732;p57"/>
          <p:cNvSpPr txBox="1"/>
          <p:nvPr/>
        </p:nvSpPr>
        <p:spPr>
          <a:xfrm>
            <a:off x="90900" y="1118450"/>
            <a:ext cx="89622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en" sz="1800">
                <a:solidFill>
                  <a:schemeClr val="dk1"/>
                </a:solidFill>
              </a:rPr>
              <a:t>Estimación de la función valor 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Aprendizaje supervisionado/Monte Carlo </a:t>
            </a:r>
            <a:r>
              <a:rPr lang="en" sz="1800">
                <a:solidFill>
                  <a:schemeClr val="dk1"/>
                </a:solidFill>
              </a:rPr>
              <a:t>en el caso de MRP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Versiones de iteración de valor o iteración de políticas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en" sz="1800">
                <a:solidFill>
                  <a:schemeClr val="dk1"/>
                </a:solidFill>
              </a:rPr>
              <a:t>Optimización directa de la política 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Consideramos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Resolvemos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Descenso estocástico de gradientes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grpSp>
        <p:nvGrpSpPr>
          <p:cNvPr id="733" name="Google Shape;733;p57"/>
          <p:cNvGrpSpPr/>
          <p:nvPr/>
        </p:nvGrpSpPr>
        <p:grpSpPr>
          <a:xfrm rot="5400000">
            <a:off x="7149842" y="2564870"/>
            <a:ext cx="1966333" cy="212400"/>
            <a:chOff x="1410935" y="3077633"/>
            <a:chExt cx="1966333" cy="212400"/>
          </a:xfrm>
        </p:grpSpPr>
        <p:cxnSp>
          <p:nvCxnSpPr>
            <p:cNvPr id="734" name="Google Shape;734;p57"/>
            <p:cNvCxnSpPr/>
            <p:nvPr/>
          </p:nvCxnSpPr>
          <p:spPr>
            <a:xfrm flipH="1" rot="10800000">
              <a:off x="1410935" y="3178032"/>
              <a:ext cx="1828800" cy="21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35" name="Google Shape;735;p57"/>
            <p:cNvSpPr/>
            <p:nvPr/>
          </p:nvSpPr>
          <p:spPr>
            <a:xfrm rot="5400000">
              <a:off x="3191118" y="3103883"/>
              <a:ext cx="212400" cy="1599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6" name="Google Shape;736;p57"/>
          <p:cNvGrpSpPr/>
          <p:nvPr/>
        </p:nvGrpSpPr>
        <p:grpSpPr>
          <a:xfrm>
            <a:off x="7061701" y="1084470"/>
            <a:ext cx="1975326" cy="841200"/>
            <a:chOff x="6939073" y="1452955"/>
            <a:chExt cx="1975326" cy="841200"/>
          </a:xfrm>
        </p:grpSpPr>
        <p:sp>
          <p:nvSpPr>
            <p:cNvPr id="737" name="Google Shape;737;p57"/>
            <p:cNvSpPr/>
            <p:nvPr/>
          </p:nvSpPr>
          <p:spPr>
            <a:xfrm>
              <a:off x="7195399" y="1452955"/>
              <a:ext cx="1719000" cy="8412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57"/>
            <p:cNvSpPr txBox="1"/>
            <p:nvPr/>
          </p:nvSpPr>
          <p:spPr>
            <a:xfrm>
              <a:off x="6939073" y="1496063"/>
              <a:ext cx="1815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595959"/>
                  </a:solidFill>
                </a:rPr>
                <a:t>Experiencias</a:t>
              </a:r>
              <a:endParaRPr b="1">
                <a:solidFill>
                  <a:srgbClr val="595959"/>
                </a:solidFill>
              </a:endParaRPr>
            </a:p>
          </p:txBody>
        </p:sp>
        <p:pic>
          <p:nvPicPr>
            <p:cNvPr descr="(x_i, a_i, r_i, x_i^+)&#10;%936c4b92-bdcd-4f4b-9410-3bb0f3f66cf8" id="739" name="Google Shape;739;p5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464349" y="1762143"/>
              <a:ext cx="1181100" cy="22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 = 1,...,n&#10;%2a3e6504-078b-4df2-8fb8-4db46ee3e516" id="740" name="Google Shape;740;p5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550074" y="2004942"/>
              <a:ext cx="1009650" cy="180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41" name="Google Shape;741;p57"/>
          <p:cNvGrpSpPr/>
          <p:nvPr/>
        </p:nvGrpSpPr>
        <p:grpSpPr>
          <a:xfrm>
            <a:off x="7274402" y="3711570"/>
            <a:ext cx="1717200" cy="836700"/>
            <a:chOff x="7060325" y="3930725"/>
            <a:chExt cx="1717200" cy="836700"/>
          </a:xfrm>
        </p:grpSpPr>
        <p:sp>
          <p:nvSpPr>
            <p:cNvPr id="742" name="Google Shape;742;p57"/>
            <p:cNvSpPr/>
            <p:nvPr/>
          </p:nvSpPr>
          <p:spPr>
            <a:xfrm>
              <a:off x="7060325" y="3930725"/>
              <a:ext cx="1717200" cy="8367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43" name="Google Shape;743;p57"/>
            <p:cNvGrpSpPr/>
            <p:nvPr/>
          </p:nvGrpSpPr>
          <p:grpSpPr>
            <a:xfrm>
              <a:off x="7083634" y="4086500"/>
              <a:ext cx="1527442" cy="387000"/>
              <a:chOff x="6929587" y="4315100"/>
              <a:chExt cx="1527442" cy="387000"/>
            </a:xfrm>
          </p:grpSpPr>
          <p:sp>
            <p:nvSpPr>
              <p:cNvPr id="744" name="Google Shape;744;p57"/>
              <p:cNvSpPr txBox="1"/>
              <p:nvPr/>
            </p:nvSpPr>
            <p:spPr>
              <a:xfrm>
                <a:off x="6929587" y="4315100"/>
                <a:ext cx="1460400" cy="38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rgbClr val="595959"/>
                    </a:solidFill>
                  </a:rPr>
                  <a:t>Función Valor</a:t>
                </a:r>
                <a:endParaRPr b="1">
                  <a:solidFill>
                    <a:srgbClr val="595959"/>
                  </a:solidFill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pic>
            <p:nvPicPr>
              <p:cNvPr descr="\hat V&#10;&#10;%14d0f7e3-8427-4cc6-8ba2-70f3843d63f1" id="745" name="Google Shape;745;p57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8295104" y="4364865"/>
                <a:ext cx="161925" cy="2190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46" name="Google Shape;746;p57"/>
            <p:cNvGrpSpPr/>
            <p:nvPr/>
          </p:nvGrpSpPr>
          <p:grpSpPr>
            <a:xfrm>
              <a:off x="7418296" y="4290950"/>
              <a:ext cx="944000" cy="400200"/>
              <a:chOff x="7217175" y="4519550"/>
              <a:chExt cx="944000" cy="400200"/>
            </a:xfrm>
          </p:grpSpPr>
          <p:pic>
            <p:nvPicPr>
              <p:cNvPr descr="\hat u&#10;%6527a728-9297-4cc6-bc00-07999d9572ea" id="747" name="Google Shape;747;p57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8037351" y="4605453"/>
                <a:ext cx="123825" cy="1714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48" name="Google Shape;748;p57"/>
              <p:cNvSpPr txBox="1"/>
              <p:nvPr/>
            </p:nvSpPr>
            <p:spPr>
              <a:xfrm>
                <a:off x="7217175" y="4519550"/>
                <a:ext cx="8673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chemeClr val="dk2"/>
                    </a:solidFill>
                  </a:rPr>
                  <a:t>Política</a:t>
                </a:r>
                <a:endParaRPr b="1"/>
              </a:p>
            </p:txBody>
          </p:sp>
        </p:grpSp>
      </p:grpSp>
      <p:pic>
        <p:nvPicPr>
          <p:cNvPr descr="\hat V&#10;&#10;%14d0f7e3-8427-4cc6-8ba2-70f3843d63f1" id="749" name="Google Shape;749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41798" y="1214172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hat u(x) = \mu(x,\psi)&#10;%a752a30d-9635-40d1-a136-5ce561c91ed4" id="750" name="Google Shape;750;p5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37508" y="2612266"/>
            <a:ext cx="1276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max\limits_{\psi \in \Re^K} {\rm E}\left[\sum_{t=0}^\infty \alpha^t r_{\hat u(x_t,\psi)}(x_t)\right] = \max\limits_{\psi \in \Re^K} f(\psi)&#10;%1c29f8e6-a030-4cc3-808b-4fc2989f25e3" id="751" name="Google Shape;751;p5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31901" y="2882081"/>
            <a:ext cx="3486150" cy="37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756" name="Google Shape;756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58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Aprendizaje por Refuerzo: Cómo?</a:t>
            </a:r>
            <a:endParaRPr sz="2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758" name="Google Shape;758;p58"/>
          <p:cNvSpPr txBox="1"/>
          <p:nvPr/>
        </p:nvSpPr>
        <p:spPr>
          <a:xfrm>
            <a:off x="90900" y="1118450"/>
            <a:ext cx="89622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en" sz="1800">
                <a:solidFill>
                  <a:schemeClr val="dk1"/>
                </a:solidFill>
              </a:rPr>
              <a:t>Estimación de la función valor 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Aprendizaje supervisionado/Monte Carlo 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Versiones de iteración de valor o iteración de políticas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en" sz="1800">
                <a:solidFill>
                  <a:schemeClr val="dk1"/>
                </a:solidFill>
              </a:rPr>
              <a:t>Optimización directa de la política 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Consideramos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Resolvemos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Descenso estocástico de gradientes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en" sz="1800">
                <a:solidFill>
                  <a:schemeClr val="dk1"/>
                </a:solidFill>
              </a:rPr>
              <a:t>Métodos actor-crítico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Combinan                      (actor) con estimación/aproximación </a:t>
            </a:r>
            <a:endParaRPr sz="18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de la función valor    (crítico) </a:t>
            </a:r>
            <a:endParaRPr sz="1800">
              <a:solidFill>
                <a:schemeClr val="dk1"/>
              </a:solidFill>
            </a:endParaRPr>
          </a:p>
        </p:txBody>
      </p:sp>
      <p:grpSp>
        <p:nvGrpSpPr>
          <p:cNvPr id="759" name="Google Shape;759;p58"/>
          <p:cNvGrpSpPr/>
          <p:nvPr/>
        </p:nvGrpSpPr>
        <p:grpSpPr>
          <a:xfrm rot="5400000">
            <a:off x="7149842" y="2564870"/>
            <a:ext cx="1966333" cy="212400"/>
            <a:chOff x="1410935" y="3077633"/>
            <a:chExt cx="1966333" cy="212400"/>
          </a:xfrm>
        </p:grpSpPr>
        <p:cxnSp>
          <p:nvCxnSpPr>
            <p:cNvPr id="760" name="Google Shape;760;p58"/>
            <p:cNvCxnSpPr/>
            <p:nvPr/>
          </p:nvCxnSpPr>
          <p:spPr>
            <a:xfrm flipH="1" rot="10800000">
              <a:off x="1410935" y="3178032"/>
              <a:ext cx="1828800" cy="21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61" name="Google Shape;761;p58"/>
            <p:cNvSpPr/>
            <p:nvPr/>
          </p:nvSpPr>
          <p:spPr>
            <a:xfrm rot="5400000">
              <a:off x="3191118" y="3103883"/>
              <a:ext cx="212400" cy="1599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2" name="Google Shape;762;p58"/>
          <p:cNvGrpSpPr/>
          <p:nvPr/>
        </p:nvGrpSpPr>
        <p:grpSpPr>
          <a:xfrm>
            <a:off x="7061701" y="1084470"/>
            <a:ext cx="1975326" cy="841200"/>
            <a:chOff x="6939073" y="1452955"/>
            <a:chExt cx="1975326" cy="841200"/>
          </a:xfrm>
        </p:grpSpPr>
        <p:sp>
          <p:nvSpPr>
            <p:cNvPr id="763" name="Google Shape;763;p58"/>
            <p:cNvSpPr/>
            <p:nvPr/>
          </p:nvSpPr>
          <p:spPr>
            <a:xfrm>
              <a:off x="7195399" y="1452955"/>
              <a:ext cx="1719000" cy="8412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58"/>
            <p:cNvSpPr txBox="1"/>
            <p:nvPr/>
          </p:nvSpPr>
          <p:spPr>
            <a:xfrm>
              <a:off x="6939073" y="1496063"/>
              <a:ext cx="1815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595959"/>
                  </a:solidFill>
                </a:rPr>
                <a:t>Experiencias</a:t>
              </a:r>
              <a:endParaRPr b="1">
                <a:solidFill>
                  <a:srgbClr val="595959"/>
                </a:solidFill>
              </a:endParaRPr>
            </a:p>
          </p:txBody>
        </p:sp>
        <p:pic>
          <p:nvPicPr>
            <p:cNvPr descr="(x_i, a_i, r_i, x_i^+)&#10;%936c4b92-bdcd-4f4b-9410-3bb0f3f66cf8" id="765" name="Google Shape;765;p5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464349" y="1762143"/>
              <a:ext cx="1181100" cy="22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 = 1,...,n&#10;%2a3e6504-078b-4df2-8fb8-4db46ee3e516" id="766" name="Google Shape;766;p5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550074" y="2004942"/>
              <a:ext cx="1009650" cy="180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67" name="Google Shape;767;p58"/>
          <p:cNvGrpSpPr/>
          <p:nvPr/>
        </p:nvGrpSpPr>
        <p:grpSpPr>
          <a:xfrm>
            <a:off x="7274402" y="3711570"/>
            <a:ext cx="1717200" cy="836700"/>
            <a:chOff x="7060325" y="3930725"/>
            <a:chExt cx="1717200" cy="836700"/>
          </a:xfrm>
        </p:grpSpPr>
        <p:sp>
          <p:nvSpPr>
            <p:cNvPr id="768" name="Google Shape;768;p58"/>
            <p:cNvSpPr/>
            <p:nvPr/>
          </p:nvSpPr>
          <p:spPr>
            <a:xfrm>
              <a:off x="7060325" y="3930725"/>
              <a:ext cx="1717200" cy="8367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69" name="Google Shape;769;p58"/>
            <p:cNvGrpSpPr/>
            <p:nvPr/>
          </p:nvGrpSpPr>
          <p:grpSpPr>
            <a:xfrm>
              <a:off x="7083634" y="4086500"/>
              <a:ext cx="1527442" cy="387000"/>
              <a:chOff x="6929587" y="4315100"/>
              <a:chExt cx="1527442" cy="387000"/>
            </a:xfrm>
          </p:grpSpPr>
          <p:sp>
            <p:nvSpPr>
              <p:cNvPr id="770" name="Google Shape;770;p58"/>
              <p:cNvSpPr txBox="1"/>
              <p:nvPr/>
            </p:nvSpPr>
            <p:spPr>
              <a:xfrm>
                <a:off x="6929587" y="4315100"/>
                <a:ext cx="1460400" cy="38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rgbClr val="595959"/>
                    </a:solidFill>
                  </a:rPr>
                  <a:t>Función Valor</a:t>
                </a:r>
                <a:endParaRPr b="1">
                  <a:solidFill>
                    <a:srgbClr val="595959"/>
                  </a:solidFill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pic>
            <p:nvPicPr>
              <p:cNvPr descr="\hat V&#10;&#10;%14d0f7e3-8427-4cc6-8ba2-70f3843d63f1" id="771" name="Google Shape;771;p58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8295104" y="4364865"/>
                <a:ext cx="161925" cy="2190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72" name="Google Shape;772;p58"/>
            <p:cNvGrpSpPr/>
            <p:nvPr/>
          </p:nvGrpSpPr>
          <p:grpSpPr>
            <a:xfrm>
              <a:off x="7418296" y="4290950"/>
              <a:ext cx="944000" cy="400200"/>
              <a:chOff x="7217175" y="4519550"/>
              <a:chExt cx="944000" cy="400200"/>
            </a:xfrm>
          </p:grpSpPr>
          <p:pic>
            <p:nvPicPr>
              <p:cNvPr descr="\hat u&#10;%6527a728-9297-4cc6-bc00-07999d9572ea" id="773" name="Google Shape;773;p58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8037351" y="4605453"/>
                <a:ext cx="123825" cy="1714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4" name="Google Shape;774;p58"/>
              <p:cNvSpPr txBox="1"/>
              <p:nvPr/>
            </p:nvSpPr>
            <p:spPr>
              <a:xfrm>
                <a:off x="7217175" y="4519550"/>
                <a:ext cx="8673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chemeClr val="dk2"/>
                    </a:solidFill>
                  </a:rPr>
                  <a:t>Política</a:t>
                </a:r>
                <a:endParaRPr b="1"/>
              </a:p>
            </p:txBody>
          </p:sp>
        </p:grpSp>
      </p:grpSp>
      <p:pic>
        <p:nvPicPr>
          <p:cNvPr descr="\hat V&#10;&#10;%14d0f7e3-8427-4cc6-8ba2-70f3843d63f1" id="775" name="Google Shape;775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41798" y="1214172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hat u(x) = \mu(x,\psi)&#10;%a752a30d-9635-40d1-a136-5ce561c91ed4" id="776" name="Google Shape;776;p5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37508" y="2612266"/>
            <a:ext cx="1276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hat u(x) = \mu(x,\psi)&#10;%a752a30d-9635-40d1-a136-5ce561c91ed4" id="777" name="Google Shape;777;p5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15981" y="4538133"/>
            <a:ext cx="1276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hat V&#10;&#10;%14d0f7e3-8427-4cc6-8ba2-70f3843d63f1" id="778" name="Google Shape;778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17014" y="4783458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max\limits_{\psi \in \Re^K} {\rm E}\left[\sum_{t=0}^\infty \alpha^t r_{\hat u(x_t,\psi)}(x_t)\right] = \max\limits_{\psi \in \Re^K} f(\psi)&#10;%1c29f8e6-a030-4cc3-808b-4fc2989f25e3" id="779" name="Google Shape;779;p5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31901" y="2882081"/>
            <a:ext cx="3486150" cy="37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784" name="Google Shape;78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59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Estimación de La Función Valor</a:t>
            </a:r>
            <a:endParaRPr sz="2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786" name="Google Shape;786;p59"/>
          <p:cNvSpPr txBox="1"/>
          <p:nvPr/>
        </p:nvSpPr>
        <p:spPr>
          <a:xfrm>
            <a:off x="90900" y="1118450"/>
            <a:ext cx="896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V^*(x) = \max_{a \in A}\left\{r_a(x)+\alpha \sum_y P_a(x,y)V^*(y)\right\}&#10;%17241b34-0dc8-48cb-99ad-2bf4b3b2eb17" id="787" name="Google Shape;787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1875" y="1529500"/>
            <a:ext cx="4610100" cy="4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59"/>
          <p:cNvSpPr txBox="1"/>
          <p:nvPr/>
        </p:nvSpPr>
        <p:spPr>
          <a:xfrm>
            <a:off x="90900" y="1118450"/>
            <a:ext cx="89622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La función valor es definida implícitamente por la ecuación de Bellman: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Cómo estimarla a partir de datos?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Empezamos con el caso de una política fija 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MRP (proceso markoviano con recompensa)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60"/>
          <p:cNvSpPr/>
          <p:nvPr/>
        </p:nvSpPr>
        <p:spPr>
          <a:xfrm>
            <a:off x="3217550" y="4288025"/>
            <a:ext cx="2586000" cy="7920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60"/>
          <p:cNvSpPr txBox="1"/>
          <p:nvPr/>
        </p:nvSpPr>
        <p:spPr>
          <a:xfrm>
            <a:off x="90900" y="1089822"/>
            <a:ext cx="89622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Con una política fija    :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Si tenemos </a:t>
            </a:r>
            <a:r>
              <a:rPr lang="en" sz="1800">
                <a:solidFill>
                  <a:schemeClr val="dk1"/>
                </a:solidFill>
              </a:rPr>
              <a:t>trayectoria </a:t>
            </a:r>
            <a:r>
              <a:rPr lang="en" sz="1800">
                <a:solidFill>
                  <a:schemeClr val="dk1"/>
                </a:solidFill>
              </a:rPr>
              <a:t>                              , tenemos muestras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	donde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Para cada</a:t>
            </a:r>
            <a:r>
              <a:rPr lang="en" sz="1800">
                <a:solidFill>
                  <a:schemeClr val="dk1"/>
                </a:solidFill>
              </a:rPr>
              <a:t> estado   , con        muestras:                                                          : </a:t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&#10;%b2ec40be-a735-4635-8f85-29b8913da8e5" id="795" name="Google Shape;79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60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Estimación de La Función Valor: Simulación Monte Carlo</a:t>
            </a:r>
            <a:endParaRPr sz="2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797" name="Google Shape;797;p60"/>
          <p:cNvSpPr txBox="1"/>
          <p:nvPr/>
        </p:nvSpPr>
        <p:spPr>
          <a:xfrm>
            <a:off x="90900" y="1118450"/>
            <a:ext cx="896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u&#10;%ea860861-2e53-46aa-9142-88515684948b" id="798" name="Google Shape;798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0" y="1304943"/>
            <a:ext cx="1428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_u(x) = {\rm E}\left[ \sum\limits_{t=0}^\infty \alpha^t r_u(x_t)| x_0 = x\right]&#10;%6ace01a6-21be-46b5-9294-3566b4ad31ec" id="799" name="Google Shape;799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15075" y="1593775"/>
            <a:ext cx="339090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(x_0, r_0, x_1, r_1,...)&#10;%ae7598fc-ef7e-4d15-b3bd-4bd28c2743a9" id="800" name="Google Shape;800;p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97250" y="2290249"/>
            <a:ext cx="18954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x&#10;%e0035707-142c-4133-b5f8-6c7a5ca83390" id="801" name="Google Shape;801;p6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14600" y="4038600"/>
            <a:ext cx="1428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_x&#10;%29800076-085e-4ee1-939b-9ad642829b26" id="802" name="Google Shape;802;p6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09943" y="3971943"/>
            <a:ext cx="3238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_i = \sum\limits_{t=i}^\infty \alpha^{t-i} r_t &#10;%804cb328-11fd-4111-a59b-123746c98b24" id="803" name="Google Shape;803;p6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805238" y="2754404"/>
            <a:ext cx="1533525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(x_i,R_i),~i = 0,1,...&#10;%b2fadcdb-d4e8-496a-a5a3-3e6e7606d824" id="804" name="Google Shape;804;p6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929025" y="2299779"/>
            <a:ext cx="21240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hat V_u(x) = \frac{1}{N_x} \sum\limits_{i: x_i = x} R_i&#10;%1ffd01b5-225a-41e9-a366-006dd1d80e21" id="805" name="Google Shape;805;p6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458013" y="4426868"/>
            <a:ext cx="2105025" cy="5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810" name="Google Shape;810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61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Simulación Monte Carlo: Versión Iterativa</a:t>
            </a:r>
            <a:endParaRPr sz="2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812" name="Google Shape;812;p61"/>
          <p:cNvSpPr txBox="1"/>
          <p:nvPr/>
        </p:nvSpPr>
        <p:spPr>
          <a:xfrm>
            <a:off x="90900" y="1118450"/>
            <a:ext cx="896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13" name="Google Shape;813;p61"/>
          <p:cNvSpPr txBox="1"/>
          <p:nvPr/>
        </p:nvSpPr>
        <p:spPr>
          <a:xfrm>
            <a:off x="90900" y="1089822"/>
            <a:ext cx="8962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Para cada estado, debemos calcular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                    : </a:t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\begin{array}{rcl} &#10;\hat V_u(x) &amp;= &amp; \frac{1}{N_x}\sum\limits_{i=1}^{N_x} R_i\\ &#10;&amp; = &amp; \frac{N_x-1}{N_x} \underbrace{\left[\frac{1}{N_x-1} \sum\limits_{i-1}^{N_x-1}  R_i\right]}_\text{estimativa anterior} + \frac{1}{N_x} \underbrace{ R_{N_x}}_\text{nueva amuestra} &#10;\end{array}&#10;%f5d31df2-1ba9-4648-bb39-c98e923f6eb5" id="814" name="Google Shape;814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1300" y="1669175"/>
            <a:ext cx="5267325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61"/>
          <p:cNvSpPr/>
          <p:nvPr/>
        </p:nvSpPr>
        <p:spPr>
          <a:xfrm>
            <a:off x="2597275" y="2382825"/>
            <a:ext cx="4666500" cy="1000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820" name="Google Shape;82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p62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Simulación Monte Carlo: Versión Iterativa</a:t>
            </a:r>
            <a:endParaRPr sz="2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822" name="Google Shape;822;p62"/>
          <p:cNvSpPr txBox="1"/>
          <p:nvPr/>
        </p:nvSpPr>
        <p:spPr>
          <a:xfrm>
            <a:off x="90900" y="1118450"/>
            <a:ext cx="896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23" name="Google Shape;823;p62"/>
          <p:cNvSpPr txBox="1"/>
          <p:nvPr/>
        </p:nvSpPr>
        <p:spPr>
          <a:xfrm>
            <a:off x="90900" y="1089822"/>
            <a:ext cx="8962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Para cada estado, debemos calcular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                    : </a:t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\begin{array}{rcl} &#10;\hat V_u(x) &amp;= &amp; \frac{1}{N_x}\sum\limits_{i=1}^{N_x} R_i\\ &#10;&amp; = &amp; \frac{N_x-1}{N_x} \underbrace{\left[\frac{1}{N_x-1} \sum\limits_{i-1}^{N_x-1}  R_i\right]}_\text{estimativa anterior} + \frac{1}{N_x} \underbrace{ R_{N_x}}_\text{nueva amuestra} &#10;\end{array}&#10;%f5d31df2-1ba9-4648-bb39-c98e923f6eb5" id="824" name="Google Shape;824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1300" y="1669175"/>
            <a:ext cx="5267325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62"/>
          <p:cNvSpPr/>
          <p:nvPr/>
        </p:nvSpPr>
        <p:spPr>
          <a:xfrm>
            <a:off x="3246175" y="3057000"/>
            <a:ext cx="4017600" cy="326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62"/>
          <p:cNvSpPr/>
          <p:nvPr/>
        </p:nvSpPr>
        <p:spPr>
          <a:xfrm>
            <a:off x="6089900" y="2875700"/>
            <a:ext cx="1326300" cy="660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831" name="Google Shape;831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p63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Simulación Monte Carlo: Versión Iterativa</a:t>
            </a:r>
            <a:endParaRPr sz="2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833" name="Google Shape;833;p63"/>
          <p:cNvSpPr txBox="1"/>
          <p:nvPr/>
        </p:nvSpPr>
        <p:spPr>
          <a:xfrm>
            <a:off x="90900" y="1118450"/>
            <a:ext cx="896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34" name="Google Shape;834;p63"/>
          <p:cNvSpPr txBox="1"/>
          <p:nvPr/>
        </p:nvSpPr>
        <p:spPr>
          <a:xfrm>
            <a:off x="90900" y="1089822"/>
            <a:ext cx="8962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Para cada estado, debemos calcular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                    : </a:t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\begin{array}{rcl} &#10;\hat V_u(x) &amp;= &amp; \frac{1}{N_x}\sum\limits_{i=1}^{N_x} R_i\\ &#10;&amp; = &amp; \frac{N_x-1}{N_x} \underbrace{\left[\frac{1}{N_x-1} \sum\limits_{i-1}^{N_x-1}  R_i\right]}_\text{estimativa anterior} + \frac{1}{N_x} \underbrace{ R_{N_x}}_\text{nueva amuestra} &#10;\end{array}&#10;%f5d31df2-1ba9-4648-bb39-c98e923f6eb5" id="835" name="Google Shape;835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1300" y="1669175"/>
            <a:ext cx="5267325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840" name="Google Shape;840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64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Simulación Monte Carlo: Versión Iterativa</a:t>
            </a:r>
            <a:endParaRPr sz="2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842" name="Google Shape;842;p64"/>
          <p:cNvSpPr txBox="1"/>
          <p:nvPr/>
        </p:nvSpPr>
        <p:spPr>
          <a:xfrm>
            <a:off x="90900" y="1118450"/>
            <a:ext cx="896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43" name="Google Shape;843;p64"/>
          <p:cNvSpPr txBox="1"/>
          <p:nvPr/>
        </p:nvSpPr>
        <p:spPr>
          <a:xfrm>
            <a:off x="90900" y="1089822"/>
            <a:ext cx="89622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Para cada estado, debemos calcular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                    : </a:t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Entonces: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\begin{array}{rcl} &#10;\hat V_u(x) &amp;= &amp; \frac{1}{N_x}\sum\limits_{i=1}^{N_x} R_i\\ &#10;&amp; = &amp; \frac{N_x-1}{N_x} \underbrace{\left[\frac{1}{N_x-1} \sum\limits_{i-1}^{N_x-1}  R_i\right]}_\text{estimativa anterior} + \frac{1}{N_x} \underbrace{ R_{N_x}}_\text{nueva amuestra} &#10;\end{array}&#10;%f5d31df2-1ba9-4648-bb39-c98e923f6eb5" id="844" name="Google Shape;844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1300" y="1669175"/>
            <a:ext cx="5267325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64"/>
          <p:cNvSpPr/>
          <p:nvPr/>
        </p:nvSpPr>
        <p:spPr>
          <a:xfrm>
            <a:off x="2864450" y="4330200"/>
            <a:ext cx="4017600" cy="725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\begin{array}{rcl}&#10;\hat V_u^N(x) &amp;=&amp; (1-\gamma_N)\hat V_u^{N-1}(x) + \gamma_N R_N \\&#10;&amp; = &amp; \hat V_u^{N-1}(x)+ \gamma_N&#10;\underbrace{\left(R_N - V_u^{N-1}(x) \right)}_\text{diferencia temporal}&#10;\end{array}&#10;&#10;%ece500eb-5c82-45dd-8774-547720979da7" id="846" name="Google Shape;846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13500" y="3941104"/>
            <a:ext cx="4752975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64"/>
          <p:cNvSpPr/>
          <p:nvPr/>
        </p:nvSpPr>
        <p:spPr>
          <a:xfrm>
            <a:off x="1557125" y="4330200"/>
            <a:ext cx="5551500" cy="797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begin{array}{rcl}&#10;\hat V_u^N(x) &amp;=&amp; (1-\gamma_N)\hat V_u^{N-1}(x) + \gamma_N R_N \\&#10;&amp; = &amp; \hat V_u^{N-1}(x)+ \gamma_N&#10;\underbrace{\left(R_N - \hat V_u^{N-1}(x) \right)}_\text{diferencia temporal}&#10;\end{array}&#10;&#10;%896b831e-1f91-45e3-a1f7-e8cba63e4099" id="852" name="Google Shape;85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2657" y="3931025"/>
            <a:ext cx="481965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#10;%b2ec40be-a735-4635-8f85-29b8913da8e5" id="853" name="Google Shape;853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65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Simulación Monte Carlo: Versión Iterativa</a:t>
            </a:r>
            <a:endParaRPr sz="2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855" name="Google Shape;855;p65"/>
          <p:cNvSpPr txBox="1"/>
          <p:nvPr/>
        </p:nvSpPr>
        <p:spPr>
          <a:xfrm>
            <a:off x="90900" y="1118450"/>
            <a:ext cx="896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56" name="Google Shape;856;p65"/>
          <p:cNvSpPr txBox="1"/>
          <p:nvPr/>
        </p:nvSpPr>
        <p:spPr>
          <a:xfrm>
            <a:off x="90900" y="1089822"/>
            <a:ext cx="89622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Para cada estado, debemos calcular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                    : </a:t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Entonces: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\begin{array}{rcl} &#10;\hat V_u(x) &amp;= &amp; \frac{1}{N_x}\sum\limits_{i=1}^{N_x} R_i\\ &#10;&amp; = &amp; \frac{N_x-1}{N_x} \underbrace{\left[\frac{1}{N_x-1} \sum\limits_{i-1}^{N_x-1}  R_i\right]}_\text{estimativa anterior} + \frac{1}{N_x} \underbrace{ R_{N_x}}_\text{nueva amuestra} &#10;\end{array}&#10;%f5d31df2-1ba9-4648-bb39-c98e923f6eb5" id="857" name="Google Shape;857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41300" y="1669175"/>
            <a:ext cx="5267325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862" name="Google Shape;86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66"/>
          <p:cNvSpPr txBox="1"/>
          <p:nvPr/>
        </p:nvSpPr>
        <p:spPr>
          <a:xfrm>
            <a:off x="90900" y="1118450"/>
            <a:ext cx="896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64" name="Google Shape;864;p66"/>
          <p:cNvSpPr txBox="1"/>
          <p:nvPr/>
        </p:nvSpPr>
        <p:spPr>
          <a:xfrm>
            <a:off x="90900" y="1089822"/>
            <a:ext cx="89622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Pero debemos seguir trayectoria por muchos periodos más antes de realizar la actualización, para poder estimar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Alternativa: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donde     es el estado siguiente observado en la trayectoria.</a:t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65" name="Google Shape;865;p66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TD-Learning</a:t>
            </a:r>
            <a:endParaRPr sz="2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pic>
        <p:nvPicPr>
          <p:cNvPr descr="R_N = \sum\limits_{t=t_N}^\infty \alpha^{t-t_N} r_t&#10;&#10;%4d78e8f7-d52d-4a0e-8024-7ef04b742e4c" id="866" name="Google Shape;866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8050" y="2406038"/>
            <a:ext cx="1876425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array}{rcl}&#10;R_N &amp; = &amp; r_{t_N} + \alpha \sum\limits_{t=t_N+1}^\infty \alpha^{t-t_N-1} r_t \\&#10;&amp; \approx &amp; r_{t_N} + \alpha \hat V_u^N(y)&#10;\end{array}&#10;&#10;%88145472-7ad9-4223-9305-946e9fb4ce97" id="867" name="Google Shape;867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4175" y="3206750"/>
            <a:ext cx="3495675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#10;\hat V_u^N(x) = \hat V_u^{N-1}(x)+ \gamma_N&#10;\left(R_N - \hat V_u^{N-1}(x) \right)&#10;&#10;&#10;%5f076ae6-66c3-4121-b992-29b6349fe43b" id="868" name="Google Shape;868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85675" y="1011525"/>
            <a:ext cx="4505325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&#10;%2d62aadf-1212-4197-bac7-007b7fabe624" id="869" name="Google Shape;869;p6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71600" y="4562457"/>
            <a:ext cx="123825" cy="16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\hat V_u^N(x) = \hat V_u^{N-1}(x)+ \gamma_N&#10;\left(r_N + \alpha \hat V_u^{N-1}(y)- \hat V_u^{N-1}(x) \right)&#10;&#10;&#10;%db90d3c4-82f5-4d41-b807-5fa49a444b8a" id="874" name="Google Shape;874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4360" y="992453"/>
            <a:ext cx="5800725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#10;%b2ec40be-a735-4635-8f85-29b8913da8e5" id="875" name="Google Shape;875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67"/>
          <p:cNvSpPr txBox="1"/>
          <p:nvPr/>
        </p:nvSpPr>
        <p:spPr>
          <a:xfrm>
            <a:off x="90900" y="1118450"/>
            <a:ext cx="896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77" name="Google Shape;877;p67"/>
          <p:cNvSpPr txBox="1"/>
          <p:nvPr/>
        </p:nvSpPr>
        <p:spPr>
          <a:xfrm>
            <a:off x="90900" y="1089822"/>
            <a:ext cx="89622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Pero debemos seguir trayectoria por muchos periodos más antes de realizar la actualización, para poder estimar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Alternativa: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donde     es el estado siguiente observado en la trayectoria.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78" name="Google Shape;878;p67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TD-Learning</a:t>
            </a:r>
            <a:endParaRPr sz="2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pic>
        <p:nvPicPr>
          <p:cNvPr descr="R_N = \sum\limits_{t=t_N}^\infty \alpha^{t-t_N} r_t&#10;&#10;%4d78e8f7-d52d-4a0e-8024-7ef04b742e4c" id="879" name="Google Shape;879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88050" y="2406038"/>
            <a:ext cx="1876425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array}{rcl}&#10;R_N &amp; = &amp; r_{t_N} + \alpha \sum\limits_{t=t_N+1}^\infty \alpha^{t-t_N-1} r_t \\&#10;&amp; \approx &amp; r_{t_N} + \alpha \hat V_u^N(y)&#10;\end{array}&#10;&#10;%88145472-7ad9-4223-9305-946e9fb4ce97" id="880" name="Google Shape;880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24175" y="3206750"/>
            <a:ext cx="3495675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&#10;%2d62aadf-1212-4197-bac7-007b7fabe624" id="881" name="Google Shape;881;p6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71600" y="4562457"/>
            <a:ext cx="123825" cy="16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68"/>
          <p:cNvSpPr txBox="1"/>
          <p:nvPr/>
        </p:nvSpPr>
        <p:spPr>
          <a:xfrm>
            <a:off x="90900" y="1089822"/>
            <a:ext cx="89622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Inicializar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2. Observar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3. Actualizar </a:t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4. Actualizar                , retornar al paso 2.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&#10;%b2ec40be-a735-4635-8f85-29b8913da8e5" id="887" name="Google Shape;88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68"/>
          <p:cNvSpPr txBox="1"/>
          <p:nvPr/>
        </p:nvSpPr>
        <p:spPr>
          <a:xfrm>
            <a:off x="90900" y="1118450"/>
            <a:ext cx="896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89" name="Google Shape;889;p68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TD-Learning</a:t>
            </a:r>
            <a:endParaRPr sz="2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pic>
        <p:nvPicPr>
          <p:cNvPr descr="t = 0, V_0&#10;&#10;%9b48f1c0-85dd-4c13-8fd0-57882e7bb5ed" id="890" name="Google Shape;890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6400" y="1219200"/>
            <a:ext cx="9048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(x_t,r_t,x_{t+1})&#10;&#10;%ab9dde6e-0aa2-47ef-8f2d-e09773722df2" id="891" name="Google Shape;891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28715" y="1733515"/>
            <a:ext cx="12763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hat V^{t+1}(x_t) = \hat V^t(x_t)+ \gamma_t&#10;\left(r_t + \alpha \hat V^t(x_{t+1})- \hat V^t(x_t) \right)&#10;&#10;&#10;%ae72de93-1481-4b10-971c-89975c12b4e2" id="892" name="Google Shape;892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43000" y="2590800"/>
            <a:ext cx="5381625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 = t+1&#10;&#10;&#10;%ee27f729-a800-4a2f-9ad0-2e0a77e605fe" id="893" name="Google Shape;893;p6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44063" y="3425822"/>
            <a:ext cx="9334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69"/>
          <p:cNvSpPr txBox="1"/>
          <p:nvPr/>
        </p:nvSpPr>
        <p:spPr>
          <a:xfrm>
            <a:off x="0" y="828650"/>
            <a:ext cx="9031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En este curso, nos vamos a enfocar en RL basado en estimativas y aproximaciones de la función valor.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&#10;%b2ec40be-a735-4635-8f85-29b8913da8e5" id="899" name="Google Shape;899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69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/>
              <a:t>Un Obstáculo en RL</a:t>
            </a:r>
            <a:endParaRPr sz="2500"/>
          </a:p>
        </p:txBody>
      </p:sp>
      <p:grpSp>
        <p:nvGrpSpPr>
          <p:cNvPr id="901" name="Google Shape;901;p69"/>
          <p:cNvGrpSpPr/>
          <p:nvPr/>
        </p:nvGrpSpPr>
        <p:grpSpPr>
          <a:xfrm>
            <a:off x="2187317" y="2086283"/>
            <a:ext cx="1509133" cy="212400"/>
            <a:chOff x="1410935" y="3077633"/>
            <a:chExt cx="1509133" cy="212400"/>
          </a:xfrm>
        </p:grpSpPr>
        <p:cxnSp>
          <p:nvCxnSpPr>
            <p:cNvPr id="902" name="Google Shape;902;p69"/>
            <p:cNvCxnSpPr/>
            <p:nvPr/>
          </p:nvCxnSpPr>
          <p:spPr>
            <a:xfrm flipH="1" rot="10800000">
              <a:off x="1410935" y="3178032"/>
              <a:ext cx="1371600" cy="21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03" name="Google Shape;903;p69"/>
            <p:cNvSpPr/>
            <p:nvPr/>
          </p:nvSpPr>
          <p:spPr>
            <a:xfrm rot="5400000">
              <a:off x="2733918" y="3103883"/>
              <a:ext cx="212400" cy="1599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4" name="Google Shape;904;p69"/>
          <p:cNvGrpSpPr/>
          <p:nvPr/>
        </p:nvGrpSpPr>
        <p:grpSpPr>
          <a:xfrm>
            <a:off x="213226" y="1771883"/>
            <a:ext cx="1975326" cy="841200"/>
            <a:chOff x="6939073" y="1452955"/>
            <a:chExt cx="1975326" cy="841200"/>
          </a:xfrm>
        </p:grpSpPr>
        <p:sp>
          <p:nvSpPr>
            <p:cNvPr id="905" name="Google Shape;905;p69"/>
            <p:cNvSpPr/>
            <p:nvPr/>
          </p:nvSpPr>
          <p:spPr>
            <a:xfrm>
              <a:off x="7195399" y="1452955"/>
              <a:ext cx="1719000" cy="8412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69"/>
            <p:cNvSpPr txBox="1"/>
            <p:nvPr/>
          </p:nvSpPr>
          <p:spPr>
            <a:xfrm>
              <a:off x="6939073" y="1496063"/>
              <a:ext cx="1815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595959"/>
                  </a:solidFill>
                </a:rPr>
                <a:t>Experiencias</a:t>
              </a:r>
              <a:endParaRPr b="1">
                <a:solidFill>
                  <a:srgbClr val="595959"/>
                </a:solidFill>
              </a:endParaRPr>
            </a:p>
          </p:txBody>
        </p:sp>
        <p:pic>
          <p:nvPicPr>
            <p:cNvPr descr="(x_i, a_i, r_i, x_i^+)&#10;%936c4b92-bdcd-4f4b-9410-3bb0f3f66cf8" id="907" name="Google Shape;907;p6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464349" y="1762143"/>
              <a:ext cx="1181100" cy="22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 = 1,...,n&#10;%2a3e6504-078b-4df2-8fb8-4db46ee3e516" id="908" name="Google Shape;908;p6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550074" y="2004942"/>
              <a:ext cx="1009650" cy="180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09" name="Google Shape;909;p69"/>
          <p:cNvGrpSpPr/>
          <p:nvPr/>
        </p:nvGrpSpPr>
        <p:grpSpPr>
          <a:xfrm>
            <a:off x="3769202" y="1774133"/>
            <a:ext cx="1717200" cy="836700"/>
            <a:chOff x="7060325" y="3930725"/>
            <a:chExt cx="1717200" cy="836700"/>
          </a:xfrm>
        </p:grpSpPr>
        <p:sp>
          <p:nvSpPr>
            <p:cNvPr id="910" name="Google Shape;910;p69"/>
            <p:cNvSpPr/>
            <p:nvPr/>
          </p:nvSpPr>
          <p:spPr>
            <a:xfrm>
              <a:off x="7060325" y="3930725"/>
              <a:ext cx="1717200" cy="8367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11" name="Google Shape;911;p69"/>
            <p:cNvGrpSpPr/>
            <p:nvPr/>
          </p:nvGrpSpPr>
          <p:grpSpPr>
            <a:xfrm>
              <a:off x="7083634" y="4086500"/>
              <a:ext cx="1527442" cy="387000"/>
              <a:chOff x="6929587" y="4315100"/>
              <a:chExt cx="1527442" cy="387000"/>
            </a:xfrm>
          </p:grpSpPr>
          <p:sp>
            <p:nvSpPr>
              <p:cNvPr id="912" name="Google Shape;912;p69"/>
              <p:cNvSpPr txBox="1"/>
              <p:nvPr/>
            </p:nvSpPr>
            <p:spPr>
              <a:xfrm>
                <a:off x="6929587" y="4315100"/>
                <a:ext cx="1460400" cy="38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rgbClr val="595959"/>
                    </a:solidFill>
                  </a:rPr>
                  <a:t>Función Valor</a:t>
                </a:r>
                <a:endParaRPr b="1">
                  <a:solidFill>
                    <a:srgbClr val="595959"/>
                  </a:solidFill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pic>
            <p:nvPicPr>
              <p:cNvPr descr="\hat V&#10;&#10;%14d0f7e3-8427-4cc6-8ba2-70f3843d63f1" id="913" name="Google Shape;913;p69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8295104" y="4364865"/>
                <a:ext cx="161925" cy="2190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14" name="Google Shape;914;p69"/>
            <p:cNvGrpSpPr/>
            <p:nvPr/>
          </p:nvGrpSpPr>
          <p:grpSpPr>
            <a:xfrm>
              <a:off x="7418296" y="4290950"/>
              <a:ext cx="944000" cy="400200"/>
              <a:chOff x="7217175" y="4519550"/>
              <a:chExt cx="944000" cy="400200"/>
            </a:xfrm>
          </p:grpSpPr>
          <p:pic>
            <p:nvPicPr>
              <p:cNvPr descr="\hat u&#10;%6527a728-9297-4cc6-bc00-07999d9572ea" id="915" name="Google Shape;915;p69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8037351" y="4605453"/>
                <a:ext cx="123825" cy="1714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16" name="Google Shape;916;p69"/>
              <p:cNvSpPr txBox="1"/>
              <p:nvPr/>
            </p:nvSpPr>
            <p:spPr>
              <a:xfrm>
                <a:off x="7217175" y="4519550"/>
                <a:ext cx="8673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chemeClr val="dk2"/>
                    </a:solidFill>
                  </a:rPr>
                  <a:t>Política</a:t>
                </a:r>
                <a:endParaRPr b="1"/>
              </a:p>
            </p:txBody>
          </p:sp>
        </p:grp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70"/>
          <p:cNvSpPr txBox="1"/>
          <p:nvPr/>
        </p:nvSpPr>
        <p:spPr>
          <a:xfrm>
            <a:off x="0" y="828650"/>
            <a:ext cx="90315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En este curso, nos vamos a enfocar en RL basado en estimativas y aproximaciones de la función valor.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Conceptualmente, dos pasos: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en" sz="1800">
                <a:solidFill>
                  <a:schemeClr val="dk1"/>
                </a:solidFill>
              </a:rPr>
              <a:t>Estimamos             a partir de 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&#10;%b2ec40be-a735-4635-8f85-29b8913da8e5" id="922" name="Google Shape;922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70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Un Obstáculo en RL</a:t>
            </a:r>
            <a:endParaRPr sz="2500"/>
          </a:p>
        </p:txBody>
      </p:sp>
      <p:grpSp>
        <p:nvGrpSpPr>
          <p:cNvPr id="924" name="Google Shape;924;p70"/>
          <p:cNvGrpSpPr/>
          <p:nvPr/>
        </p:nvGrpSpPr>
        <p:grpSpPr>
          <a:xfrm>
            <a:off x="2187317" y="2086283"/>
            <a:ext cx="1509133" cy="212400"/>
            <a:chOff x="1410935" y="3077633"/>
            <a:chExt cx="1509133" cy="212400"/>
          </a:xfrm>
        </p:grpSpPr>
        <p:cxnSp>
          <p:nvCxnSpPr>
            <p:cNvPr id="925" name="Google Shape;925;p70"/>
            <p:cNvCxnSpPr/>
            <p:nvPr/>
          </p:nvCxnSpPr>
          <p:spPr>
            <a:xfrm flipH="1" rot="10800000">
              <a:off x="1410935" y="3178032"/>
              <a:ext cx="1371600" cy="21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26" name="Google Shape;926;p70"/>
            <p:cNvSpPr/>
            <p:nvPr/>
          </p:nvSpPr>
          <p:spPr>
            <a:xfrm rot="5400000">
              <a:off x="2733918" y="3103883"/>
              <a:ext cx="212400" cy="1599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7" name="Google Shape;927;p70"/>
          <p:cNvGrpSpPr/>
          <p:nvPr/>
        </p:nvGrpSpPr>
        <p:grpSpPr>
          <a:xfrm>
            <a:off x="213226" y="1771883"/>
            <a:ext cx="1975326" cy="841200"/>
            <a:chOff x="6939073" y="1452955"/>
            <a:chExt cx="1975326" cy="841200"/>
          </a:xfrm>
        </p:grpSpPr>
        <p:sp>
          <p:nvSpPr>
            <p:cNvPr id="928" name="Google Shape;928;p70"/>
            <p:cNvSpPr/>
            <p:nvPr/>
          </p:nvSpPr>
          <p:spPr>
            <a:xfrm>
              <a:off x="7195399" y="1452955"/>
              <a:ext cx="1719000" cy="8412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70"/>
            <p:cNvSpPr txBox="1"/>
            <p:nvPr/>
          </p:nvSpPr>
          <p:spPr>
            <a:xfrm>
              <a:off x="6939073" y="1496063"/>
              <a:ext cx="1815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595959"/>
                  </a:solidFill>
                </a:rPr>
                <a:t>Experiencias</a:t>
              </a:r>
              <a:endParaRPr b="1">
                <a:solidFill>
                  <a:srgbClr val="595959"/>
                </a:solidFill>
              </a:endParaRPr>
            </a:p>
          </p:txBody>
        </p:sp>
        <p:pic>
          <p:nvPicPr>
            <p:cNvPr descr="(x_i, a_i, r_i, x_i^+)&#10;%936c4b92-bdcd-4f4b-9410-3bb0f3f66cf8" id="930" name="Google Shape;930;p7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464349" y="1762143"/>
              <a:ext cx="1181100" cy="22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 = 1,...,n&#10;%2a3e6504-078b-4df2-8fb8-4db46ee3e516" id="931" name="Google Shape;931;p7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550074" y="2004942"/>
              <a:ext cx="1009650" cy="180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32" name="Google Shape;932;p70"/>
          <p:cNvGrpSpPr/>
          <p:nvPr/>
        </p:nvGrpSpPr>
        <p:grpSpPr>
          <a:xfrm>
            <a:off x="3769202" y="1774133"/>
            <a:ext cx="1717200" cy="836700"/>
            <a:chOff x="7060325" y="3930725"/>
            <a:chExt cx="1717200" cy="836700"/>
          </a:xfrm>
        </p:grpSpPr>
        <p:sp>
          <p:nvSpPr>
            <p:cNvPr id="933" name="Google Shape;933;p70"/>
            <p:cNvSpPr/>
            <p:nvPr/>
          </p:nvSpPr>
          <p:spPr>
            <a:xfrm>
              <a:off x="7060325" y="3930725"/>
              <a:ext cx="1717200" cy="8367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34" name="Google Shape;934;p70"/>
            <p:cNvGrpSpPr/>
            <p:nvPr/>
          </p:nvGrpSpPr>
          <p:grpSpPr>
            <a:xfrm>
              <a:off x="7083634" y="4162700"/>
              <a:ext cx="1527442" cy="387000"/>
              <a:chOff x="6929587" y="4391300"/>
              <a:chExt cx="1527442" cy="387000"/>
            </a:xfrm>
          </p:grpSpPr>
          <p:sp>
            <p:nvSpPr>
              <p:cNvPr id="935" name="Google Shape;935;p70"/>
              <p:cNvSpPr txBox="1"/>
              <p:nvPr/>
            </p:nvSpPr>
            <p:spPr>
              <a:xfrm>
                <a:off x="6929587" y="4391300"/>
                <a:ext cx="1460400" cy="38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rgbClr val="595959"/>
                    </a:solidFill>
                  </a:rPr>
                  <a:t>Función Valor</a:t>
                </a:r>
                <a:endParaRPr b="1">
                  <a:solidFill>
                    <a:srgbClr val="595959"/>
                  </a:solidFill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pic>
            <p:nvPicPr>
              <p:cNvPr descr="\hat V&#10;&#10;%14d0f7e3-8427-4cc6-8ba2-70f3843d63f1" id="936" name="Google Shape;936;p70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8295104" y="4441065"/>
                <a:ext cx="161925" cy="2190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937" name="Google Shape;937;p70"/>
          <p:cNvGrpSpPr/>
          <p:nvPr/>
        </p:nvGrpSpPr>
        <p:grpSpPr>
          <a:xfrm>
            <a:off x="5492492" y="2067233"/>
            <a:ext cx="1509133" cy="212400"/>
            <a:chOff x="1410935" y="3077633"/>
            <a:chExt cx="1509133" cy="212400"/>
          </a:xfrm>
        </p:grpSpPr>
        <p:cxnSp>
          <p:nvCxnSpPr>
            <p:cNvPr id="938" name="Google Shape;938;p70"/>
            <p:cNvCxnSpPr/>
            <p:nvPr/>
          </p:nvCxnSpPr>
          <p:spPr>
            <a:xfrm flipH="1" rot="10800000">
              <a:off x="1410935" y="3178032"/>
              <a:ext cx="1371600" cy="21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39" name="Google Shape;939;p70"/>
            <p:cNvSpPr/>
            <p:nvPr/>
          </p:nvSpPr>
          <p:spPr>
            <a:xfrm rot="5400000">
              <a:off x="2733918" y="3103883"/>
              <a:ext cx="212400" cy="1599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0" name="Google Shape;940;p70"/>
          <p:cNvGrpSpPr/>
          <p:nvPr/>
        </p:nvGrpSpPr>
        <p:grpSpPr>
          <a:xfrm>
            <a:off x="7045802" y="1755083"/>
            <a:ext cx="1717200" cy="836700"/>
            <a:chOff x="7060325" y="3930725"/>
            <a:chExt cx="1717200" cy="836700"/>
          </a:xfrm>
        </p:grpSpPr>
        <p:sp>
          <p:nvSpPr>
            <p:cNvPr id="941" name="Google Shape;941;p70"/>
            <p:cNvSpPr/>
            <p:nvPr/>
          </p:nvSpPr>
          <p:spPr>
            <a:xfrm>
              <a:off x="7060325" y="3930725"/>
              <a:ext cx="1717200" cy="8367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42" name="Google Shape;942;p70"/>
            <p:cNvGrpSpPr/>
            <p:nvPr/>
          </p:nvGrpSpPr>
          <p:grpSpPr>
            <a:xfrm>
              <a:off x="7418296" y="4157600"/>
              <a:ext cx="944000" cy="400200"/>
              <a:chOff x="7217175" y="4386200"/>
              <a:chExt cx="944000" cy="400200"/>
            </a:xfrm>
          </p:grpSpPr>
          <p:pic>
            <p:nvPicPr>
              <p:cNvPr descr="\hat u&#10;%6527a728-9297-4cc6-bc00-07999d9572ea" id="943" name="Google Shape;943;p70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8037351" y="4472103"/>
                <a:ext cx="123825" cy="1714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44" name="Google Shape;944;p70"/>
              <p:cNvSpPr txBox="1"/>
              <p:nvPr/>
            </p:nvSpPr>
            <p:spPr>
              <a:xfrm>
                <a:off x="7217175" y="4386200"/>
                <a:ext cx="8673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chemeClr val="dk2"/>
                    </a:solidFill>
                  </a:rPr>
                  <a:t>Política</a:t>
                </a:r>
                <a:endParaRPr b="1"/>
              </a:p>
            </p:txBody>
          </p:sp>
        </p:grpSp>
      </p:grpSp>
      <p:pic>
        <p:nvPicPr>
          <p:cNvPr descr="\hat V \approx V^*&#10;%2d841c90-114b-4ca7-933d-3b7303a04320" id="945" name="Google Shape;945;p7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88550" y="3120350"/>
            <a:ext cx="6858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(x_i,a_i,r_i,x_i^+),i=1,...n&#10;%e543b3dc-3270-460b-8a9f-cedbd16aecc5" id="946" name="Google Shape;946;p7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048125" y="3134638"/>
            <a:ext cx="2190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70"/>
          <p:cNvSpPr txBox="1"/>
          <p:nvPr/>
        </p:nvSpPr>
        <p:spPr>
          <a:xfrm>
            <a:off x="2613725" y="1777363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71"/>
          <p:cNvSpPr txBox="1"/>
          <p:nvPr/>
        </p:nvSpPr>
        <p:spPr>
          <a:xfrm>
            <a:off x="0" y="828650"/>
            <a:ext cx="90315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En este curso, nos vamos a enfocar en RL basado en estimativas y aproximaciones de la función valor.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Conceptualmente, dos pasos: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en" sz="1800">
                <a:solidFill>
                  <a:schemeClr val="dk1"/>
                </a:solidFill>
              </a:rPr>
              <a:t>Estimamos             a partir de  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en" sz="1800">
                <a:solidFill>
                  <a:schemeClr val="dk1"/>
                </a:solidFill>
              </a:rPr>
              <a:t>Calculamos     a partir de    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&#10;%b2ec40be-a735-4635-8f85-29b8913da8e5" id="953" name="Google Shape;95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71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Un Obstáculo en RL</a:t>
            </a:r>
            <a:endParaRPr sz="2500"/>
          </a:p>
        </p:txBody>
      </p:sp>
      <p:grpSp>
        <p:nvGrpSpPr>
          <p:cNvPr id="955" name="Google Shape;955;p71"/>
          <p:cNvGrpSpPr/>
          <p:nvPr/>
        </p:nvGrpSpPr>
        <p:grpSpPr>
          <a:xfrm>
            <a:off x="2187317" y="2086283"/>
            <a:ext cx="1509133" cy="212400"/>
            <a:chOff x="1410935" y="3077633"/>
            <a:chExt cx="1509133" cy="212400"/>
          </a:xfrm>
        </p:grpSpPr>
        <p:cxnSp>
          <p:nvCxnSpPr>
            <p:cNvPr id="956" name="Google Shape;956;p71"/>
            <p:cNvCxnSpPr/>
            <p:nvPr/>
          </p:nvCxnSpPr>
          <p:spPr>
            <a:xfrm flipH="1" rot="10800000">
              <a:off x="1410935" y="3178032"/>
              <a:ext cx="1371600" cy="21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57" name="Google Shape;957;p71"/>
            <p:cNvSpPr/>
            <p:nvPr/>
          </p:nvSpPr>
          <p:spPr>
            <a:xfrm rot="5400000">
              <a:off x="2733918" y="3103883"/>
              <a:ext cx="212400" cy="1599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8" name="Google Shape;958;p71"/>
          <p:cNvGrpSpPr/>
          <p:nvPr/>
        </p:nvGrpSpPr>
        <p:grpSpPr>
          <a:xfrm>
            <a:off x="213226" y="1771883"/>
            <a:ext cx="1975326" cy="841200"/>
            <a:chOff x="6939073" y="1452955"/>
            <a:chExt cx="1975326" cy="841200"/>
          </a:xfrm>
        </p:grpSpPr>
        <p:sp>
          <p:nvSpPr>
            <p:cNvPr id="959" name="Google Shape;959;p71"/>
            <p:cNvSpPr/>
            <p:nvPr/>
          </p:nvSpPr>
          <p:spPr>
            <a:xfrm>
              <a:off x="7195399" y="1452955"/>
              <a:ext cx="1719000" cy="8412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71"/>
            <p:cNvSpPr txBox="1"/>
            <p:nvPr/>
          </p:nvSpPr>
          <p:spPr>
            <a:xfrm>
              <a:off x="6939073" y="1496063"/>
              <a:ext cx="1815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595959"/>
                  </a:solidFill>
                </a:rPr>
                <a:t>Experiencias</a:t>
              </a:r>
              <a:endParaRPr b="1">
                <a:solidFill>
                  <a:srgbClr val="595959"/>
                </a:solidFill>
              </a:endParaRPr>
            </a:p>
          </p:txBody>
        </p:sp>
        <p:pic>
          <p:nvPicPr>
            <p:cNvPr descr="(x_i, a_i, r_i, x_i^+)&#10;%936c4b92-bdcd-4f4b-9410-3bb0f3f66cf8" id="961" name="Google Shape;961;p7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464349" y="1762143"/>
              <a:ext cx="1181100" cy="22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 = 1,...,n&#10;%2a3e6504-078b-4df2-8fb8-4db46ee3e516" id="962" name="Google Shape;962;p7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550074" y="2004942"/>
              <a:ext cx="1009650" cy="180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63" name="Google Shape;963;p71"/>
          <p:cNvGrpSpPr/>
          <p:nvPr/>
        </p:nvGrpSpPr>
        <p:grpSpPr>
          <a:xfrm>
            <a:off x="3769202" y="1774133"/>
            <a:ext cx="1717200" cy="836700"/>
            <a:chOff x="7060325" y="3930725"/>
            <a:chExt cx="1717200" cy="836700"/>
          </a:xfrm>
        </p:grpSpPr>
        <p:sp>
          <p:nvSpPr>
            <p:cNvPr id="964" name="Google Shape;964;p71"/>
            <p:cNvSpPr/>
            <p:nvPr/>
          </p:nvSpPr>
          <p:spPr>
            <a:xfrm>
              <a:off x="7060325" y="3930725"/>
              <a:ext cx="1717200" cy="8367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65" name="Google Shape;965;p71"/>
            <p:cNvGrpSpPr/>
            <p:nvPr/>
          </p:nvGrpSpPr>
          <p:grpSpPr>
            <a:xfrm>
              <a:off x="7083634" y="4162700"/>
              <a:ext cx="1527442" cy="387000"/>
              <a:chOff x="6929587" y="4391300"/>
              <a:chExt cx="1527442" cy="387000"/>
            </a:xfrm>
          </p:grpSpPr>
          <p:sp>
            <p:nvSpPr>
              <p:cNvPr id="966" name="Google Shape;966;p71"/>
              <p:cNvSpPr txBox="1"/>
              <p:nvPr/>
            </p:nvSpPr>
            <p:spPr>
              <a:xfrm>
                <a:off x="6929587" y="4391300"/>
                <a:ext cx="1460400" cy="38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rgbClr val="595959"/>
                    </a:solidFill>
                  </a:rPr>
                  <a:t>Función Valor</a:t>
                </a:r>
                <a:endParaRPr b="1">
                  <a:solidFill>
                    <a:srgbClr val="595959"/>
                  </a:solidFill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pic>
            <p:nvPicPr>
              <p:cNvPr descr="\hat V&#10;&#10;%14d0f7e3-8427-4cc6-8ba2-70f3843d63f1" id="967" name="Google Shape;967;p71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8295104" y="4441065"/>
                <a:ext cx="161925" cy="2190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968" name="Google Shape;968;p71"/>
          <p:cNvGrpSpPr/>
          <p:nvPr/>
        </p:nvGrpSpPr>
        <p:grpSpPr>
          <a:xfrm>
            <a:off x="5492492" y="2067233"/>
            <a:ext cx="1509133" cy="212400"/>
            <a:chOff x="1410935" y="3077633"/>
            <a:chExt cx="1509133" cy="212400"/>
          </a:xfrm>
        </p:grpSpPr>
        <p:cxnSp>
          <p:nvCxnSpPr>
            <p:cNvPr id="969" name="Google Shape;969;p71"/>
            <p:cNvCxnSpPr/>
            <p:nvPr/>
          </p:nvCxnSpPr>
          <p:spPr>
            <a:xfrm flipH="1" rot="10800000">
              <a:off x="1410935" y="3178032"/>
              <a:ext cx="1371600" cy="21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70" name="Google Shape;970;p71"/>
            <p:cNvSpPr/>
            <p:nvPr/>
          </p:nvSpPr>
          <p:spPr>
            <a:xfrm rot="5400000">
              <a:off x="2733918" y="3103883"/>
              <a:ext cx="212400" cy="1599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1" name="Google Shape;971;p71"/>
          <p:cNvGrpSpPr/>
          <p:nvPr/>
        </p:nvGrpSpPr>
        <p:grpSpPr>
          <a:xfrm>
            <a:off x="7045802" y="1755083"/>
            <a:ext cx="1717200" cy="836700"/>
            <a:chOff x="7060325" y="3930725"/>
            <a:chExt cx="1717200" cy="836700"/>
          </a:xfrm>
        </p:grpSpPr>
        <p:sp>
          <p:nvSpPr>
            <p:cNvPr id="972" name="Google Shape;972;p71"/>
            <p:cNvSpPr/>
            <p:nvPr/>
          </p:nvSpPr>
          <p:spPr>
            <a:xfrm>
              <a:off x="7060325" y="3930725"/>
              <a:ext cx="1717200" cy="8367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73" name="Google Shape;973;p71"/>
            <p:cNvGrpSpPr/>
            <p:nvPr/>
          </p:nvGrpSpPr>
          <p:grpSpPr>
            <a:xfrm>
              <a:off x="7418296" y="4157600"/>
              <a:ext cx="944000" cy="400200"/>
              <a:chOff x="7217175" y="4386200"/>
              <a:chExt cx="944000" cy="400200"/>
            </a:xfrm>
          </p:grpSpPr>
          <p:pic>
            <p:nvPicPr>
              <p:cNvPr descr="\hat u&#10;%6527a728-9297-4cc6-bc00-07999d9572ea" id="974" name="Google Shape;974;p7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8037351" y="4472103"/>
                <a:ext cx="123825" cy="1714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75" name="Google Shape;975;p71"/>
              <p:cNvSpPr txBox="1"/>
              <p:nvPr/>
            </p:nvSpPr>
            <p:spPr>
              <a:xfrm>
                <a:off x="7217175" y="4386200"/>
                <a:ext cx="8673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chemeClr val="dk2"/>
                    </a:solidFill>
                  </a:rPr>
                  <a:t>Política</a:t>
                </a:r>
                <a:endParaRPr b="1"/>
              </a:p>
            </p:txBody>
          </p:sp>
        </p:grpSp>
      </p:grpSp>
      <p:pic>
        <p:nvPicPr>
          <p:cNvPr descr="\hat u&#10;%6527a728-9297-4cc6-bc00-07999d9572ea" id="976" name="Google Shape;976;p7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80350" y="3429936"/>
            <a:ext cx="1238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hat V&#10;&#10;%14d0f7e3-8427-4cc6-8ba2-70f3843d63f1" id="977" name="Google Shape;977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05453" y="3396585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hat u(x) = \arg \max_{a \in A}\left\{r_a(x)+\alpha\sum_y P_a(x,y)\hat V(y)\right\}&#10;%8c676f18-cad1-476c-99a9-7d578c1a62a3" id="978" name="Google Shape;978;p7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33825" y="3363250"/>
            <a:ext cx="42291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hat V \approx V^*&#10;%2d841c90-114b-4ca7-933d-3b7303a04320" id="979" name="Google Shape;979;p7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188550" y="3120350"/>
            <a:ext cx="6858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(x_i,a_i,r_i,x_i^+),i=1,...n&#10;%e543b3dc-3270-460b-8a9f-cedbd16aecc5" id="980" name="Google Shape;980;p7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048125" y="3134638"/>
            <a:ext cx="2190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81" name="Google Shape;981;p71"/>
          <p:cNvSpPr txBox="1"/>
          <p:nvPr/>
        </p:nvSpPr>
        <p:spPr>
          <a:xfrm>
            <a:off x="2613725" y="1777363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1</a:t>
            </a:r>
            <a:endParaRPr/>
          </a:p>
        </p:txBody>
      </p:sp>
      <p:sp>
        <p:nvSpPr>
          <p:cNvPr id="982" name="Google Shape;982;p71"/>
          <p:cNvSpPr txBox="1"/>
          <p:nvPr/>
        </p:nvSpPr>
        <p:spPr>
          <a:xfrm>
            <a:off x="5994725" y="18130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72"/>
          <p:cNvSpPr txBox="1"/>
          <p:nvPr/>
        </p:nvSpPr>
        <p:spPr>
          <a:xfrm>
            <a:off x="0" y="828650"/>
            <a:ext cx="90315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En este curso, nos vamos a enfocar en RL basado en estimativas y aproximaciones de la función valor.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Conceptualmente, dos pasos: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en" sz="1800">
                <a:solidFill>
                  <a:schemeClr val="dk1"/>
                </a:solidFill>
              </a:rPr>
              <a:t>Estimamos             a partir de  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en" sz="1800">
                <a:solidFill>
                  <a:schemeClr val="dk1"/>
                </a:solidFill>
              </a:rPr>
              <a:t>Calculamos     a partir de    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Problema: mismo que podamos completar el paso 1), el paso 2) requiere conocimiento de    y    .  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&#10;%b2ec40be-a735-4635-8f85-29b8913da8e5" id="988" name="Google Shape;98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72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Un Obstáculo en RL</a:t>
            </a:r>
            <a:endParaRPr sz="2500"/>
          </a:p>
        </p:txBody>
      </p:sp>
      <p:grpSp>
        <p:nvGrpSpPr>
          <p:cNvPr id="990" name="Google Shape;990;p72"/>
          <p:cNvGrpSpPr/>
          <p:nvPr/>
        </p:nvGrpSpPr>
        <p:grpSpPr>
          <a:xfrm>
            <a:off x="2187317" y="2086283"/>
            <a:ext cx="1509133" cy="212400"/>
            <a:chOff x="1410935" y="3077633"/>
            <a:chExt cx="1509133" cy="212400"/>
          </a:xfrm>
        </p:grpSpPr>
        <p:cxnSp>
          <p:nvCxnSpPr>
            <p:cNvPr id="991" name="Google Shape;991;p72"/>
            <p:cNvCxnSpPr/>
            <p:nvPr/>
          </p:nvCxnSpPr>
          <p:spPr>
            <a:xfrm flipH="1" rot="10800000">
              <a:off x="1410935" y="3178032"/>
              <a:ext cx="1371600" cy="21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92" name="Google Shape;992;p72"/>
            <p:cNvSpPr/>
            <p:nvPr/>
          </p:nvSpPr>
          <p:spPr>
            <a:xfrm rot="5400000">
              <a:off x="2733918" y="3103883"/>
              <a:ext cx="212400" cy="1599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3" name="Google Shape;993;p72"/>
          <p:cNvGrpSpPr/>
          <p:nvPr/>
        </p:nvGrpSpPr>
        <p:grpSpPr>
          <a:xfrm>
            <a:off x="213226" y="1771883"/>
            <a:ext cx="1975326" cy="841200"/>
            <a:chOff x="6939073" y="1452955"/>
            <a:chExt cx="1975326" cy="841200"/>
          </a:xfrm>
        </p:grpSpPr>
        <p:sp>
          <p:nvSpPr>
            <p:cNvPr id="994" name="Google Shape;994;p72"/>
            <p:cNvSpPr/>
            <p:nvPr/>
          </p:nvSpPr>
          <p:spPr>
            <a:xfrm>
              <a:off x="7195399" y="1452955"/>
              <a:ext cx="1719000" cy="8412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72"/>
            <p:cNvSpPr txBox="1"/>
            <p:nvPr/>
          </p:nvSpPr>
          <p:spPr>
            <a:xfrm>
              <a:off x="6939073" y="1496063"/>
              <a:ext cx="1815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595959"/>
                  </a:solidFill>
                </a:rPr>
                <a:t>Experiencias</a:t>
              </a:r>
              <a:endParaRPr b="1">
                <a:solidFill>
                  <a:srgbClr val="595959"/>
                </a:solidFill>
              </a:endParaRPr>
            </a:p>
          </p:txBody>
        </p:sp>
        <p:pic>
          <p:nvPicPr>
            <p:cNvPr descr="(x_i, a_i, r_i, x_i^+)&#10;%936c4b92-bdcd-4f4b-9410-3bb0f3f66cf8" id="996" name="Google Shape;996;p7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464349" y="1762143"/>
              <a:ext cx="1181100" cy="22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 = 1,...,n&#10;%2a3e6504-078b-4df2-8fb8-4db46ee3e516" id="997" name="Google Shape;997;p7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550074" y="2004942"/>
              <a:ext cx="1009650" cy="180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98" name="Google Shape;998;p72"/>
          <p:cNvGrpSpPr/>
          <p:nvPr/>
        </p:nvGrpSpPr>
        <p:grpSpPr>
          <a:xfrm>
            <a:off x="3769202" y="1774133"/>
            <a:ext cx="1717200" cy="836700"/>
            <a:chOff x="7060325" y="3930725"/>
            <a:chExt cx="1717200" cy="836700"/>
          </a:xfrm>
        </p:grpSpPr>
        <p:sp>
          <p:nvSpPr>
            <p:cNvPr id="999" name="Google Shape;999;p72"/>
            <p:cNvSpPr/>
            <p:nvPr/>
          </p:nvSpPr>
          <p:spPr>
            <a:xfrm>
              <a:off x="7060325" y="3930725"/>
              <a:ext cx="1717200" cy="8367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00" name="Google Shape;1000;p72"/>
            <p:cNvGrpSpPr/>
            <p:nvPr/>
          </p:nvGrpSpPr>
          <p:grpSpPr>
            <a:xfrm>
              <a:off x="7083634" y="4162700"/>
              <a:ext cx="1527442" cy="387000"/>
              <a:chOff x="6929587" y="4391300"/>
              <a:chExt cx="1527442" cy="387000"/>
            </a:xfrm>
          </p:grpSpPr>
          <p:sp>
            <p:nvSpPr>
              <p:cNvPr id="1001" name="Google Shape;1001;p72"/>
              <p:cNvSpPr txBox="1"/>
              <p:nvPr/>
            </p:nvSpPr>
            <p:spPr>
              <a:xfrm>
                <a:off x="6929587" y="4391300"/>
                <a:ext cx="1460400" cy="38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rgbClr val="595959"/>
                    </a:solidFill>
                  </a:rPr>
                  <a:t>Función Valor</a:t>
                </a:r>
                <a:endParaRPr b="1">
                  <a:solidFill>
                    <a:srgbClr val="595959"/>
                  </a:solidFill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pic>
            <p:nvPicPr>
              <p:cNvPr descr="\hat V&#10;&#10;%14d0f7e3-8427-4cc6-8ba2-70f3843d63f1" id="1002" name="Google Shape;1002;p72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8295104" y="4441065"/>
                <a:ext cx="161925" cy="2190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003" name="Google Shape;1003;p72"/>
          <p:cNvGrpSpPr/>
          <p:nvPr/>
        </p:nvGrpSpPr>
        <p:grpSpPr>
          <a:xfrm>
            <a:off x="5492492" y="2067233"/>
            <a:ext cx="1509133" cy="212400"/>
            <a:chOff x="1410935" y="3077633"/>
            <a:chExt cx="1509133" cy="212400"/>
          </a:xfrm>
        </p:grpSpPr>
        <p:cxnSp>
          <p:nvCxnSpPr>
            <p:cNvPr id="1004" name="Google Shape;1004;p72"/>
            <p:cNvCxnSpPr/>
            <p:nvPr/>
          </p:nvCxnSpPr>
          <p:spPr>
            <a:xfrm flipH="1" rot="10800000">
              <a:off x="1410935" y="3178032"/>
              <a:ext cx="1371600" cy="21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05" name="Google Shape;1005;p72"/>
            <p:cNvSpPr/>
            <p:nvPr/>
          </p:nvSpPr>
          <p:spPr>
            <a:xfrm rot="5400000">
              <a:off x="2733918" y="3103883"/>
              <a:ext cx="212400" cy="1599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6" name="Google Shape;1006;p72"/>
          <p:cNvGrpSpPr/>
          <p:nvPr/>
        </p:nvGrpSpPr>
        <p:grpSpPr>
          <a:xfrm>
            <a:off x="7045802" y="1755083"/>
            <a:ext cx="1717200" cy="836700"/>
            <a:chOff x="7060325" y="3930725"/>
            <a:chExt cx="1717200" cy="836700"/>
          </a:xfrm>
        </p:grpSpPr>
        <p:sp>
          <p:nvSpPr>
            <p:cNvPr id="1007" name="Google Shape;1007;p72"/>
            <p:cNvSpPr/>
            <p:nvPr/>
          </p:nvSpPr>
          <p:spPr>
            <a:xfrm>
              <a:off x="7060325" y="3930725"/>
              <a:ext cx="1717200" cy="8367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08" name="Google Shape;1008;p72"/>
            <p:cNvGrpSpPr/>
            <p:nvPr/>
          </p:nvGrpSpPr>
          <p:grpSpPr>
            <a:xfrm>
              <a:off x="7418296" y="4157600"/>
              <a:ext cx="944000" cy="400200"/>
              <a:chOff x="7217175" y="4386200"/>
              <a:chExt cx="944000" cy="400200"/>
            </a:xfrm>
          </p:grpSpPr>
          <p:pic>
            <p:nvPicPr>
              <p:cNvPr descr="\hat u&#10;%6527a728-9297-4cc6-bc00-07999d9572ea" id="1009" name="Google Shape;1009;p72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8037351" y="4472103"/>
                <a:ext cx="123825" cy="1714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10" name="Google Shape;1010;p72"/>
              <p:cNvSpPr txBox="1"/>
              <p:nvPr/>
            </p:nvSpPr>
            <p:spPr>
              <a:xfrm>
                <a:off x="7217175" y="4386200"/>
                <a:ext cx="8673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chemeClr val="dk2"/>
                    </a:solidFill>
                  </a:rPr>
                  <a:t>Política</a:t>
                </a:r>
                <a:endParaRPr b="1"/>
              </a:p>
            </p:txBody>
          </p:sp>
        </p:grpSp>
      </p:grpSp>
      <p:pic>
        <p:nvPicPr>
          <p:cNvPr descr="\hat u&#10;%6527a728-9297-4cc6-bc00-07999d9572ea" id="1011" name="Google Shape;1011;p7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80350" y="3429936"/>
            <a:ext cx="1238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hat V&#10;&#10;%14d0f7e3-8427-4cc6-8ba2-70f3843d63f1" id="1012" name="Google Shape;1012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05453" y="3396585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hat u(x) = \arg \max_{a \in A}\left\{r_a(x)+\alpha\sum_y P_a(x,y)\hat V(y)\right\}&#10;%8c676f18-cad1-476c-99a9-7d578c1a62a3" id="1013" name="Google Shape;1013;p7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33825" y="3363250"/>
            <a:ext cx="42291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hat V \approx V^*&#10;%2d841c90-114b-4ca7-933d-3b7303a04320" id="1014" name="Google Shape;1014;p7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188550" y="3120350"/>
            <a:ext cx="6858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(x_i,a_i,r_i,x_i^+),i=1,...n&#10;%e543b3dc-3270-460b-8a9f-cedbd16aecc5" id="1015" name="Google Shape;1015;p7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048125" y="3134638"/>
            <a:ext cx="2190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72"/>
          <p:cNvSpPr txBox="1"/>
          <p:nvPr/>
        </p:nvSpPr>
        <p:spPr>
          <a:xfrm>
            <a:off x="2613725" y="1777363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1</a:t>
            </a:r>
            <a:endParaRPr/>
          </a:p>
        </p:txBody>
      </p:sp>
      <p:sp>
        <p:nvSpPr>
          <p:cNvPr id="1017" name="Google Shape;1017;p72"/>
          <p:cNvSpPr txBox="1"/>
          <p:nvPr/>
        </p:nvSpPr>
        <p:spPr>
          <a:xfrm>
            <a:off x="5994725" y="18130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2</a:t>
            </a:r>
            <a:endParaRPr/>
          </a:p>
        </p:txBody>
      </p:sp>
      <p:pic>
        <p:nvPicPr>
          <p:cNvPr descr="r&#10;%b313a1c7-c622-4868-b266-2d0bcbf811d3" id="1018" name="Google Shape;1018;p7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266950" y="4324350"/>
            <a:ext cx="95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&#10;%c2b334ad-a3a7-4c1c-a016-617632b1b6ee" id="1019" name="Google Shape;1019;p7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628900" y="4295775"/>
            <a:ext cx="152400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73"/>
          <p:cNvSpPr txBox="1"/>
          <p:nvPr/>
        </p:nvSpPr>
        <p:spPr>
          <a:xfrm>
            <a:off x="0" y="828650"/>
            <a:ext cx="90315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En este curso, nos vamos a enfocar en RL basado en estimativas y aproximaciones de la función valor.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Conceptualmente, dos pasos: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en" sz="1800">
                <a:solidFill>
                  <a:schemeClr val="dk1"/>
                </a:solidFill>
              </a:rPr>
              <a:t>Estimamos             a partir de  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en" sz="1800">
                <a:solidFill>
                  <a:schemeClr val="dk1"/>
                </a:solidFill>
              </a:rPr>
              <a:t>Calculamos     a partir de    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Problema: mismo que podamos </a:t>
            </a:r>
            <a:r>
              <a:rPr lang="en" sz="1800">
                <a:solidFill>
                  <a:schemeClr val="dk1"/>
                </a:solidFill>
              </a:rPr>
              <a:t>completar</a:t>
            </a:r>
            <a:r>
              <a:rPr lang="en" sz="1800">
                <a:solidFill>
                  <a:schemeClr val="dk1"/>
                </a:solidFill>
              </a:rPr>
              <a:t> el paso 1), el paso 2) requiere conocimiento de    y    .  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Solución basada en la función Q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&#10;%b2ec40be-a735-4635-8f85-29b8913da8e5" id="1025" name="Google Shape;102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p73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Un Obstáculo en RL</a:t>
            </a:r>
            <a:endParaRPr sz="2500"/>
          </a:p>
        </p:txBody>
      </p:sp>
      <p:grpSp>
        <p:nvGrpSpPr>
          <p:cNvPr id="1027" name="Google Shape;1027;p73"/>
          <p:cNvGrpSpPr/>
          <p:nvPr/>
        </p:nvGrpSpPr>
        <p:grpSpPr>
          <a:xfrm>
            <a:off x="2187317" y="2086283"/>
            <a:ext cx="1509133" cy="212400"/>
            <a:chOff x="1410935" y="3077633"/>
            <a:chExt cx="1509133" cy="212400"/>
          </a:xfrm>
        </p:grpSpPr>
        <p:cxnSp>
          <p:nvCxnSpPr>
            <p:cNvPr id="1028" name="Google Shape;1028;p73"/>
            <p:cNvCxnSpPr/>
            <p:nvPr/>
          </p:nvCxnSpPr>
          <p:spPr>
            <a:xfrm flipH="1" rot="10800000">
              <a:off x="1410935" y="3178032"/>
              <a:ext cx="1371600" cy="21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29" name="Google Shape;1029;p73"/>
            <p:cNvSpPr/>
            <p:nvPr/>
          </p:nvSpPr>
          <p:spPr>
            <a:xfrm rot="5400000">
              <a:off x="2733918" y="3103883"/>
              <a:ext cx="212400" cy="1599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0" name="Google Shape;1030;p73"/>
          <p:cNvGrpSpPr/>
          <p:nvPr/>
        </p:nvGrpSpPr>
        <p:grpSpPr>
          <a:xfrm>
            <a:off x="213226" y="1771883"/>
            <a:ext cx="1975326" cy="841200"/>
            <a:chOff x="6939073" y="1452955"/>
            <a:chExt cx="1975326" cy="841200"/>
          </a:xfrm>
        </p:grpSpPr>
        <p:sp>
          <p:nvSpPr>
            <p:cNvPr id="1031" name="Google Shape;1031;p73"/>
            <p:cNvSpPr/>
            <p:nvPr/>
          </p:nvSpPr>
          <p:spPr>
            <a:xfrm>
              <a:off x="7195399" y="1452955"/>
              <a:ext cx="1719000" cy="8412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73"/>
            <p:cNvSpPr txBox="1"/>
            <p:nvPr/>
          </p:nvSpPr>
          <p:spPr>
            <a:xfrm>
              <a:off x="6939073" y="1496063"/>
              <a:ext cx="1815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595959"/>
                  </a:solidFill>
                </a:rPr>
                <a:t>Experiencias</a:t>
              </a:r>
              <a:endParaRPr b="1">
                <a:solidFill>
                  <a:srgbClr val="595959"/>
                </a:solidFill>
              </a:endParaRPr>
            </a:p>
          </p:txBody>
        </p:sp>
        <p:pic>
          <p:nvPicPr>
            <p:cNvPr descr="(x_i, a_i, r_i, x_i^+)&#10;%936c4b92-bdcd-4f4b-9410-3bb0f3f66cf8" id="1033" name="Google Shape;1033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464349" y="1762143"/>
              <a:ext cx="1181100" cy="22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 = 1,...,n&#10;%2a3e6504-078b-4df2-8fb8-4db46ee3e516" id="1034" name="Google Shape;1034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550074" y="2004942"/>
              <a:ext cx="1009650" cy="180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5" name="Google Shape;1035;p73"/>
          <p:cNvGrpSpPr/>
          <p:nvPr/>
        </p:nvGrpSpPr>
        <p:grpSpPr>
          <a:xfrm>
            <a:off x="3769202" y="1774133"/>
            <a:ext cx="1717200" cy="836700"/>
            <a:chOff x="7060325" y="3930725"/>
            <a:chExt cx="1717200" cy="836700"/>
          </a:xfrm>
        </p:grpSpPr>
        <p:sp>
          <p:nvSpPr>
            <p:cNvPr id="1036" name="Google Shape;1036;p73"/>
            <p:cNvSpPr/>
            <p:nvPr/>
          </p:nvSpPr>
          <p:spPr>
            <a:xfrm>
              <a:off x="7060325" y="3930725"/>
              <a:ext cx="1717200" cy="8367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37" name="Google Shape;1037;p73"/>
            <p:cNvGrpSpPr/>
            <p:nvPr/>
          </p:nvGrpSpPr>
          <p:grpSpPr>
            <a:xfrm>
              <a:off x="7083634" y="4162700"/>
              <a:ext cx="1527442" cy="387000"/>
              <a:chOff x="6929587" y="4391300"/>
              <a:chExt cx="1527442" cy="387000"/>
            </a:xfrm>
          </p:grpSpPr>
          <p:sp>
            <p:nvSpPr>
              <p:cNvPr id="1038" name="Google Shape;1038;p73"/>
              <p:cNvSpPr txBox="1"/>
              <p:nvPr/>
            </p:nvSpPr>
            <p:spPr>
              <a:xfrm>
                <a:off x="6929587" y="4391300"/>
                <a:ext cx="1460400" cy="38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rgbClr val="595959"/>
                    </a:solidFill>
                  </a:rPr>
                  <a:t>Función Valor</a:t>
                </a:r>
                <a:endParaRPr b="1">
                  <a:solidFill>
                    <a:srgbClr val="595959"/>
                  </a:solidFill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pic>
            <p:nvPicPr>
              <p:cNvPr descr="\hat V&#10;&#10;%14d0f7e3-8427-4cc6-8ba2-70f3843d63f1" id="1039" name="Google Shape;1039;p73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8295104" y="4441065"/>
                <a:ext cx="161925" cy="2190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040" name="Google Shape;1040;p73"/>
          <p:cNvGrpSpPr/>
          <p:nvPr/>
        </p:nvGrpSpPr>
        <p:grpSpPr>
          <a:xfrm>
            <a:off x="5492492" y="2067233"/>
            <a:ext cx="1509133" cy="212400"/>
            <a:chOff x="1410935" y="3077633"/>
            <a:chExt cx="1509133" cy="212400"/>
          </a:xfrm>
        </p:grpSpPr>
        <p:cxnSp>
          <p:nvCxnSpPr>
            <p:cNvPr id="1041" name="Google Shape;1041;p73"/>
            <p:cNvCxnSpPr/>
            <p:nvPr/>
          </p:nvCxnSpPr>
          <p:spPr>
            <a:xfrm flipH="1" rot="10800000">
              <a:off x="1410935" y="3178032"/>
              <a:ext cx="1371600" cy="21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42" name="Google Shape;1042;p73"/>
            <p:cNvSpPr/>
            <p:nvPr/>
          </p:nvSpPr>
          <p:spPr>
            <a:xfrm rot="5400000">
              <a:off x="2733918" y="3103883"/>
              <a:ext cx="212400" cy="1599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3" name="Google Shape;1043;p73"/>
          <p:cNvGrpSpPr/>
          <p:nvPr/>
        </p:nvGrpSpPr>
        <p:grpSpPr>
          <a:xfrm>
            <a:off x="7045802" y="1755083"/>
            <a:ext cx="1717200" cy="836700"/>
            <a:chOff x="7060325" y="3930725"/>
            <a:chExt cx="1717200" cy="836700"/>
          </a:xfrm>
        </p:grpSpPr>
        <p:sp>
          <p:nvSpPr>
            <p:cNvPr id="1044" name="Google Shape;1044;p73"/>
            <p:cNvSpPr/>
            <p:nvPr/>
          </p:nvSpPr>
          <p:spPr>
            <a:xfrm>
              <a:off x="7060325" y="3930725"/>
              <a:ext cx="1717200" cy="8367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45" name="Google Shape;1045;p73"/>
            <p:cNvGrpSpPr/>
            <p:nvPr/>
          </p:nvGrpSpPr>
          <p:grpSpPr>
            <a:xfrm>
              <a:off x="7418296" y="4157600"/>
              <a:ext cx="944000" cy="400200"/>
              <a:chOff x="7217175" y="4386200"/>
              <a:chExt cx="944000" cy="400200"/>
            </a:xfrm>
          </p:grpSpPr>
          <p:pic>
            <p:nvPicPr>
              <p:cNvPr descr="\hat u&#10;%6527a728-9297-4cc6-bc00-07999d9572ea" id="1046" name="Google Shape;1046;p73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8037351" y="4472103"/>
                <a:ext cx="123825" cy="1714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47" name="Google Shape;1047;p73"/>
              <p:cNvSpPr txBox="1"/>
              <p:nvPr/>
            </p:nvSpPr>
            <p:spPr>
              <a:xfrm>
                <a:off x="7217175" y="4386200"/>
                <a:ext cx="8673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chemeClr val="dk2"/>
                    </a:solidFill>
                  </a:rPr>
                  <a:t>Política</a:t>
                </a:r>
                <a:endParaRPr b="1"/>
              </a:p>
            </p:txBody>
          </p:sp>
        </p:grpSp>
      </p:grpSp>
      <p:pic>
        <p:nvPicPr>
          <p:cNvPr descr="\hat u&#10;%6527a728-9297-4cc6-bc00-07999d9572ea" id="1048" name="Google Shape;1048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80350" y="3429936"/>
            <a:ext cx="1238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hat V&#10;&#10;%14d0f7e3-8427-4cc6-8ba2-70f3843d63f1" id="1049" name="Google Shape;1049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05453" y="3396585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hat u(x) = \arg \max_{a \in A}\left\{r_a(x)+\alpha\sum_y P_a(x,y)\hat V(y)\right\}&#10;%8c676f18-cad1-476c-99a9-7d578c1a62a3" id="1050" name="Google Shape;1050;p7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33825" y="3363250"/>
            <a:ext cx="42291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hat V \approx V^*&#10;%2d841c90-114b-4ca7-933d-3b7303a04320" id="1051" name="Google Shape;1051;p7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188550" y="3120350"/>
            <a:ext cx="6858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(x_i,a_i,r_i,x_i^+),i=1,...n&#10;%e543b3dc-3270-460b-8a9f-cedbd16aecc5" id="1052" name="Google Shape;1052;p7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048125" y="3134638"/>
            <a:ext cx="2190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&#10;%b313a1c7-c622-4868-b266-2d0bcbf811d3" id="1053" name="Google Shape;1053;p7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266950" y="4324350"/>
            <a:ext cx="95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&#10;%c2b334ad-a3a7-4c1c-a016-617632b1b6ee" id="1054" name="Google Shape;1054;p7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628900" y="4295775"/>
            <a:ext cx="15240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73"/>
          <p:cNvSpPr txBox="1"/>
          <p:nvPr/>
        </p:nvSpPr>
        <p:spPr>
          <a:xfrm>
            <a:off x="2613725" y="1777363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1</a:t>
            </a:r>
            <a:endParaRPr/>
          </a:p>
        </p:txBody>
      </p:sp>
      <p:sp>
        <p:nvSpPr>
          <p:cNvPr id="1056" name="Google Shape;1056;p73"/>
          <p:cNvSpPr txBox="1"/>
          <p:nvPr/>
        </p:nvSpPr>
        <p:spPr>
          <a:xfrm>
            <a:off x="5994725" y="18130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061" name="Google Shape;106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74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La Función Q</a:t>
            </a:r>
            <a:endParaRPr sz="2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063" name="Google Shape;1063;p74"/>
          <p:cNvSpPr txBox="1"/>
          <p:nvPr/>
        </p:nvSpPr>
        <p:spPr>
          <a:xfrm>
            <a:off x="90900" y="1118450"/>
            <a:ext cx="896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64" name="Google Shape;1064;p74"/>
          <p:cNvSpPr txBox="1"/>
          <p:nvPr/>
        </p:nvSpPr>
        <p:spPr>
          <a:xfrm>
            <a:off x="0" y="828650"/>
            <a:ext cx="90315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Recordemos la ecuación de Bellman: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Vamos a definir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V^*(x) = \max_{a \in A}\left\{r_a(x)+\alpha\sum_y P_a(x,y)V^*(y)\right\}&#10;%08eda17a-8dcc-46f6-a38a-e52839b89b66" id="1065" name="Google Shape;1065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5550" y="1428750"/>
            <a:ext cx="41529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^*(x,a) = r_a(x)+\alpha\sum_y P_a(x,y)V^*(y)&#10;%20b56716-f3fc-4448-8401-925dbb664b94" id="1066" name="Google Shape;1066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86075" y="2342425"/>
            <a:ext cx="3371850" cy="23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071" name="Google Shape;1071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75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La Función Q</a:t>
            </a:r>
            <a:endParaRPr sz="2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073" name="Google Shape;1073;p75"/>
          <p:cNvSpPr txBox="1"/>
          <p:nvPr/>
        </p:nvSpPr>
        <p:spPr>
          <a:xfrm>
            <a:off x="90900" y="1118450"/>
            <a:ext cx="896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74" name="Google Shape;1074;p75"/>
          <p:cNvSpPr txBox="1"/>
          <p:nvPr/>
        </p:nvSpPr>
        <p:spPr>
          <a:xfrm>
            <a:off x="0" y="828650"/>
            <a:ext cx="90315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Recordemos la ecuación de Bellman: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Vamos a definir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     satisface a otra ecuación</a:t>
            </a:r>
            <a:r>
              <a:rPr lang="en" sz="1800">
                <a:solidFill>
                  <a:schemeClr val="dk1"/>
                </a:solidFill>
              </a:rPr>
              <a:t> de Bellman: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V^*(x) = \max_{a \in A}\left\{r_a(x)+\alpha\sum_y P_a(x,y)V^*(y)\right\}&#10;%08eda17a-8dcc-46f6-a38a-e52839b89b66" id="1075" name="Google Shape;1075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5550" y="1428750"/>
            <a:ext cx="41529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^*(x,a) = r_a(x)+\alpha\sum_y P_a(x,y)V^*(y)&#10;%20b56716-f3fc-4448-8401-925dbb664b94" id="1076" name="Google Shape;1076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86075" y="2342425"/>
            <a:ext cx="33718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^*(x,a) = r_a(x)+\alpha\sum_y P_a(x,y)\max_{a' \in A}Q^*(y,a')&#10;%ee83abd2-d8f5-4ca3-97a8-479733b8f7fe" id="1077" name="Google Shape;1077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95550" y="3258425"/>
            <a:ext cx="4391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^*&#10;%fef3b4e5-97bb-4152-9a85-d52395669838" id="1078" name="Google Shape;1078;p7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3400" y="2905125"/>
            <a:ext cx="2476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083" name="Google Shape;1083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76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La Función Q</a:t>
            </a:r>
            <a:endParaRPr sz="2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085" name="Google Shape;1085;p76"/>
          <p:cNvSpPr txBox="1"/>
          <p:nvPr/>
        </p:nvSpPr>
        <p:spPr>
          <a:xfrm>
            <a:off x="90900" y="1118450"/>
            <a:ext cx="896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86" name="Google Shape;1086;p76"/>
          <p:cNvSpPr txBox="1"/>
          <p:nvPr/>
        </p:nvSpPr>
        <p:spPr>
          <a:xfrm>
            <a:off x="0" y="828650"/>
            <a:ext cx="90315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Recordemos la ecuación de Bellman: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Vamos a definir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     satisface a otra ecuación de Bellman: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Con una aproximación de             , podemos obtener una política: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V^*(x) = \max_{a \in A}\left\{r_a(x)+\alpha\sum_y P_a(x,y)V^*(y)\right\}&#10;%08eda17a-8dcc-46f6-a38a-e52839b89b66" id="1087" name="Google Shape;1087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5550" y="1428750"/>
            <a:ext cx="41529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^*(x,a) = r_a(x)+\alpha\sum_y P_a(x,y)V^*(y)&#10;%20b56716-f3fc-4448-8401-925dbb664b94" id="1088" name="Google Shape;1088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86075" y="2342425"/>
            <a:ext cx="33718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^*(x,a) = r_a(x)+\alpha\sum_y P_a(x,y)\max_{a' \in A}Q^*(y,a')&#10;%ee83abd2-d8f5-4ca3-97a8-479733b8f7fe" id="1089" name="Google Shape;1089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95550" y="3258425"/>
            <a:ext cx="4391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^*&#10;%fef3b4e5-97bb-4152-9a85-d52395669838" id="1090" name="Google Shape;1090;p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3400" y="2905125"/>
            <a:ext cx="2476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hat Q \approx Q^*&#10;%7a4ab183-f6b8-4943-8681-afbb58423898" id="1091" name="Google Shape;1091;p7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76600" y="3657600"/>
            <a:ext cx="6762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hat u(x) = \max_{a \in A} \hat Q(x,a)&#10;%fe57b607-f273-4f3e-93ea-0d5a96939260" id="1092" name="Google Shape;1092;p7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76638" y="4057650"/>
            <a:ext cx="1990725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097" name="Google Shape;1097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8" name="Google Shape;1098;p77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Algoritmo de Robins-Monro</a:t>
            </a:r>
            <a:endParaRPr sz="2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099" name="Google Shape;1099;p77"/>
          <p:cNvSpPr txBox="1"/>
          <p:nvPr/>
        </p:nvSpPr>
        <p:spPr>
          <a:xfrm>
            <a:off x="90900" y="1118450"/>
            <a:ext cx="896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00" name="Google Shape;1100;p77"/>
          <p:cNvSpPr txBox="1"/>
          <p:nvPr/>
        </p:nvSpPr>
        <p:spPr>
          <a:xfrm>
            <a:off x="0" y="828650"/>
            <a:ext cx="90315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\begin{array}{rcl}&#10;Q^*(x,a) &amp;=&amp; r_a(x)+\alpha \sum_y P_a(x,y)\max\limits_{a' \in A} Q^*(y,a)\\&#10;&amp;=&amp;{\rm E}\left[r_a(x)+\alpha \max\limits_{a' \in A} Q^*(y,a') |&#10;y' \sim P_a(x,.)\right]&#10;\end{array}&#10;%0306889d-7913-4735-a0d2-a26f2ba87362" id="1101" name="Google Shape;1101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1225" y="1066800"/>
            <a:ext cx="4838700" cy="88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106" name="Google Shape;1106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p78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Algoritmo de Robins-Monro</a:t>
            </a:r>
            <a:endParaRPr sz="2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108" name="Google Shape;1108;p78"/>
          <p:cNvSpPr txBox="1"/>
          <p:nvPr/>
        </p:nvSpPr>
        <p:spPr>
          <a:xfrm>
            <a:off x="90900" y="1118450"/>
            <a:ext cx="896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09" name="Google Shape;1109;p78"/>
          <p:cNvSpPr txBox="1"/>
          <p:nvPr/>
        </p:nvSpPr>
        <p:spPr>
          <a:xfrm>
            <a:off x="0" y="828650"/>
            <a:ext cx="90315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RL está basado en que se puede resolver esas ecuaciones utilizando muestras en vez del valor esperado. 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\begin{array}{rcl}&#10;Q^*(x,a) &amp;=&amp; r_a(x)+\alpha \sum_y P_a(x,y)\max\limits_{a' \in A} Q^*(y,a)\\&#10;&amp;=&amp;{\rm E}\left[r_a(x)+\alpha \max\limits_{a' \in A} Q^*(y,a') |&#10;y' \sim P_a(x,.)\right]&#10;\end{array}&#10;%0306889d-7913-4735-a0d2-a26f2ba87362" id="1110" name="Google Shape;1110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1225" y="1066800"/>
            <a:ext cx="4838700" cy="88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115" name="Google Shape;111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79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Algoritmo de Robins-Monro</a:t>
            </a:r>
            <a:endParaRPr sz="2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117" name="Google Shape;1117;p79"/>
          <p:cNvSpPr txBox="1"/>
          <p:nvPr/>
        </p:nvSpPr>
        <p:spPr>
          <a:xfrm>
            <a:off x="90900" y="1118450"/>
            <a:ext cx="896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18" name="Google Shape;1118;p79"/>
          <p:cNvSpPr txBox="1"/>
          <p:nvPr/>
        </p:nvSpPr>
        <p:spPr>
          <a:xfrm>
            <a:off x="0" y="828650"/>
            <a:ext cx="90315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RL está basado en que se puede resolver esas ecuaciones utilizando muestras en vez del valor esperado. 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La metodología que utilizamos para desarrollar nuestros algoritmos está basada en el algoritmo de Robins-Monro.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\begin{array}{rcl}&#10;Q^*(x,a) &amp;=&amp; r_a(x)+\alpha \sum_y P_a(x,y)\max\limits_{a' \in A} Q^*(y,a)\\&#10;&amp;=&amp;{\rm E}\left[r_a(x)+\alpha \max\limits_{a' \in A} Q^*(y,a') |&#10;y' \sim P_a(x,.)\right]&#10;\end{array}&#10;%0306889d-7913-4735-a0d2-a26f2ba87362" id="1119" name="Google Shape;1119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1225" y="1066800"/>
            <a:ext cx="4838700" cy="88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124" name="Google Shape;1124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5" name="Google Shape;1125;p80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Q-Learning</a:t>
            </a:r>
            <a:endParaRPr sz="2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126" name="Google Shape;1126;p80"/>
          <p:cNvSpPr txBox="1"/>
          <p:nvPr/>
        </p:nvSpPr>
        <p:spPr>
          <a:xfrm>
            <a:off x="90900" y="1118450"/>
            <a:ext cx="896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grpSp>
        <p:nvGrpSpPr>
          <p:cNvPr id="1127" name="Google Shape;1127;p80"/>
          <p:cNvGrpSpPr/>
          <p:nvPr/>
        </p:nvGrpSpPr>
        <p:grpSpPr>
          <a:xfrm>
            <a:off x="716050" y="2057400"/>
            <a:ext cx="7296300" cy="2862900"/>
            <a:chOff x="716050" y="2819400"/>
            <a:chExt cx="7296300" cy="2862900"/>
          </a:xfrm>
        </p:grpSpPr>
        <p:sp>
          <p:nvSpPr>
            <p:cNvPr id="1128" name="Google Shape;1128;p80"/>
            <p:cNvSpPr txBox="1"/>
            <p:nvPr/>
          </p:nvSpPr>
          <p:spPr>
            <a:xfrm>
              <a:off x="716050" y="2819400"/>
              <a:ext cx="7296300" cy="286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45720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Algoritmo Q-learning:</a:t>
              </a:r>
              <a:endParaRPr sz="1800">
                <a:solidFill>
                  <a:schemeClr val="dk1"/>
                </a:solidFill>
              </a:endParaRPr>
            </a:p>
            <a:p>
              <a:pPr indent="0" lvl="0" marL="45720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</a:endParaRPr>
            </a:p>
            <a:p>
              <a:pPr indent="-34290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Char char="-"/>
              </a:pPr>
              <a:r>
                <a:rPr lang="en" sz="1800">
                  <a:solidFill>
                    <a:schemeClr val="dk1"/>
                  </a:solidFill>
                </a:rPr>
                <a:t>Asumimos muestras</a:t>
              </a:r>
              <a:endParaRPr sz="1800">
                <a:solidFill>
                  <a:schemeClr val="dk1"/>
                </a:solidFill>
              </a:endParaRPr>
            </a:p>
            <a:p>
              <a:pPr indent="0" lvl="0" marL="9144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</a:endParaRPr>
            </a:p>
            <a:p>
              <a:pPr indent="-34290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Char char="-"/>
              </a:pPr>
              <a:r>
                <a:rPr lang="en" sz="1800">
                  <a:solidFill>
                    <a:schemeClr val="dk1"/>
                  </a:solidFill>
                </a:rPr>
                <a:t>Inicializamos      según alguna regla (por ejemplo, 0)</a:t>
              </a:r>
              <a:endParaRPr sz="1800">
                <a:solidFill>
                  <a:schemeClr val="dk1"/>
                </a:solidFill>
              </a:endParaRPr>
            </a:p>
            <a:p>
              <a:pPr indent="0" lvl="0" marL="9144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</a:endParaRPr>
            </a:p>
            <a:p>
              <a:pPr indent="-34290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Char char="-"/>
              </a:pPr>
              <a:r>
                <a:rPr lang="en" sz="1800">
                  <a:solidFill>
                    <a:schemeClr val="dk1"/>
                  </a:solidFill>
                </a:rPr>
                <a:t>Para cada                , actualizamos:</a:t>
              </a:r>
              <a:endParaRPr sz="18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pic>
          <p:nvPicPr>
            <p:cNvPr descr="(x_i,a_i,r_i,x_i^+), i = 1,...&#10;%15bc5ae0-3312-4bd5-9045-36ada35a406c" id="1129" name="Google Shape;1129;p8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886200" y="3371850"/>
              <a:ext cx="2028825" cy="22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Q_0&#10;%0440ce59-f8f3-4d0c-9dc6-e12fe5ded1d3" id="1130" name="Google Shape;1130;p8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095625" y="3819525"/>
              <a:ext cx="247650" cy="180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Q_{i+1}(x_i,a_i) = Q_i(x_i,a_i)+\gamma_i \left[r_i+\alpha \max\limits_{a'\in A}Q_i(x_i^+,a')-Q_i(x_i,a_i)\right]&#10;%aad9d7f1-3f62-4772-8057-47ced7f05021" id="1131" name="Google Shape;1131;p8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757363" y="4514850"/>
              <a:ext cx="5686425" cy="485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 = 1,2,...&#10;%98dfc114-1d38-49e7-a7fa-710dfa3a6160" id="1132" name="Google Shape;1132;p8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809875" y="4267200"/>
              <a:ext cx="952500" cy="1809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\begin{array}{rcl}&#10;Q^*(x,a) &amp;=&amp; r_a(x)+\alpha \sum_y P_a(x,y)\max\limits_{a' \in A} Q^*(y,a)\\&#10;&amp;=&amp;{\rm E}\left[r_a(x)+\alpha \max\limits_{a' \in A} Q^*(y,a') |&#10;y' \sim P_a(x,.)\right]&#10;\end{array}&#10;%0306889d-7913-4735-a0d2-a26f2ba87362" id="1133" name="Google Shape;1133;p8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81225" y="1066800"/>
            <a:ext cx="4838700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_{i+1}(x,a) = Q_i(x,a)~~\forall (x,a)\neq (x_i,a_i)&#10;%f99314a1-3b1a-4d25-a4dd-5fa2f9c3ee82" id="1134" name="Google Shape;1134;p8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743075" y="4448175"/>
            <a:ext cx="339090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81"/>
          <p:cNvSpPr txBox="1"/>
          <p:nvPr/>
        </p:nvSpPr>
        <p:spPr>
          <a:xfrm>
            <a:off x="697000" y="1606963"/>
            <a:ext cx="72963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Definimos                                             como el conjunto de ocurrencias de          en nuestra muestra.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Entonces                      si: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</a:t>
            </a:r>
            <a:endParaRPr sz="18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descr="\sum_{i \in \Gamma(x,a)} \gamma_i = \infty, ~~\sum_{i \in \Gamma(x,a)} \gamma_i^2 &lt;\infty,~~\forall (x,a)&#10;%9abe3f7a-d476-4486-ae3e-d6bee96aea0a" id="1140" name="Google Shape;1140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4625" y="2983700"/>
            <a:ext cx="39147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#10;%b2ec40be-a735-4635-8f85-29b8913da8e5" id="1141" name="Google Shape;1141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p81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Q-Learning - Convergencia</a:t>
            </a:r>
            <a:endParaRPr sz="2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143" name="Google Shape;1143;p81"/>
          <p:cNvSpPr txBox="1"/>
          <p:nvPr/>
        </p:nvSpPr>
        <p:spPr>
          <a:xfrm>
            <a:off x="90900" y="1118450"/>
            <a:ext cx="896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Q_{i+1}(x_i,a_i) = Q_i(x_i,a_i)+\gamma_i \left[r_i+\alpha \max\limits_{a'\in A}Q_i(x_i^+,a')-Q_i(x_i,a_i)\right]&#10;%aad9d7f1-3f62-4772-8057-47ced7f05021" id="1144" name="Google Shape;1144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7363" y="847725"/>
            <a:ext cx="5686425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lim\limits_{i \rightarrow \infty} Q_i = Q^*&#10;%e9f524b4-f557-467c-98df-1b94e5850a61" id="1145" name="Google Shape;1145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66950" y="2581275"/>
            <a:ext cx="111442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Gamma(x,a) = \{i:~(x_i,a_i)=(x,a) \}&#10;%74cc1248-41c7-4701-a27a-fe3109f747ce" id="1146" name="Google Shape;1146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62200" y="1752600"/>
            <a:ext cx="26860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(x,a)&#10;%a0f41412-cb0c-47b1-99d0-32277a5793fa" id="1147" name="Google Shape;1147;p8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28925" y="2014538"/>
            <a:ext cx="47625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82"/>
          <p:cNvSpPr txBox="1"/>
          <p:nvPr/>
        </p:nvSpPr>
        <p:spPr>
          <a:xfrm>
            <a:off x="697000" y="1606963"/>
            <a:ext cx="72963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Definimos                                             como el conjunto de ocurrencias de          en nuestra muestra.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Entonces                      si: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todos los pares         tienen que ser visitados infinitas veces</a:t>
            </a:r>
            <a:endParaRPr sz="18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</a:t>
            </a:r>
            <a:endParaRPr sz="18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descr="\sum_{i \in \Gamma(x,a)} \gamma_i = \infty, ~~\sum_{i \in \Gamma(x,a)} \gamma_i^2 &lt;\infty,~~\forall (x,a)&#10;%9abe3f7a-d476-4486-ae3e-d6bee96aea0a" id="1153" name="Google Shape;115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4625" y="2983700"/>
            <a:ext cx="39147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#10;%b2ec40be-a735-4635-8f85-29b8913da8e5" id="1154" name="Google Shape;1154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5" name="Google Shape;1155;p82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Q-Learning - Convergencia</a:t>
            </a:r>
            <a:endParaRPr sz="2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156" name="Google Shape;1156;p82"/>
          <p:cNvSpPr txBox="1"/>
          <p:nvPr/>
        </p:nvSpPr>
        <p:spPr>
          <a:xfrm>
            <a:off x="90900" y="1118450"/>
            <a:ext cx="896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Q_{i+1}(x_i,a_i) = Q_i(x_i,a_i)+\gamma_i \left[r_i+\alpha \max\limits_{a'\in A}Q_i(x_i^+,a')-Q_i(x_i,a_i)\right]&#10;%aad9d7f1-3f62-4772-8057-47ced7f05021" id="1157" name="Google Shape;1157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7363" y="847725"/>
            <a:ext cx="5686425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lim\limits_{i \rightarrow \infty} Q_i = Q^*&#10;%e9f524b4-f557-467c-98df-1b94e5850a61" id="1158" name="Google Shape;1158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66950" y="2581275"/>
            <a:ext cx="111442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Gamma(x,a) = \{i:~(x_i,a_i)=(x,a) \}&#10;%74cc1248-41c7-4701-a27a-fe3109f747ce" id="1159" name="Google Shape;1159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62200" y="1752600"/>
            <a:ext cx="26860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(x,a)&#10;%a0f41412-cb0c-47b1-99d0-32277a5793fa" id="1160" name="Google Shape;1160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14700" y="3440900"/>
            <a:ext cx="4762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(x,a)&#10;%a0f41412-cb0c-47b1-99d0-32277a5793fa" id="1161" name="Google Shape;1161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28925" y="2014538"/>
            <a:ext cx="47625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83"/>
          <p:cNvSpPr txBox="1"/>
          <p:nvPr/>
        </p:nvSpPr>
        <p:spPr>
          <a:xfrm>
            <a:off x="697000" y="1606963"/>
            <a:ext cx="72963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Definimos                                             como el conjunto de ocurrencias de          en nuestra muestra.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Entonces                      si: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todos los pares         tienen que ser visitados infinitas veces</a:t>
            </a:r>
            <a:endParaRPr sz="1800"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no es necesario visitarlos en ningún orden específico</a:t>
            </a:r>
            <a:endParaRPr sz="1800"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retornaremos a ese punto…</a:t>
            </a:r>
            <a:endParaRPr sz="18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</a:t>
            </a:r>
            <a:endParaRPr sz="18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descr="\sum_{i \in \Gamma(x,a)} \gamma_i = \infty, ~~\sum_{i \in \Gamma(x,a)} \gamma_i^2 &lt;\infty,~~\forall (x,a)&#10;%9abe3f7a-d476-4486-ae3e-d6bee96aea0a" id="1167" name="Google Shape;1167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4625" y="2983700"/>
            <a:ext cx="39147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#10;%b2ec40be-a735-4635-8f85-29b8913da8e5" id="1168" name="Google Shape;1168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9" name="Google Shape;1169;p83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Q-Learning - Convergencia</a:t>
            </a:r>
            <a:endParaRPr sz="2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170" name="Google Shape;1170;p83"/>
          <p:cNvSpPr txBox="1"/>
          <p:nvPr/>
        </p:nvSpPr>
        <p:spPr>
          <a:xfrm>
            <a:off x="90900" y="1118450"/>
            <a:ext cx="896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Q_{i+1}(x_i,a_i) = Q_i(x_i,a_i)+\gamma_i \left[r_i+\alpha \max\limits_{a'\in A}Q_i(x_i^+,a')-Q_i(x_i,a_i)\right]&#10;%aad9d7f1-3f62-4772-8057-47ced7f05021" id="1171" name="Google Shape;1171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7363" y="847725"/>
            <a:ext cx="5686425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lim\limits_{i \rightarrow \infty} Q_i = Q^*&#10;%e9f524b4-f557-467c-98df-1b94e5850a61" id="1172" name="Google Shape;1172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66950" y="2581275"/>
            <a:ext cx="111442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Gamma(x,a) = \{i:~(x_i,a_i)=(x,a) \}&#10;%74cc1248-41c7-4701-a27a-fe3109f747ce" id="1173" name="Google Shape;1173;p8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62200" y="1752600"/>
            <a:ext cx="26860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(x,a)&#10;%a0f41412-cb0c-47b1-99d0-32277a5793fa" id="1174" name="Google Shape;1174;p8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14700" y="3440900"/>
            <a:ext cx="4762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(x,a)&#10;%a0f41412-cb0c-47b1-99d0-32277a5793fa" id="1175" name="Google Shape;1175;p8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28925" y="2014538"/>
            <a:ext cx="47625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_{i+1}(x_i,a_i) = Q_i(x_i,a_i)+\gamma_i \underbrace{\left[r_i+\alpha \max\limits_{a'\in A}Q_i(x_i^+,a')-Q_i(x_i,a_i)\right]}&#10;%8c40d08a-115b-488e-bb21-4ff1552c1fe5" id="1180" name="Google Shape;1180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7350" y="918650"/>
            <a:ext cx="5686425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#10;%b2ec40be-a735-4635-8f85-29b8913da8e5" id="1181" name="Google Shape;1181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2" name="Google Shape;1182;p84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Q-Learning - Intuición</a:t>
            </a:r>
            <a:endParaRPr sz="2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183" name="Google Shape;1183;p84"/>
          <p:cNvSpPr txBox="1"/>
          <p:nvPr/>
        </p:nvSpPr>
        <p:spPr>
          <a:xfrm>
            <a:off x="90900" y="1118450"/>
            <a:ext cx="896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84" name="Google Shape;1184;p84"/>
          <p:cNvSpPr txBox="1"/>
          <p:nvPr/>
        </p:nvSpPr>
        <p:spPr>
          <a:xfrm>
            <a:off x="4287925" y="1438275"/>
            <a:ext cx="315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Diferencia temporal (TD)</a:t>
            </a:r>
            <a:endParaRPr/>
          </a:p>
        </p:txBody>
      </p:sp>
      <p:sp>
        <p:nvSpPr>
          <p:cNvPr id="1185" name="Google Shape;1185;p84"/>
          <p:cNvSpPr txBox="1"/>
          <p:nvPr/>
        </p:nvSpPr>
        <p:spPr>
          <a:xfrm>
            <a:off x="716050" y="2047875"/>
            <a:ext cx="83370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La actualización es intuitiva: 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la diferencia temporal indica si la observación del valor de la acción     en el estado     es mejor o peor que nuestra estimativa              </a:t>
            </a:r>
            <a:endParaRPr sz="18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la estimativa es actualizada en proporción a la diferencia temporal </a:t>
            </a:r>
            <a:endParaRPr sz="18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descr="a_i&#10;%1d579c32-c950-4555-8e55-bd0d88d37d24" id="1186" name="Google Shape;1186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72500" y="2676525"/>
            <a:ext cx="1809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x_i&#10;%a359792b-a30a-415a-9d69-9603cf2d6a4f" id="1187" name="Google Shape;1187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28950" y="2943225"/>
            <a:ext cx="1809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_i(x_i,a_i)&#10;%804407db-bd83-4dd8-9311-68d2973c0bc7" id="1188" name="Google Shape;1188;p8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05675" y="2876550"/>
            <a:ext cx="828675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_{i+1}(x_i,a_i) = Q_i(x_i,a_i)+\gamma_i \underbrace{\left[r_i+\alpha \max\limits_{a'\in A}Q_i(x_i^+,a')-Q_i(x_i,a_i)\right]}&#10;%8c40d08a-115b-488e-bb21-4ff1552c1fe5" id="1193" name="Google Shape;1193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7350" y="918650"/>
            <a:ext cx="5686425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#10;%b2ec40be-a735-4635-8f85-29b8913da8e5" id="1194" name="Google Shape;1194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85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Q-Learning - Intuición</a:t>
            </a:r>
            <a:endParaRPr sz="2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196" name="Google Shape;1196;p85"/>
          <p:cNvSpPr txBox="1"/>
          <p:nvPr/>
        </p:nvSpPr>
        <p:spPr>
          <a:xfrm>
            <a:off x="90900" y="1118450"/>
            <a:ext cx="896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97" name="Google Shape;1197;p85"/>
          <p:cNvSpPr txBox="1"/>
          <p:nvPr/>
        </p:nvSpPr>
        <p:spPr>
          <a:xfrm>
            <a:off x="4287925" y="1438275"/>
            <a:ext cx="315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Diferencia temporal (TD)</a:t>
            </a:r>
            <a:endParaRPr/>
          </a:p>
        </p:txBody>
      </p:sp>
      <p:sp>
        <p:nvSpPr>
          <p:cNvPr id="1198" name="Google Shape;1198;p85"/>
          <p:cNvSpPr txBox="1"/>
          <p:nvPr/>
        </p:nvSpPr>
        <p:spPr>
          <a:xfrm>
            <a:off x="716050" y="2047875"/>
            <a:ext cx="83370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La actualización es intuitiva: 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la diferencia temporal indica si la observación del valor de la acción     en el estado     es mejor o peor que nuestra estimativa              </a:t>
            </a:r>
            <a:endParaRPr sz="18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la estimativa es actualizada en proporción a la diferencia temporal </a:t>
            </a:r>
            <a:endParaRPr sz="18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Q-learning es una versión estocástica de iteración de valor</a:t>
            </a:r>
            <a:endParaRPr sz="1800"/>
          </a:p>
        </p:txBody>
      </p:sp>
      <p:pic>
        <p:nvPicPr>
          <p:cNvPr descr="a_i&#10;%1d579c32-c950-4555-8e55-bd0d88d37d24" id="1199" name="Google Shape;1199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72500" y="2676525"/>
            <a:ext cx="1809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x_i&#10;%a359792b-a30a-415a-9d69-9603cf2d6a4f" id="1200" name="Google Shape;1200;p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28950" y="2943225"/>
            <a:ext cx="1809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_i(x_i,a_i)&#10;%804407db-bd83-4dd8-9311-68d2973c0bc7" id="1201" name="Google Shape;1201;p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05675" y="2876550"/>
            <a:ext cx="828675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206" name="Google Shape;1206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7" name="Google Shape;1207;p86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Exploración vs Explotación</a:t>
            </a:r>
            <a:endParaRPr sz="2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208" name="Google Shape;1208;p86"/>
          <p:cNvSpPr txBox="1"/>
          <p:nvPr/>
        </p:nvSpPr>
        <p:spPr>
          <a:xfrm>
            <a:off x="716050" y="828675"/>
            <a:ext cx="72963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Q-learning requiere que todos</a:t>
            </a:r>
            <a:r>
              <a:rPr lang="en" sz="1800"/>
              <a:t> los pares          de estados y acciones sean visitados infinitas veces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En la práctica, debemos decidir cómo explorar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Una opción: elegir siempre la acción “greedy”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Pero con esa acción, partes del espacio de estados y acciones pueden no ser visitados…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Solución: políticas є-greedy:</a:t>
            </a:r>
            <a:endParaRPr sz="18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</a:t>
            </a:r>
            <a:endParaRPr sz="18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descr="(x.a)&#10;%4aad9bff-a1e6-4f78-bd12-01a9ebf0b615" id="1209" name="Google Shape;1209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2540" y="971568"/>
            <a:ext cx="4762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#10;a_t = \begin{cases}&#10;\arg\max_a Q_t(x_t,a) &amp; \text{con probabilidad }1-\epsilon \\&#10;\text{aleatoria} &amp; \text{con probabilidad }\epsilon&#10;\end{cases}&#10;%253fa0d8-7072-49f7-8410-4eeba1718f16" id="1210" name="Google Shape;1210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18475" y="4513660"/>
            <a:ext cx="52673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#10;a_t = &#10;\arg\max_a Q_t(x_t,a) &#10;%e0fb726f-7376-45bf-b838-842766701453" id="1211" name="Google Shape;1211;p8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13888" y="2875200"/>
            <a:ext cx="24765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