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6CE3A6-D645-4A83-BCF0-94CF54DBB325}">
  <a:tblStyle styleId="{3A6CE3A6-D645-4A83-BCF0-94CF54DBB3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28cf1dfa2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28cf1dfa2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28cf1dfa2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28cf1dfa2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28cf1dfa27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28cf1dfa2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8cf1dfa2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28cf1dfa2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8cf1dfa27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28cf1dfa27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8cf1dfa27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8cf1dfa27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8cf1dfa27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28cf1dfa27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8cf1dfa27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28cf1dfa27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8cf1dfa27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28cf1dfa27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8cf1dfa27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28cf1dfa27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28cf1dfa27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28cf1dfa27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8cf1dfa27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28cf1dfa27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28cf1dfa27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28cf1dfa27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28cf1dfa27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28cf1dfa27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8cf1dfa27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28cf1dfa27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28cf1dfa27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28cf1dfa27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28cf1dfa27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28cf1dfa27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28cf1dfa27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28cf1dfa27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28cf1dfa27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28cf1dfa27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28cf1dfa27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28cf1dfa27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28cf1dfa27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28cf1dfa27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28cf1dfa27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28cf1dfa27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28cf1dfa27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28cf1dfa27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28cf1dfa27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28cf1dfa27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28cf1dfa27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28cf1dfa27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28cf1dfa27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28cf1dfa27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28cf1dfa27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28cf1dfa27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28cf1dfa27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28cf1dfa27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28cf1dfa27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28cf1dfa27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28cf1dfa27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28cf1dfa27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28cf1dfa27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28cf1dfa27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d84217642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d84217642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d84217642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d84217642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294d1815f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294d1815f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294d1815f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294d1815f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294d1815f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294d1815f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294d1815f3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294d1815f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294d1815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294d1815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294d1815f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294d1815f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294d1815f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294d1815f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d84217642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2d84217642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29add8960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29add8960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29add8960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29add8960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29add8960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29add8960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29add89602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29add8960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29add89602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29add89602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29add89602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29add89602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29add89602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29add89602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29add89602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29add89602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29add89602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29add89602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294d1815f3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294d1815f3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294d1815f3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3294d1815f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29add89602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29add89602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29add89602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29add89602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29add89602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329add89602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29add89602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29add89602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299a42600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3299a42600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299a42600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299a42600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29add89602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329add89602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29add89602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329add89602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29add89602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29add89602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29add89602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329add89602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29add89602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329add89602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299a426004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3299a42600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29add89602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329add89602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9add89602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329add89602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29add89602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329add89602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29add89602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29add89602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29add89602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329add89602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29add89602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29add89602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29add89602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29add89602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29add89602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29add89602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29add89602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29add89602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9.jp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9.jpg"/><Relationship Id="rId11" Type="http://schemas.openxmlformats.org/officeDocument/2006/relationships/image" Target="../media/image10.png"/><Relationship Id="rId10" Type="http://schemas.openxmlformats.org/officeDocument/2006/relationships/image" Target="../media/image8.png"/><Relationship Id="rId12" Type="http://schemas.openxmlformats.org/officeDocument/2006/relationships/image" Target="../media/image7.png"/><Relationship Id="rId9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3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3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18.png"/><Relationship Id="rId6" Type="http://schemas.openxmlformats.org/officeDocument/2006/relationships/image" Target="../media/image25.png"/><Relationship Id="rId7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jpg"/><Relationship Id="rId4" Type="http://schemas.openxmlformats.org/officeDocument/2006/relationships/image" Target="../media/image2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jpg"/><Relationship Id="rId4" Type="http://schemas.openxmlformats.org/officeDocument/2006/relationships/image" Target="../media/image2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34.png"/><Relationship Id="rId6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34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5.png"/><Relationship Id="rId7" Type="http://schemas.openxmlformats.org/officeDocument/2006/relationships/image" Target="../media/image3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9" Type="http://schemas.openxmlformats.org/officeDocument/2006/relationships/image" Target="../media/image38.png"/><Relationship Id="rId5" Type="http://schemas.openxmlformats.org/officeDocument/2006/relationships/image" Target="../media/image32.png"/><Relationship Id="rId6" Type="http://schemas.openxmlformats.org/officeDocument/2006/relationships/image" Target="../media/image35.png"/><Relationship Id="rId7" Type="http://schemas.openxmlformats.org/officeDocument/2006/relationships/image" Target="../media/image37.png"/><Relationship Id="rId8" Type="http://schemas.openxmlformats.org/officeDocument/2006/relationships/image" Target="../media/image3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9" Type="http://schemas.openxmlformats.org/officeDocument/2006/relationships/image" Target="../media/image38.png"/><Relationship Id="rId5" Type="http://schemas.openxmlformats.org/officeDocument/2006/relationships/image" Target="../media/image32.png"/><Relationship Id="rId6" Type="http://schemas.openxmlformats.org/officeDocument/2006/relationships/image" Target="../media/image35.png"/><Relationship Id="rId7" Type="http://schemas.openxmlformats.org/officeDocument/2006/relationships/image" Target="../media/image37.png"/><Relationship Id="rId8" Type="http://schemas.openxmlformats.org/officeDocument/2006/relationships/image" Target="../media/image3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Relationship Id="rId4" Type="http://schemas.openxmlformats.org/officeDocument/2006/relationships/image" Target="../media/image53.png"/><Relationship Id="rId11" Type="http://schemas.openxmlformats.org/officeDocument/2006/relationships/image" Target="../media/image45.png"/><Relationship Id="rId10" Type="http://schemas.openxmlformats.org/officeDocument/2006/relationships/image" Target="../media/image46.png"/><Relationship Id="rId12" Type="http://schemas.openxmlformats.org/officeDocument/2006/relationships/image" Target="../media/image38.png"/><Relationship Id="rId9" Type="http://schemas.openxmlformats.org/officeDocument/2006/relationships/image" Target="../media/image36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5.png"/><Relationship Id="rId8" Type="http://schemas.openxmlformats.org/officeDocument/2006/relationships/image" Target="../media/image37.png"/></Relationships>
</file>

<file path=ppt/slides/_rels/slide4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5.png"/><Relationship Id="rId10" Type="http://schemas.openxmlformats.org/officeDocument/2006/relationships/image" Target="../media/image46.png"/><Relationship Id="rId13" Type="http://schemas.openxmlformats.org/officeDocument/2006/relationships/image" Target="../media/image40.png"/><Relationship Id="rId1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Relationship Id="rId4" Type="http://schemas.openxmlformats.org/officeDocument/2006/relationships/image" Target="../media/image53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5.png"/><Relationship Id="rId8" Type="http://schemas.openxmlformats.org/officeDocument/2006/relationships/image" Target="../media/image37.png"/></Relationships>
</file>

<file path=ppt/slides/_rels/slide4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0.png"/><Relationship Id="rId10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Relationship Id="rId4" Type="http://schemas.openxmlformats.org/officeDocument/2006/relationships/image" Target="../media/image47.png"/><Relationship Id="rId9" Type="http://schemas.openxmlformats.org/officeDocument/2006/relationships/image" Target="../media/image44.png"/><Relationship Id="rId5" Type="http://schemas.openxmlformats.org/officeDocument/2006/relationships/image" Target="../media/image39.png"/><Relationship Id="rId6" Type="http://schemas.openxmlformats.org/officeDocument/2006/relationships/image" Target="../media/image42.png"/><Relationship Id="rId7" Type="http://schemas.openxmlformats.org/officeDocument/2006/relationships/image" Target="../media/image49.png"/><Relationship Id="rId8" Type="http://schemas.openxmlformats.org/officeDocument/2006/relationships/image" Target="../media/image43.png"/></Relationships>
</file>

<file path=ppt/slides/_rels/slide4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52.png"/><Relationship Id="rId13" Type="http://schemas.openxmlformats.org/officeDocument/2006/relationships/image" Target="../media/image54.png"/><Relationship Id="rId1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Relationship Id="rId4" Type="http://schemas.openxmlformats.org/officeDocument/2006/relationships/image" Target="../media/image47.png"/><Relationship Id="rId9" Type="http://schemas.openxmlformats.org/officeDocument/2006/relationships/image" Target="../media/image55.png"/><Relationship Id="rId14" Type="http://schemas.openxmlformats.org/officeDocument/2006/relationships/image" Target="../media/image50.png"/><Relationship Id="rId5" Type="http://schemas.openxmlformats.org/officeDocument/2006/relationships/image" Target="../media/image39.png"/><Relationship Id="rId6" Type="http://schemas.openxmlformats.org/officeDocument/2006/relationships/image" Target="../media/image42.png"/><Relationship Id="rId7" Type="http://schemas.openxmlformats.org/officeDocument/2006/relationships/image" Target="../media/image49.png"/><Relationship Id="rId8" Type="http://schemas.openxmlformats.org/officeDocument/2006/relationships/image" Target="../media/image43.png"/></Relationships>
</file>

<file path=ppt/slides/_rels/slide4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52.png"/><Relationship Id="rId13" Type="http://schemas.openxmlformats.org/officeDocument/2006/relationships/image" Target="../media/image54.png"/><Relationship Id="rId1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Relationship Id="rId4" Type="http://schemas.openxmlformats.org/officeDocument/2006/relationships/image" Target="../media/image47.png"/><Relationship Id="rId9" Type="http://schemas.openxmlformats.org/officeDocument/2006/relationships/image" Target="../media/image55.png"/><Relationship Id="rId15" Type="http://schemas.openxmlformats.org/officeDocument/2006/relationships/image" Target="../media/image50.png"/><Relationship Id="rId14" Type="http://schemas.openxmlformats.org/officeDocument/2006/relationships/image" Target="../media/image58.png"/><Relationship Id="rId5" Type="http://schemas.openxmlformats.org/officeDocument/2006/relationships/image" Target="../media/image39.png"/><Relationship Id="rId6" Type="http://schemas.openxmlformats.org/officeDocument/2006/relationships/image" Target="../media/image42.png"/><Relationship Id="rId7" Type="http://schemas.openxmlformats.org/officeDocument/2006/relationships/image" Target="../media/image49.png"/><Relationship Id="rId8" Type="http://schemas.openxmlformats.org/officeDocument/2006/relationships/image" Target="../media/image43.png"/></Relationships>
</file>

<file path=ppt/slides/_rels/slide4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52.png"/><Relationship Id="rId13" Type="http://schemas.openxmlformats.org/officeDocument/2006/relationships/image" Target="../media/image54.png"/><Relationship Id="rId1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Relationship Id="rId4" Type="http://schemas.openxmlformats.org/officeDocument/2006/relationships/image" Target="../media/image47.png"/><Relationship Id="rId9" Type="http://schemas.openxmlformats.org/officeDocument/2006/relationships/image" Target="../media/image55.png"/><Relationship Id="rId15" Type="http://schemas.openxmlformats.org/officeDocument/2006/relationships/image" Target="../media/image50.png"/><Relationship Id="rId14" Type="http://schemas.openxmlformats.org/officeDocument/2006/relationships/image" Target="../media/image58.png"/><Relationship Id="rId5" Type="http://schemas.openxmlformats.org/officeDocument/2006/relationships/image" Target="../media/image39.png"/><Relationship Id="rId6" Type="http://schemas.openxmlformats.org/officeDocument/2006/relationships/image" Target="../media/image42.png"/><Relationship Id="rId7" Type="http://schemas.openxmlformats.org/officeDocument/2006/relationships/image" Target="../media/image49.png"/><Relationship Id="rId8" Type="http://schemas.openxmlformats.org/officeDocument/2006/relationships/image" Target="../media/image4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9.png"/><Relationship Id="rId7" Type="http://schemas.openxmlformats.org/officeDocument/2006/relationships/image" Target="../media/image6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9.png"/><Relationship Id="rId7" Type="http://schemas.openxmlformats.org/officeDocument/2006/relationships/image" Target="../media/image62.png"/><Relationship Id="rId8" Type="http://schemas.openxmlformats.org/officeDocument/2006/relationships/image" Target="../media/image6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Relationship Id="rId5" Type="http://schemas.openxmlformats.org/officeDocument/2006/relationships/image" Target="../media/image57.png"/><Relationship Id="rId6" Type="http://schemas.openxmlformats.org/officeDocument/2006/relationships/image" Target="../media/image59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/Relationships>
</file>

<file path=ppt/slides/_rels/slide49.xml.rels><?xml version="1.0" encoding="UTF-8" standalone="yes"?><Relationships xmlns="http://schemas.openxmlformats.org/package/2006/relationships"><Relationship Id="rId10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png"/><Relationship Id="rId4" Type="http://schemas.openxmlformats.org/officeDocument/2006/relationships/image" Target="../media/image56.png"/><Relationship Id="rId9" Type="http://schemas.openxmlformats.org/officeDocument/2006/relationships/image" Target="../media/image63.png"/><Relationship Id="rId5" Type="http://schemas.openxmlformats.org/officeDocument/2006/relationships/image" Target="../media/image57.png"/><Relationship Id="rId6" Type="http://schemas.openxmlformats.org/officeDocument/2006/relationships/image" Target="../media/image59.png"/><Relationship Id="rId7" Type="http://schemas.openxmlformats.org/officeDocument/2006/relationships/image" Target="../media/image62.png"/><Relationship Id="rId8" Type="http://schemas.openxmlformats.org/officeDocument/2006/relationships/image" Target="../media/image80.png"/></Relationships>
</file>

<file path=ppt/slides/_rels/slide50.xml.rels><?xml version="1.0" encoding="UTF-8" standalone="yes"?><Relationships xmlns="http://schemas.openxmlformats.org/package/2006/relationships"><Relationship Id="rId11" Type="http://schemas.openxmlformats.org/officeDocument/2006/relationships/image" Target="../media/image80.png"/><Relationship Id="rId10" Type="http://schemas.openxmlformats.org/officeDocument/2006/relationships/image" Target="../media/image61.png"/><Relationship Id="rId13" Type="http://schemas.openxmlformats.org/officeDocument/2006/relationships/image" Target="../media/image60.png"/><Relationship Id="rId1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png"/><Relationship Id="rId4" Type="http://schemas.openxmlformats.org/officeDocument/2006/relationships/image" Target="../media/image55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5" Type="http://schemas.openxmlformats.org/officeDocument/2006/relationships/image" Target="../media/image52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9.png"/></Relationships>
</file>

<file path=ppt/slides/_rels/slide51.xml.rels><?xml version="1.0" encoding="UTF-8" standalone="yes"?><Relationships xmlns="http://schemas.openxmlformats.org/package/2006/relationships"><Relationship Id="rId11" Type="http://schemas.openxmlformats.org/officeDocument/2006/relationships/image" Target="../media/image80.png"/><Relationship Id="rId10" Type="http://schemas.openxmlformats.org/officeDocument/2006/relationships/image" Target="../media/image61.png"/><Relationship Id="rId13" Type="http://schemas.openxmlformats.org/officeDocument/2006/relationships/image" Target="../media/image60.png"/><Relationship Id="rId1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png"/><Relationship Id="rId4" Type="http://schemas.openxmlformats.org/officeDocument/2006/relationships/image" Target="../media/image55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5" Type="http://schemas.openxmlformats.org/officeDocument/2006/relationships/image" Target="../media/image52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png"/><Relationship Id="rId4" Type="http://schemas.openxmlformats.org/officeDocument/2006/relationships/image" Target="../media/image61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png"/><Relationship Id="rId4" Type="http://schemas.openxmlformats.org/officeDocument/2006/relationships/image" Target="../media/image70.png"/><Relationship Id="rId5" Type="http://schemas.openxmlformats.org/officeDocument/2006/relationships/image" Target="../media/image7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png"/><Relationship Id="rId4" Type="http://schemas.openxmlformats.org/officeDocument/2006/relationships/image" Target="../media/image5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png"/><Relationship Id="rId4" Type="http://schemas.openxmlformats.org/officeDocument/2006/relationships/image" Target="../media/image50.png"/><Relationship Id="rId5" Type="http://schemas.openxmlformats.org/officeDocument/2006/relationships/image" Target="../media/image73.png"/></Relationships>
</file>

<file path=ppt/slides/_rels/slide56.xml.rels><?xml version="1.0" encoding="UTF-8" standalone="yes"?><Relationships xmlns="http://schemas.openxmlformats.org/package/2006/relationships"><Relationship Id="rId10" Type="http://schemas.openxmlformats.org/officeDocument/2006/relationships/image" Target="../media/image6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png"/><Relationship Id="rId4" Type="http://schemas.openxmlformats.org/officeDocument/2006/relationships/image" Target="../media/image50.png"/><Relationship Id="rId9" Type="http://schemas.openxmlformats.org/officeDocument/2006/relationships/image" Target="../media/image66.png"/><Relationship Id="rId5" Type="http://schemas.openxmlformats.org/officeDocument/2006/relationships/image" Target="../media/image73.png"/><Relationship Id="rId6" Type="http://schemas.openxmlformats.org/officeDocument/2006/relationships/image" Target="../media/image68.png"/><Relationship Id="rId7" Type="http://schemas.openxmlformats.org/officeDocument/2006/relationships/image" Target="../media/image75.png"/><Relationship Id="rId8" Type="http://schemas.openxmlformats.org/officeDocument/2006/relationships/image" Target="../media/image7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Relationship Id="rId4" Type="http://schemas.openxmlformats.org/officeDocument/2006/relationships/image" Target="../media/image50.png"/><Relationship Id="rId5" Type="http://schemas.openxmlformats.org/officeDocument/2006/relationships/image" Target="../media/image7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png"/><Relationship Id="rId4" Type="http://schemas.openxmlformats.org/officeDocument/2006/relationships/image" Target="../media/image50.png"/><Relationship Id="rId5" Type="http://schemas.openxmlformats.org/officeDocument/2006/relationships/image" Target="../media/image69.png"/><Relationship Id="rId6" Type="http://schemas.openxmlformats.org/officeDocument/2006/relationships/image" Target="../media/image74.png"/><Relationship Id="rId7" Type="http://schemas.openxmlformats.org/officeDocument/2006/relationships/image" Target="../media/image76.png"/><Relationship Id="rId8" Type="http://schemas.openxmlformats.org/officeDocument/2006/relationships/image" Target="../media/image44.png"/></Relationships>
</file>

<file path=ppt/slides/_rels/slide59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png"/><Relationship Id="rId10" Type="http://schemas.openxmlformats.org/officeDocument/2006/relationships/image" Target="../media/image38.png"/><Relationship Id="rId13" Type="http://schemas.openxmlformats.org/officeDocument/2006/relationships/image" Target="../media/image79.png"/><Relationship Id="rId1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9" Type="http://schemas.openxmlformats.org/officeDocument/2006/relationships/image" Target="../media/image74.png"/><Relationship Id="rId5" Type="http://schemas.openxmlformats.org/officeDocument/2006/relationships/image" Target="../media/image32.png"/><Relationship Id="rId6" Type="http://schemas.openxmlformats.org/officeDocument/2006/relationships/image" Target="../media/image35.png"/><Relationship Id="rId7" Type="http://schemas.openxmlformats.org/officeDocument/2006/relationships/image" Target="../media/image37.png"/><Relationship Id="rId8" Type="http://schemas.openxmlformats.org/officeDocument/2006/relationships/image" Target="../media/image3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png"/><Relationship Id="rId4" Type="http://schemas.openxmlformats.org/officeDocument/2006/relationships/image" Target="../media/image8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86.png"/><Relationship Id="rId6" Type="http://schemas.openxmlformats.org/officeDocument/2006/relationships/image" Target="../media/image81.png"/><Relationship Id="rId7" Type="http://schemas.openxmlformats.org/officeDocument/2006/relationships/image" Target="../media/image87.png"/><Relationship Id="rId8" Type="http://schemas.openxmlformats.org/officeDocument/2006/relationships/image" Target="../media/image8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86.png"/><Relationship Id="rId6" Type="http://schemas.openxmlformats.org/officeDocument/2006/relationships/image" Target="../media/image81.png"/><Relationship Id="rId7" Type="http://schemas.openxmlformats.org/officeDocument/2006/relationships/image" Target="../media/image87.png"/><Relationship Id="rId8" Type="http://schemas.openxmlformats.org/officeDocument/2006/relationships/image" Target="../media/image82.png"/></Relationships>
</file>

<file path=ppt/slides/_rels/slide64.xml.rels><?xml version="1.0" encoding="UTF-8" standalone="yes"?><Relationships xmlns="http://schemas.openxmlformats.org/package/2006/relationships"><Relationship Id="rId10" Type="http://schemas.openxmlformats.org/officeDocument/2006/relationships/image" Target="../media/image8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9" Type="http://schemas.openxmlformats.org/officeDocument/2006/relationships/image" Target="../media/image87.png"/><Relationship Id="rId5" Type="http://schemas.openxmlformats.org/officeDocument/2006/relationships/image" Target="../media/image86.png"/><Relationship Id="rId6" Type="http://schemas.openxmlformats.org/officeDocument/2006/relationships/image" Target="../media/image89.png"/><Relationship Id="rId7" Type="http://schemas.openxmlformats.org/officeDocument/2006/relationships/image" Target="../media/image96.png"/><Relationship Id="rId8" Type="http://schemas.openxmlformats.org/officeDocument/2006/relationships/image" Target="../media/image8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png"/><Relationship Id="rId4" Type="http://schemas.openxmlformats.org/officeDocument/2006/relationships/image" Target="../media/image88.png"/><Relationship Id="rId5" Type="http://schemas.openxmlformats.org/officeDocument/2006/relationships/image" Target="../media/image94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png"/><Relationship Id="rId4" Type="http://schemas.openxmlformats.org/officeDocument/2006/relationships/image" Target="../media/image88.png"/><Relationship Id="rId5" Type="http://schemas.openxmlformats.org/officeDocument/2006/relationships/image" Target="../media/image94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png"/><Relationship Id="rId4" Type="http://schemas.openxmlformats.org/officeDocument/2006/relationships/image" Target="../media/image88.png"/><Relationship Id="rId5" Type="http://schemas.openxmlformats.org/officeDocument/2006/relationships/image" Target="../media/image99.png"/><Relationship Id="rId6" Type="http://schemas.openxmlformats.org/officeDocument/2006/relationships/image" Target="../media/image74.png"/><Relationship Id="rId7" Type="http://schemas.openxmlformats.org/officeDocument/2006/relationships/image" Target="../media/image94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png"/><Relationship Id="rId4" Type="http://schemas.openxmlformats.org/officeDocument/2006/relationships/image" Target="../media/image88.png"/><Relationship Id="rId5" Type="http://schemas.openxmlformats.org/officeDocument/2006/relationships/image" Target="../media/image99.png"/><Relationship Id="rId6" Type="http://schemas.openxmlformats.org/officeDocument/2006/relationships/image" Target="../media/image74.png"/><Relationship Id="rId7" Type="http://schemas.openxmlformats.org/officeDocument/2006/relationships/image" Target="../media/image94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png"/><Relationship Id="rId4" Type="http://schemas.openxmlformats.org/officeDocument/2006/relationships/image" Target="../media/image44.png"/><Relationship Id="rId5" Type="http://schemas.openxmlformats.org/officeDocument/2006/relationships/image" Target="../media/image32.png"/><Relationship Id="rId6" Type="http://schemas.openxmlformats.org/officeDocument/2006/relationships/image" Target="../media/image6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png"/><Relationship Id="rId4" Type="http://schemas.openxmlformats.org/officeDocument/2006/relationships/image" Target="../media/image44.png"/><Relationship Id="rId5" Type="http://schemas.openxmlformats.org/officeDocument/2006/relationships/image" Target="../media/image32.png"/><Relationship Id="rId6" Type="http://schemas.openxmlformats.org/officeDocument/2006/relationships/image" Target="../media/image68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.png"/><Relationship Id="rId4" Type="http://schemas.openxmlformats.org/officeDocument/2006/relationships/image" Target="../media/image88.png"/><Relationship Id="rId5" Type="http://schemas.openxmlformats.org/officeDocument/2006/relationships/image" Target="../media/image93.png"/><Relationship Id="rId6" Type="http://schemas.openxmlformats.org/officeDocument/2006/relationships/image" Target="../media/image95.png"/></Relationships>
</file>

<file path=ppt/slides/_rels/slide72.xml.rels><?xml version="1.0" encoding="UTF-8" standalone="yes"?><Relationships xmlns="http://schemas.openxmlformats.org/package/2006/relationships"><Relationship Id="rId10" Type="http://schemas.openxmlformats.org/officeDocument/2006/relationships/image" Target="../media/image10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png"/><Relationship Id="rId4" Type="http://schemas.openxmlformats.org/officeDocument/2006/relationships/image" Target="../media/image91.png"/><Relationship Id="rId9" Type="http://schemas.openxmlformats.org/officeDocument/2006/relationships/image" Target="../media/image79.png"/><Relationship Id="rId5" Type="http://schemas.openxmlformats.org/officeDocument/2006/relationships/image" Target="../media/image98.png"/><Relationship Id="rId6" Type="http://schemas.openxmlformats.org/officeDocument/2006/relationships/image" Target="../media/image92.png"/><Relationship Id="rId7" Type="http://schemas.openxmlformats.org/officeDocument/2006/relationships/image" Target="../media/image97.png"/><Relationship Id="rId8" Type="http://schemas.openxmlformats.org/officeDocument/2006/relationships/image" Target="../media/image100.png"/></Relationships>
</file>

<file path=ppt/slides/_rels/slide73.xml.rels><?xml version="1.0" encoding="UTF-8" standalone="yes"?><Relationships xmlns="http://schemas.openxmlformats.org/package/2006/relationships"><Relationship Id="rId10" Type="http://schemas.openxmlformats.org/officeDocument/2006/relationships/image" Target="../media/image10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.png"/><Relationship Id="rId4" Type="http://schemas.openxmlformats.org/officeDocument/2006/relationships/image" Target="../media/image91.png"/><Relationship Id="rId9" Type="http://schemas.openxmlformats.org/officeDocument/2006/relationships/image" Target="../media/image79.png"/><Relationship Id="rId5" Type="http://schemas.openxmlformats.org/officeDocument/2006/relationships/image" Target="../media/image98.png"/><Relationship Id="rId6" Type="http://schemas.openxmlformats.org/officeDocument/2006/relationships/image" Target="../media/image92.png"/><Relationship Id="rId7" Type="http://schemas.openxmlformats.org/officeDocument/2006/relationships/image" Target="../media/image97.png"/><Relationship Id="rId8" Type="http://schemas.openxmlformats.org/officeDocument/2006/relationships/image" Target="../media/image100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Aprendizaje por Refuerzo 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Aproximaciones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10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Clase 5</a:t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93800" y="1000550"/>
            <a:ext cx="87384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La “Maldición de la Dimensionalidad”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MDPs de larga escala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Arquitecturas de aproximación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Aplicación: Precificación de opciones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Teoría de opciones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Formulación MDP y modelaje de precios de activos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Simulación Monte Carlo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Revisión - MDPs y Aprendizaje por Refuerzo</a:t>
            </a:r>
            <a:endParaRPr sz="2500"/>
          </a:p>
        </p:txBody>
      </p:sp>
      <p:grpSp>
        <p:nvGrpSpPr>
          <p:cNvPr id="67" name="Google Shape;67;p15"/>
          <p:cNvGrpSpPr/>
          <p:nvPr/>
        </p:nvGrpSpPr>
        <p:grpSpPr>
          <a:xfrm>
            <a:off x="2918535" y="1236820"/>
            <a:ext cx="3299027" cy="2999981"/>
            <a:chOff x="3070935" y="1236820"/>
            <a:chExt cx="3299027" cy="2999981"/>
          </a:xfrm>
        </p:grpSpPr>
        <p:pic>
          <p:nvPicPr>
            <p:cNvPr id="68" name="Google Shape;68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70935" y="1236820"/>
              <a:ext cx="3299027" cy="29999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_t&#10;%ca612888-0056-4fc9-ae56-c360da44cd53" id="69" name="Google Shape;69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68050" y="1512775"/>
              <a:ext cx="180975" cy="123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" name="Google Shape;70;p15"/>
            <p:cNvSpPr/>
            <p:nvPr/>
          </p:nvSpPr>
          <p:spPr>
            <a:xfrm>
              <a:off x="4417000" y="3281052"/>
              <a:ext cx="572700" cy="228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r_t&#10;%48f2011c-7839-48d3-ab12-cadc6fbecddf" id="71" name="Google Shape;71;p1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996122" y="3912371"/>
              <a:ext cx="161925" cy="12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,~x_{t+1}&#10;%1b9fa411-de32-4602-84d7-e280772abac1" id="72" name="Google Shape;72;p1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68050" y="3389147"/>
              <a:ext cx="504825" cy="133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t&#10;%b3225732-97fe-4265-985f-939d1eb439d0" id="73" name="Google Shape;73;p15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358535" y="3380453"/>
              <a:ext cx="190500" cy="1238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Revisión - MDPs y Aprendizaje por Refuerzo</a:t>
            </a:r>
            <a:endParaRPr sz="2500"/>
          </a:p>
        </p:txBody>
      </p:sp>
      <p:grpSp>
        <p:nvGrpSpPr>
          <p:cNvPr id="80" name="Google Shape;80;p16"/>
          <p:cNvGrpSpPr/>
          <p:nvPr/>
        </p:nvGrpSpPr>
        <p:grpSpPr>
          <a:xfrm>
            <a:off x="2918535" y="1236820"/>
            <a:ext cx="3299027" cy="2999981"/>
            <a:chOff x="3070935" y="1236820"/>
            <a:chExt cx="3299027" cy="2999981"/>
          </a:xfrm>
        </p:grpSpPr>
        <p:pic>
          <p:nvPicPr>
            <p:cNvPr id="81" name="Google Shape;81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70935" y="1236820"/>
              <a:ext cx="3299027" cy="29999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_t&#10;%ca612888-0056-4fc9-ae56-c360da44cd53" id="82" name="Google Shape;82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68050" y="1512775"/>
              <a:ext cx="180975" cy="123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16"/>
            <p:cNvSpPr/>
            <p:nvPr/>
          </p:nvSpPr>
          <p:spPr>
            <a:xfrm>
              <a:off x="4417000" y="3281052"/>
              <a:ext cx="572700" cy="228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r_t&#10;%48f2011c-7839-48d3-ab12-cadc6fbecddf" id="84" name="Google Shape;84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996122" y="3912371"/>
              <a:ext cx="161925" cy="12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,~x_{t+1}&#10;%1b9fa411-de32-4602-84d7-e280772abac1" id="85" name="Google Shape;85;p1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68050" y="3389147"/>
              <a:ext cx="504825" cy="133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x_t&#10;%b3225732-97fe-4265-985f-939d1eb439d0" id="86" name="Google Shape;86;p1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358535" y="3380453"/>
              <a:ext cx="190500" cy="12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" name="Google Shape;87;p16"/>
          <p:cNvSpPr txBox="1"/>
          <p:nvPr/>
        </p:nvSpPr>
        <p:spPr>
          <a:xfrm>
            <a:off x="6216600" y="2207850"/>
            <a:ext cx="269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Matriz de transición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419875" y="1884275"/>
            <a:ext cx="1805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Función valor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/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Función política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P_a(x,y)&#10;%0ffae5c4-d40a-4167-b17a-599ead8509e7" id="89" name="Google Shape;89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03150" y="2669550"/>
            <a:ext cx="8382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^*(x)&#10;%b0c76653-2e45-45df-9973-30ac8e05bd52" id="90" name="Google Shape;90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29125" y="2343150"/>
            <a:ext cx="6477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^*(x,a)&#10;%d7e1a4aa-0c1b-4255-961a-3c51ccedf323" id="91" name="Google Shape;91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40350" y="2343150"/>
            <a:ext cx="876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^*(x)&#10;%71bf9d6c-b76a-4540-9f3d-d6866107daf0" id="92" name="Google Shape;92;p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00625" y="3251250"/>
            <a:ext cx="581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Revisión - MDPs y Aprendizaje por Refuerzo</a:t>
            </a:r>
            <a:endParaRPr sz="2500"/>
          </a:p>
        </p:txBody>
      </p:sp>
      <p:sp>
        <p:nvSpPr>
          <p:cNvPr id="99" name="Google Shape;99;p17"/>
          <p:cNvSpPr txBox="1"/>
          <p:nvPr/>
        </p:nvSpPr>
        <p:spPr>
          <a:xfrm>
            <a:off x="419875" y="1046075"/>
            <a:ext cx="8036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Función valor definida por la ecuación de Bellman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V^*(x) = \max_{a \in A}\left\{r_a(x)+\alpha \sum_y P_a(x,y)V^*(y)\right\}&#10;%17241b34-0dc8-48cb-99ad-2bf4b3b2eb17"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6950" y="1576662"/>
            <a:ext cx="461010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^*(x,a) = r_a(x) + \alpha \sum_y P_a(x,y)\max_{a' \in A} Q^*(y,a')&#10;%e0939759-8da9-46ae-ae31-d1552472f995" id="101" name="Google Shape;10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09338" y="2223425"/>
            <a:ext cx="5362575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Revisión - MDPs y Aprendizaje por Refuerzo</a:t>
            </a:r>
            <a:endParaRPr sz="2500"/>
          </a:p>
        </p:txBody>
      </p:sp>
      <p:sp>
        <p:nvSpPr>
          <p:cNvPr id="108" name="Google Shape;108;p18"/>
          <p:cNvSpPr txBox="1"/>
          <p:nvPr/>
        </p:nvSpPr>
        <p:spPr>
          <a:xfrm>
            <a:off x="419875" y="1046075"/>
            <a:ext cx="8036700" cy="30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Función valor definida por la ecuación de Bellman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Resolvemos la ecuación de Bellman exactamente o con aprendizaje: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V^*(x) = \max_{a \in A}\left\{r_a(x)+\alpha \sum_y P_a(x,y)V^*(y)\right\}&#10;%17241b34-0dc8-48cb-99ad-2bf4b3b2eb17" id="109" name="Google Shape;10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6950" y="1576662"/>
            <a:ext cx="461010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^*(x,a) = r_a(x) + \alpha \sum_y P_a(x,y)\max_{a' \in A} Q^*(y,a')&#10;%e0939759-8da9-46ae-ae31-d1552472f995" id="110" name="Google Shape;11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09338" y="2223425"/>
            <a:ext cx="5362575" cy="295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18"/>
          <p:cNvGraphicFramePr/>
          <p:nvPr/>
        </p:nvGraphicFramePr>
        <p:xfrm>
          <a:off x="971138" y="311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{3A6CE3A6-D645-4A83-BCF0-94CF54DBB325}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Soluciones Exactas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Aprendizaje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Iteración de valor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Iteración de política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Simulación Monte Carlo (política fija)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TD-Learning (política fija o variable)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Q-Learning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Revisión - MDPs y Aprendizaje por Refuerzo</a:t>
            </a:r>
            <a:endParaRPr sz="2500"/>
          </a:p>
        </p:txBody>
      </p:sp>
      <p:sp>
        <p:nvSpPr>
          <p:cNvPr id="118" name="Google Shape;118;p19"/>
          <p:cNvSpPr txBox="1"/>
          <p:nvPr/>
        </p:nvSpPr>
        <p:spPr>
          <a:xfrm>
            <a:off x="419875" y="1046075"/>
            <a:ext cx="8036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Función valor definida por la ecuación de Bellman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Resolvemos la ecuación de Bellman exactamente o con aprendizaje: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Calculamos la política óptima a partir de             o                .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V^*(x) = \max_{a \in A}\left\{r_a(x)+\alpha \sum_y P_a(x,y)V^*(y)\right\}&#10;%17241b34-0dc8-48cb-99ad-2bf4b3b2eb17" id="119" name="Google Shape;11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6950" y="1576662"/>
            <a:ext cx="461010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^*(x,a) = r_a(x) + \alpha \sum_y P_a(x,y)\max_{a' \in A} Q^*(y,a')&#10;%e0939759-8da9-46ae-ae31-d1552472f995" id="120" name="Google Shape;12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09338" y="2223425"/>
            <a:ext cx="5362575" cy="295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" name="Google Shape;121;p19"/>
          <p:cNvGraphicFramePr/>
          <p:nvPr/>
        </p:nvGraphicFramePr>
        <p:xfrm>
          <a:off x="971138" y="311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{3A6CE3A6-D645-4A83-BCF0-94CF54DBB325}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Soluciones Exactas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Aprendizaje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Iteración de valor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Iteración de política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Simulación Monte Carlo (política fija)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TD-Learning (política fija o variable)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Q-Learning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V^*(x)&#10;%b0c76653-2e45-45df-9973-30ac8e05bd52" id="122" name="Google Shape;12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24125" y="4728679"/>
            <a:ext cx="6477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^*(x,a)&#10;%d7e1a4aa-0c1b-4255-961a-3c51ccedf323" id="123" name="Google Shape;12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06750" y="4728679"/>
            <a:ext cx="876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28" name="Google Shape;12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 “Maldición de La Dimensionalidad”</a:t>
            </a:r>
            <a:endParaRPr sz="2500"/>
          </a:p>
        </p:txBody>
      </p:sp>
      <p:sp>
        <p:nvSpPr>
          <p:cNvPr id="130" name="Google Shape;130;p20"/>
          <p:cNvSpPr txBox="1"/>
          <p:nvPr/>
        </p:nvSpPr>
        <p:spPr>
          <a:xfrm>
            <a:off x="419875" y="1046075"/>
            <a:ext cx="8036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Debemos almacenar             o                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Tabla con un valor por estado o par estado/acción.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Cuánto espacio necesario?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V^*(x)&#10;%b0c76653-2e45-45df-9973-30ac8e05bd52" id="131" name="Google Shape;13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4850" y="1168979"/>
            <a:ext cx="6477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^*(x,a)&#10;%d7e1a4aa-0c1b-4255-961a-3c51ccedf323" id="132" name="Google Shape;13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7475" y="1168979"/>
            <a:ext cx="876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 “Maldición de La Dimensionalidad”</a:t>
            </a:r>
            <a:endParaRPr sz="2500"/>
          </a:p>
        </p:txBody>
      </p:sp>
      <p:sp>
        <p:nvSpPr>
          <p:cNvPr id="139" name="Google Shape;139;p21"/>
          <p:cNvSpPr txBox="1"/>
          <p:nvPr/>
        </p:nvSpPr>
        <p:spPr>
          <a:xfrm>
            <a:off x="419875" y="1046075"/>
            <a:ext cx="8036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Debemos almacenar             o                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Tabla con un valor por estado o par estado/acción.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Cuánto espacio necesario?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Ejemplo: Ruta casa a trabajo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 calles, M columnas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V^*(x)&#10;%b0c76653-2e45-45df-9973-30ac8e05bd52" id="140" name="Google Shape;14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4850" y="1168979"/>
            <a:ext cx="6477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^*(x,a)&#10;%d7e1a4aa-0c1b-4255-961a-3c51ccedf323" id="141" name="Google Shape;14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7475" y="1168979"/>
            <a:ext cx="876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3250" y="1896725"/>
            <a:ext cx="3889050" cy="300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 “Maldición de La Dimensionalidad”</a:t>
            </a:r>
            <a:endParaRPr sz="2500"/>
          </a:p>
        </p:txBody>
      </p:sp>
      <p:sp>
        <p:nvSpPr>
          <p:cNvPr id="149" name="Google Shape;149;p22"/>
          <p:cNvSpPr txBox="1"/>
          <p:nvPr/>
        </p:nvSpPr>
        <p:spPr>
          <a:xfrm>
            <a:off x="419875" y="1046075"/>
            <a:ext cx="80367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Debemos almacenar             o                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Tabla con un valor por estado o par estado/acción.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Cuánto espacio necesario?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Ejemplo: Ruta casa a trabajo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 calles, M columnas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Número de estados = N x M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Número de estados/acciones</a:t>
            </a:r>
            <a:endParaRPr sz="1800">
              <a:solidFill>
                <a:schemeClr val="dk2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N x M x 4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V^*(x)&#10;%b0c76653-2e45-45df-9973-30ac8e05bd52" id="150" name="Google Shape;15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4850" y="1168979"/>
            <a:ext cx="6477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^*(x,a)&#10;%d7e1a4aa-0c1b-4255-961a-3c51ccedf323" id="151" name="Google Shape;15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7475" y="1168979"/>
            <a:ext cx="876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3250" y="1896725"/>
            <a:ext cx="3889050" cy="300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57" name="Google Shape;1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 “Maldición de La Dimensionalidad”</a:t>
            </a:r>
            <a:endParaRPr sz="2500"/>
          </a:p>
        </p:txBody>
      </p:sp>
      <p:sp>
        <p:nvSpPr>
          <p:cNvPr id="159" name="Google Shape;159;p23"/>
          <p:cNvSpPr txBox="1"/>
          <p:nvPr/>
        </p:nvSpPr>
        <p:spPr>
          <a:xfrm>
            <a:off x="419875" y="1046075"/>
            <a:ext cx="803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9200" y="962725"/>
            <a:ext cx="5248475" cy="397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65" name="Google Shape;1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 “Maldición de La Dimensionalidad”</a:t>
            </a:r>
            <a:endParaRPr sz="2500"/>
          </a:p>
        </p:txBody>
      </p:sp>
      <p:sp>
        <p:nvSpPr>
          <p:cNvPr id="167" name="Google Shape;167;p24"/>
          <p:cNvSpPr txBox="1"/>
          <p:nvPr/>
        </p:nvSpPr>
        <p:spPr>
          <a:xfrm>
            <a:off x="419875" y="1046075"/>
            <a:ext cx="8036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Número de estados = N x M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Crecimiento cuadrático en el número de estados con las dimensiones del grid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72" name="Google Shape;17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 “Maldición de La Dimensionalidad”</a:t>
            </a:r>
            <a:endParaRPr sz="2500"/>
          </a:p>
        </p:txBody>
      </p:sp>
      <p:sp>
        <p:nvSpPr>
          <p:cNvPr id="174" name="Google Shape;174;p25"/>
          <p:cNvSpPr txBox="1"/>
          <p:nvPr/>
        </p:nvSpPr>
        <p:spPr>
          <a:xfrm>
            <a:off x="419875" y="1046075"/>
            <a:ext cx="80367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Número de estados = N x M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Crecimiento cuadrático en el número de estados con las dimensiones del grid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No tan dramático, porque son pocas dimensiones (2 para el estado, 1 para las acciones)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Variable de estado = (i,j)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Variable de acción en {N, S, E, O} 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79" name="Google Shape;17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 “Maldición de La Dimensionalidad”</a:t>
            </a:r>
            <a:endParaRPr sz="2500"/>
          </a:p>
        </p:txBody>
      </p:sp>
      <p:sp>
        <p:nvSpPr>
          <p:cNvPr id="181" name="Google Shape;181;p26"/>
          <p:cNvSpPr txBox="1"/>
          <p:nvPr/>
        </p:nvSpPr>
        <p:spPr>
          <a:xfrm>
            <a:off x="419875" y="1046075"/>
            <a:ext cx="8036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Número de estados = N x M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Crecimiento cuadrático en el número de estados con las dimensiones del grid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No tan dramático, porque son pocas dimensiones (2 para el estado, 1 para las acciones)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Variable de estado = (i,j)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Variable de acción en {N, S, E, O}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Nuevo problema: a cada día, una de las calles en el grid puede estar cortada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modelar ese problema?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Cuántos estados?	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86" name="Google Shape;18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 “Maldición de La Dimensionalidad”</a:t>
            </a:r>
            <a:endParaRPr sz="2500"/>
          </a:p>
        </p:txBody>
      </p:sp>
      <p:sp>
        <p:nvSpPr>
          <p:cNvPr id="188" name="Google Shape;188;p27"/>
          <p:cNvSpPr txBox="1"/>
          <p:nvPr/>
        </p:nvSpPr>
        <p:spPr>
          <a:xfrm>
            <a:off x="419875" y="741275"/>
            <a:ext cx="80367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Nuevo problema: a cada día, una de las calles en el grid puede estar cortada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modelar ese problema?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Cuántos estados?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Cada calle c tiene una variable de estado con valores {?, libre, cortada}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Estados posibles: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Si aún no hemos encontrado una calle cortada:</a:t>
            </a:r>
            <a:endParaRPr sz="1800">
              <a:solidFill>
                <a:schemeClr val="dk2"/>
              </a:solidFill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(c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,c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,...c</a:t>
            </a:r>
            <a:r>
              <a:rPr baseline="-25000" lang="en" sz="1800">
                <a:solidFill>
                  <a:schemeClr val="dk2"/>
                </a:solidFill>
              </a:rPr>
              <a:t>n</a:t>
            </a:r>
            <a:r>
              <a:rPr lang="en" sz="1800">
                <a:solidFill>
                  <a:schemeClr val="dk2"/>
                </a:solidFill>
              </a:rPr>
              <a:t>), c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Є {?, libre} </a:t>
            </a:r>
            <a:endParaRPr sz="1800">
              <a:solidFill>
                <a:schemeClr val="dk2"/>
              </a:solidFill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lang="en" sz="1800">
                <a:solidFill>
                  <a:schemeClr val="dk2"/>
                </a:solidFill>
              </a:rPr>
              <a:t> 2</a:t>
            </a:r>
            <a:r>
              <a:rPr b="1" baseline="30000" lang="en" sz="1800">
                <a:solidFill>
                  <a:schemeClr val="dk2"/>
                </a:solidFill>
              </a:rPr>
              <a:t>n</a:t>
            </a:r>
            <a:r>
              <a:rPr b="1"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posibilidades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Si hemos encontrado una calle cortada:</a:t>
            </a:r>
            <a:endParaRPr sz="1800">
              <a:solidFill>
                <a:schemeClr val="dk2"/>
              </a:solidFill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(c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,c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,...c</a:t>
            </a:r>
            <a:r>
              <a:rPr baseline="-25000" lang="en" sz="1800">
                <a:solidFill>
                  <a:schemeClr val="dk2"/>
                </a:solidFill>
              </a:rPr>
              <a:t>n</a:t>
            </a:r>
            <a:r>
              <a:rPr lang="en" sz="1800">
                <a:solidFill>
                  <a:schemeClr val="dk2"/>
                </a:solidFill>
              </a:rPr>
              <a:t>) = (libre, libre,...,libre, cortada, libre,..., libre) porque suponemos que hay solo una calle cortada </a:t>
            </a:r>
            <a:endParaRPr sz="1800">
              <a:solidFill>
                <a:schemeClr val="dk2"/>
              </a:solidFill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 posibilidades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93" name="Google Shape;19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 “Maldición de La Dimensionalidad”</a:t>
            </a:r>
            <a:endParaRPr sz="2500"/>
          </a:p>
        </p:txBody>
      </p:sp>
      <p:sp>
        <p:nvSpPr>
          <p:cNvPr id="195" name="Google Shape;195;p28"/>
          <p:cNvSpPr txBox="1"/>
          <p:nvPr/>
        </p:nvSpPr>
        <p:spPr>
          <a:xfrm>
            <a:off x="419875" y="741275"/>
            <a:ext cx="80367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Nuevo problema: a cada día, una de las calles en el grid puede estar cortada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modelar ese problema?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Cuántos estados?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Cada calle c tiene una variable de estado con valores {?, libre, cortada}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Estados posibles: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Si aún no hemos encontrado una calle cortada:</a:t>
            </a:r>
            <a:endParaRPr sz="1800">
              <a:solidFill>
                <a:schemeClr val="dk2"/>
              </a:solidFill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(c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,c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,...c</a:t>
            </a:r>
            <a:r>
              <a:rPr baseline="-25000" lang="en" sz="1800">
                <a:solidFill>
                  <a:schemeClr val="dk2"/>
                </a:solidFill>
              </a:rPr>
              <a:t>n</a:t>
            </a:r>
            <a:r>
              <a:rPr lang="en" sz="1800">
                <a:solidFill>
                  <a:schemeClr val="dk2"/>
                </a:solidFill>
              </a:rPr>
              <a:t>), c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Є {?, libre} </a:t>
            </a:r>
            <a:endParaRPr sz="1800">
              <a:solidFill>
                <a:schemeClr val="dk2"/>
              </a:solidFill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lang="en" sz="1800">
                <a:solidFill>
                  <a:schemeClr val="dk2"/>
                </a:solidFill>
              </a:rPr>
              <a:t> 2</a:t>
            </a:r>
            <a:r>
              <a:rPr b="1" baseline="30000" lang="en" sz="1800">
                <a:solidFill>
                  <a:schemeClr val="dk2"/>
                </a:solidFill>
              </a:rPr>
              <a:t>n</a:t>
            </a:r>
            <a:r>
              <a:rPr b="1"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posibilidades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Si hemos encontrado una calle cortada:</a:t>
            </a:r>
            <a:endParaRPr sz="1800">
              <a:solidFill>
                <a:schemeClr val="dk2"/>
              </a:solidFill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(c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,c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,...c</a:t>
            </a:r>
            <a:r>
              <a:rPr baseline="-25000" lang="en" sz="1800">
                <a:solidFill>
                  <a:schemeClr val="dk2"/>
                </a:solidFill>
              </a:rPr>
              <a:t>n</a:t>
            </a:r>
            <a:r>
              <a:rPr lang="en" sz="1800">
                <a:solidFill>
                  <a:schemeClr val="dk2"/>
                </a:solidFill>
              </a:rPr>
              <a:t>) = (libre, libre,...,libre, cortada, libre,..., libre) porque suponemos que hay solo una calle cortada </a:t>
            </a:r>
            <a:endParaRPr sz="1800">
              <a:solidFill>
                <a:schemeClr val="dk2"/>
              </a:solidFill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 posibilidades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lang="en" sz="1800">
                <a:solidFill>
                  <a:schemeClr val="dk2"/>
                </a:solidFill>
              </a:rPr>
              <a:t>Número de estados crece exponencialmente con el número de variables de estado - &gt; no podemos almacenar la función valor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200" name="Google Shape;20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Go</a:t>
            </a:r>
            <a:endParaRPr sz="2500"/>
          </a:p>
        </p:txBody>
      </p:sp>
      <p:sp>
        <p:nvSpPr>
          <p:cNvPr id="202" name="Google Shape;202;p29"/>
          <p:cNvSpPr txBox="1"/>
          <p:nvPr/>
        </p:nvSpPr>
        <p:spPr>
          <a:xfrm>
            <a:off x="419875" y="741275"/>
            <a:ext cx="803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203" name="Google Shape;20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8513" y="925950"/>
            <a:ext cx="5466987" cy="363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208" name="Google Shape;20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Go</a:t>
            </a:r>
            <a:endParaRPr sz="2500"/>
          </a:p>
        </p:txBody>
      </p:sp>
      <p:sp>
        <p:nvSpPr>
          <p:cNvPr id="210" name="Google Shape;210;p30"/>
          <p:cNvSpPr txBox="1"/>
          <p:nvPr/>
        </p:nvSpPr>
        <p:spPr>
          <a:xfrm>
            <a:off x="419875" y="741275"/>
            <a:ext cx="803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211" name="Google Shape;21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74375"/>
            <a:ext cx="8839200" cy="3513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216" name="Google Shape;21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Go</a:t>
            </a:r>
            <a:endParaRPr sz="2500"/>
          </a:p>
        </p:txBody>
      </p:sp>
      <p:sp>
        <p:nvSpPr>
          <p:cNvPr id="218" name="Google Shape;218;p31"/>
          <p:cNvSpPr txBox="1"/>
          <p:nvPr/>
        </p:nvSpPr>
        <p:spPr>
          <a:xfrm>
            <a:off x="419875" y="741275"/>
            <a:ext cx="803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19" name="Google Shape;219;p31"/>
          <p:cNvSpPr txBox="1"/>
          <p:nvPr/>
        </p:nvSpPr>
        <p:spPr>
          <a:xfrm>
            <a:off x="77925" y="741275"/>
            <a:ext cx="89796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Cuántos estados?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Tablero de 19x19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19 x 19 = 361 posiciones/variables de estado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cada posición puede tener 3 valores: blanco, negro, vacío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3</a:t>
            </a:r>
            <a:r>
              <a:rPr baseline="30000" lang="en" sz="1800">
                <a:solidFill>
                  <a:schemeClr val="dk2"/>
                </a:solidFill>
              </a:rPr>
              <a:t>361 </a:t>
            </a:r>
            <a:r>
              <a:rPr lang="en" sz="1800">
                <a:solidFill>
                  <a:schemeClr val="dk2"/>
                </a:solidFill>
              </a:rPr>
              <a:t>estados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224" name="Google Shape;22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Go</a:t>
            </a:r>
            <a:endParaRPr sz="2500"/>
          </a:p>
        </p:txBody>
      </p:sp>
      <p:sp>
        <p:nvSpPr>
          <p:cNvPr id="226" name="Google Shape;226;p32"/>
          <p:cNvSpPr txBox="1"/>
          <p:nvPr/>
        </p:nvSpPr>
        <p:spPr>
          <a:xfrm>
            <a:off x="419875" y="741275"/>
            <a:ext cx="803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27" name="Google Shape;227;p32"/>
          <p:cNvSpPr txBox="1"/>
          <p:nvPr/>
        </p:nvSpPr>
        <p:spPr>
          <a:xfrm>
            <a:off x="77925" y="741275"/>
            <a:ext cx="8979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Cuántos estados?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Tablero de 19x19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19 x 19 = 361 posiciones/variables de estado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cada posición puede tener 3 valores: blanco, negro, vacío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3</a:t>
            </a:r>
            <a:r>
              <a:rPr baseline="30000" lang="en" sz="1800">
                <a:solidFill>
                  <a:schemeClr val="dk2"/>
                </a:solidFill>
              </a:rPr>
              <a:t>361 </a:t>
            </a:r>
            <a:r>
              <a:rPr lang="en" sz="1800">
                <a:solidFill>
                  <a:schemeClr val="dk2"/>
                </a:solidFill>
              </a:rPr>
              <a:t>estados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pero no todas las configuraciones son válidas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aproximadamente  </a:t>
            </a: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</a:rPr>
              <a:t>2.081681994 * 10</a:t>
            </a:r>
            <a:r>
              <a:rPr baseline="30000" lang="en" sz="1800">
                <a:solidFill>
                  <a:srgbClr val="333333"/>
                </a:solidFill>
                <a:highlight>
                  <a:srgbClr val="FFFFFF"/>
                </a:highlight>
              </a:rPr>
              <a:t>170</a:t>
            </a:r>
            <a:r>
              <a:rPr lang="en" sz="1800">
                <a:solidFill>
                  <a:schemeClr val="dk2"/>
                </a:solidFill>
              </a:rPr>
              <a:t> posiciones (2006)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232" name="Google Shape;23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Go</a:t>
            </a:r>
            <a:endParaRPr sz="2500"/>
          </a:p>
        </p:txBody>
      </p:sp>
      <p:sp>
        <p:nvSpPr>
          <p:cNvPr id="234" name="Google Shape;234;p33"/>
          <p:cNvSpPr txBox="1"/>
          <p:nvPr/>
        </p:nvSpPr>
        <p:spPr>
          <a:xfrm>
            <a:off x="419875" y="741275"/>
            <a:ext cx="803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77925" y="741275"/>
            <a:ext cx="8979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Cuántos estados?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Tablero de 19x19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19 x 19 = 361 posiciones/variables de estado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cada posición puede tener 3 valores: blanco, negro, vacío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3</a:t>
            </a:r>
            <a:r>
              <a:rPr baseline="30000" lang="en" sz="1800">
                <a:solidFill>
                  <a:schemeClr val="dk2"/>
                </a:solidFill>
              </a:rPr>
              <a:t>361 </a:t>
            </a:r>
            <a:r>
              <a:rPr lang="en" sz="1800">
                <a:solidFill>
                  <a:schemeClr val="dk2"/>
                </a:solidFill>
              </a:rPr>
              <a:t>estados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pero no todas las configuraciones son válidas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aproximadamente  </a:t>
            </a: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</a:rPr>
              <a:t>2.081681994 * 10</a:t>
            </a:r>
            <a:r>
              <a:rPr baseline="30000" lang="en" sz="1800">
                <a:solidFill>
                  <a:srgbClr val="333333"/>
                </a:solidFill>
                <a:highlight>
                  <a:srgbClr val="FFFFFF"/>
                </a:highlight>
              </a:rPr>
              <a:t>170</a:t>
            </a:r>
            <a:r>
              <a:rPr lang="en" sz="1800">
                <a:solidFill>
                  <a:schemeClr val="dk2"/>
                </a:solidFill>
              </a:rPr>
              <a:t> posiciones (2006)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 2015, con avances en la potencia de computadores y nueve meses de procesamiento, John Tromp calculó el número de estados: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36" name="Google Shape;23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4175" y="3309400"/>
            <a:ext cx="1534975" cy="176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241" name="Google Shape;24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La “Maldición de La Dimensionalidad”</a:t>
            </a:r>
            <a:endParaRPr sz="2500"/>
          </a:p>
        </p:txBody>
      </p:sp>
      <p:sp>
        <p:nvSpPr>
          <p:cNvPr id="243" name="Google Shape;243;p34"/>
          <p:cNvSpPr txBox="1"/>
          <p:nvPr/>
        </p:nvSpPr>
        <p:spPr>
          <a:xfrm>
            <a:off x="419875" y="741275"/>
            <a:ext cx="803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44" name="Google Shape;244;p34"/>
          <p:cNvSpPr txBox="1"/>
          <p:nvPr/>
        </p:nvSpPr>
        <p:spPr>
          <a:xfrm>
            <a:off x="77925" y="741275"/>
            <a:ext cx="8979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 la práctica, número de estados es frecuentemente prohibitivo. No podemos calcular y almacenar la función valor.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Solución: </a:t>
            </a:r>
            <a:r>
              <a:rPr b="1" lang="en" sz="1800">
                <a:solidFill>
                  <a:schemeClr val="dk2"/>
                </a:solidFill>
              </a:rPr>
              <a:t>generalización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Aproximamos la función valor y/o la función política con una forma paramétrica: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V^*(x) \approx f(x,w), ~ w \in \Re^K&#10;%009c7c1e-10c4-4a9e-93f8-5dc385ccd8e5" id="245" name="Google Shape;24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1300" y="2633775"/>
            <a:ext cx="27527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^*(x,a) \approx f(x,a,w), ~ w \in \Re^K&#10;%a822288b-c28e-45f9-b37e-b3348e7c5def" id="246" name="Google Shape;246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7938" y="3101650"/>
            <a:ext cx="32194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_a^*(x) \approx f(x,a,w), ~ w \in \Re^K&#10;%dd40de17-5fa2-4b64-82a3-376e3752d985" id="247" name="Google Shape;247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5100" y="3614250"/>
            <a:ext cx="2933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252" name="Google Shape;25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Arquitecturas de Aproximación Lineales</a:t>
            </a:r>
            <a:endParaRPr sz="2500"/>
          </a:p>
        </p:txBody>
      </p:sp>
      <p:sp>
        <p:nvSpPr>
          <p:cNvPr id="254" name="Google Shape;254;p35"/>
          <p:cNvSpPr txBox="1"/>
          <p:nvPr/>
        </p:nvSpPr>
        <p:spPr>
          <a:xfrm>
            <a:off x="419875" y="741275"/>
            <a:ext cx="803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55" name="Google Shape;255;p35"/>
          <p:cNvSpPr txBox="1"/>
          <p:nvPr/>
        </p:nvSpPr>
        <p:spPr>
          <a:xfrm>
            <a:off x="-414500" y="2107150"/>
            <a:ext cx="897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6" name="Google Shape;256;p35"/>
          <p:cNvSpPr txBox="1"/>
          <p:nvPr/>
        </p:nvSpPr>
        <p:spPr>
          <a:xfrm>
            <a:off x="77925" y="1327775"/>
            <a:ext cx="89796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Arquitectura lineal en     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         llamadas </a:t>
            </a:r>
            <a:r>
              <a:rPr i="1" lang="en" sz="1800">
                <a:solidFill>
                  <a:schemeClr val="dk2"/>
                </a:solidFill>
              </a:rPr>
              <a:t>funciones básicas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Funciones lineales en x: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Polinomios, sinusoides, etc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V^*(x) \approx f(x,w) = \sum\limits_{k = 1}^K w_k \phi_k(x)&#10;%316b4d19-7747-4047-bf57-8bf8b99b6d5e" id="257" name="Google Shape;25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5025" y="832475"/>
            <a:ext cx="3286125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phi_k(x)&#10;%efac7312-164a-4058-9083-e9de1b77cac7" id="258" name="Google Shape;258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400" y="1981200"/>
            <a:ext cx="5905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_k&#10;%fc5ebd9a-42d9-4eb7-b012-a72444ad1a3e" id="259" name="Google Shape;259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95600" y="1514457"/>
            <a:ext cx="2952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phi_k(x) = x_k&#10;%3941a62f-f440-4a7a-8ef0-3ca6ddcceef7" id="260" name="Google Shape;260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31400" y="2951225"/>
            <a:ext cx="11715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265" name="Google Shape;26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Arquitecturas de Aproximación Lineales</a:t>
            </a:r>
            <a:endParaRPr sz="2500"/>
          </a:p>
        </p:txBody>
      </p:sp>
      <p:sp>
        <p:nvSpPr>
          <p:cNvPr id="267" name="Google Shape;267;p36"/>
          <p:cNvSpPr txBox="1"/>
          <p:nvPr/>
        </p:nvSpPr>
        <p:spPr>
          <a:xfrm>
            <a:off x="419875" y="741275"/>
            <a:ext cx="803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68" name="Google Shape;268;p36"/>
          <p:cNvSpPr txBox="1"/>
          <p:nvPr/>
        </p:nvSpPr>
        <p:spPr>
          <a:xfrm>
            <a:off x="77925" y="1327775"/>
            <a:ext cx="8979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Arquitectura lineal en     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         llamadas </a:t>
            </a:r>
            <a:r>
              <a:rPr i="1" lang="en" sz="1800">
                <a:solidFill>
                  <a:schemeClr val="dk2"/>
                </a:solidFill>
              </a:rPr>
              <a:t>funciones básicas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Agregamiento de estados: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\phi_k(x) = \begin{cases}&#10;1 &amp; \text{if } x \in S_k \\&#10;0 &amp; \text{ otherwise}&#10;\end{cases}&#10;%41b16f09-a708-47e2-a371-302319ec5209" id="269" name="Google Shape;26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125" y="2891725"/>
            <a:ext cx="25527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^*(x) \approx f(x,w) = \sum\limits_{k = 1}^K w_k \phi_k(x)&#10;%316b4d19-7747-4047-bf57-8bf8b99b6d5e" id="270" name="Google Shape;270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5025" y="832475"/>
            <a:ext cx="3286125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phi_k(x)&#10;%efac7312-164a-4058-9083-e9de1b77cac7" id="271" name="Google Shape;271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3400" y="1981200"/>
            <a:ext cx="5905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_k&#10;%fc5ebd9a-42d9-4eb7-b012-a72444ad1a3e" id="272" name="Google Shape;272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95600" y="1514457"/>
            <a:ext cx="295275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277" name="Google Shape;27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Arquitecturas de Aproximación Lineales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Agregamiento de Estados</a:t>
            </a:r>
            <a:endParaRPr sz="2500"/>
          </a:p>
        </p:txBody>
      </p:sp>
      <p:sp>
        <p:nvSpPr>
          <p:cNvPr id="279" name="Google Shape;279;p37"/>
          <p:cNvSpPr txBox="1"/>
          <p:nvPr/>
        </p:nvSpPr>
        <p:spPr>
          <a:xfrm>
            <a:off x="419875" y="741275"/>
            <a:ext cx="803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80" name="Google Shape;280;p37"/>
          <p:cNvSpPr txBox="1"/>
          <p:nvPr/>
        </p:nvSpPr>
        <p:spPr>
          <a:xfrm>
            <a:off x="-414500" y="2107150"/>
            <a:ext cx="897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1" name="Google Shape;281;p37"/>
          <p:cNvSpPr txBox="1"/>
          <p:nvPr/>
        </p:nvSpPr>
        <p:spPr>
          <a:xfrm>
            <a:off x="77925" y="1327775"/>
            <a:ext cx="897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Agregamiento de estados: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\phi_k(x) = \begin{cases}&#10;1 &amp; \text{if } x \in S_k \\&#10;0 &amp; \text{ otherwise}&#10;\end{cases}&#10;%41b16f09-a708-47e2-a371-302319ec5209" id="282" name="Google Shape;28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125" y="1977325"/>
            <a:ext cx="2552700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6050" y="1670350"/>
            <a:ext cx="3889050" cy="300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288" name="Google Shape;28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Arquitecturas de Aproximación Lineales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Agregamiento de Estados</a:t>
            </a:r>
            <a:endParaRPr sz="2500"/>
          </a:p>
        </p:txBody>
      </p:sp>
      <p:sp>
        <p:nvSpPr>
          <p:cNvPr id="290" name="Google Shape;290;p38"/>
          <p:cNvSpPr txBox="1"/>
          <p:nvPr/>
        </p:nvSpPr>
        <p:spPr>
          <a:xfrm>
            <a:off x="419875" y="741275"/>
            <a:ext cx="803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91" name="Google Shape;291;p38"/>
          <p:cNvSpPr txBox="1"/>
          <p:nvPr/>
        </p:nvSpPr>
        <p:spPr>
          <a:xfrm>
            <a:off x="-414500" y="2107150"/>
            <a:ext cx="897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2" name="Google Shape;292;p38"/>
          <p:cNvSpPr txBox="1"/>
          <p:nvPr/>
        </p:nvSpPr>
        <p:spPr>
          <a:xfrm>
            <a:off x="77925" y="1327775"/>
            <a:ext cx="897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Agregamiento de estados: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\phi_k(x) = \begin{cases}&#10;1 &amp; \text{if } x \in S_k \\&#10;0 &amp; \text{ otherwise}&#10;\end{cases}&#10;%41b16f09-a708-47e2-a371-302319ec5209" id="293" name="Google Shape;293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125" y="1977325"/>
            <a:ext cx="2552700" cy="590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4" name="Google Shape;294;p38"/>
          <p:cNvGrpSpPr/>
          <p:nvPr/>
        </p:nvGrpSpPr>
        <p:grpSpPr>
          <a:xfrm rot="600120">
            <a:off x="4687469" y="3119071"/>
            <a:ext cx="3030477" cy="1102910"/>
            <a:chOff x="4687125" y="3118450"/>
            <a:chExt cx="3030175" cy="1102800"/>
          </a:xfrm>
        </p:grpSpPr>
        <p:sp>
          <p:nvSpPr>
            <p:cNvPr id="295" name="Google Shape;295;p38"/>
            <p:cNvSpPr/>
            <p:nvPr/>
          </p:nvSpPr>
          <p:spPr>
            <a:xfrm>
              <a:off x="4687125" y="3118450"/>
              <a:ext cx="762000" cy="11028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8"/>
            <p:cNvSpPr/>
            <p:nvPr/>
          </p:nvSpPr>
          <p:spPr>
            <a:xfrm>
              <a:off x="5449125" y="3118450"/>
              <a:ext cx="762000" cy="11028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8"/>
            <p:cNvSpPr/>
            <p:nvPr/>
          </p:nvSpPr>
          <p:spPr>
            <a:xfrm>
              <a:off x="6201546" y="3118450"/>
              <a:ext cx="762000" cy="11028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8"/>
            <p:cNvSpPr/>
            <p:nvPr/>
          </p:nvSpPr>
          <p:spPr>
            <a:xfrm>
              <a:off x="6955300" y="3118450"/>
              <a:ext cx="762000" cy="11028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9" name="Google Shape;299;p38"/>
          <p:cNvGrpSpPr/>
          <p:nvPr/>
        </p:nvGrpSpPr>
        <p:grpSpPr>
          <a:xfrm rot="600120">
            <a:off x="4992544" y="1925146"/>
            <a:ext cx="3030477" cy="1102910"/>
            <a:chOff x="4687125" y="3118450"/>
            <a:chExt cx="3030175" cy="1102800"/>
          </a:xfrm>
        </p:grpSpPr>
        <p:sp>
          <p:nvSpPr>
            <p:cNvPr id="300" name="Google Shape;300;p38"/>
            <p:cNvSpPr/>
            <p:nvPr/>
          </p:nvSpPr>
          <p:spPr>
            <a:xfrm>
              <a:off x="4687125" y="3118450"/>
              <a:ext cx="762000" cy="11028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8"/>
            <p:cNvSpPr/>
            <p:nvPr/>
          </p:nvSpPr>
          <p:spPr>
            <a:xfrm>
              <a:off x="5449125" y="3118450"/>
              <a:ext cx="762000" cy="11028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8"/>
            <p:cNvSpPr/>
            <p:nvPr/>
          </p:nvSpPr>
          <p:spPr>
            <a:xfrm>
              <a:off x="6201546" y="3118450"/>
              <a:ext cx="762000" cy="11028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8"/>
            <p:cNvSpPr/>
            <p:nvPr/>
          </p:nvSpPr>
          <p:spPr>
            <a:xfrm>
              <a:off x="6955300" y="3118450"/>
              <a:ext cx="762000" cy="11028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V^*((i,j)) \approx V(\text{zona}(i,j))&#10;%818e5b22-cc43-4782-9737-7203cc0b8bd0" id="304" name="Google Shape;304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2125" y="2817200"/>
            <a:ext cx="26765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6050" y="1670350"/>
            <a:ext cx="3889050" cy="300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310" name="Google Shape;31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Arquitecturas de Aproximación Lineales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Agregamiento de Estados</a:t>
            </a:r>
            <a:endParaRPr sz="2500"/>
          </a:p>
        </p:txBody>
      </p:sp>
      <p:sp>
        <p:nvSpPr>
          <p:cNvPr id="312" name="Google Shape;312;p39"/>
          <p:cNvSpPr txBox="1"/>
          <p:nvPr/>
        </p:nvSpPr>
        <p:spPr>
          <a:xfrm>
            <a:off x="419875" y="741275"/>
            <a:ext cx="803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13" name="Google Shape;313;p39"/>
          <p:cNvSpPr txBox="1"/>
          <p:nvPr/>
        </p:nvSpPr>
        <p:spPr>
          <a:xfrm>
            <a:off x="-414500" y="2107150"/>
            <a:ext cx="897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4" name="Google Shape;314;p39"/>
          <p:cNvSpPr txBox="1"/>
          <p:nvPr/>
        </p:nvSpPr>
        <p:spPr>
          <a:xfrm>
            <a:off x="77925" y="1327775"/>
            <a:ext cx="89796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Agregamiento de estados: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Buenas propiedades de convergencia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Posibilidad de particionar espacio de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estados progresivamente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\phi_k(x) = \begin{cases}&#10;1 &amp; \text{if } x \in S_k \\&#10;0 &amp; \text{ otherwise}&#10;\end{cases}&#10;%41b16f09-a708-47e2-a371-302319ec5209" id="315" name="Google Shape;315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2125" y="1977325"/>
            <a:ext cx="2552700" cy="590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6" name="Google Shape;316;p39"/>
          <p:cNvGrpSpPr/>
          <p:nvPr/>
        </p:nvGrpSpPr>
        <p:grpSpPr>
          <a:xfrm rot="600120">
            <a:off x="4687469" y="3119071"/>
            <a:ext cx="3030477" cy="1102910"/>
            <a:chOff x="4687125" y="3118450"/>
            <a:chExt cx="3030175" cy="1102800"/>
          </a:xfrm>
        </p:grpSpPr>
        <p:sp>
          <p:nvSpPr>
            <p:cNvPr id="317" name="Google Shape;317;p39"/>
            <p:cNvSpPr/>
            <p:nvPr/>
          </p:nvSpPr>
          <p:spPr>
            <a:xfrm>
              <a:off x="4687125" y="3118450"/>
              <a:ext cx="762000" cy="11028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9"/>
            <p:cNvSpPr/>
            <p:nvPr/>
          </p:nvSpPr>
          <p:spPr>
            <a:xfrm>
              <a:off x="5449125" y="3118450"/>
              <a:ext cx="762000" cy="11028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9"/>
            <p:cNvSpPr/>
            <p:nvPr/>
          </p:nvSpPr>
          <p:spPr>
            <a:xfrm>
              <a:off x="6201546" y="3118450"/>
              <a:ext cx="762000" cy="11028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9"/>
            <p:cNvSpPr/>
            <p:nvPr/>
          </p:nvSpPr>
          <p:spPr>
            <a:xfrm>
              <a:off x="6955300" y="3118450"/>
              <a:ext cx="762000" cy="11028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1" name="Google Shape;321;p39"/>
          <p:cNvGrpSpPr/>
          <p:nvPr/>
        </p:nvGrpSpPr>
        <p:grpSpPr>
          <a:xfrm rot="600120">
            <a:off x="4992544" y="1925146"/>
            <a:ext cx="3030477" cy="1102910"/>
            <a:chOff x="4687125" y="3118450"/>
            <a:chExt cx="3030175" cy="1102800"/>
          </a:xfrm>
        </p:grpSpPr>
        <p:sp>
          <p:nvSpPr>
            <p:cNvPr id="322" name="Google Shape;322;p39"/>
            <p:cNvSpPr/>
            <p:nvPr/>
          </p:nvSpPr>
          <p:spPr>
            <a:xfrm>
              <a:off x="4687125" y="3118450"/>
              <a:ext cx="762000" cy="11028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9"/>
            <p:cNvSpPr/>
            <p:nvPr/>
          </p:nvSpPr>
          <p:spPr>
            <a:xfrm>
              <a:off x="5449125" y="3118450"/>
              <a:ext cx="762000" cy="11028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9"/>
            <p:cNvSpPr/>
            <p:nvPr/>
          </p:nvSpPr>
          <p:spPr>
            <a:xfrm>
              <a:off x="6201546" y="3118450"/>
              <a:ext cx="762000" cy="11028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9"/>
            <p:cNvSpPr/>
            <p:nvPr/>
          </p:nvSpPr>
          <p:spPr>
            <a:xfrm>
              <a:off x="6955300" y="3118450"/>
              <a:ext cx="762000" cy="11028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V^*((i,j)) \approx V(\text{zona}(i,j))&#10;%818e5b22-cc43-4782-9737-7203cc0b8bd0" id="326" name="Google Shape;326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2125" y="2817200"/>
            <a:ext cx="26765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331" name="Google Shape;33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Arquitecturas de Aproximación No Lineales</a:t>
            </a:r>
            <a:endParaRPr sz="2500"/>
          </a:p>
        </p:txBody>
      </p:sp>
      <p:sp>
        <p:nvSpPr>
          <p:cNvPr id="333" name="Google Shape;333;p40"/>
          <p:cNvSpPr txBox="1"/>
          <p:nvPr/>
        </p:nvSpPr>
        <p:spPr>
          <a:xfrm>
            <a:off x="419875" y="741275"/>
            <a:ext cx="803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34" name="Google Shape;334;p40"/>
          <p:cNvSpPr txBox="1"/>
          <p:nvPr/>
        </p:nvSpPr>
        <p:spPr>
          <a:xfrm>
            <a:off x="-414500" y="2107150"/>
            <a:ext cx="897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V^*(x) \approx f(x,w), ~ w \in \Re^K&#10;%009c7c1e-10c4-4a9e-93f8-5dc385ccd8e5" id="335" name="Google Shape;33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5638" y="877025"/>
            <a:ext cx="27527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0"/>
          <p:cNvSpPr txBox="1"/>
          <p:nvPr/>
        </p:nvSpPr>
        <p:spPr>
          <a:xfrm>
            <a:off x="77925" y="1327775"/>
            <a:ext cx="89796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es no lineal en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f &#10;%0a601f20-198a-42f6-9433-3f077e8ef929" id="337" name="Google Shape;337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772" y="1457343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&#10;%cf6fd4a7-d0bb-472f-a151-8770e21a5acf" id="338" name="Google Shape;338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9800" y="1524000"/>
            <a:ext cx="180975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343" name="Google Shape;34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Arquitecturas de Aproximación No Lineales</a:t>
            </a:r>
            <a:endParaRPr sz="2500"/>
          </a:p>
        </p:txBody>
      </p:sp>
      <p:sp>
        <p:nvSpPr>
          <p:cNvPr id="345" name="Google Shape;345;p41"/>
          <p:cNvSpPr txBox="1"/>
          <p:nvPr/>
        </p:nvSpPr>
        <p:spPr>
          <a:xfrm>
            <a:off x="419875" y="741275"/>
            <a:ext cx="803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346" name="Google Shape;346;p41"/>
          <p:cNvSpPr txBox="1"/>
          <p:nvPr/>
        </p:nvSpPr>
        <p:spPr>
          <a:xfrm>
            <a:off x="-414500" y="2107150"/>
            <a:ext cx="897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V^*(x) \approx f(x,w), ~ w \in \Re^K&#10;%009c7c1e-10c4-4a9e-93f8-5dc385ccd8e5" id="347" name="Google Shape;34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5638" y="877025"/>
            <a:ext cx="27527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1"/>
          <p:cNvSpPr txBox="1"/>
          <p:nvPr/>
        </p:nvSpPr>
        <p:spPr>
          <a:xfrm>
            <a:off x="77925" y="1327775"/>
            <a:ext cx="8979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es no lineal en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redes neuronales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f &#10;%0a601f20-198a-42f6-9433-3f077e8ef929" id="349" name="Google Shape;34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772" y="1457343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&#10;%cf6fd4a7-d0bb-472f-a151-8770e21a5acf" id="350" name="Google Shape;350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9800" y="1524000"/>
            <a:ext cx="1809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9195" y="2276075"/>
            <a:ext cx="3224429" cy="279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40800" y="2601025"/>
            <a:ext cx="4052900" cy="2065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2"/>
          <p:cNvSpPr txBox="1"/>
          <p:nvPr/>
        </p:nvSpPr>
        <p:spPr>
          <a:xfrm>
            <a:off x="76200" y="924650"/>
            <a:ext cx="89796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Recordemos que queremos resolver la ecuación de Bellman: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 aproximación                                             , algoritmos resuelven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358" name="Google Shape;35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Aprendizaje por Refuerzo con Aproximaciones</a:t>
            </a:r>
            <a:endParaRPr sz="2500"/>
          </a:p>
        </p:txBody>
      </p:sp>
      <p:pic>
        <p:nvPicPr>
          <p:cNvPr descr="V^*(x) \approx f(x,w), ~ w \in \Re^K&#10;%009c7c1e-10c4-4a9e-93f8-5dc385ccd8e5" id="360" name="Google Shape;36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5088" y="2116693"/>
            <a:ext cx="27527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^*(x) = \max_{a \in A}\left\{r_a(x)+\alpha \sum_y P_a(x,y)V^*(y)\right\}&#10;%17241b34-0dc8-48cb-99ad-2bf4b3b2eb17" id="361" name="Google Shape;361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6950" y="1424262"/>
            <a:ext cx="461010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in_w \sum_x \underbrace{p(x)}_{\text{peso del estado } x}\underbrace{\left[\max_{a \in A}\left(r_a(x)+\alpha \sum_y P_a(x,y)f(y,w)\right)-f(x,w)\right]^2}&#10;_\text{error de Bellman}&#10;%b4c601f8-cf25-4993-9d4c-760d39620b42" id="362" name="Google Shape;362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000" y="2590800"/>
            <a:ext cx="78486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3"/>
          <p:cNvSpPr txBox="1"/>
          <p:nvPr/>
        </p:nvSpPr>
        <p:spPr>
          <a:xfrm>
            <a:off x="76200" y="924650"/>
            <a:ext cx="8979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resolver?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Algoritmos basados en simulaciones o aprendizaje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gradiente estocástico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exploración vs explotación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Convergencia no siempre asegurada, muchas técnicas y experimentos necesarios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 redes neuronales: DQN (Deep Q Networks)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368" name="Google Shape;36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Aprendizaje por Refuerzo con Aproximaciones</a:t>
            </a:r>
            <a:endParaRPr sz="2500"/>
          </a:p>
        </p:txBody>
      </p:sp>
      <p:pic>
        <p:nvPicPr>
          <p:cNvPr descr="\min_w \sum_x p(x)\left[\max_{a \in A}\left(r_a(x)+\alpha \sum_y P_a(x,y)f(y,w)\right)-f(x,w)\right]^2&#10;%e3768cfe-1f8a-46ac-96d7-a5f52b2c3738" id="370" name="Google Shape;37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6800" y="990600"/>
            <a:ext cx="704850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4"/>
          <p:cNvSpPr txBox="1"/>
          <p:nvPr/>
        </p:nvSpPr>
        <p:spPr>
          <a:xfrm>
            <a:off x="76200" y="924650"/>
            <a:ext cx="897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376" name="Google Shape;37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Aplicación: Valuación de Opciones Americanas</a:t>
            </a:r>
            <a:endParaRPr sz="2500"/>
          </a:p>
        </p:txBody>
      </p:sp>
      <p:sp>
        <p:nvSpPr>
          <p:cNvPr id="378" name="Google Shape;378;p44"/>
          <p:cNvSpPr txBox="1"/>
          <p:nvPr/>
        </p:nvSpPr>
        <p:spPr>
          <a:xfrm>
            <a:off x="76200" y="924650"/>
            <a:ext cx="8979600" cy="6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Opciones son instrumentos derivados que otorgan el derecho -y no la obligación-  a comprar o vender activos a un precio determinado en el contrato -denominado precio de ejercicio o strike- hasta una fecha establecida, es decir el vencimiento del contrato.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Derecho a comprar el activo = opción call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Derecho a vender el activo = opción put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5"/>
          <p:cNvSpPr txBox="1"/>
          <p:nvPr/>
        </p:nvSpPr>
        <p:spPr>
          <a:xfrm>
            <a:off x="76200" y="924650"/>
            <a:ext cx="897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384" name="Google Shape;38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Aplicación: Valuación de Opciones Americanas</a:t>
            </a:r>
            <a:endParaRPr sz="2500"/>
          </a:p>
        </p:txBody>
      </p:sp>
      <p:sp>
        <p:nvSpPr>
          <p:cNvPr id="386" name="Google Shape;386;p45"/>
          <p:cNvSpPr txBox="1"/>
          <p:nvPr/>
        </p:nvSpPr>
        <p:spPr>
          <a:xfrm>
            <a:off x="76200" y="924650"/>
            <a:ext cx="8979600" cy="7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Opciones son instrumentos derivados que otorgan el derecho -y no la obligación-  a comprar o vender activos a un precio determinado en el contrato -denominado precio de ejercicio o strike- hasta una fecha establecida, es decir el vencimiento del contrato.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Derecho a comprar el activo = opción call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Derecho a vender el activo = opción put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Ejercicio del derecho solo en la fecha de vencimiento = opción europea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Ejercicio del derecho hasta la fecha de vencimiento = opción americana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6"/>
          <p:cNvSpPr txBox="1"/>
          <p:nvPr/>
        </p:nvSpPr>
        <p:spPr>
          <a:xfrm>
            <a:off x="76200" y="924650"/>
            <a:ext cx="897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392" name="Google Shape;39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Aplicación: Valuación de Opciones Americanas</a:t>
            </a:r>
            <a:endParaRPr sz="2500"/>
          </a:p>
        </p:txBody>
      </p:sp>
      <p:sp>
        <p:nvSpPr>
          <p:cNvPr id="394" name="Google Shape;394;p46"/>
          <p:cNvSpPr txBox="1"/>
          <p:nvPr/>
        </p:nvSpPr>
        <p:spPr>
          <a:xfrm>
            <a:off x="76200" y="924650"/>
            <a:ext cx="89796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Consideramos una opción put americana, con fecha de vencimiento T y precio de ejercicio K.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Cuál debe ser el precio de la opción en t = 0?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Cuándo se debe ejercer la opción?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7"/>
          <p:cNvSpPr txBox="1"/>
          <p:nvPr/>
        </p:nvSpPr>
        <p:spPr>
          <a:xfrm>
            <a:off x="76200" y="924650"/>
            <a:ext cx="897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400" name="Google Shape;40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Modelo MDP para Valuación de Opciones</a:t>
            </a:r>
            <a:endParaRPr sz="2500"/>
          </a:p>
        </p:txBody>
      </p:sp>
      <p:sp>
        <p:nvSpPr>
          <p:cNvPr id="402" name="Google Shape;402;p47"/>
          <p:cNvSpPr txBox="1"/>
          <p:nvPr/>
        </p:nvSpPr>
        <p:spPr>
          <a:xfrm>
            <a:off x="76200" y="924650"/>
            <a:ext cx="8979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Debemos definir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(S,A,r,P)&#10;%bef410f9-0ea4-4412-93fb-578b57e5ef4a" id="403" name="Google Shape;40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3460" y="1029284"/>
            <a:ext cx="11620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8"/>
          <p:cNvSpPr txBox="1"/>
          <p:nvPr/>
        </p:nvSpPr>
        <p:spPr>
          <a:xfrm>
            <a:off x="76200" y="924650"/>
            <a:ext cx="897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409" name="Google Shape;40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Modelo MDP para Valuación de Opciones</a:t>
            </a:r>
            <a:endParaRPr sz="2500"/>
          </a:p>
        </p:txBody>
      </p:sp>
      <p:sp>
        <p:nvSpPr>
          <p:cNvPr id="411" name="Google Shape;411;p48"/>
          <p:cNvSpPr txBox="1"/>
          <p:nvPr/>
        </p:nvSpPr>
        <p:spPr>
          <a:xfrm>
            <a:off x="76200" y="924650"/>
            <a:ext cx="8979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Debemos definir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     = precio del activo en el periodo 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(S,A,r,P)&#10;%bef410f9-0ea4-4412-93fb-578b57e5ef4a" id="412" name="Google Shape;41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3460" y="1029284"/>
            <a:ext cx="11620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t&#10;%802f4db5-a178-41f2-9d3b-4b3528ddeaa7" id="413" name="Google Shape;413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0087" y="1381143"/>
            <a:ext cx="2000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&#10;%7ba09a19-178e-46ef-9e3e-e73ce1796b28" id="414" name="Google Shape;414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3000" y="1343396"/>
            <a:ext cx="95250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9"/>
          <p:cNvSpPr txBox="1"/>
          <p:nvPr/>
        </p:nvSpPr>
        <p:spPr>
          <a:xfrm>
            <a:off x="76200" y="924650"/>
            <a:ext cx="897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420" name="Google Shape;42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Modelo MDP para Valuación de Opciones</a:t>
            </a:r>
            <a:endParaRPr sz="2500"/>
          </a:p>
        </p:txBody>
      </p:sp>
      <p:sp>
        <p:nvSpPr>
          <p:cNvPr id="422" name="Google Shape;422;p49"/>
          <p:cNvSpPr txBox="1"/>
          <p:nvPr/>
        </p:nvSpPr>
        <p:spPr>
          <a:xfrm>
            <a:off x="76200" y="924650"/>
            <a:ext cx="8979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Debemos definir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     = precio del activo en el periodo 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Acción     = 0 (esperar) o 1 (ejercer la opción)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(S,A,r,P)&#10;%bef410f9-0ea4-4412-93fb-578b57e5ef4a" id="423" name="Google Shape;42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3460" y="1029284"/>
            <a:ext cx="11620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t&#10;%802f4db5-a178-41f2-9d3b-4b3528ddeaa7" id="424" name="Google Shape;424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0087" y="1381143"/>
            <a:ext cx="2000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&#10;%7ba09a19-178e-46ef-9e3e-e73ce1796b28" id="425" name="Google Shape;425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3000" y="1343396"/>
            <a:ext cx="9525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_t&#10;%5dbe9159-db23-467d-8220-17d8675422e4" id="426" name="Google Shape;426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52373" y="1666857"/>
            <a:ext cx="219075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0"/>
          <p:cNvSpPr txBox="1"/>
          <p:nvPr/>
        </p:nvSpPr>
        <p:spPr>
          <a:xfrm>
            <a:off x="76200" y="924650"/>
            <a:ext cx="897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432" name="Google Shape;43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Modelo MDP para Valuación de Opciones</a:t>
            </a:r>
            <a:endParaRPr sz="2500"/>
          </a:p>
        </p:txBody>
      </p:sp>
      <p:sp>
        <p:nvSpPr>
          <p:cNvPr id="434" name="Google Shape;434;p50"/>
          <p:cNvSpPr txBox="1"/>
          <p:nvPr/>
        </p:nvSpPr>
        <p:spPr>
          <a:xfrm>
            <a:off x="76200" y="924650"/>
            <a:ext cx="8979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Debemos definir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     = precio del activo en el periodo 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Acción     = 0 (esperar) o 1 (ejercer la opción)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Recompensa          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              (si no ejercemos, no hay recompensa inmediata)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(S,A,r,P)&#10;%bef410f9-0ea4-4412-93fb-578b57e5ef4a" id="435" name="Google Shape;43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3460" y="1029284"/>
            <a:ext cx="11620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t&#10;%802f4db5-a178-41f2-9d3b-4b3528ddeaa7" id="436" name="Google Shape;436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0087" y="1381143"/>
            <a:ext cx="2000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&#10;%7ba09a19-178e-46ef-9e3e-e73ce1796b28" id="437" name="Google Shape;437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3000" y="1343396"/>
            <a:ext cx="9525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_t&#10;%5dbe9159-db23-467d-8220-17d8675422e4" id="438" name="Google Shape;438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52373" y="1666857"/>
            <a:ext cx="2190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_a(s)&#10;%efa89b02-ecd5-4103-9c30-db32b34085fa" id="439" name="Google Shape;439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57400" y="1838343"/>
            <a:ext cx="5334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_0(s) = 0&#10;%a79c73dc-185c-4a8d-bd10-556b6d23ae88" id="440" name="Google Shape;440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43028" y="2143143"/>
            <a:ext cx="9810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1"/>
          <p:cNvSpPr txBox="1"/>
          <p:nvPr/>
        </p:nvSpPr>
        <p:spPr>
          <a:xfrm>
            <a:off x="76200" y="924650"/>
            <a:ext cx="897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446" name="Google Shape;44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5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Modelo MDP para Valuación de Opciones</a:t>
            </a:r>
            <a:endParaRPr sz="2500"/>
          </a:p>
        </p:txBody>
      </p:sp>
      <p:sp>
        <p:nvSpPr>
          <p:cNvPr id="448" name="Google Shape;448;p51"/>
          <p:cNvSpPr txBox="1"/>
          <p:nvPr/>
        </p:nvSpPr>
        <p:spPr>
          <a:xfrm>
            <a:off x="76200" y="924650"/>
            <a:ext cx="8979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Debemos definir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     = precio del activo en el periodo 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Acción     = 0 (esperar) o 1 (ejercer la opción)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Recompensa          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              (si no ejercemos, no hay recompensa inmediata)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Cuánto ganamos si ejercemos la opción en en tiempo t?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(S,A,r,P)&#10;%bef410f9-0ea4-4412-93fb-578b57e5ef4a" id="449" name="Google Shape;44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3460" y="1029284"/>
            <a:ext cx="11620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t&#10;%802f4db5-a178-41f2-9d3b-4b3528ddeaa7" id="450" name="Google Shape;450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0087" y="1381143"/>
            <a:ext cx="2000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&#10;%7ba09a19-178e-46ef-9e3e-e73ce1796b28" id="451" name="Google Shape;451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3000" y="1343396"/>
            <a:ext cx="9525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_t&#10;%5dbe9159-db23-467d-8220-17d8675422e4" id="452" name="Google Shape;452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52373" y="1666857"/>
            <a:ext cx="2190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_a(s)&#10;%efa89b02-ecd5-4103-9c30-db32b34085fa" id="453" name="Google Shape;453;p5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57400" y="1838343"/>
            <a:ext cx="5334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_0(s) = 0&#10;%a79c73dc-185c-4a8d-bd10-556b6d23ae88" id="454" name="Google Shape;454;p5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43028" y="2143143"/>
            <a:ext cx="9810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2"/>
          <p:cNvSpPr txBox="1"/>
          <p:nvPr/>
        </p:nvSpPr>
        <p:spPr>
          <a:xfrm>
            <a:off x="76200" y="924650"/>
            <a:ext cx="897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460" name="Google Shape;46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5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Modelo MDP para Valuación de Opciones</a:t>
            </a:r>
            <a:endParaRPr sz="2500"/>
          </a:p>
        </p:txBody>
      </p:sp>
      <p:sp>
        <p:nvSpPr>
          <p:cNvPr id="462" name="Google Shape;462;p52"/>
          <p:cNvSpPr txBox="1"/>
          <p:nvPr/>
        </p:nvSpPr>
        <p:spPr>
          <a:xfrm>
            <a:off x="76200" y="924650"/>
            <a:ext cx="89796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Debemos definir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     = precio del activo en el periodo 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Acción     = 0 (esperar) o 1 (ejercer la opción)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Recompensa          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              (si no ejercemos, no hay recompensa inmediata)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Cuánto ganamos si ejercemos la opción en en tiempo t?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Compramos la acción a precio       = precio del activo 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Vendemos a precio 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Ganamos </a:t>
            </a:r>
            <a:endParaRPr sz="1800">
              <a:solidFill>
                <a:schemeClr val="dk2"/>
              </a:solidFill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Solo hace sentido ejercer la opción si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K&#10;%d2a4d68c-1793-4159-9515-dff5c70a2e90" id="463" name="Google Shape;463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2631" y="2981908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S,A,r,P)&#10;%bef410f9-0ea4-4412-93fb-578b57e5ef4a" id="464" name="Google Shape;464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3460" y="1029284"/>
            <a:ext cx="11620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t&#10;%802f4db5-a178-41f2-9d3b-4b3528ddeaa7" id="465" name="Google Shape;465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00087" y="1381143"/>
            <a:ext cx="2000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&#10;%7ba09a19-178e-46ef-9e3e-e73ce1796b28" id="466" name="Google Shape;466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53000" y="1343396"/>
            <a:ext cx="9525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_t&#10;%5dbe9159-db23-467d-8220-17d8675422e4" id="467" name="Google Shape;467;p5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52373" y="1666857"/>
            <a:ext cx="2190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_a(s)&#10;%efa89b02-ecd5-4103-9c30-db32b34085fa" id="468" name="Google Shape;468;p5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57400" y="1838343"/>
            <a:ext cx="5334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t&#10;%24ccfc94-a89b-4c99-bfb4-074afac79733" id="469" name="Google Shape;469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4400" y="2752743"/>
            <a:ext cx="2000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-s_t&#10;%68cbb8ac-53ea-49c8-9de4-2111bf0f57fd" id="470" name="Google Shape;470;p5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75576" y="3263578"/>
            <a:ext cx="7239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-s_t&gt;0&#10;%6e4ca09a-bf29-4155-bd6a-49632ab4d3b9" id="471" name="Google Shape;471;p5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86975" y="3530800"/>
            <a:ext cx="11715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_0(s) = 0&#10;%a79c73dc-185c-4a8d-bd10-556b6d23ae88" id="472" name="Google Shape;472;p5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43028" y="2143143"/>
            <a:ext cx="9810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3"/>
          <p:cNvSpPr txBox="1"/>
          <p:nvPr/>
        </p:nvSpPr>
        <p:spPr>
          <a:xfrm>
            <a:off x="76200" y="924650"/>
            <a:ext cx="897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478" name="Google Shape;47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5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Modelo MDP para Valuación de Opciones</a:t>
            </a:r>
            <a:endParaRPr sz="2500"/>
          </a:p>
        </p:txBody>
      </p:sp>
      <p:sp>
        <p:nvSpPr>
          <p:cNvPr id="480" name="Google Shape;480;p53"/>
          <p:cNvSpPr txBox="1"/>
          <p:nvPr/>
        </p:nvSpPr>
        <p:spPr>
          <a:xfrm>
            <a:off x="76200" y="924650"/>
            <a:ext cx="8979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Debemos definir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     = precio del activo en el periodo 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Acción     = 0 (esperar) o 1 (ejercer la opción)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Recompensa          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              (si no ejercemos, no hay recompensa inmediata)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Cuánto ganamos si ejercemos la opción en en tiempo t?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Compramos la acción a precio       = precio del activo 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Vendemos a precio </a:t>
            </a:r>
            <a:endParaRPr sz="1800">
              <a:solidFill>
                <a:schemeClr val="dk2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Ganamos </a:t>
            </a:r>
            <a:endParaRPr sz="1800">
              <a:solidFill>
                <a:schemeClr val="dk2"/>
              </a:solidFill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Solo hace sentido ejercer la opción si</a:t>
            </a:r>
            <a:endParaRPr sz="1800">
              <a:solidFill>
                <a:schemeClr val="dk2"/>
              </a:solidFill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Debemos especificar   , o más generalmente la evolución de precio del activo     para terminar de definir el problema…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K&#10;%d2a4d68c-1793-4159-9515-dff5c70a2e90" id="481" name="Google Shape;48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2631" y="2981908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S,A,r,P)&#10;%bef410f9-0ea4-4412-93fb-578b57e5ef4a" id="482" name="Google Shape;482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3460" y="1029284"/>
            <a:ext cx="11620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t&#10;%802f4db5-a178-41f2-9d3b-4b3528ddeaa7" id="483" name="Google Shape;483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00087" y="1381143"/>
            <a:ext cx="2000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&#10;%7ba09a19-178e-46ef-9e3e-e73ce1796b28" id="484" name="Google Shape;484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53000" y="1343396"/>
            <a:ext cx="9525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_t&#10;%5dbe9159-db23-467d-8220-17d8675422e4" id="485" name="Google Shape;485;p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52373" y="1666857"/>
            <a:ext cx="2190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_a(s)&#10;%efa89b02-ecd5-4103-9c30-db32b34085fa" id="486" name="Google Shape;486;p5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57400" y="1838343"/>
            <a:ext cx="5334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t&#10;%24ccfc94-a89b-4c99-bfb4-074afac79733" id="487" name="Google Shape;487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4400" y="2752743"/>
            <a:ext cx="2000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-s_t&#10;%68cbb8ac-53ea-49c8-9de4-2111bf0f57fd" id="488" name="Google Shape;488;p5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75576" y="3263578"/>
            <a:ext cx="7239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-s_t&gt;0&#10;%6e4ca09a-bf29-4155-bd6a-49632ab4d3b9" id="489" name="Google Shape;489;p5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86975" y="3530800"/>
            <a:ext cx="11715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_0(s) = 0&#10;%a79c73dc-185c-4a8d-bd10-556b6d23ae88" id="490" name="Google Shape;490;p5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43028" y="2143143"/>
            <a:ext cx="981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_1(s) = \max(K-s,0)&#10;%cfb49468-a016-4c1c-a494-fae1f6c49526" id="491" name="Google Shape;491;p5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905000" y="3790915"/>
            <a:ext cx="23717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43a59380-887b-49ad-8945-9a5653e0587a" id="492" name="Google Shape;492;p5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809433" y="4076912"/>
            <a:ext cx="1905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4"/>
          <p:cNvSpPr txBox="1"/>
          <p:nvPr/>
        </p:nvSpPr>
        <p:spPr>
          <a:xfrm>
            <a:off x="76200" y="924650"/>
            <a:ext cx="8979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Consideramos el valor de un derivado del activo con un modelo binomial.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                                                       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8" name="Google Shape;498;p54"/>
          <p:cNvSpPr txBox="1"/>
          <p:nvPr/>
        </p:nvSpPr>
        <p:spPr>
          <a:xfrm>
            <a:off x="76200" y="924650"/>
            <a:ext cx="897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                                                                                             Asumimos una tasa de interés sin riesgo    ($1 en t = 0 vale $             en t = 1).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499" name="Google Shape;49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5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Modelo para</a:t>
            </a:r>
            <a:endParaRPr sz="2500"/>
          </a:p>
        </p:txBody>
      </p:sp>
      <p:cxnSp>
        <p:nvCxnSpPr>
          <p:cNvPr id="501" name="Google Shape;501;p54"/>
          <p:cNvCxnSpPr/>
          <p:nvPr/>
        </p:nvCxnSpPr>
        <p:spPr>
          <a:xfrm rot="7200474">
            <a:off x="1321346" y="2208361"/>
            <a:ext cx="915981" cy="91598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54"/>
          <p:cNvCxnSpPr/>
          <p:nvPr/>
        </p:nvCxnSpPr>
        <p:spPr>
          <a:xfrm flipH="1" rot="3599526">
            <a:off x="1321346" y="2551191"/>
            <a:ext cx="915981" cy="91598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1&#10;%c114e714-e23e-4461-9cf1-07d0b0754232" id="503" name="Google Shape;50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3943" y="2752601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+u&#10;%bb1ac0dd-b5db-4af0-8048-41345686339e" id="504" name="Google Shape;504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5515" y="2400088"/>
            <a:ext cx="571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+d&#10;%6a8a221e-16a5-4070-b26a-44318a397476" id="505" name="Google Shape;505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14600" y="3086029"/>
            <a:ext cx="552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2207375e-04e3-42e9-b86a-e1b1d585428e" id="506" name="Google Shape;506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76400" y="2438259"/>
            <a:ext cx="1238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-p&#10;%5f8c0553-18f3-43c5-8260-9089e9346b28" id="507" name="Google Shape;507;p5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47800" y="3047859"/>
            <a:ext cx="5524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12cb3d0a-4ae2-4a9f-9e27-bb0e01eb8916" id="508" name="Google Shape;508;p5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43117" y="139068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1+r)&#10;%e9a4ed3c-c892-4eab-94cb-ee1cb580c5f1" id="509" name="Google Shape;509;p5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00800" y="1304943"/>
            <a:ext cx="7334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4"/>
          <p:cNvSpPr txBox="1"/>
          <p:nvPr/>
        </p:nvSpPr>
        <p:spPr>
          <a:xfrm>
            <a:off x="46200" y="117875"/>
            <a:ext cx="54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s_t&#10;%3899d1c8-4f89-4052-a3c4-7d4a60c181a2" id="511" name="Google Shape;511;p5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43515" y="543932"/>
            <a:ext cx="2571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t&#10;%3899d1c8-4f89-4052-a3c4-7d4a60c181a2" id="512" name="Google Shape;512;p5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800215" y="1890480"/>
            <a:ext cx="2571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5"/>
          <p:cNvSpPr txBox="1"/>
          <p:nvPr/>
        </p:nvSpPr>
        <p:spPr>
          <a:xfrm>
            <a:off x="76200" y="924650"/>
            <a:ext cx="8979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Consideramos el valor de un derivado del activo con un modelo binomial.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                                                        </a:t>
            </a:r>
            <a:r>
              <a:rPr b="1" lang="en" sz="1800">
                <a:solidFill>
                  <a:schemeClr val="dk2"/>
                </a:solidFill>
              </a:rPr>
              <a:t>derivado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8" name="Google Shape;518;p55"/>
          <p:cNvSpPr txBox="1"/>
          <p:nvPr/>
        </p:nvSpPr>
        <p:spPr>
          <a:xfrm>
            <a:off x="76200" y="924650"/>
            <a:ext cx="897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                                                                                             Asumimos una tasa de interés sin riesgo    ($1 en t = 0 vale $             en t = 1).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519" name="Google Shape;51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5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Modelo para</a:t>
            </a:r>
            <a:endParaRPr sz="2500"/>
          </a:p>
        </p:txBody>
      </p:sp>
      <p:cxnSp>
        <p:nvCxnSpPr>
          <p:cNvPr id="521" name="Google Shape;521;p55"/>
          <p:cNvCxnSpPr/>
          <p:nvPr/>
        </p:nvCxnSpPr>
        <p:spPr>
          <a:xfrm rot="7200474">
            <a:off x="1321346" y="2208361"/>
            <a:ext cx="915981" cy="91598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55"/>
          <p:cNvCxnSpPr/>
          <p:nvPr/>
        </p:nvCxnSpPr>
        <p:spPr>
          <a:xfrm flipH="1" rot="3599526">
            <a:off x="1321346" y="2551191"/>
            <a:ext cx="915981" cy="91598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1&#10;%c114e714-e23e-4461-9cf1-07d0b0754232" id="523" name="Google Shape;52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3943" y="2752601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+u&#10;%bb1ac0dd-b5db-4af0-8048-41345686339e" id="524" name="Google Shape;524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5515" y="2400088"/>
            <a:ext cx="571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+d&#10;%6a8a221e-16a5-4070-b26a-44318a397476" id="525" name="Google Shape;525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14600" y="3086029"/>
            <a:ext cx="552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2207375e-04e3-42e9-b86a-e1b1d585428e" id="526" name="Google Shape;526;p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76400" y="2438259"/>
            <a:ext cx="1238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-p&#10;%5f8c0553-18f3-43c5-8260-9089e9346b28" id="527" name="Google Shape;527;p5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47800" y="3047859"/>
            <a:ext cx="5524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u&#10;%d54d7489-1aac-43c1-b161-b2b6ac7d0fda" id="528" name="Google Shape;528;p5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81800" y="2447801"/>
            <a:ext cx="2476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d&#10;%83f77bb1-4f3d-40e5-a86b-2926e672777e" id="529" name="Google Shape;529;p5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81800" y="3124624"/>
            <a:ext cx="238125" cy="152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0" name="Google Shape;530;p55"/>
          <p:cNvCxnSpPr/>
          <p:nvPr/>
        </p:nvCxnSpPr>
        <p:spPr>
          <a:xfrm rot="7200474">
            <a:off x="5588546" y="2208361"/>
            <a:ext cx="915981" cy="91598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55"/>
          <p:cNvCxnSpPr/>
          <p:nvPr/>
        </p:nvCxnSpPr>
        <p:spPr>
          <a:xfrm flipH="1" rot="3599526">
            <a:off x="5588546" y="2551191"/>
            <a:ext cx="915981" cy="91598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&#10;%2207375e-04e3-42e9-b86a-e1b1d585428e" id="532" name="Google Shape;532;p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43600" y="2438259"/>
            <a:ext cx="1238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-p&#10;%5f8c0553-18f3-43c5-8260-9089e9346b28" id="533" name="Google Shape;533;p5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15000" y="3047859"/>
            <a:ext cx="5524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12cb3d0a-4ae2-4a9f-9e27-bb0e01eb8916" id="534" name="Google Shape;534;p5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343117" y="139068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1+r)&#10;%e9a4ed3c-c892-4eab-94cb-ee1cb580c5f1" id="535" name="Google Shape;535;p5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00800" y="1304943"/>
            <a:ext cx="7334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?&#10;%7b089628-18f3-4d11-bff4-935dd3536485" id="536" name="Google Shape;536;p5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191143" y="2743059"/>
            <a:ext cx="1238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5"/>
          <p:cNvSpPr txBox="1"/>
          <p:nvPr/>
        </p:nvSpPr>
        <p:spPr>
          <a:xfrm>
            <a:off x="46200" y="117875"/>
            <a:ext cx="54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s_t&#10;%3899d1c8-4f89-4052-a3c4-7d4a60c181a2" id="538" name="Google Shape;538;p5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543515" y="543932"/>
            <a:ext cx="2571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t&#10;%3899d1c8-4f89-4052-a3c4-7d4a60c181a2" id="539" name="Google Shape;539;p5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800215" y="1890480"/>
            <a:ext cx="2571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6"/>
          <p:cNvSpPr txBox="1"/>
          <p:nvPr/>
        </p:nvSpPr>
        <p:spPr>
          <a:xfrm>
            <a:off x="76200" y="924650"/>
            <a:ext cx="8979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Consideramos el valor de un derivado del activo con un modelo binomial.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                                                        </a:t>
            </a:r>
            <a:r>
              <a:rPr b="1" lang="en" sz="1800">
                <a:solidFill>
                  <a:schemeClr val="dk2"/>
                </a:solidFill>
              </a:rPr>
              <a:t>derivado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Podemos calcular el valor presente: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5" name="Google Shape;545;p56"/>
          <p:cNvSpPr txBox="1"/>
          <p:nvPr/>
        </p:nvSpPr>
        <p:spPr>
          <a:xfrm>
            <a:off x="76200" y="924650"/>
            <a:ext cx="897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                                                                                             Asumimos una tasa de interés sin riesgo    ($1 en t = 0 vale $             en t = 1).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546" name="Google Shape;54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5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Modelo para</a:t>
            </a:r>
            <a:endParaRPr sz="2500"/>
          </a:p>
        </p:txBody>
      </p:sp>
      <p:cxnSp>
        <p:nvCxnSpPr>
          <p:cNvPr id="548" name="Google Shape;548;p56"/>
          <p:cNvCxnSpPr/>
          <p:nvPr/>
        </p:nvCxnSpPr>
        <p:spPr>
          <a:xfrm rot="7200474">
            <a:off x="1321346" y="2208361"/>
            <a:ext cx="915981" cy="91598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56"/>
          <p:cNvCxnSpPr/>
          <p:nvPr/>
        </p:nvCxnSpPr>
        <p:spPr>
          <a:xfrm flipH="1" rot="3599526">
            <a:off x="1321346" y="2551191"/>
            <a:ext cx="915981" cy="91598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1&#10;%c114e714-e23e-4461-9cf1-07d0b0754232" id="550" name="Google Shape;55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3943" y="2752601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+u&#10;%bb1ac0dd-b5db-4af0-8048-41345686339e" id="551" name="Google Shape;551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5515" y="2400088"/>
            <a:ext cx="571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+d&#10;%6a8a221e-16a5-4070-b26a-44318a397476" id="552" name="Google Shape;552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14600" y="3086029"/>
            <a:ext cx="552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2207375e-04e3-42e9-b86a-e1b1d585428e" id="553" name="Google Shape;553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76400" y="2438259"/>
            <a:ext cx="1238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-p&#10;%5f8c0553-18f3-43c5-8260-9089e9346b28" id="554" name="Google Shape;554;p5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47800" y="3047859"/>
            <a:ext cx="5524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u&#10;%d54d7489-1aac-43c1-b161-b2b6ac7d0fda" id="555" name="Google Shape;555;p5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81800" y="2447801"/>
            <a:ext cx="2476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d&#10;%83f77bb1-4f3d-40e5-a86b-2926e672777e" id="556" name="Google Shape;556;p5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81800" y="3124624"/>
            <a:ext cx="238125" cy="152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7" name="Google Shape;557;p56"/>
          <p:cNvCxnSpPr/>
          <p:nvPr/>
        </p:nvCxnSpPr>
        <p:spPr>
          <a:xfrm rot="7200474">
            <a:off x="5588546" y="2208361"/>
            <a:ext cx="915981" cy="91598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56"/>
          <p:cNvCxnSpPr/>
          <p:nvPr/>
        </p:nvCxnSpPr>
        <p:spPr>
          <a:xfrm flipH="1" rot="3599526">
            <a:off x="5588546" y="2551191"/>
            <a:ext cx="915981" cy="91598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&#10;%2207375e-04e3-42e9-b86a-e1b1d585428e" id="559" name="Google Shape;559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43600" y="2438259"/>
            <a:ext cx="1238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-p&#10;%5f8c0553-18f3-43c5-8260-9089e9346b28" id="560" name="Google Shape;560;p5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15000" y="3047859"/>
            <a:ext cx="5524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12cb3d0a-4ae2-4a9f-9e27-bb0e01eb8916" id="561" name="Google Shape;561;p5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343117" y="139068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1+r)&#10;%e9a4ed3c-c892-4eab-94cb-ee1cb580c5f1" id="562" name="Google Shape;562;p5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00800" y="1304943"/>
            <a:ext cx="7334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?&#10;%7b089628-18f3-4d11-bff4-935dd3536485" id="563" name="Google Shape;563;p5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191143" y="2743059"/>
            <a:ext cx="1238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56"/>
          <p:cNvSpPr txBox="1"/>
          <p:nvPr/>
        </p:nvSpPr>
        <p:spPr>
          <a:xfrm>
            <a:off x="46200" y="117875"/>
            <a:ext cx="54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? =\frac{p \times v_u + (1-p)\times v_d}{1+r}&#10;%7087f4de-41ec-49a3-a317-eb64d39a7c3d" id="565" name="Google Shape;565;p5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485875" y="3969750"/>
            <a:ext cx="18288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t&#10;%3899d1c8-4f89-4052-a3c4-7d4a60c181a2" id="566" name="Google Shape;566;p56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543515" y="543932"/>
            <a:ext cx="2571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t&#10;%3899d1c8-4f89-4052-a3c4-7d4a60c181a2" id="567" name="Google Shape;567;p56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800215" y="1890480"/>
            <a:ext cx="2571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7"/>
          <p:cNvSpPr txBox="1"/>
          <p:nvPr/>
        </p:nvSpPr>
        <p:spPr>
          <a:xfrm>
            <a:off x="76200" y="924650"/>
            <a:ext cx="8979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Consideramos el valor de un derivado del activo con un modelo binomial.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                                                        </a:t>
            </a:r>
            <a:r>
              <a:rPr b="1" lang="en" sz="1800">
                <a:solidFill>
                  <a:schemeClr val="dk2"/>
                </a:solidFill>
              </a:rPr>
              <a:t>derivado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Podemos calcular el valor presente: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…pero ese valor implica riesgo para el vendedor de la opción. 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3" name="Google Shape;573;p57"/>
          <p:cNvSpPr txBox="1"/>
          <p:nvPr/>
        </p:nvSpPr>
        <p:spPr>
          <a:xfrm>
            <a:off x="76200" y="924650"/>
            <a:ext cx="897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                                                                                             Asumimos una tasa de interés sin riesgo    ($1 en t = 0 vale $             en t = 1).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574" name="Google Shape;57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5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Modelo para</a:t>
            </a:r>
            <a:endParaRPr sz="2500"/>
          </a:p>
        </p:txBody>
      </p:sp>
      <p:cxnSp>
        <p:nvCxnSpPr>
          <p:cNvPr id="576" name="Google Shape;576;p57"/>
          <p:cNvCxnSpPr/>
          <p:nvPr/>
        </p:nvCxnSpPr>
        <p:spPr>
          <a:xfrm rot="7200474">
            <a:off x="1321346" y="2208361"/>
            <a:ext cx="915981" cy="91598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57"/>
          <p:cNvCxnSpPr/>
          <p:nvPr/>
        </p:nvCxnSpPr>
        <p:spPr>
          <a:xfrm flipH="1" rot="3599526">
            <a:off x="1321346" y="2551191"/>
            <a:ext cx="915981" cy="91598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1&#10;%c114e714-e23e-4461-9cf1-07d0b0754232" id="578" name="Google Shape;57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3943" y="2752601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+u&#10;%bb1ac0dd-b5db-4af0-8048-41345686339e" id="579" name="Google Shape;579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5515" y="2400088"/>
            <a:ext cx="571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+d&#10;%6a8a221e-16a5-4070-b26a-44318a397476" id="580" name="Google Shape;580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14600" y="3086029"/>
            <a:ext cx="552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2207375e-04e3-42e9-b86a-e1b1d585428e" id="581" name="Google Shape;581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76400" y="2438259"/>
            <a:ext cx="1238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-p&#10;%5f8c0553-18f3-43c5-8260-9089e9346b28" id="582" name="Google Shape;582;p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47800" y="3047859"/>
            <a:ext cx="5524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u&#10;%d54d7489-1aac-43c1-b161-b2b6ac7d0fda" id="583" name="Google Shape;583;p5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81800" y="2447801"/>
            <a:ext cx="2476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d&#10;%83f77bb1-4f3d-40e5-a86b-2926e672777e" id="584" name="Google Shape;584;p5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81800" y="3124624"/>
            <a:ext cx="238125" cy="152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5" name="Google Shape;585;p57"/>
          <p:cNvCxnSpPr/>
          <p:nvPr/>
        </p:nvCxnSpPr>
        <p:spPr>
          <a:xfrm rot="7200474">
            <a:off x="5588546" y="2208361"/>
            <a:ext cx="915981" cy="91598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57"/>
          <p:cNvCxnSpPr/>
          <p:nvPr/>
        </p:nvCxnSpPr>
        <p:spPr>
          <a:xfrm flipH="1" rot="3599526">
            <a:off x="5588546" y="2551191"/>
            <a:ext cx="915981" cy="91598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p&#10;%2207375e-04e3-42e9-b86a-e1b1d585428e" id="587" name="Google Shape;587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43600" y="2438259"/>
            <a:ext cx="1238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-p&#10;%5f8c0553-18f3-43c5-8260-9089e9346b28" id="588" name="Google Shape;588;p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15000" y="3047859"/>
            <a:ext cx="5524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12cb3d0a-4ae2-4a9f-9e27-bb0e01eb8916" id="589" name="Google Shape;589;p5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343117" y="1390685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1+r)&#10;%e9a4ed3c-c892-4eab-94cb-ee1cb580c5f1" id="590" name="Google Shape;590;p5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00800" y="1304943"/>
            <a:ext cx="7334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?&#10;%7b089628-18f3-4d11-bff4-935dd3536485" id="591" name="Google Shape;591;p5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191143" y="2743059"/>
            <a:ext cx="1238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7"/>
          <p:cNvSpPr txBox="1"/>
          <p:nvPr/>
        </p:nvSpPr>
        <p:spPr>
          <a:xfrm>
            <a:off x="46200" y="117875"/>
            <a:ext cx="549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? =\frac{p \times v_u + (1-p)\times v_d}{1+r}&#10;%7087f4de-41ec-49a3-a317-eb64d39a7c3d" id="593" name="Google Shape;593;p5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485875" y="3969750"/>
            <a:ext cx="18288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t&#10;%3899d1c8-4f89-4052-a3c4-7d4a60c181a2" id="594" name="Google Shape;594;p5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543515" y="543932"/>
            <a:ext cx="2571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t&#10;%3899d1c8-4f89-4052-a3c4-7d4a60c181a2" id="595" name="Google Shape;595;p5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800215" y="1890480"/>
            <a:ext cx="2571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8"/>
          <p:cNvSpPr txBox="1"/>
          <p:nvPr/>
        </p:nvSpPr>
        <p:spPr>
          <a:xfrm>
            <a:off x="76200" y="924650"/>
            <a:ext cx="89796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Consideramos un portafolio con     unidades del activo y     en la cuenta de ahorros, para replicar las recompensas        y       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                                         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601" name="Google Shape;60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5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Alternativa: Portafolio de Hedging</a:t>
            </a:r>
            <a:endParaRPr sz="2500"/>
          </a:p>
        </p:txBody>
      </p:sp>
      <p:pic>
        <p:nvPicPr>
          <p:cNvPr descr="a&#10;%4aa4ace5-98f3-430d-bb9a-b11e45be0aeb" id="603" name="Google Shape;603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5601" y="1095428"/>
            <a:ext cx="1714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&#10;%98bf197e-85cf-4812-a5ea-dc0e096ec754" id="604" name="Google Shape;604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0800" y="1028629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u&#10;%f07fd6cc-7b9d-4c98-b8d7-c9d25fd3dde1" id="605" name="Google Shape;605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6371" y="1352515"/>
            <a:ext cx="304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d&#10;%91b60720-d744-4c7f-9ee8-6340585dc16b" id="606" name="Google Shape;606;p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34000" y="1371600"/>
            <a:ext cx="2952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9"/>
          <p:cNvSpPr txBox="1"/>
          <p:nvPr/>
        </p:nvSpPr>
        <p:spPr>
          <a:xfrm>
            <a:off x="76200" y="924650"/>
            <a:ext cx="89796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Consideramos un portafolio con     unidades del activo y     en la cuenta de ahorros, para replicar las recompensas        y       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Entonces, necesitamos: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                                         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612" name="Google Shape;61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5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Alternativa: Portafolio de Hedging</a:t>
            </a:r>
            <a:endParaRPr sz="2500"/>
          </a:p>
        </p:txBody>
      </p:sp>
      <p:pic>
        <p:nvPicPr>
          <p:cNvPr descr="a&#10;%4aa4ace5-98f3-430d-bb9a-b11e45be0aeb" id="614" name="Google Shape;614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5601" y="1095428"/>
            <a:ext cx="1714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&#10;%98bf197e-85cf-4812-a5ea-dc0e096ec754" id="615" name="Google Shape;615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0800" y="1028629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u&#10;%f07fd6cc-7b9d-4c98-b8d7-c9d25fd3dde1" id="616" name="Google Shape;616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6371" y="1352515"/>
            <a:ext cx="304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d&#10;%91b60720-d744-4c7f-9ee8-6340585dc16b" id="617" name="Google Shape;617;p5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34000" y="1371600"/>
            <a:ext cx="2952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lcl}&#10;a(1+u)+(1+r) &amp;=&amp; v_u\\&#10;a(1+d)+(1+r) &amp; = &amp; v_d&#10;\end{array}&#10;%fa9de221-e602-4732-98a8-037d63740fad" id="618" name="Google Shape;618;p5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52775" y="1870375"/>
            <a:ext cx="2838450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0"/>
          <p:cNvSpPr txBox="1"/>
          <p:nvPr/>
        </p:nvSpPr>
        <p:spPr>
          <a:xfrm>
            <a:off x="76200" y="924650"/>
            <a:ext cx="89796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Consideramos un portafolio con     unidades del activo y     en la cuenta de ahorros, para replicar las recompensas        y       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Entonces, necesitamos: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                                         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Resolviendo, tenemos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624" name="Google Shape;62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6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Alternativa: Portafolio de Hedging</a:t>
            </a:r>
            <a:endParaRPr sz="2500"/>
          </a:p>
        </p:txBody>
      </p:sp>
      <p:pic>
        <p:nvPicPr>
          <p:cNvPr descr="a&#10;%4aa4ace5-98f3-430d-bb9a-b11e45be0aeb" id="626" name="Google Shape;626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5601" y="1095428"/>
            <a:ext cx="1714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&#10;%98bf197e-85cf-4812-a5ea-dc0e096ec754" id="627" name="Google Shape;627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0800" y="1028629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u&#10;%f07fd6cc-7b9d-4c98-b8d7-c9d25fd3dde1" id="628" name="Google Shape;628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6371" y="1352515"/>
            <a:ext cx="304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d&#10;%91b60720-d744-4c7f-9ee8-6340585dc16b" id="629" name="Google Shape;629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34000" y="1371600"/>
            <a:ext cx="2952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 =  \frac{v_u-v_d}{u-d},~~&#10;b  =  \frac{v_d(1+u)-v_u(1+d)}{(1+r)(1+d)}&#10;&#10;%c0c3da2d-6e16-4808-9ef9-2696367567e8" id="630" name="Google Shape;630;p6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86017" y="2615253"/>
            <a:ext cx="31813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lcl}&#10;a(1+u)+(1+r) &amp;=&amp; v_u\\&#10;a(1+d)+(1+r) &amp; = &amp; v_d&#10;\end{array}&#10;%fa9de221-e602-4732-98a8-037d63740fad" id="631" name="Google Shape;631;p6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52775" y="1870375"/>
            <a:ext cx="2838450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1"/>
          <p:cNvSpPr txBox="1"/>
          <p:nvPr/>
        </p:nvSpPr>
        <p:spPr>
          <a:xfrm>
            <a:off x="76200" y="924650"/>
            <a:ext cx="89796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Consideramos un portafolio con     unidades del activo y     en la cuenta de ahorros, para replicar las recompensas        y       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Entonces, necesitamos: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                                         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Resolviendo, tenemos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Ese portafolio requiere una inversión en t = 0 de               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637" name="Google Shape;63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6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Alternativa: Portafolio de Hedging</a:t>
            </a:r>
            <a:endParaRPr sz="2500"/>
          </a:p>
        </p:txBody>
      </p:sp>
      <p:pic>
        <p:nvPicPr>
          <p:cNvPr descr="a&#10;%4aa4ace5-98f3-430d-bb9a-b11e45be0aeb" id="639" name="Google Shape;63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5601" y="1095428"/>
            <a:ext cx="1714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&#10;%98bf197e-85cf-4812-a5ea-dc0e096ec754" id="640" name="Google Shape;640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0800" y="1028629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u&#10;%f07fd6cc-7b9d-4c98-b8d7-c9d25fd3dde1" id="641" name="Google Shape;641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6371" y="1352515"/>
            <a:ext cx="304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d&#10;%91b60720-d744-4c7f-9ee8-6340585dc16b" id="642" name="Google Shape;642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34000" y="1371600"/>
            <a:ext cx="2952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lcl}&#10;a+b &amp; = &amp; \frac{v_u(r-d)+v_d(u-r)}{(1+r)(u-d)} \\&#10;&amp; = &amp; \frac{1}{1+r}\left[p_n v_u + (1-p_n)v_d\right]&#10;\end{array}&#10;&#10;%67c11df7-1be7-43f9-9f4f-ac1f3f284c00" id="643" name="Google Shape;643;p6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35183" y="3590377"/>
            <a:ext cx="364807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 =  \frac{v_u-v_d}{u-d},~~&#10;b  =  \frac{v_d(1+u)-v_u(1+d)}{(1+r)(1+d)}&#10;&#10;%c0c3da2d-6e16-4808-9ef9-2696367567e8" id="644" name="Google Shape;644;p6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86017" y="2615253"/>
            <a:ext cx="31813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lcl}&#10;a(1+u)+(1+r) &amp;=&amp; v_u\\&#10;a(1+d)+(1+r) &amp; = &amp; v_d&#10;\end{array}&#10;%fa9de221-e602-4732-98a8-037d63740fad" id="645" name="Google Shape;645;p6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52775" y="1870375"/>
            <a:ext cx="2838450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2"/>
          <p:cNvSpPr txBox="1"/>
          <p:nvPr/>
        </p:nvSpPr>
        <p:spPr>
          <a:xfrm>
            <a:off x="76200" y="924650"/>
            <a:ext cx="89796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Consideramos un portafolio con     unidades del activo y     en la cuenta de ahorros, para replicar las recompensas        y       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Entonces, necesitamos: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                                         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Resolviendo, tenemos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Ese portafolio requiere una inversión en t = 0 de               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651" name="Google Shape;65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6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Alternativa: Portafolio de Hedging</a:t>
            </a:r>
            <a:endParaRPr sz="2500"/>
          </a:p>
        </p:txBody>
      </p:sp>
      <p:pic>
        <p:nvPicPr>
          <p:cNvPr descr="v_u&#10;%d54d7489-1aac-43c1-b161-b2b6ac7d0fda" id="653" name="Google Shape;653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1000" y="3514601"/>
            <a:ext cx="2476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d&#10;%83f77bb1-4f3d-40e5-a86b-2926e672777e" id="654" name="Google Shape;654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1000" y="4191424"/>
            <a:ext cx="238125" cy="152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5" name="Google Shape;655;p62"/>
          <p:cNvCxnSpPr/>
          <p:nvPr/>
        </p:nvCxnSpPr>
        <p:spPr>
          <a:xfrm rot="7200474">
            <a:off x="6807746" y="3275161"/>
            <a:ext cx="915981" cy="91598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6" name="Google Shape;656;p62"/>
          <p:cNvCxnSpPr/>
          <p:nvPr/>
        </p:nvCxnSpPr>
        <p:spPr>
          <a:xfrm flipH="1" rot="3599526">
            <a:off x="6807746" y="3617991"/>
            <a:ext cx="915981" cy="91598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&#10;%4aa4ace5-98f3-430d-bb9a-b11e45be0aeb" id="657" name="Google Shape;657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95601" y="1095428"/>
            <a:ext cx="1714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&#10;%98bf197e-85cf-4812-a5ea-dc0e096ec754" id="658" name="Google Shape;658;p6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00800" y="1028629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u&#10;%f07fd6cc-7b9d-4c98-b8d7-c9d25fd3dde1" id="659" name="Google Shape;659;p6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86371" y="1352515"/>
            <a:ext cx="304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d&#10;%91b60720-d744-4c7f-9ee8-6340585dc16b" id="660" name="Google Shape;660;p6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34000" y="1371600"/>
            <a:ext cx="2952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_n&#10;%fa2df493-b940-489a-87fd-dfe59527cbde" id="661" name="Google Shape;661;p6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62800" y="3505200"/>
            <a:ext cx="2571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lcl}&#10;a+b &amp; = &amp; \frac{v_u(r-d)+v_d(u-r)}{(1+r)(u-d)} \\&#10;&amp; = &amp; \frac{1}{1+r}\left[p_n v_u + (1-p_n)v_d\right]&#10;\end{array}&#10;&#10;%67c11df7-1be7-43f9-9f4f-ac1f3f284c00" id="662" name="Google Shape;662;p6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935183" y="3590377"/>
            <a:ext cx="364807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 =  \frac{v_u-v_d}{u-d},~~&#10;b  =  \frac{v_d(1+u)-v_u(1+d)}{(1+r)(1+d)}&#10;&#10;%c0c3da2d-6e16-4808-9ef9-2696367567e8" id="663" name="Google Shape;663;p6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86017" y="2615253"/>
            <a:ext cx="31813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lcl}&#10;a(1+u)+(1+r) &amp;=&amp; v_u\\&#10;a(1+d)+(1+r) &amp; = &amp; v_d&#10;\end{array}&#10;%fa9de221-e602-4732-98a8-037d63740fad" id="664" name="Google Shape;664;p6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152775" y="1870375"/>
            <a:ext cx="28384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-p_n&#10;%9cd16432-f5d6-4af8-8e26-14336010bb65" id="665" name="Google Shape;665;p6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858000" y="4114800"/>
            <a:ext cx="6762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63"/>
          <p:cNvSpPr txBox="1"/>
          <p:nvPr/>
        </p:nvSpPr>
        <p:spPr>
          <a:xfrm>
            <a:off x="76200" y="924650"/>
            <a:ext cx="89796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Consideramos un portafolio con     unidades del activo y     en la cuenta de ahorros, para replicar las recompensas        y       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Entonces, necesitamos: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                                         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Resolviendo, tenemos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Ese portafolio requiere una inversión en t = 0 de               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  = probabilidad neutral al riesgo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671" name="Google Shape;67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6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Alternativa: Portafolio de Hedging</a:t>
            </a:r>
            <a:endParaRPr sz="2500"/>
          </a:p>
        </p:txBody>
      </p:sp>
      <p:pic>
        <p:nvPicPr>
          <p:cNvPr descr="v_u&#10;%d54d7489-1aac-43c1-b161-b2b6ac7d0fda" id="673" name="Google Shape;67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1000" y="3514601"/>
            <a:ext cx="2476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d&#10;%83f77bb1-4f3d-40e5-a86b-2926e672777e" id="674" name="Google Shape;674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1000" y="4191424"/>
            <a:ext cx="238125" cy="152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5" name="Google Shape;675;p63"/>
          <p:cNvCxnSpPr/>
          <p:nvPr/>
        </p:nvCxnSpPr>
        <p:spPr>
          <a:xfrm rot="7200474">
            <a:off x="6807746" y="3275161"/>
            <a:ext cx="915981" cy="91598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63"/>
          <p:cNvCxnSpPr/>
          <p:nvPr/>
        </p:nvCxnSpPr>
        <p:spPr>
          <a:xfrm flipH="1" rot="3599526">
            <a:off x="6807746" y="3617991"/>
            <a:ext cx="915981" cy="91598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&#10;%4aa4ace5-98f3-430d-bb9a-b11e45be0aeb" id="677" name="Google Shape;677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95601" y="1095428"/>
            <a:ext cx="1714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&#10;%98bf197e-85cf-4812-a5ea-dc0e096ec754" id="678" name="Google Shape;678;p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00800" y="1028629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u&#10;%f07fd6cc-7b9d-4c98-b8d7-c9d25fd3dde1" id="679" name="Google Shape;679;p6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86371" y="1352515"/>
            <a:ext cx="304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d&#10;%91b60720-d744-4c7f-9ee8-6340585dc16b" id="680" name="Google Shape;680;p6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34000" y="1371600"/>
            <a:ext cx="2952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_n&#10;%fa2df493-b940-489a-87fd-dfe59527cbde" id="681" name="Google Shape;681;p6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62800" y="3505200"/>
            <a:ext cx="2571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lcl}&#10;a+b &amp; = &amp; \frac{v_u(r-d)+v_d(u-r)}{(1+r)(u-d)} \\&#10;&amp; = &amp; \frac{1}{1+r}\left[p_n v_u + (1-p_n)v_d\right]&#10;\end{array}&#10;&#10;%67c11df7-1be7-43f9-9f4f-ac1f3f284c00" id="682" name="Google Shape;682;p6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935183" y="3590377"/>
            <a:ext cx="364807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 =  \frac{v_u-v_d}{u-d},~~&#10;b  =  \frac{v_d(1+u)-v_u(1+d)}{(1+r)(1+d)}&#10;&#10;%c0c3da2d-6e16-4808-9ef9-2696367567e8" id="683" name="Google Shape;683;p6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86017" y="2615253"/>
            <a:ext cx="31813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lcl}&#10;a(1+u)+(1+r) &amp;=&amp; v_u\\&#10;a(1+d)+(1+r) &amp; = &amp; v_d&#10;\end{array}&#10;%fa9de221-e602-4732-98a8-037d63740fad" id="684" name="Google Shape;684;p6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152775" y="1870375"/>
            <a:ext cx="28384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-p_n&#10;%9cd16432-f5d6-4af8-8e26-14336010bb65" id="685" name="Google Shape;685;p6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858000" y="4114800"/>
            <a:ext cx="6762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_n&#10;%fa2df493-b940-489a-87fd-dfe59527cbde" id="686" name="Google Shape;686;p6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0900" y="4639099"/>
            <a:ext cx="257175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4"/>
          <p:cNvSpPr txBox="1"/>
          <p:nvPr/>
        </p:nvSpPr>
        <p:spPr>
          <a:xfrm>
            <a:off x="76200" y="924650"/>
            <a:ext cx="8979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  = probabilidad neutral al riesgo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permite evaluar cualquier derivado utilizando el valor presente de las recompensas, con descuento determinado por la tasa de interés sin riesgo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no depende de las probabilidades naturales de que el activo suba o baje, solo de su volatilidad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                   requiere                  , lo que es equivalente a la ausencia de arbitragem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El portafolio de hedging y la probabilidad neutral al riesgo son conceptos fundamentales en la teoría de opciones.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692" name="Google Shape;69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6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Probabilidad Neutral de Riesgo</a:t>
            </a:r>
            <a:endParaRPr sz="2500"/>
          </a:p>
        </p:txBody>
      </p:sp>
      <p:pic>
        <p:nvPicPr>
          <p:cNvPr descr="p_n&#10;%fa2df493-b940-489a-87fd-dfe59527cbde" id="694" name="Google Shape;694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900" y="1095446"/>
            <a:ext cx="2571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\leq p_n \leq p_1&#10;%78e5c086-bc05-454d-b9a0-73e70dd420a9" id="695" name="Google Shape;695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0600" y="2419173"/>
            <a:ext cx="12668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 &lt; r &lt; u&#10;%7b222e45-bd08-4953-a4b6-891623c5aff4" id="696" name="Google Shape;696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89075" y="2438265"/>
            <a:ext cx="10382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65"/>
          <p:cNvSpPr txBox="1"/>
          <p:nvPr/>
        </p:nvSpPr>
        <p:spPr>
          <a:xfrm>
            <a:off x="76200" y="924650"/>
            <a:ext cx="8979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Estratégia popular en la práctica (Cox-Ross-Rubinstein)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 puede construir un árbol binomial con las diferentes posibilidades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Evaluar por inducción con programación dinámica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 vuelve intractable dependiendo del número de períodos y complejidad del modelo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Alternativa: aprendizaje por refuerzo con simulación Monte Carlo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2" name="Google Shape;702;p65"/>
          <p:cNvSpPr txBox="1"/>
          <p:nvPr/>
        </p:nvSpPr>
        <p:spPr>
          <a:xfrm>
            <a:off x="76200" y="924650"/>
            <a:ext cx="897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703" name="Google Shape;70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6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Modelo Binomial Para Valuación de Opciones</a:t>
            </a:r>
            <a:endParaRPr sz="2500"/>
          </a:p>
        </p:txBody>
      </p:sp>
      <p:pic>
        <p:nvPicPr>
          <p:cNvPr id="705" name="Google Shape;705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8750" y="2749225"/>
            <a:ext cx="2929125" cy="235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&#10;%34b72dce-f903-4120-b0f6-11a9bf18aae6" id="706" name="Google Shape;706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0372" y="3695771"/>
            <a:ext cx="8572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&#10;%34b72dce-f903-4120-b0f6-11a9bf18aae6" id="707" name="Google Shape;707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6888" y="4143428"/>
            <a:ext cx="85725" cy="6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66"/>
          <p:cNvSpPr txBox="1"/>
          <p:nvPr/>
        </p:nvSpPr>
        <p:spPr>
          <a:xfrm>
            <a:off x="76200" y="924650"/>
            <a:ext cx="8979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modelar la evolución de precios del activo?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713" name="Google Shape;71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6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Modelo Para </a:t>
            </a:r>
            <a:endParaRPr sz="2500"/>
          </a:p>
        </p:txBody>
      </p:sp>
      <p:pic>
        <p:nvPicPr>
          <p:cNvPr descr="s_t&#10;%3899d1c8-4f89-4052-a3c4-7d4a60c181a2" id="715" name="Google Shape;715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3515" y="543932"/>
            <a:ext cx="2571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7"/>
          <p:cNvSpPr txBox="1"/>
          <p:nvPr/>
        </p:nvSpPr>
        <p:spPr>
          <a:xfrm>
            <a:off x="76200" y="924650"/>
            <a:ext cx="8979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modelar la evolución de precios del activo?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Por ejemplo, retornos podrían ser distribuidos normalmente: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721" name="Google Shape;72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6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Modelo Para </a:t>
            </a:r>
            <a:endParaRPr sz="2500"/>
          </a:p>
        </p:txBody>
      </p:sp>
      <p:pic>
        <p:nvPicPr>
          <p:cNvPr descr="s_t&#10;%3899d1c8-4f89-4052-a3c4-7d4a60c181a2" id="723" name="Google Shape;723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3515" y="543932"/>
            <a:ext cx="2571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{k+1} = s_k(\mu \Delta t + \sigma \sqrt{\Delta t}\epsilon)&#10;%16f31989-0dc6-4c89-8438-7e5abcba25bb" id="724" name="Google Shape;724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4200" y="1676400"/>
            <a:ext cx="268605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68"/>
          <p:cNvSpPr txBox="1"/>
          <p:nvPr/>
        </p:nvSpPr>
        <p:spPr>
          <a:xfrm>
            <a:off x="76200" y="924650"/>
            <a:ext cx="8979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modelar la evolución de precios del activo?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Por ejemplo, retornos podrían ser distribuidos normalmente: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730" name="Google Shape;73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6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Modelo Para </a:t>
            </a:r>
            <a:endParaRPr sz="2500"/>
          </a:p>
        </p:txBody>
      </p:sp>
      <p:pic>
        <p:nvPicPr>
          <p:cNvPr descr="s_t&#10;%3899d1c8-4f89-4052-a3c4-7d4a60c181a2" id="732" name="Google Shape;73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3515" y="543932"/>
            <a:ext cx="2571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{k+1} = s_k(\mu \Delta t + \sigma \sqrt{\Delta t}\epsilon)&#10;%16f31989-0dc6-4c89-8438-7e5abcba25bb" id="733" name="Google Shape;73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4200" y="1676400"/>
            <a:ext cx="26860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igma &#10;%6e674b35-3002-47e2-afc5-26119ea6e6f4" id="734" name="Google Shape;734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7657" y="2476571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Delta t&#10;%62f0b2c6-326a-405f-9330-bf962d36ccb0" id="735" name="Google Shape;735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" y="2695628"/>
            <a:ext cx="2952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Delta t = \frac{1}{365}&#10;%e1b7e76c-041f-4f95-87e0-e71642680660" id="736" name="Google Shape;736;p6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62344" y="3209943"/>
            <a:ext cx="990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epsilon&#10;%81d015a2-5e6e-470e-9e40-a4ff1948726d" id="737" name="Google Shape;737;p6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7059" y="3571857"/>
            <a:ext cx="1047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u&#10;%99ee08ea-afe5-4b1b-9224-2d30e3a28f31" id="738" name="Google Shape;738;p6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7657" y="2219484"/>
            <a:ext cx="152400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8"/>
          <p:cNvSpPr txBox="1"/>
          <p:nvPr/>
        </p:nvSpPr>
        <p:spPr>
          <a:xfrm>
            <a:off x="76200" y="2019229"/>
            <a:ext cx="8979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 el retorno esperado del activo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 la volatilidad del activo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  es la duración de cada periodo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por ejemplo, si el retorno y volatilidad son anuales y cada periodo corresponde a un día, entonces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 una variable aleatoria normal (0,1)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9"/>
          <p:cNvSpPr txBox="1"/>
          <p:nvPr/>
        </p:nvSpPr>
        <p:spPr>
          <a:xfrm>
            <a:off x="76200" y="924650"/>
            <a:ext cx="8979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pero comunmente</a:t>
            </a:r>
            <a:r>
              <a:rPr lang="en" sz="1800">
                <a:solidFill>
                  <a:schemeClr val="dk2"/>
                </a:solidFill>
              </a:rPr>
              <a:t> modelado como lognormal. En versión a tiempo discreto: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745" name="Google Shape;74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Modelo Para </a:t>
            </a:r>
            <a:endParaRPr sz="2500"/>
          </a:p>
        </p:txBody>
      </p:sp>
      <p:pic>
        <p:nvPicPr>
          <p:cNvPr descr="s_t&#10;%3899d1c8-4f89-4052-a3c4-7d4a60c181a2" id="747" name="Google Shape;747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3515" y="543932"/>
            <a:ext cx="2571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log s_{k+1} = \log s_k + (\mu &#10;-\sigma ^2/2)\Delta t + \sigma \sqrt{\Delta t}\epsilon&#10;%fa8cce7e-e0f4-4f73-ad04-d8445dbabd80" id="748" name="Google Shape;748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90800" y="1524000"/>
            <a:ext cx="4486275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70"/>
          <p:cNvSpPr txBox="1"/>
          <p:nvPr/>
        </p:nvSpPr>
        <p:spPr>
          <a:xfrm>
            <a:off x="76200" y="924650"/>
            <a:ext cx="89796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pero comunmente modelado como lognormal. En versión a tiempo discreto: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utilizar la probabilidad neutral de riesgo corresponde a sustituir     por   , la tasa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 interés sin riesgo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lang="en" sz="1800">
                <a:solidFill>
                  <a:schemeClr val="dk2"/>
                </a:solidFill>
              </a:rPr>
              <a:t>xponenciando la ecuación arriba</a:t>
            </a:r>
            <a:r>
              <a:rPr lang="en" sz="1800">
                <a:solidFill>
                  <a:schemeClr val="dk2"/>
                </a:solidFill>
              </a:rPr>
              <a:t>, obtenemos: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754" name="Google Shape;75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7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Modelo Para </a:t>
            </a:r>
            <a:endParaRPr sz="2500"/>
          </a:p>
        </p:txBody>
      </p:sp>
      <p:pic>
        <p:nvPicPr>
          <p:cNvPr descr="s_t&#10;%3899d1c8-4f89-4052-a3c4-7d4a60c181a2" id="756" name="Google Shape;75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3515" y="543932"/>
            <a:ext cx="2571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u&#10;%99ee08ea-afe5-4b1b-9224-2d30e3a28f31" id="757" name="Google Shape;757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8429" y="2209234"/>
            <a:ext cx="15240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{k+1} = s_k e^{(r-\sigma^2/2)/\Delta t+\sigma \sqrt(\Delta t)\epsilon}&#10;%0dcf7e18-32aa-48d8-880a-20abc944e818" id="758" name="Google Shape;758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24188" y="3427650"/>
            <a:ext cx="296227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log s_{k+1} = \log s_k + (\mu &#10;-\sigma ^2/2)\Delta t + \sigma \sqrt{\Delta t}\epsilon&#10;%fa8cce7e-e0f4-4f73-ad04-d8445dbabd80" id="759" name="Google Shape;759;p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90800" y="1524000"/>
            <a:ext cx="44862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&#10;%4e05fcac-74ba-4c22-a8d9-f86ebf91cfb7" id="760" name="Google Shape;760;p7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15144" y="221934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70"/>
          <p:cNvSpPr/>
          <p:nvPr/>
        </p:nvSpPr>
        <p:spPr>
          <a:xfrm>
            <a:off x="2874000" y="3343300"/>
            <a:ext cx="3387600" cy="57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71"/>
          <p:cNvSpPr txBox="1"/>
          <p:nvPr/>
        </p:nvSpPr>
        <p:spPr>
          <a:xfrm>
            <a:off x="76200" y="924650"/>
            <a:ext cx="897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767" name="Google Shape;76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7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Modelo MDP para Valuación de Opciones</a:t>
            </a:r>
            <a:endParaRPr sz="2500"/>
          </a:p>
        </p:txBody>
      </p:sp>
      <p:sp>
        <p:nvSpPr>
          <p:cNvPr id="769" name="Google Shape;769;p71"/>
          <p:cNvSpPr txBox="1"/>
          <p:nvPr/>
        </p:nvSpPr>
        <p:spPr>
          <a:xfrm>
            <a:off x="76200" y="924650"/>
            <a:ext cx="89796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Debemos definir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Estado     = precio del activo en el periodo 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Acción     = 0 (esperar) o 1 (ejercer la opción)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Recompensa          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Transición     definida implícitamente por la ecuación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El factor de descuento es 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(S,A,r,P)&#10;%bef410f9-0ea4-4412-93fb-578b57e5ef4a" id="770" name="Google Shape;770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3460" y="1029284"/>
            <a:ext cx="11620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t&#10;%802f4db5-a178-41f2-9d3b-4b3528ddeaa7" id="771" name="Google Shape;771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0087" y="1381143"/>
            <a:ext cx="2000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&#10;%7ba09a19-178e-46ef-9e3e-e73ce1796b28" id="772" name="Google Shape;772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3000" y="1343396"/>
            <a:ext cx="9525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_t&#10;%5dbe9159-db23-467d-8220-17d8675422e4" id="773" name="Google Shape;773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61916" y="1667423"/>
            <a:ext cx="2190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_a(s)&#10;%efa89b02-ecd5-4103-9c30-db32b34085fa" id="774" name="Google Shape;774;p7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76485" y="1847885"/>
            <a:ext cx="5334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{k+1} = s_k e^{(r-\sigma^2/2)/\Delta t+\sigma \sqrt(\Delta t)\epsilon}&#10;%0dcf7e18-32aa-48d8-880a-20abc944e818" id="775" name="Google Shape;775;p7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04188" y="3358725"/>
            <a:ext cx="296227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_0(s) = 0&#10;%a79c73dc-185c-4a8d-bd10-556b6d23ae88" id="776" name="Google Shape;776;p7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00680" y="2218919"/>
            <a:ext cx="981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_1(s) = \max(K-s,0)&#10;%cfb49468-a016-4c1c-a494-fae1f6c49526" id="777" name="Google Shape;777;p7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81595" y="2523719"/>
            <a:ext cx="23717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&#10;%43a59380-887b-49ad-8945-9a5653e0587a" id="778" name="Google Shape;778;p7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733091" y="2981484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alpha = e^{-r\Delta t}&#10;%74826ed6-3cd8-4a0a-97b9-54be3ba3c6cd" id="779" name="Google Shape;779;p7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292232" y="4027004"/>
            <a:ext cx="1047750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2"/>
          <p:cNvSpPr txBox="1"/>
          <p:nvPr/>
        </p:nvSpPr>
        <p:spPr>
          <a:xfrm>
            <a:off x="76200" y="924650"/>
            <a:ext cx="8979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definir la función valor? Analizaremos la función     .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785" name="Google Shape;78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7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Ecuaciones de Bellman</a:t>
            </a:r>
            <a:endParaRPr sz="2500"/>
          </a:p>
        </p:txBody>
      </p:sp>
      <p:pic>
        <p:nvPicPr>
          <p:cNvPr descr="Q^*&#10;%a123b4e8-42a2-45a8-8662-4a9a59aededf" id="787" name="Google Shape;78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9360" y="1049703"/>
            <a:ext cx="3048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3"/>
          <p:cNvSpPr txBox="1"/>
          <p:nvPr/>
        </p:nvSpPr>
        <p:spPr>
          <a:xfrm>
            <a:off x="76200" y="924650"/>
            <a:ext cx="8979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definir la función valor? Analizaremos la función     .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El valor de ejercer la acción en cualquier periodo    es conocido: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793" name="Google Shape;79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7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Ecuaciones de Bellman</a:t>
            </a:r>
            <a:endParaRPr sz="2500"/>
          </a:p>
        </p:txBody>
      </p:sp>
      <p:pic>
        <p:nvPicPr>
          <p:cNvPr descr="t&#10;%6a93dc7f-e8ce-41c5-a586-f97633aacf95" id="795" name="Google Shape;79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8800" y="1619144"/>
            <a:ext cx="9525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^*&#10;%a123b4e8-42a2-45a8-8662-4a9a59aededf" id="796" name="Google Shape;796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9360" y="1049703"/>
            <a:ext cx="3048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_t^*(s,1) = \max(K-s,0)\equiv (K-s)^+&#10;%1334910c-cccb-4554-9445-fea8d665c487" id="797" name="Google Shape;797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47950" y="1958400"/>
            <a:ext cx="400050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4"/>
          <p:cNvSpPr txBox="1"/>
          <p:nvPr/>
        </p:nvSpPr>
        <p:spPr>
          <a:xfrm>
            <a:off x="76200" y="924650"/>
            <a:ext cx="8979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definir la función valor? Analizaremos la función     .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El valor de ejercer la acción en cualquier periodo    es conocido: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Podemos escribir las ecuaciones para el valor de esperar (          ):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803" name="Google Shape;80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7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Ecuaciones de Bellman</a:t>
            </a:r>
            <a:endParaRPr sz="2500"/>
          </a:p>
        </p:txBody>
      </p:sp>
      <p:pic>
        <p:nvPicPr>
          <p:cNvPr descr="t&#10;%6a93dc7f-e8ce-41c5-a586-f97633aacf95" id="805" name="Google Shape;80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8800" y="1619144"/>
            <a:ext cx="9525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= 0&#10;%b385659e-9075-44cf-b231-dfe62a1b5647" id="806" name="Google Shape;806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29400" y="2428857"/>
            <a:ext cx="5810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^*&#10;%a123b4e8-42a2-45a8-8662-4a9a59aededf" id="807" name="Google Shape;807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79360" y="1049703"/>
            <a:ext cx="3048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rcl}&#10;Q_t^*(s,0) &amp; = &amp; &#10;\alpha \sum_{s'} P(s,s')\max_a Q_{t+1}^*(s',a)\\&#10;&amp; = &amp; \alpha \sum_{s'} \max((K-s')^+,Q_{t+1}^*(s',0)) &#10;\end{array}&#10;%f4832f5b-f75e-46fc-9ce6-f188bb21e6c0" id="808" name="Google Shape;808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62188" y="2895663"/>
            <a:ext cx="50958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_t^*(s,1) = \max(K-s,0)\equiv (K-s)^+&#10;%1334910c-cccb-4554-9445-fea8d665c487" id="809" name="Google Shape;809;p7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47950" y="1958400"/>
            <a:ext cx="4000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74"/>
          <p:cNvSpPr/>
          <p:nvPr/>
        </p:nvSpPr>
        <p:spPr>
          <a:xfrm>
            <a:off x="3208000" y="3200150"/>
            <a:ext cx="4256100" cy="467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5"/>
          <p:cNvSpPr txBox="1"/>
          <p:nvPr/>
        </p:nvSpPr>
        <p:spPr>
          <a:xfrm>
            <a:off x="76200" y="924650"/>
            <a:ext cx="8979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definir la función valor? Analizaremos la función     .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El valor de ejercer la acción en cualquier periodo    es conocido: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Podemos escribir las ecuaciones para el valor de esperar (          ):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816" name="Google Shape;81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7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Ecuaciones de Bellman</a:t>
            </a:r>
            <a:endParaRPr sz="2500"/>
          </a:p>
        </p:txBody>
      </p:sp>
      <p:pic>
        <p:nvPicPr>
          <p:cNvPr descr="t&#10;%6a93dc7f-e8ce-41c5-a586-f97633aacf95" id="818" name="Google Shape;818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8800" y="1619144"/>
            <a:ext cx="9525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= 0&#10;%b385659e-9075-44cf-b231-dfe62a1b5647" id="819" name="Google Shape;819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29400" y="2428857"/>
            <a:ext cx="5810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^*&#10;%a123b4e8-42a2-45a8-8662-4a9a59aededf" id="820" name="Google Shape;820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79360" y="1049703"/>
            <a:ext cx="3048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rcl}&#10;Q_t^*(s,0) &amp; = &amp; &#10;\alpha \sum_{s'} P(s,s')\max_a Q_{t+1}^*(s',a)\\&#10;&amp; = &amp; \alpha \sum_{s'} \max((K-s')^+,Q_{t+1}^*(s',0)) &#10;\end{array}&#10;%f4832f5b-f75e-46fc-9ce6-f188bb21e6c0" id="821" name="Google Shape;821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62188" y="2895663"/>
            <a:ext cx="50958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_t^*(s,1) = \max(K-s,0)\equiv (K-s)^+&#10;%1334910c-cccb-4554-9445-fea8d665c487" id="822" name="Google Shape;822;p7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47950" y="1958400"/>
            <a:ext cx="400050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76"/>
          <p:cNvSpPr txBox="1"/>
          <p:nvPr/>
        </p:nvSpPr>
        <p:spPr>
          <a:xfrm>
            <a:off x="76200" y="924650"/>
            <a:ext cx="8979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definir la función valor? Analizaremos la función     .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El valor de ejercer la acción en cualquier periodo    es conocido: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Podemos escribir las ecuaciones para el valor de esperar (          ):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 el último periodo, ejercitamos si                   , si no la opción no vale nada: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828" name="Google Shape;82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Ecuaciones de Bellman</a:t>
            </a:r>
            <a:endParaRPr sz="2500"/>
          </a:p>
        </p:txBody>
      </p:sp>
      <p:pic>
        <p:nvPicPr>
          <p:cNvPr descr="t&#10;%6a93dc7f-e8ce-41c5-a586-f97633aacf95" id="830" name="Google Shape;830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8800" y="1619144"/>
            <a:ext cx="9525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= 0&#10;%b385659e-9075-44cf-b231-dfe62a1b5647" id="831" name="Google Shape;831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29400" y="2428857"/>
            <a:ext cx="5810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-s&gt;0&#10;%ca763cc9-aa03-453c-a457-8e04c1cdcc29" id="832" name="Google Shape;832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7200" y="3810141"/>
            <a:ext cx="10858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_T^*(s,.) = (K-s)^+&#10;%d3c869f2-8219-4068-ab61-cdd195a6fe4b" id="833" name="Google Shape;833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62350" y="4191025"/>
            <a:ext cx="2171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^*&#10;%a123b4e8-42a2-45a8-8662-4a9a59aededf" id="834" name="Google Shape;834;p7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79360" y="1049703"/>
            <a:ext cx="3048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rcl}&#10;Q_t^*(s,0) &amp; = &amp; &#10;\alpha \sum_{s'} P(s,s')\max_a Q_{t+1}^*(s',a)\\&#10;&amp; = &amp; \alpha \sum_{s'} \max((K-s')^+,Q_{t+1}^*(s',0)) &#10;\end{array}&#10;%f4832f5b-f75e-46fc-9ce6-f188bb21e6c0" id="835" name="Google Shape;835;p7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62188" y="2895663"/>
            <a:ext cx="50958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_t^*(s,1) = \max(K-s,0)\equiv (K-s)^+&#10;%1334910c-cccb-4554-9445-fea8d665c487" id="836" name="Google Shape;836;p7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47950" y="1958400"/>
            <a:ext cx="400050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77"/>
          <p:cNvSpPr txBox="1"/>
          <p:nvPr/>
        </p:nvSpPr>
        <p:spPr>
          <a:xfrm>
            <a:off x="76200" y="924650"/>
            <a:ext cx="89796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 suficiente calcular o aprender               . Las ecuaciones de Bellman pueden ser escritas solamente con esa función: 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842" name="Google Shape;84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Problemas de Parada Óptima</a:t>
            </a:r>
            <a:endParaRPr sz="2500"/>
          </a:p>
        </p:txBody>
      </p:sp>
      <p:pic>
        <p:nvPicPr>
          <p:cNvPr descr="Q_t^*(.,0)&#10;%a84402aa-1556-43fd-be58-448c948d5fb1" id="844" name="Google Shape;844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8775" y="1047997"/>
            <a:ext cx="8382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rcl}&#10;Q_t^*(s,0) &amp; = &amp; \alpha \sum_{s'} \max((K-s')^+,Q_{t+1}^*(s',0)) \\&#10;Q_{T-1}^* &amp; = &amp; \alpha \sum_{s'} P(s,s')(K-s')^+&#10;\end{array}&#10;%1d8193be-d635-4372-88ec-802cb693dfba" id="845" name="Google Shape;845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44975" y="1689050"/>
            <a:ext cx="5095875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78"/>
          <p:cNvSpPr txBox="1"/>
          <p:nvPr/>
        </p:nvSpPr>
        <p:spPr>
          <a:xfrm>
            <a:off x="76200" y="924650"/>
            <a:ext cx="89796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lang="en" sz="1800">
                <a:solidFill>
                  <a:schemeClr val="dk2"/>
                </a:solidFill>
              </a:rPr>
              <a:t>s suficiente calcular o aprender               . Las ecuaciones de Bellman pueden ser escritas solamente con esa función: 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esa clase de MDPs es conocida como problemas de parada óptima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851" name="Google Shape;85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_t^*(.,0)&#10;%a84402aa-1556-43fd-be58-448c948d5fb1" id="852" name="Google Shape;852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8775" y="1047997"/>
            <a:ext cx="8382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7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Problemas de Parada Óptima</a:t>
            </a:r>
            <a:endParaRPr sz="2500"/>
          </a:p>
        </p:txBody>
      </p:sp>
      <p:pic>
        <p:nvPicPr>
          <p:cNvPr descr="\begin{array}{rcl}&#10;Q_t^*(s,0) &amp; = &amp; \alpha \sum_{s'} \max((K-s')^+,Q_{t+1}^*(s',0)) \\&#10;Q_{T-1}^* &amp; = &amp; \alpha \sum_{s'} P(s,s')(K-s')^+&#10;\end{array}&#10;%1d8193be-d635-4372-88ec-802cb693dfba" id="854" name="Google Shape;854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44975" y="1689050"/>
            <a:ext cx="5095875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79"/>
          <p:cNvSpPr txBox="1"/>
          <p:nvPr/>
        </p:nvSpPr>
        <p:spPr>
          <a:xfrm>
            <a:off x="76200" y="924650"/>
            <a:ext cx="89796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lang="en" sz="1800">
                <a:solidFill>
                  <a:schemeClr val="dk2"/>
                </a:solidFill>
              </a:rPr>
              <a:t>s suficiente calcular o aprender               . Las ecuaciones de Bellman pueden ser escritas solamente con esa función: 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esa clase de MDPs es conocida como problemas de parada óptima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resolviendo con aprendizaje por refuerzo: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generamos trayectorias                                                siguiendo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860" name="Google Shape;86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_t^*(.,0)&#10;%a84402aa-1556-43fd-be58-448c948d5fb1" id="861" name="Google Shape;861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8775" y="1047997"/>
            <a:ext cx="8382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s_0^i, s_1^i, s_2^i,...),~i = 1,...N&#10;%11a50265-eed4-4711-bcb6-7634c09d809c" id="862" name="Google Shape;862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9872" y="3491635"/>
            <a:ext cx="28860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{k+1} = s_k e^{(r-\sigma^2/2)/\Delta t+\sigma \sqrt(\Delta t)\epsilon}&#10;%0dcf7e18-32aa-48d8-880a-20abc944e818" id="863" name="Google Shape;863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75559" y="3835010"/>
            <a:ext cx="296227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7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Problemas de Parada Óptima</a:t>
            </a:r>
            <a:endParaRPr sz="2500"/>
          </a:p>
        </p:txBody>
      </p:sp>
      <p:pic>
        <p:nvPicPr>
          <p:cNvPr descr="\begin{array}{rcl}&#10;Q_t^*(s,0) &amp; = &amp; \alpha \sum_{s'} \max((K-s')^+,Q_{t+1}^*(s',0)) \\&#10;Q_{T-1}^* &amp; = &amp; \alpha \sum_{s'} P(s,s')(K-s')^+&#10;\end{array}&#10;%1d8193be-d635-4372-88ec-802cb693dfba" id="865" name="Google Shape;865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44975" y="1689050"/>
            <a:ext cx="5095875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80"/>
          <p:cNvSpPr txBox="1"/>
          <p:nvPr/>
        </p:nvSpPr>
        <p:spPr>
          <a:xfrm>
            <a:off x="76200" y="924650"/>
            <a:ext cx="89796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 suficiente calcular o aprender               . Las ecuaciones de Bellman pueden ser escritas solamente con esa función: 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esa clase de MDPs es conocida como problemas de parada óptima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resolviendo con aprendizaje por refuerzo: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generamos trayectorias                                                siguiendo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aplicamos métodos de aprendizaje por refuerzo para resolver las ecuaciones de Bellman (simulación Monte Carlo, TD-Learning, versiones de iteración de valor e iteración de políticas,...)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871" name="Google Shape;87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_t^*(.,0)&#10;%a84402aa-1556-43fd-be58-448c948d5fb1" id="872" name="Google Shape;872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8775" y="1047997"/>
            <a:ext cx="8382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s_0^i, s_1^i, s_2^i,...),~i = 1,...N&#10;%11a50265-eed4-4711-bcb6-7634c09d809c" id="873" name="Google Shape;873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9872" y="3491635"/>
            <a:ext cx="28860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{k+1} = s_k e^{(r-\sigma^2/2)/\Delta t+\sigma \sqrt(\Delta t)\epsilon}&#10;%0dcf7e18-32aa-48d8-880a-20abc944e818" id="874" name="Google Shape;874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75559" y="3835010"/>
            <a:ext cx="296227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8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Problemas de Parada Óptima</a:t>
            </a:r>
            <a:endParaRPr sz="2500"/>
          </a:p>
        </p:txBody>
      </p:sp>
      <p:pic>
        <p:nvPicPr>
          <p:cNvPr descr="\begin{array}{rcl}&#10;Q_t^*(s,0) &amp; = &amp; \alpha \sum_{s'} \max((K-s')^+,Q_{t+1}^*(s',0)) \\&#10;Q_{T-1}^* &amp; = &amp; \alpha \sum_{s'} P(s,s')(K-s')^+&#10;\end{array}&#10;%1d8193be-d635-4372-88ec-802cb693dfba" id="876" name="Google Shape;876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44975" y="1689050"/>
            <a:ext cx="5095875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81"/>
          <p:cNvSpPr txBox="1"/>
          <p:nvPr/>
        </p:nvSpPr>
        <p:spPr>
          <a:xfrm>
            <a:off x="76200" y="924650"/>
            <a:ext cx="89796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143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 el modelo que estamos utilizando para el precio del activo    , tenemos solo una variable de estado/dimensión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en la práctica, puede ser necesario incorporar muchas otras variables de estado:</a:t>
            </a:r>
            <a:endParaRPr sz="18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volatilidad    y/o tasa de interés   pueden ser procesos que varían en el tiempo	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pueden depender de otros factores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activo puede pagar dividendos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opción puede ser mucho más compleja y recompensa puede estar basada en distintas condiciones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882" name="Google Shape;88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8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Complejidad del MDP </a:t>
            </a:r>
            <a:endParaRPr sz="2500"/>
          </a:p>
        </p:txBody>
      </p:sp>
      <p:pic>
        <p:nvPicPr>
          <p:cNvPr descr="r&#10;%fabf87cd-77a2-4f06-8019-003f27dc5ba3" id="884" name="Google Shape;884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3315" y="2219908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t&#10;%107f2eab-1383-4945-8ce9-e25d254f21e1" id="885" name="Google Shape;885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6972" y="1104971"/>
            <a:ext cx="2000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igma&#10;%757d7380-7a17-489a-8a38-c5ed6ad2a1a4" id="886" name="Google Shape;886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28800" y="2219908"/>
            <a:ext cx="142875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82"/>
          <p:cNvSpPr txBox="1"/>
          <p:nvPr/>
        </p:nvSpPr>
        <p:spPr>
          <a:xfrm>
            <a:off x="76200" y="924650"/>
            <a:ext cx="89796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143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 el modelo que estamos utilizando para el precio del activo    , tenemos solo una variable de estado</a:t>
            </a:r>
            <a:r>
              <a:rPr lang="en" sz="1800">
                <a:solidFill>
                  <a:schemeClr val="dk2"/>
                </a:solidFill>
              </a:rPr>
              <a:t>/dimensión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en la práctica, puede ser necesario incorporar muchas otras variables de estado:</a:t>
            </a:r>
            <a:endParaRPr sz="18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volatilidad    y/o tasa de interés   pueden ser procesos que varían en el tiempo	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pueden depender de otros factores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activo puede pagar dividendos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opción puede ser mucho más compleja </a:t>
            </a:r>
            <a:r>
              <a:rPr lang="en" sz="1800">
                <a:solidFill>
                  <a:schemeClr val="dk2"/>
                </a:solidFill>
              </a:rPr>
              <a:t>y recompensa puede estar basada en distintas condiciones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nuestro modelo asume que precios tienen valores continuos </a:t>
            </a:r>
            <a:endParaRPr sz="18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número infinito de estados</a:t>
            </a:r>
            <a:endParaRPr sz="18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892" name="Google Shape;89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8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Complejidad del MDP </a:t>
            </a:r>
            <a:endParaRPr sz="2500"/>
          </a:p>
        </p:txBody>
      </p:sp>
      <p:pic>
        <p:nvPicPr>
          <p:cNvPr descr="r&#10;%fabf87cd-77a2-4f06-8019-003f27dc5ba3" id="894" name="Google Shape;894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3315" y="2219908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_t&#10;%107f2eab-1383-4945-8ce9-e25d254f21e1" id="895" name="Google Shape;895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6972" y="1104971"/>
            <a:ext cx="2000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sigma&#10;%757d7380-7a17-489a-8a38-c5ed6ad2a1a4" id="896" name="Google Shape;896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28800" y="2219908"/>
            <a:ext cx="142875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3"/>
          <p:cNvSpPr txBox="1"/>
          <p:nvPr/>
        </p:nvSpPr>
        <p:spPr>
          <a:xfrm>
            <a:off x="76200" y="924650"/>
            <a:ext cx="89796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mismo en el caso más simple de una variable de estado, aproximaciones son necesarias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estrategia popular en la práctica </a:t>
            </a:r>
            <a:r>
              <a:rPr lang="en" sz="1800">
                <a:solidFill>
                  <a:schemeClr val="dk2"/>
                </a:solidFill>
              </a:rPr>
              <a:t>(Longstaff y Schwartz):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basada en simulación Monte Carlo y inducción reversa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aproximación con arquitectura linear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por ejemplo,                   (aproximación polinomial)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902" name="Google Shape;902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8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Aproximaciones para  </a:t>
            </a:r>
            <a:endParaRPr sz="2500"/>
          </a:p>
        </p:txBody>
      </p:sp>
      <p:pic>
        <p:nvPicPr>
          <p:cNvPr descr="Q_t^*(.,0)&#10;%a84402aa-1556-43fd-be58-448c948d5fb1" id="904" name="Google Shape;904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6032" y="495475"/>
            <a:ext cx="8382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_t^*(s,0) \approx \sum\limits_{k=0}^N \phi^i(s)w^i&#10;%6ad3110f-9f3a-4d1d-a334-3aaedb08e471" id="905" name="Google Shape;905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1450" y="2748300"/>
            <a:ext cx="2314575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phi^i(s) = s^i&#10;%233c7380-c7bd-4bea-8165-deaa6cf8430b" id="906" name="Google Shape;906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2200" y="3486115"/>
            <a:ext cx="105727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84"/>
          <p:cNvSpPr txBox="1"/>
          <p:nvPr/>
        </p:nvSpPr>
        <p:spPr>
          <a:xfrm>
            <a:off x="381000" y="772250"/>
            <a:ext cx="89796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Generamos M trayectorias 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En                 , resolvemos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5143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Para t =                  ,               resolvemos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donde                                            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912" name="Google Shape;91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8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Aproximación con Simulación Monte Carlo</a:t>
            </a:r>
            <a:endParaRPr sz="2500"/>
          </a:p>
        </p:txBody>
      </p:sp>
      <p:pic>
        <p:nvPicPr>
          <p:cNvPr descr="(s_0^i,s_1^i,...,s_T^i),~i=1,...,M&#10;%09aed348-267c-494b-a0ee-b61149a8d8f7" id="914" name="Google Shape;914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2900" y="849575"/>
            <a:ext cx="30670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 = T-1&#10;%591ab9d0-4c4b-48ad-ab10-d938be77012f" id="915" name="Google Shape;915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7700" y="1183575"/>
            <a:ext cx="10191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-2,T-3,...,0&#10;%9239e976-497b-4e95-a699-352e2a9b9a9c" id="916" name="Google Shape;916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88875" y="2569271"/>
            <a:ext cx="19812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_t = \arg\min\limits_w \sum\limits_{i=1}^M \left[&#10;\Phi(s_t^i,w)-&#10;\alpha\max((K-s_{t+1}^i)^+,&#10;\Phi(s_{t+1}^i,w_{t+1})\right]^2&#10;%3327559d-d991-4fd6-928a-264b67c97861" id="917" name="Google Shape;917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39775" y="2891132"/>
            <a:ext cx="674370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_{T-1} = \arg\min\limits_w \sum\limits_{i=1}^M \left[&#10;\Phi(s_{T-1}^i,w)-&#10;\alpha(K-s_T^i)^+&#10;\right]^2&#10;%028f1004-1d3f-4ecb-be78-21b457984dd7" id="918" name="Google Shape;918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23437" y="1579625"/>
            <a:ext cx="50577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alpha = e^{-r\Delta t}&#10;%b5e4adf1-fd9e-454c-9d4b-ac5cd7265e4b" id="919" name="Google Shape;919;p8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52529" y="3631170"/>
            <a:ext cx="10477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Phi(s,w) = \sum_{j=0}^N \phi^j(s)w^j&#10;%3df76da8-3e7e-42af-9bd8-bd1cf6f46a97" id="920" name="Google Shape;920;p8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25450" y="3578788"/>
            <a:ext cx="253365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85"/>
          <p:cNvSpPr txBox="1"/>
          <p:nvPr/>
        </p:nvSpPr>
        <p:spPr>
          <a:xfrm>
            <a:off x="381000" y="772250"/>
            <a:ext cx="89796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Generamos M trayectorias 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En                 , resolvemos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5143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Para t =                  ,               resolvemos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donde                                            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Inducción reversa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Las minimizaciones corresponden a regresión linear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Implementación en Python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926" name="Google Shape;92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8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Aproximación con Simulación Monte Carlo</a:t>
            </a:r>
            <a:endParaRPr sz="2500"/>
          </a:p>
        </p:txBody>
      </p:sp>
      <p:pic>
        <p:nvPicPr>
          <p:cNvPr descr="(s_0^i,s_1^i,...,s_T^i),~i=1,...,M&#10;%09aed348-267c-494b-a0ee-b61149a8d8f7" id="928" name="Google Shape;928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2900" y="849575"/>
            <a:ext cx="30670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 = T-1&#10;%591ab9d0-4c4b-48ad-ab10-d938be77012f" id="929" name="Google Shape;929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7700" y="1183575"/>
            <a:ext cx="10191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-2,T-3,...,0&#10;%9239e976-497b-4e95-a699-352e2a9b9a9c" id="930" name="Google Shape;930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88875" y="2569271"/>
            <a:ext cx="19812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_t = \arg\min\limits_w \sum\limits_{i=1}^M \left[&#10;\Phi(s_t^i,w)-&#10;\alpha\max((K-s_{t+1}^i)^+,&#10;\Phi(s_{t+1}^i,w_{t+1})\right]^2&#10;%3327559d-d991-4fd6-928a-264b67c97861" id="931" name="Google Shape;931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39775" y="2891132"/>
            <a:ext cx="674370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_{T-1} = \arg\min\limits_w \sum\limits_{i=1}^M \left[&#10;\Phi(s_{T-1}^i,w)-&#10;\alpha(K-s_T^i)^+&#10;\right]^2&#10;%028f1004-1d3f-4ecb-be78-21b457984dd7" id="932" name="Google Shape;932;p8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23437" y="1579625"/>
            <a:ext cx="50577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alpha = e^{-r\Delta t}&#10;%b5e4adf1-fd9e-454c-9d4b-ac5cd7265e4b" id="933" name="Google Shape;933;p8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52529" y="3631170"/>
            <a:ext cx="10477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Phi(s,w) = \sum_{j=0}^N \phi^j(s)w^j&#10;%3df76da8-3e7e-42af-9bd8-bd1cf6f46a97" id="934" name="Google Shape;934;p8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25450" y="3578788"/>
            <a:ext cx="253365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86"/>
          <p:cNvSpPr txBox="1"/>
          <p:nvPr/>
        </p:nvSpPr>
        <p:spPr>
          <a:xfrm>
            <a:off x="381000" y="772250"/>
            <a:ext cx="8979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Paradigma de MDP es poderoso y suficientemente flexible para modelar una amplia variedad de aplicaciones en distintos campos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Combinada con aprendizaje, potencial para encontrar soluciones competitivas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Aproximaciones a la función valor y/o política permite tratar problemas de alta complejidad y muchas dimensiones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Desafíos en la implementación estable y correcta de los algoritmos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Complejidad del abordaje debe ser acorde a los datos disponibles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Potencialmente grandes beneficios con la adopción de redes neuronales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940" name="Google Shape;940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Conclusiones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